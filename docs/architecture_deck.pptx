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We've cleared 13 of the 14 spec components and added the multi-provider, multi-dialect, and per-provider work that wasn't in the original spec but turned out essential for operator flexibility. Hardening (#14) is the only one still in flight. Today we'll deep dive on the two most complex pieces — graph and semantic — because everything else is either a thin orchestrator on top of those, or a UI surface.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layers, top to bottom: Sources (Ed-Fi GitHub + the operator's live DB), Build-time (the offline pipeline that produces the catalog and graph artifacts), Runtime (the per-question NL→SQL flow), and Surface (FastAPI + Next.js). Today we focus on Build-time pieces: the graph layer and the semantic layer.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graph layer turns a flat list of FK constraints into a queryable structure that knows the cheapest way to join any 2 (or k) tables. Everything downstream — schema linking, JOIN expansion, Steiner — depends on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is fully deterministic from a fixed Ed-Fi version + live DB schema. rustworkx (Rust-backed) gives us 5-10x speed over networkx for the all-pairs Dijkstra. Artifacts persist as numpy memmaps so the API process loads them at startup in &lt;100ms.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Steiner is the heart of the join-discovery problem: given the tables the linker chose, find the cheapest tree that connects them. We pick the algorithm by tree size because exact Steiner is NP-hard. The graph weights mean the result tracks Ed-Fi aggregate boundaries — joins inside Student stay inside Student.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graph artifacts are the smallest and fastest part of the build. The whole graph loads from disk in under 100ms, so the API can re-hydrate freshly per request when the operator switches providers via Settings.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Semantic layer is what makes natural language land on the right tables. Without it the LLM would have to read the entire schema cold every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tried column-only embeddings first and got terrible recall — the model couldn't tell StudentSchoolAssociation from StudentSectionAssociation. Adding the structured tags ([DOMAINS], [NEIGHBORS], etc.) fixed it: cosine similarity now jumps 30 points for the right table on typical Ed-Fi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FAISS is the no-infra default; Qdrant / OpenSearch ship for prod scale. The factory keeps the rest of the platform agnostic — switching stores is a config flip, not code change.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steps as: semantic narrows the candidate space, graph proves the join is actually possible. Without the graph step you'd get sets of tables the LLM can't actually join. Without semantic, the graph would have to consider all ~10^6 table pairs.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 time dominates 80% of latency. We can drive p50 down by routing simple lookups to Haiku-class models or by caching SQL for repeated questions. Both are in the next-week plan.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is Apr 30 (Thu). Excluding weekends, that gives us 7 working days through Fri May 8. Below is a concrete day-by-day plan, sized to fit.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I've front-loaded the demo SQLite and sub-clustering because they're prerequisites for showing the platform off. If sub-clustering Leiden tuning blows up, I'll fall back to per-domain routing and ship sub-clustering in v0.9.</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reviewer H flags are the merge-blockers. Everything else is a quality improvement that doesn't block the demo target.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graph + semantic are mature and proven. The May 8 work is polish, additional coverage, and the reviewer's two H-severity fixes. Everything stays shipped behind feature flags so partial completions don't break the demo path.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194560"/>
            <a:ext cx="10698480" cy="914400"/>
          </a:xfrm>
          <a:prstGeom prst="rect">
            <a:avLst/>
          </a:prstGeom>
          <a:noFill/>
        </p:spPr>
        <p:txBody>
          <a:bodyPr wrap="square" lIns="45720" rIns="45720">
            <a:spAutoFit/>
          </a:bodyPr>
          <a:lstStyle/>
          <a:p>
            <a:pPr algn="l"/>
            <a:r>
              <a:rPr sz="4400" b="1">
                <a:solidFill>
                  <a:srgbClr val="6EC1FF"/>
                </a:solidFill>
                <a:latin typeface="Helvetica Neue"/>
              </a:rPr>
              <a:t>Ed-Fi Text-to-SQL Platform</a:t>
            </a:r>
          </a:p>
        </p:txBody>
      </p:sp>
      <p:sp>
        <p:nvSpPr>
          <p:cNvPr id="3" name="TextBox 2"/>
          <p:cNvSpPr txBox="1"/>
          <p:nvPr/>
        </p:nvSpPr>
        <p:spPr>
          <a:xfrm>
            <a:off x="731520" y="3108960"/>
            <a:ext cx="10698480" cy="548640"/>
          </a:xfrm>
          <a:prstGeom prst="rect">
            <a:avLst/>
          </a:prstGeom>
          <a:noFill/>
        </p:spPr>
        <p:txBody>
          <a:bodyPr wrap="square" lIns="45720" rIns="45720">
            <a:spAutoFit/>
          </a:bodyPr>
          <a:lstStyle/>
          <a:p>
            <a:pPr algn="l"/>
            <a:r>
              <a:rPr sz="2000" b="0">
                <a:solidFill>
                  <a:srgbClr val="E6EAF0"/>
                </a:solidFill>
                <a:latin typeface="Helvetica Neue"/>
              </a:rPr>
              <a:t>Architecture, status, and the path to demo</a:t>
            </a:r>
          </a:p>
        </p:txBody>
      </p:sp>
      <p:sp>
        <p:nvSpPr>
          <p:cNvPr id="4" name="TextBox 3"/>
          <p:cNvSpPr txBox="1"/>
          <p:nvPr/>
        </p:nvSpPr>
        <p:spPr>
          <a:xfrm>
            <a:off x="731520" y="3840480"/>
            <a:ext cx="10698480" cy="365760"/>
          </a:xfrm>
          <a:prstGeom prst="rect">
            <a:avLst/>
          </a:prstGeom>
          <a:noFill/>
        </p:spPr>
        <p:txBody>
          <a:bodyPr wrap="square" lIns="45720" rIns="45720">
            <a:spAutoFit/>
          </a:bodyPr>
          <a:lstStyle/>
          <a:p>
            <a:pPr algn="l"/>
            <a:r>
              <a:rPr sz="1400" b="0">
                <a:solidFill>
                  <a:srgbClr val="8A95A5"/>
                </a:solidFill>
                <a:latin typeface="Helvetica Neue"/>
              </a:rPr>
              <a:t>Status review · Apr 30, 2026  ·  target: Fri May 8</a:t>
            </a:r>
          </a:p>
        </p:txBody>
      </p:sp>
      <p:sp>
        <p:nvSpPr>
          <p:cNvPr id="5" name="TextBox 4"/>
          <p:cNvSpPr txBox="1"/>
          <p:nvPr/>
        </p:nvSpPr>
        <p:spPr>
          <a:xfrm>
            <a:off x="731520" y="6035040"/>
            <a:ext cx="10698480" cy="365760"/>
          </a:xfrm>
          <a:prstGeom prst="rect">
            <a:avLst/>
          </a:prstGeom>
          <a:noFill/>
        </p:spPr>
        <p:txBody>
          <a:bodyPr wrap="square" lIns="45720" rIns="45720">
            <a:spAutoFit/>
          </a:bodyPr>
          <a:lstStyle/>
          <a:p>
            <a:pPr algn="l"/>
            <a:r>
              <a:rPr sz="1200" b="0">
                <a:solidFill>
                  <a:srgbClr val="8A95A5"/>
                </a:solidFill>
                <a:latin typeface="Helvetica Neue"/>
              </a:rPr>
              <a:t>Engineering update · internal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Where we are</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Components built · what works end-to-end today</a:t>
            </a:r>
          </a:p>
        </p:txBody>
      </p:sp>
      <p:sp>
        <p:nvSpPr>
          <p:cNvPr id="4" name="Rounded Rectangle 3"/>
          <p:cNvSpPr/>
          <p:nvPr/>
        </p:nvSpPr>
        <p:spPr>
          <a:xfrm>
            <a:off x="457200" y="1463040"/>
            <a:ext cx="5577840" cy="4754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212080" cy="365760"/>
          </a:xfrm>
          <a:prstGeom prst="rect">
            <a:avLst/>
          </a:prstGeom>
          <a:noFill/>
        </p:spPr>
        <p:txBody>
          <a:bodyPr wrap="square" lIns="45720" rIns="45720">
            <a:spAutoFit/>
          </a:bodyPr>
          <a:lstStyle/>
          <a:p>
            <a:pPr algn="l"/>
            <a:r>
              <a:rPr sz="1600" b="1">
                <a:solidFill>
                  <a:srgbClr val="4AD09C"/>
                </a:solidFill>
                <a:latin typeface="Helvetica Neue"/>
              </a:rPr>
              <a:t>Done — running in main</a:t>
            </a:r>
          </a:p>
        </p:txBody>
      </p:sp>
      <p:sp>
        <p:nvSpPr>
          <p:cNvPr id="6" name="TextBox 5"/>
          <p:cNvSpPr txBox="1"/>
          <p:nvPr/>
        </p:nvSpPr>
        <p:spPr>
          <a:xfrm>
            <a:off x="640080" y="1965960"/>
            <a:ext cx="5212080" cy="4114800"/>
          </a:xfrm>
          <a:prstGeom prst="rect">
            <a:avLst/>
          </a:prstGeom>
          <a:noFill/>
        </p:spPr>
        <p:txBody>
          <a:bodyPr wrap="square">
            <a:spAutoFit/>
          </a:bodyPr>
          <a:lstStyle/>
          <a:p>
            <a:pPr algn="l">
              <a:spcAft>
                <a:spcPts val="400"/>
              </a:spcAft>
            </a:pPr>
            <a:r>
              <a:rPr sz="1200">
                <a:solidFill>
                  <a:srgbClr val="E6EAF0"/>
                </a:solidFill>
                <a:latin typeface="Helvetica Neue"/>
              </a:rPr>
              <a:t>• Ed-Fi metadata ingest (DS 6.1.0 · ~1048 entities)</a:t>
            </a:r>
          </a:p>
          <a:p>
            <a:pPr algn="l">
              <a:spcAft>
                <a:spcPts val="400"/>
              </a:spcAft>
            </a:pPr>
            <a:r>
              <a:rPr sz="1200">
                <a:solidFill>
                  <a:srgbClr val="E6EAF0"/>
                </a:solidFill>
                <a:latin typeface="Helvetica Neue"/>
              </a:rPr>
              <a:t>• Domain classifier (35 domains, multi-label)</a:t>
            </a:r>
          </a:p>
          <a:p>
            <a:pPr algn="l">
              <a:spcAft>
                <a:spcPts val="400"/>
              </a:spcAft>
            </a:pPr>
            <a:r>
              <a:rPr sz="1200">
                <a:solidFill>
                  <a:srgbClr val="E6EAF0"/>
                </a:solidFill>
                <a:latin typeface="Helvetica Neue"/>
              </a:rPr>
              <a:t>• FK graph + APSP + Steiner over ~1900 edges</a:t>
            </a:r>
          </a:p>
          <a:p>
            <a:pPr algn="l">
              <a:spcAft>
                <a:spcPts val="400"/>
              </a:spcAft>
            </a:pPr>
            <a:r>
              <a:rPr sz="1200">
                <a:solidFill>
                  <a:srgbClr val="E6EAF0"/>
                </a:solidFill>
                <a:latin typeface="Helvetica Neue"/>
              </a:rPr>
              <a:t>• Table catalog (per-provider, dialect-aware)</a:t>
            </a:r>
          </a:p>
          <a:p>
            <a:pPr algn="l">
              <a:spcAft>
                <a:spcPts val="400"/>
              </a:spcAft>
            </a:pPr>
            <a:r>
              <a:rPr sz="1200">
                <a:solidFill>
                  <a:srgbClr val="E6EAF0"/>
                </a:solidFill>
                <a:latin typeface="Helvetica Neue"/>
              </a:rPr>
              <a:t>• Embeddings + FAISS index (BGE-M3 default)</a:t>
            </a:r>
          </a:p>
          <a:p>
            <a:pPr algn="l">
              <a:spcAft>
                <a:spcPts val="400"/>
              </a:spcAft>
            </a:pPr>
            <a:r>
              <a:rPr sz="1200">
                <a:solidFill>
                  <a:srgbClr val="E6EAF0"/>
                </a:solidFill>
                <a:latin typeface="Helvetica Neue"/>
              </a:rPr>
              <a:t>• Entity resolver (4-tier funnel)</a:t>
            </a:r>
          </a:p>
          <a:p>
            <a:pPr algn="l">
              <a:spcAft>
                <a:spcPts val="400"/>
              </a:spcAft>
            </a:pPr>
            <a:r>
              <a:rPr sz="1200">
                <a:solidFill>
                  <a:srgbClr val="E6EAF0"/>
                </a:solidFill>
                <a:latin typeface="Helvetica Neue"/>
              </a:rPr>
              <a:t>• Gold SQL store + retrieval</a:t>
            </a:r>
          </a:p>
          <a:p>
            <a:pPr algn="l">
              <a:spcAft>
                <a:spcPts val="400"/>
              </a:spcAft>
            </a:pPr>
            <a:r>
              <a:rPr sz="1200">
                <a:solidFill>
                  <a:srgbClr val="E6EAF0"/>
                </a:solidFill>
                <a:latin typeface="Helvetica Neue"/>
              </a:rPr>
              <a:t>• NL→SQL pipeline + repair loop</a:t>
            </a:r>
          </a:p>
          <a:p>
            <a:pPr algn="l">
              <a:spcAft>
                <a:spcPts val="400"/>
              </a:spcAft>
            </a:pPr>
            <a:r>
              <a:rPr sz="1200">
                <a:solidFill>
                  <a:srgbClr val="E6EAF0"/>
                </a:solidFill>
                <a:latin typeface="Helvetica Neue"/>
              </a:rPr>
              <a:t>• Vega-Lite chart + LLM description</a:t>
            </a:r>
          </a:p>
          <a:p>
            <a:pPr algn="l">
              <a:spcAft>
                <a:spcPts val="400"/>
              </a:spcAft>
            </a:pPr>
            <a:r>
              <a:rPr sz="1200">
                <a:solidFill>
                  <a:srgbClr val="E6EAF0"/>
                </a:solidFill>
                <a:latin typeface="Helvetica Neue"/>
              </a:rPr>
              <a:t>• FastAPI surface (REST + WS streaming)</a:t>
            </a:r>
          </a:p>
          <a:p>
            <a:pPr algn="l">
              <a:spcAft>
                <a:spcPts val="400"/>
              </a:spcAft>
            </a:pPr>
            <a:r>
              <a:rPr sz="1200">
                <a:solidFill>
                  <a:srgbClr val="E6EAF0"/>
                </a:solidFill>
                <a:latin typeface="Helvetica Neue"/>
              </a:rPr>
              <a:t>• Next.js UI: Query / Tables / Domains / Gold / Chat</a:t>
            </a:r>
          </a:p>
          <a:p>
            <a:pPr algn="l">
              <a:spcAft>
                <a:spcPts val="400"/>
              </a:spcAft>
            </a:pPr>
            <a:r>
              <a:rPr sz="1200">
                <a:solidFill>
                  <a:srgbClr val="E6EAF0"/>
                </a:solidFill>
                <a:latin typeface="Helvetica Neue"/>
              </a:rPr>
              <a:t>• Eval harness (6 metrics, JSON + markdown reports)</a:t>
            </a:r>
          </a:p>
          <a:p>
            <a:pPr algn="l">
              <a:spcAft>
                <a:spcPts val="400"/>
              </a:spcAft>
            </a:pPr>
            <a:r>
              <a:rPr sz="1200">
                <a:solidFill>
                  <a:srgbClr val="E6EAF0"/>
                </a:solidFill>
                <a:latin typeface="Helvetica Neue"/>
              </a:rPr>
              <a:t>• Multi-provider LLM (Anthropic / Bedrock / OpenAI / OpenRouter / Azure)</a:t>
            </a:r>
          </a:p>
          <a:p>
            <a:pPr algn="l">
              <a:spcAft>
                <a:spcPts val="400"/>
              </a:spcAft>
            </a:pPr>
            <a:r>
              <a:rPr sz="1200">
                <a:solidFill>
                  <a:srgbClr val="E6EAF0"/>
                </a:solidFill>
                <a:latin typeface="Helvetica Neue"/>
              </a:rPr>
              <a:t>• Multi-dialect target DB (MSSQL / Postgres / SQLite)</a:t>
            </a:r>
          </a:p>
          <a:p>
            <a:pPr algn="l">
              <a:spcAft>
                <a:spcPts val="400"/>
              </a:spcAft>
            </a:pPr>
            <a:r>
              <a:rPr sz="1200">
                <a:solidFill>
                  <a:srgbClr val="E6EAF0"/>
                </a:solidFill>
                <a:latin typeface="Helvetica Neue"/>
              </a:rPr>
              <a:t>• Multi-dialect metadata DB (same trio)</a:t>
            </a:r>
          </a:p>
          <a:p>
            <a:pPr algn="l">
              <a:spcAft>
                <a:spcPts val="400"/>
              </a:spcAft>
            </a:pPr>
            <a:r>
              <a:rPr sz="1200">
                <a:solidFill>
                  <a:srgbClr val="E6EAF0"/>
                </a:solidFill>
                <a:latin typeface="Helvetica Neue"/>
              </a:rPr>
              <a:t>• Per-provider artifact isolation</a:t>
            </a:r>
          </a:p>
          <a:p>
            <a:pPr algn="l">
              <a:spcAft>
                <a:spcPts val="400"/>
              </a:spcAft>
            </a:pPr>
            <a:r>
              <a:rPr sz="1200">
                <a:solidFill>
                  <a:srgbClr val="E6EAF0"/>
                </a:solidFill>
                <a:latin typeface="Helvetica Neue"/>
              </a:rPr>
              <a:t>• Settings UI: editable connectors + Rebuild orchestrator</a:t>
            </a:r>
          </a:p>
          <a:p>
            <a:pPr algn="l">
              <a:spcAft>
                <a:spcPts val="400"/>
              </a:spcAft>
            </a:pPr>
            <a:r>
              <a:rPr sz="1200">
                <a:solidFill>
                  <a:srgbClr val="E6EAF0"/>
                </a:solidFill>
                <a:latin typeface="Helvetica Neue"/>
              </a:rPr>
              <a:t>• Cross-platform: Windows charmap fixes, utf-8 stdout</a:t>
            </a:r>
          </a:p>
        </p:txBody>
      </p:sp>
      <p:sp>
        <p:nvSpPr>
          <p:cNvPr id="7" name="Rounded Rectangle 6"/>
          <p:cNvSpPr/>
          <p:nvPr/>
        </p:nvSpPr>
        <p:spPr>
          <a:xfrm>
            <a:off x="6263640" y="1463040"/>
            <a:ext cx="5577840" cy="4754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554480"/>
            <a:ext cx="5212080" cy="365760"/>
          </a:xfrm>
          <a:prstGeom prst="rect">
            <a:avLst/>
          </a:prstGeom>
          <a:noFill/>
        </p:spPr>
        <p:txBody>
          <a:bodyPr wrap="square" lIns="45720" rIns="45720">
            <a:spAutoFit/>
          </a:bodyPr>
          <a:lstStyle/>
          <a:p>
            <a:pPr algn="l"/>
            <a:r>
              <a:rPr sz="1600" b="1">
                <a:solidFill>
                  <a:srgbClr val="F2B857"/>
                </a:solidFill>
                <a:latin typeface="Helvetica Neue"/>
              </a:rPr>
              <a:t>Today's pillars (this deck zooms in)</a:t>
            </a:r>
          </a:p>
        </p:txBody>
      </p:sp>
      <p:sp>
        <p:nvSpPr>
          <p:cNvPr id="9" name="TextBox 8"/>
          <p:cNvSpPr txBox="1"/>
          <p:nvPr/>
        </p:nvSpPr>
        <p:spPr>
          <a:xfrm>
            <a:off x="6446520" y="1965960"/>
            <a:ext cx="5212080" cy="1371600"/>
          </a:xfrm>
          <a:prstGeom prst="rect">
            <a:avLst/>
          </a:prstGeom>
          <a:noFill/>
        </p:spPr>
        <p:txBody>
          <a:bodyPr wrap="square">
            <a:spAutoFit/>
          </a:bodyPr>
          <a:lstStyle/>
          <a:p>
            <a:pPr algn="l">
              <a:spcAft>
                <a:spcPts val="400"/>
              </a:spcAft>
            </a:pPr>
            <a:r>
              <a:rPr sz="1400">
                <a:solidFill>
                  <a:srgbClr val="E6EAF0"/>
                </a:solidFill>
                <a:latin typeface="Helvetica Neue"/>
              </a:rPr>
              <a:t>• Graph layer — FK parse → rustworkx → APSP → Steiner</a:t>
            </a:r>
          </a:p>
          <a:p>
            <a:pPr algn="l">
              <a:spcAft>
                <a:spcPts val="400"/>
              </a:spcAft>
            </a:pPr>
            <a:r>
              <a:rPr sz="1400">
                <a:solidFill>
                  <a:srgbClr val="E6EAF0"/>
                </a:solidFill>
                <a:latin typeface="Helvetica Neue"/>
              </a:rPr>
              <a:t>• Semantic layer — per-table blob → embed → cluster routing</a:t>
            </a:r>
          </a:p>
          <a:p>
            <a:pPr algn="l">
              <a:spcAft>
                <a:spcPts val="400"/>
              </a:spcAft>
            </a:pPr>
            <a:r>
              <a:rPr sz="1400">
                <a:solidFill>
                  <a:srgbClr val="E6EAF0"/>
                </a:solidFill>
                <a:latin typeface="Helvetica Neue"/>
              </a:rPr>
              <a:t>• How they cooperate at query time</a:t>
            </a:r>
          </a:p>
        </p:txBody>
      </p:sp>
      <p:sp>
        <p:nvSpPr>
          <p:cNvPr id="10" name="TextBox 9"/>
          <p:cNvSpPr txBox="1"/>
          <p:nvPr/>
        </p:nvSpPr>
        <p:spPr>
          <a:xfrm>
            <a:off x="6446520" y="5394960"/>
            <a:ext cx="5212080" cy="640080"/>
          </a:xfrm>
          <a:prstGeom prst="rect">
            <a:avLst/>
          </a:prstGeom>
          <a:noFill/>
        </p:spPr>
        <p:txBody>
          <a:bodyPr wrap="square" lIns="45720" rIns="45720">
            <a:spAutoFit/>
          </a:bodyPr>
          <a:lstStyle/>
          <a:p>
            <a:pPr algn="l"/>
            <a:r>
              <a:rPr sz="1200" b="0">
                <a:solidFill>
                  <a:srgbClr val="8A95A5"/>
                </a:solidFill>
                <a:latin typeface="Helvetica Neue"/>
              </a:rPr>
              <a:t>Everything else (pipeline, repair, viz, gold, UI, eval) → covered in next-week plan.</a:t>
            </a:r>
          </a:p>
        </p:txBody>
      </p:sp>
      <p:sp>
        <p:nvSpPr>
          <p:cNvPr id="11" name="TextBox 10"/>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Section 1/4 · Status</a:t>
            </a:r>
          </a:p>
        </p:txBody>
      </p:sp>
      <p:sp>
        <p:nvSpPr>
          <p:cNvPr id="12" name="TextBox 11"/>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v0.7 · 215 tests passing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System map</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How a question becomes SQL — annotated dataflow</a:t>
            </a:r>
          </a:p>
        </p:txBody>
      </p:sp>
      <p:sp>
        <p:nvSpPr>
          <p:cNvPr id="4" name="Rounded Rectangle 3"/>
          <p:cNvSpPr/>
          <p:nvPr/>
        </p:nvSpPr>
        <p:spPr>
          <a:xfrm>
            <a:off x="457200" y="1463040"/>
            <a:ext cx="11247120" cy="10515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2286000" cy="365760"/>
          </a:xfrm>
          <a:prstGeom prst="rect">
            <a:avLst/>
          </a:prstGeom>
          <a:noFill/>
        </p:spPr>
        <p:txBody>
          <a:bodyPr wrap="square" lIns="45720" rIns="45720">
            <a:spAutoFit/>
          </a:bodyPr>
          <a:lstStyle/>
          <a:p>
            <a:pPr algn="l"/>
            <a:r>
              <a:rPr sz="1400" b="1">
                <a:solidFill>
                  <a:srgbClr val="6EC1FF"/>
                </a:solidFill>
                <a:latin typeface="Helvetica Neue"/>
              </a:rPr>
              <a:t>Sources</a:t>
            </a:r>
          </a:p>
        </p:txBody>
      </p:sp>
      <p:sp>
        <p:nvSpPr>
          <p:cNvPr id="6" name="TextBox 5"/>
          <p:cNvSpPr txBox="1"/>
          <p:nvPr/>
        </p:nvSpPr>
        <p:spPr>
          <a:xfrm>
            <a:off x="2926080" y="1554480"/>
            <a:ext cx="8595360" cy="365760"/>
          </a:xfrm>
          <a:prstGeom prst="rect">
            <a:avLst/>
          </a:prstGeom>
          <a:noFill/>
        </p:spPr>
        <p:txBody>
          <a:bodyPr wrap="square" lIns="45720" rIns="45720">
            <a:spAutoFit/>
          </a:bodyPr>
          <a:lstStyle/>
          <a:p>
            <a:pPr algn="l"/>
            <a:r>
              <a:rPr sz="1200" b="0">
                <a:solidFill>
                  <a:srgbClr val="E6EAF0"/>
                </a:solidFill>
                <a:latin typeface="Helvetica Neue"/>
              </a:rPr>
              <a:t>Ed-Fi GitHub  ·  ApiModel.json  ·  0030-ForeignKeys.sql</a:t>
            </a:r>
          </a:p>
        </p:txBody>
      </p:sp>
      <p:sp>
        <p:nvSpPr>
          <p:cNvPr id="7" name="TextBox 6"/>
          <p:cNvSpPr txBox="1"/>
          <p:nvPr/>
        </p:nvSpPr>
        <p:spPr>
          <a:xfrm>
            <a:off x="2926080" y="1865376"/>
            <a:ext cx="8595360" cy="365760"/>
          </a:xfrm>
          <a:prstGeom prst="rect">
            <a:avLst/>
          </a:prstGeom>
          <a:noFill/>
        </p:spPr>
        <p:txBody>
          <a:bodyPr wrap="square" lIns="45720" rIns="45720">
            <a:spAutoFit/>
          </a:bodyPr>
          <a:lstStyle/>
          <a:p>
            <a:pPr algn="l"/>
            <a:r>
              <a:rPr sz="1200" b="0">
                <a:solidFill>
                  <a:srgbClr val="E6EAF0"/>
                </a:solidFill>
                <a:latin typeface="Helvetica Neue"/>
              </a:rPr>
              <a:t>Live DB  (MSSQL · PG · SQLite)</a:t>
            </a:r>
          </a:p>
        </p:txBody>
      </p:sp>
      <p:sp>
        <p:nvSpPr>
          <p:cNvPr id="8" name="Rounded Rectangle 7"/>
          <p:cNvSpPr/>
          <p:nvPr/>
        </p:nvSpPr>
        <p:spPr>
          <a:xfrm>
            <a:off x="457200" y="2651760"/>
            <a:ext cx="11247120" cy="10515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743200"/>
            <a:ext cx="2286000" cy="365760"/>
          </a:xfrm>
          <a:prstGeom prst="rect">
            <a:avLst/>
          </a:prstGeom>
          <a:noFill/>
        </p:spPr>
        <p:txBody>
          <a:bodyPr wrap="square" lIns="45720" rIns="45720">
            <a:spAutoFit/>
          </a:bodyPr>
          <a:lstStyle/>
          <a:p>
            <a:pPr algn="l"/>
            <a:r>
              <a:rPr sz="1400" b="1">
                <a:solidFill>
                  <a:srgbClr val="4AD09C"/>
                </a:solidFill>
                <a:latin typeface="Helvetica Neue"/>
              </a:rPr>
              <a:t>Build-time</a:t>
            </a:r>
          </a:p>
        </p:txBody>
      </p:sp>
      <p:sp>
        <p:nvSpPr>
          <p:cNvPr id="10" name="TextBox 9"/>
          <p:cNvSpPr txBox="1"/>
          <p:nvPr/>
        </p:nvSpPr>
        <p:spPr>
          <a:xfrm>
            <a:off x="2926080" y="2743200"/>
            <a:ext cx="8595360" cy="365760"/>
          </a:xfrm>
          <a:prstGeom prst="rect">
            <a:avLst/>
          </a:prstGeom>
          <a:noFill/>
        </p:spPr>
        <p:txBody>
          <a:bodyPr wrap="square" lIns="45720" rIns="45720">
            <a:spAutoFit/>
          </a:bodyPr>
          <a:lstStyle/>
          <a:p>
            <a:pPr algn="l"/>
            <a:r>
              <a:rPr sz="1200" b="0">
                <a:solidFill>
                  <a:srgbClr val="E6EAF0"/>
                </a:solidFill>
                <a:latin typeface="Helvetica Neue"/>
              </a:rPr>
              <a:t>Ingest → Classify → Graph → Catalog → Embed → Gold-seed</a:t>
            </a:r>
          </a:p>
        </p:txBody>
      </p:sp>
      <p:sp>
        <p:nvSpPr>
          <p:cNvPr id="11" name="TextBox 10"/>
          <p:cNvSpPr txBox="1"/>
          <p:nvPr/>
        </p:nvSpPr>
        <p:spPr>
          <a:xfrm>
            <a:off x="2926080" y="3054096"/>
            <a:ext cx="8595360" cy="365760"/>
          </a:xfrm>
          <a:prstGeom prst="rect">
            <a:avLst/>
          </a:prstGeom>
          <a:noFill/>
        </p:spPr>
        <p:txBody>
          <a:bodyPr wrap="square" lIns="45720" rIns="45720">
            <a:spAutoFit/>
          </a:bodyPr>
          <a:lstStyle/>
          <a:p>
            <a:pPr algn="l"/>
            <a:r>
              <a:rPr sz="1200" b="0">
                <a:solidFill>
                  <a:srgbClr val="E6EAF0"/>
                </a:solidFill>
                <a:latin typeface="Helvetica Neue"/>
              </a:rPr>
              <a:t>Per-provider artifacts on disk, mtime-cached</a:t>
            </a:r>
          </a:p>
        </p:txBody>
      </p:sp>
      <p:sp>
        <p:nvSpPr>
          <p:cNvPr id="12" name="Rounded Rectangle 11"/>
          <p:cNvSpPr/>
          <p:nvPr/>
        </p:nvSpPr>
        <p:spPr>
          <a:xfrm>
            <a:off x="457200" y="3840480"/>
            <a:ext cx="11247120" cy="10515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931920"/>
            <a:ext cx="2286000" cy="365760"/>
          </a:xfrm>
          <a:prstGeom prst="rect">
            <a:avLst/>
          </a:prstGeom>
          <a:noFill/>
        </p:spPr>
        <p:txBody>
          <a:bodyPr wrap="square" lIns="45720" rIns="45720">
            <a:spAutoFit/>
          </a:bodyPr>
          <a:lstStyle/>
          <a:p>
            <a:pPr algn="l"/>
            <a:r>
              <a:rPr sz="1400" b="1">
                <a:solidFill>
                  <a:srgbClr val="F2B857"/>
                </a:solidFill>
                <a:latin typeface="Helvetica Neue"/>
              </a:rPr>
              <a:t>Runtime</a:t>
            </a:r>
          </a:p>
        </p:txBody>
      </p:sp>
      <p:sp>
        <p:nvSpPr>
          <p:cNvPr id="14" name="TextBox 13"/>
          <p:cNvSpPr txBox="1"/>
          <p:nvPr/>
        </p:nvSpPr>
        <p:spPr>
          <a:xfrm>
            <a:off x="2926080" y="3931920"/>
            <a:ext cx="8595360" cy="365760"/>
          </a:xfrm>
          <a:prstGeom prst="rect">
            <a:avLst/>
          </a:prstGeom>
          <a:noFill/>
        </p:spPr>
        <p:txBody>
          <a:bodyPr wrap="square" lIns="45720" rIns="45720">
            <a:spAutoFit/>
          </a:bodyPr>
          <a:lstStyle/>
          <a:p>
            <a:pPr algn="l"/>
            <a:r>
              <a:rPr sz="1200" b="0">
                <a:solidFill>
                  <a:srgbClr val="E6EAF0"/>
                </a:solidFill>
                <a:latin typeface="Helvetica Neue"/>
              </a:rPr>
              <a:t>Question → Cluster route → Schema link + Entity resolve</a:t>
            </a:r>
          </a:p>
        </p:txBody>
      </p:sp>
      <p:sp>
        <p:nvSpPr>
          <p:cNvPr id="15" name="TextBox 14"/>
          <p:cNvSpPr txBox="1"/>
          <p:nvPr/>
        </p:nvSpPr>
        <p:spPr>
          <a:xfrm>
            <a:off x="2926080" y="4242816"/>
            <a:ext cx="8595360" cy="365760"/>
          </a:xfrm>
          <a:prstGeom prst="rect">
            <a:avLst/>
          </a:prstGeom>
          <a:noFill/>
        </p:spPr>
        <p:txBody>
          <a:bodyPr wrap="square" lIns="45720" rIns="45720">
            <a:spAutoFit/>
          </a:bodyPr>
          <a:lstStyle/>
          <a:p>
            <a:pPr algn="l"/>
            <a:r>
              <a:rPr sz="1200" b="0">
                <a:solidFill>
                  <a:srgbClr val="E6EAF0"/>
                </a:solidFill>
                <a:latin typeface="Helvetica Neue"/>
              </a:rPr>
              <a:t>Generator → Validator (parse, EXPLAIN, LIMIT 0) → repair loop</a:t>
            </a:r>
          </a:p>
        </p:txBody>
      </p:sp>
      <p:sp>
        <p:nvSpPr>
          <p:cNvPr id="16" name="TextBox 15"/>
          <p:cNvSpPr txBox="1"/>
          <p:nvPr/>
        </p:nvSpPr>
        <p:spPr>
          <a:xfrm>
            <a:off x="2926080" y="4553712"/>
            <a:ext cx="8595360" cy="365760"/>
          </a:xfrm>
          <a:prstGeom prst="rect">
            <a:avLst/>
          </a:prstGeom>
          <a:noFill/>
        </p:spPr>
        <p:txBody>
          <a:bodyPr wrap="square" lIns="45720" rIns="45720">
            <a:spAutoFit/>
          </a:bodyPr>
          <a:lstStyle/>
          <a:p>
            <a:pPr algn="l"/>
            <a:r>
              <a:rPr sz="1200" b="0">
                <a:solidFill>
                  <a:srgbClr val="E6EAF0"/>
                </a:solidFill>
                <a:latin typeface="Helvetica Neue"/>
              </a:rPr>
              <a:t>Execute → Vega-Lite + describe</a:t>
            </a:r>
          </a:p>
        </p:txBody>
      </p:sp>
      <p:sp>
        <p:nvSpPr>
          <p:cNvPr id="17" name="Rounded Rectangle 16"/>
          <p:cNvSpPr/>
          <p:nvPr/>
        </p:nvSpPr>
        <p:spPr>
          <a:xfrm>
            <a:off x="457200" y="5029200"/>
            <a:ext cx="11247120" cy="10515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120640"/>
            <a:ext cx="2286000" cy="365760"/>
          </a:xfrm>
          <a:prstGeom prst="rect">
            <a:avLst/>
          </a:prstGeom>
          <a:noFill/>
        </p:spPr>
        <p:txBody>
          <a:bodyPr wrap="square" lIns="45720" rIns="45720">
            <a:spAutoFit/>
          </a:bodyPr>
          <a:lstStyle/>
          <a:p>
            <a:pPr algn="l"/>
            <a:r>
              <a:rPr sz="1400" b="1">
                <a:solidFill>
                  <a:srgbClr val="6EC1FF"/>
                </a:solidFill>
                <a:latin typeface="Helvetica Neue"/>
              </a:rPr>
              <a:t>Surface</a:t>
            </a:r>
          </a:p>
        </p:txBody>
      </p:sp>
      <p:sp>
        <p:nvSpPr>
          <p:cNvPr id="19" name="TextBox 18"/>
          <p:cNvSpPr txBox="1"/>
          <p:nvPr/>
        </p:nvSpPr>
        <p:spPr>
          <a:xfrm>
            <a:off x="2926080" y="5120640"/>
            <a:ext cx="8595360" cy="365760"/>
          </a:xfrm>
          <a:prstGeom prst="rect">
            <a:avLst/>
          </a:prstGeom>
          <a:noFill/>
        </p:spPr>
        <p:txBody>
          <a:bodyPr wrap="square" lIns="45720" rIns="45720">
            <a:spAutoFit/>
          </a:bodyPr>
          <a:lstStyle/>
          <a:p>
            <a:pPr algn="l"/>
            <a:r>
              <a:rPr sz="1200" b="0">
                <a:solidFill>
                  <a:srgbClr val="E6EAF0"/>
                </a:solidFill>
                <a:latin typeface="Helvetica Neue"/>
              </a:rPr>
              <a:t>FastAPI REST + WS  ·  Next.js (Query · Chat · Tables · Settings)</a:t>
            </a:r>
          </a:p>
        </p:txBody>
      </p:sp>
      <p:sp>
        <p:nvSpPr>
          <p:cNvPr id="20" name="TextBox 19"/>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Section 1/4 · Status</a:t>
            </a:r>
          </a:p>
        </p:txBody>
      </p:sp>
      <p:sp>
        <p:nvSpPr>
          <p:cNvPr id="21" name="TextBox 20"/>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Annotated below in next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377440"/>
            <a:ext cx="10698480" cy="548640"/>
          </a:xfrm>
          <a:prstGeom prst="rect">
            <a:avLst/>
          </a:prstGeom>
          <a:noFill/>
        </p:spPr>
        <p:txBody>
          <a:bodyPr wrap="square" lIns="45720" rIns="45720">
            <a:spAutoFit/>
          </a:bodyPr>
          <a:lstStyle/>
          <a:p>
            <a:pPr algn="l"/>
            <a:r>
              <a:rPr sz="1800" b="0">
                <a:solidFill>
                  <a:srgbClr val="8A95A5"/>
                </a:solidFill>
                <a:latin typeface="Helvetica Neue"/>
              </a:rPr>
              <a:t>Section 2</a:t>
            </a:r>
          </a:p>
        </p:txBody>
      </p:sp>
      <p:sp>
        <p:nvSpPr>
          <p:cNvPr id="3" name="TextBox 2"/>
          <p:cNvSpPr txBox="1"/>
          <p:nvPr/>
        </p:nvSpPr>
        <p:spPr>
          <a:xfrm>
            <a:off x="731520" y="2834640"/>
            <a:ext cx="10698480" cy="914400"/>
          </a:xfrm>
          <a:prstGeom prst="rect">
            <a:avLst/>
          </a:prstGeom>
          <a:noFill/>
        </p:spPr>
        <p:txBody>
          <a:bodyPr wrap="square" lIns="45720" rIns="45720">
            <a:spAutoFit/>
          </a:bodyPr>
          <a:lstStyle/>
          <a:p>
            <a:pPr algn="l"/>
            <a:r>
              <a:rPr sz="4400" b="1">
                <a:solidFill>
                  <a:srgbClr val="6EC1FF"/>
                </a:solidFill>
                <a:latin typeface="Helvetica Neue"/>
              </a:rPr>
              <a:t>The Graph Layer</a:t>
            </a:r>
          </a:p>
        </p:txBody>
      </p:sp>
      <p:sp>
        <p:nvSpPr>
          <p:cNvPr id="4" name="TextBox 3"/>
          <p:cNvSpPr txBox="1"/>
          <p:nvPr/>
        </p:nvSpPr>
        <p:spPr>
          <a:xfrm>
            <a:off x="731520" y="3749039"/>
            <a:ext cx="10698480" cy="457200"/>
          </a:xfrm>
          <a:prstGeom prst="rect">
            <a:avLst/>
          </a:prstGeom>
          <a:noFill/>
        </p:spPr>
        <p:txBody>
          <a:bodyPr wrap="square" lIns="45720" rIns="45720">
            <a:spAutoFit/>
          </a:bodyPr>
          <a:lstStyle/>
          <a:p>
            <a:pPr algn="l"/>
            <a:r>
              <a:rPr sz="1800" b="0">
                <a:solidFill>
                  <a:srgbClr val="E6EAF0"/>
                </a:solidFill>
                <a:latin typeface="Helvetica Neue"/>
              </a:rPr>
              <a:t>Foreign-key graph · all-pairs shortest path · Steiner tree for joins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Graph build pipeline</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From SQL DDL to traversal-ready artifacts</a:t>
            </a:r>
          </a:p>
        </p:txBody>
      </p:sp>
      <p:sp>
        <p:nvSpPr>
          <p:cNvPr id="4" name="Rounded Rectangle 3"/>
          <p:cNvSpPr/>
          <p:nvPr/>
        </p:nvSpPr>
        <p:spPr>
          <a:xfrm>
            <a:off x="609447" y="2194560"/>
            <a:ext cx="1691640" cy="914400"/>
          </a:xfrm>
          <a:prstGeom prst="roundRect">
            <a:avLst/>
          </a:prstGeom>
          <a:solidFill>
            <a:srgbClr val="1A212A"/>
          </a:solidFill>
          <a:ln w="9525">
            <a:solidFill>
              <a:srgbClr val="6EC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5167" y="2267712"/>
            <a:ext cx="1600200" cy="365760"/>
          </a:xfrm>
          <a:prstGeom prst="rect">
            <a:avLst/>
          </a:prstGeom>
          <a:noFill/>
        </p:spPr>
        <p:txBody>
          <a:bodyPr wrap="square" lIns="45720" rIns="45720">
            <a:spAutoFit/>
          </a:bodyPr>
          <a:lstStyle/>
          <a:p>
            <a:pPr algn="ctr"/>
            <a:r>
              <a:rPr sz="1100" b="1">
                <a:solidFill>
                  <a:srgbClr val="6EC1FF"/>
                </a:solidFill>
                <a:latin typeface="Helvetica Neue"/>
              </a:rPr>
              <a:t>0030-ForeignKeys.sql</a:t>
            </a:r>
          </a:p>
        </p:txBody>
      </p:sp>
      <p:sp>
        <p:nvSpPr>
          <p:cNvPr id="6" name="TextBox 5"/>
          <p:cNvSpPr txBox="1"/>
          <p:nvPr/>
        </p:nvSpPr>
        <p:spPr>
          <a:xfrm>
            <a:off x="655167" y="2697480"/>
            <a:ext cx="1600200" cy="320040"/>
          </a:xfrm>
          <a:prstGeom prst="rect">
            <a:avLst/>
          </a:prstGeom>
          <a:noFill/>
        </p:spPr>
        <p:txBody>
          <a:bodyPr wrap="square" lIns="45720" rIns="45720">
            <a:spAutoFit/>
          </a:bodyPr>
          <a:lstStyle/>
          <a:p>
            <a:pPr algn="ctr"/>
            <a:r>
              <a:rPr sz="1000" b="0">
                <a:solidFill>
                  <a:srgbClr val="8A95A5"/>
                </a:solidFill>
                <a:latin typeface="Helvetica Neue"/>
              </a:rPr>
              <a:t>Ed-Fi DDL</a:t>
            </a:r>
          </a:p>
        </p:txBody>
      </p:sp>
      <p:cxnSp>
        <p:nvCxnSpPr>
          <p:cNvPr id="7" name="Connector 6"/>
          <p:cNvCxnSpPr/>
          <p:nvPr/>
        </p:nvCxnSpPr>
        <p:spPr>
          <a:xfrm>
            <a:off x="2301087" y="2651760"/>
            <a:ext cx="164592" cy="0"/>
          </a:xfrm>
          <a:prstGeom prst="line">
            <a:avLst/>
          </a:prstGeom>
          <a:ln w="19050">
            <a:solidFill>
              <a:srgbClr val="6EC1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465679" y="2194560"/>
            <a:ext cx="1691640" cy="914400"/>
          </a:xfrm>
          <a:prstGeom prst="roundRect">
            <a:avLst/>
          </a:prstGeom>
          <a:solidFill>
            <a:srgbClr val="1A212A"/>
          </a:solidFill>
          <a:ln w="9525">
            <a:solidFill>
              <a:srgbClr val="6EC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1399" y="2267712"/>
            <a:ext cx="1600200" cy="365760"/>
          </a:xfrm>
          <a:prstGeom prst="rect">
            <a:avLst/>
          </a:prstGeom>
          <a:noFill/>
        </p:spPr>
        <p:txBody>
          <a:bodyPr wrap="square" lIns="45720" rIns="45720">
            <a:spAutoFit/>
          </a:bodyPr>
          <a:lstStyle/>
          <a:p>
            <a:pPr algn="ctr"/>
            <a:r>
              <a:rPr sz="1100" b="1">
                <a:solidFill>
                  <a:srgbClr val="6EC1FF"/>
                </a:solidFill>
                <a:latin typeface="Helvetica Neue"/>
              </a:rPr>
              <a:t>parse_fks (sqlglot)</a:t>
            </a:r>
          </a:p>
        </p:txBody>
      </p:sp>
      <p:sp>
        <p:nvSpPr>
          <p:cNvPr id="10" name="TextBox 9"/>
          <p:cNvSpPr txBox="1"/>
          <p:nvPr/>
        </p:nvSpPr>
        <p:spPr>
          <a:xfrm>
            <a:off x="2511399" y="2697480"/>
            <a:ext cx="1600200" cy="320040"/>
          </a:xfrm>
          <a:prstGeom prst="rect">
            <a:avLst/>
          </a:prstGeom>
          <a:noFill/>
        </p:spPr>
        <p:txBody>
          <a:bodyPr wrap="square" lIns="45720" rIns="45720">
            <a:spAutoFit/>
          </a:bodyPr>
          <a:lstStyle/>
          <a:p>
            <a:pPr algn="ctr"/>
            <a:r>
              <a:rPr sz="1000" b="0">
                <a:solidFill>
                  <a:srgbClr val="8A95A5"/>
                </a:solidFill>
                <a:latin typeface="Helvetica Neue"/>
              </a:rPr>
              <a:t>FKEdge[]</a:t>
            </a:r>
          </a:p>
        </p:txBody>
      </p:sp>
      <p:cxnSp>
        <p:nvCxnSpPr>
          <p:cNvPr id="11" name="Connector 10"/>
          <p:cNvCxnSpPr/>
          <p:nvPr/>
        </p:nvCxnSpPr>
        <p:spPr>
          <a:xfrm>
            <a:off x="4157319" y="2651760"/>
            <a:ext cx="164592" cy="0"/>
          </a:xfrm>
          <a:prstGeom prst="line">
            <a:avLst/>
          </a:prstGeom>
          <a:ln w="19050">
            <a:solidFill>
              <a:srgbClr val="6EC1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21911" y="2194560"/>
            <a:ext cx="1691640" cy="914400"/>
          </a:xfrm>
          <a:prstGeom prst="roundRect">
            <a:avLst/>
          </a:prstGeom>
          <a:solidFill>
            <a:srgbClr val="1A212A"/>
          </a:solidFill>
          <a:ln w="9525">
            <a:solidFill>
              <a:srgbClr val="6EC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67631" y="2267712"/>
            <a:ext cx="1600200" cy="365760"/>
          </a:xfrm>
          <a:prstGeom prst="rect">
            <a:avLst/>
          </a:prstGeom>
          <a:noFill/>
        </p:spPr>
        <p:txBody>
          <a:bodyPr wrap="square" lIns="45720" rIns="45720">
            <a:spAutoFit/>
          </a:bodyPr>
          <a:lstStyle/>
          <a:p>
            <a:pPr algn="ctr"/>
            <a:r>
              <a:rPr sz="1100" b="1">
                <a:solidFill>
                  <a:srgbClr val="6EC1FF"/>
                </a:solidFill>
                <a:latin typeface="Helvetica Neue"/>
              </a:rPr>
              <a:t>Reflect live FKs</a:t>
            </a:r>
          </a:p>
        </p:txBody>
      </p:sp>
      <p:sp>
        <p:nvSpPr>
          <p:cNvPr id="14" name="TextBox 13"/>
          <p:cNvSpPr txBox="1"/>
          <p:nvPr/>
        </p:nvSpPr>
        <p:spPr>
          <a:xfrm>
            <a:off x="4367631" y="2697480"/>
            <a:ext cx="1600200" cy="320040"/>
          </a:xfrm>
          <a:prstGeom prst="rect">
            <a:avLst/>
          </a:prstGeom>
          <a:noFill/>
        </p:spPr>
        <p:txBody>
          <a:bodyPr wrap="square" lIns="45720" rIns="45720">
            <a:spAutoFit/>
          </a:bodyPr>
          <a:lstStyle/>
          <a:p>
            <a:pPr algn="ctr"/>
            <a:r>
              <a:rPr sz="1000" b="0">
                <a:solidFill>
                  <a:srgbClr val="8A95A5"/>
                </a:solidFill>
                <a:latin typeface="Helvetica Neue"/>
              </a:rPr>
              <a:t>+ extras (P7)</a:t>
            </a:r>
          </a:p>
        </p:txBody>
      </p:sp>
      <p:cxnSp>
        <p:nvCxnSpPr>
          <p:cNvPr id="15" name="Connector 14"/>
          <p:cNvCxnSpPr/>
          <p:nvPr/>
        </p:nvCxnSpPr>
        <p:spPr>
          <a:xfrm>
            <a:off x="6013551" y="2651760"/>
            <a:ext cx="164592" cy="0"/>
          </a:xfrm>
          <a:prstGeom prst="line">
            <a:avLst/>
          </a:prstGeom>
          <a:ln w="19050">
            <a:solidFill>
              <a:srgbClr val="6EC1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178143" y="2194560"/>
            <a:ext cx="1691640" cy="914400"/>
          </a:xfrm>
          <a:prstGeom prst="roundRect">
            <a:avLst/>
          </a:prstGeom>
          <a:solidFill>
            <a:srgbClr val="1A212A"/>
          </a:solidFill>
          <a:ln w="9525">
            <a:solidFill>
              <a:srgbClr val="6EC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3863" y="2267712"/>
            <a:ext cx="1600200" cy="365760"/>
          </a:xfrm>
          <a:prstGeom prst="rect">
            <a:avLst/>
          </a:prstGeom>
          <a:noFill/>
        </p:spPr>
        <p:txBody>
          <a:bodyPr wrap="square" lIns="45720" rIns="45720">
            <a:spAutoFit/>
          </a:bodyPr>
          <a:lstStyle/>
          <a:p>
            <a:pPr algn="ctr"/>
            <a:r>
              <a:rPr sz="1100" b="1">
                <a:solidFill>
                  <a:srgbClr val="6EC1FF"/>
                </a:solidFill>
                <a:latin typeface="Helvetica Neue"/>
              </a:rPr>
              <a:t>build_graph (rustworkx)</a:t>
            </a:r>
          </a:p>
        </p:txBody>
      </p:sp>
      <p:sp>
        <p:nvSpPr>
          <p:cNvPr id="18" name="TextBox 17"/>
          <p:cNvSpPr txBox="1"/>
          <p:nvPr/>
        </p:nvSpPr>
        <p:spPr>
          <a:xfrm>
            <a:off x="6223863" y="2697480"/>
            <a:ext cx="1600200" cy="320040"/>
          </a:xfrm>
          <a:prstGeom prst="rect">
            <a:avLst/>
          </a:prstGeom>
          <a:noFill/>
        </p:spPr>
        <p:txBody>
          <a:bodyPr wrap="square" lIns="45720" rIns="45720">
            <a:spAutoFit/>
          </a:bodyPr>
          <a:lstStyle/>
          <a:p>
            <a:pPr algn="ctr"/>
            <a:r>
              <a:rPr sz="1000" b="0">
                <a:solidFill>
                  <a:srgbClr val="8A95A5"/>
                </a:solidFill>
                <a:latin typeface="Helvetica Neue"/>
              </a:rPr>
              <a:t>weighted undirected</a:t>
            </a:r>
          </a:p>
        </p:txBody>
      </p:sp>
      <p:cxnSp>
        <p:nvCxnSpPr>
          <p:cNvPr id="19" name="Connector 18"/>
          <p:cNvCxnSpPr/>
          <p:nvPr/>
        </p:nvCxnSpPr>
        <p:spPr>
          <a:xfrm>
            <a:off x="7869783" y="2651760"/>
            <a:ext cx="164592" cy="0"/>
          </a:xfrm>
          <a:prstGeom prst="line">
            <a:avLst/>
          </a:prstGeom>
          <a:ln w="19050">
            <a:solidFill>
              <a:srgbClr val="6EC1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034375" y="2194560"/>
            <a:ext cx="1691640" cy="914400"/>
          </a:xfrm>
          <a:prstGeom prst="roundRect">
            <a:avLst/>
          </a:prstGeom>
          <a:solidFill>
            <a:srgbClr val="1A212A"/>
          </a:solidFill>
          <a:ln w="9525">
            <a:solidFill>
              <a:srgbClr val="6EC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0095" y="2267712"/>
            <a:ext cx="1600200" cy="365760"/>
          </a:xfrm>
          <a:prstGeom prst="rect">
            <a:avLst/>
          </a:prstGeom>
          <a:noFill/>
        </p:spPr>
        <p:txBody>
          <a:bodyPr wrap="square" lIns="45720" rIns="45720">
            <a:spAutoFit/>
          </a:bodyPr>
          <a:lstStyle/>
          <a:p>
            <a:pPr algn="ctr"/>
            <a:r>
              <a:rPr sz="1100" b="1">
                <a:solidFill>
                  <a:srgbClr val="6EC1FF"/>
                </a:solidFill>
                <a:latin typeface="Helvetica Neue"/>
              </a:rPr>
              <a:t>APSP (Dijkstra ×N)</a:t>
            </a:r>
          </a:p>
        </p:txBody>
      </p:sp>
      <p:sp>
        <p:nvSpPr>
          <p:cNvPr id="22" name="TextBox 21"/>
          <p:cNvSpPr txBox="1"/>
          <p:nvPr/>
        </p:nvSpPr>
        <p:spPr>
          <a:xfrm>
            <a:off x="8080095" y="2697480"/>
            <a:ext cx="1600200" cy="320040"/>
          </a:xfrm>
          <a:prstGeom prst="rect">
            <a:avLst/>
          </a:prstGeom>
          <a:noFill/>
        </p:spPr>
        <p:txBody>
          <a:bodyPr wrap="square" lIns="45720" rIns="45720">
            <a:spAutoFit/>
          </a:bodyPr>
          <a:lstStyle/>
          <a:p>
            <a:pPr algn="ctr"/>
            <a:r>
              <a:rPr sz="1000" b="0">
                <a:solidFill>
                  <a:srgbClr val="8A95A5"/>
                </a:solidFill>
                <a:latin typeface="Helvetica Neue"/>
              </a:rPr>
              <a:t>dist.npy + next_hop.npy</a:t>
            </a:r>
          </a:p>
        </p:txBody>
      </p:sp>
      <p:cxnSp>
        <p:nvCxnSpPr>
          <p:cNvPr id="23" name="Connector 22"/>
          <p:cNvCxnSpPr/>
          <p:nvPr/>
        </p:nvCxnSpPr>
        <p:spPr>
          <a:xfrm>
            <a:off x="9726015" y="2651760"/>
            <a:ext cx="164592" cy="0"/>
          </a:xfrm>
          <a:prstGeom prst="line">
            <a:avLst/>
          </a:prstGeom>
          <a:ln w="19050">
            <a:solidFill>
              <a:srgbClr val="6EC1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890607" y="2194560"/>
            <a:ext cx="1691640" cy="914400"/>
          </a:xfrm>
          <a:prstGeom prst="roundRect">
            <a:avLst/>
          </a:prstGeom>
          <a:solidFill>
            <a:srgbClr val="1A212A"/>
          </a:solidFill>
          <a:ln w="9525">
            <a:solidFill>
              <a:srgbClr val="6EC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6327" y="2267712"/>
            <a:ext cx="1600200" cy="365760"/>
          </a:xfrm>
          <a:prstGeom prst="rect">
            <a:avLst/>
          </a:prstGeom>
          <a:noFill/>
        </p:spPr>
        <p:txBody>
          <a:bodyPr wrap="square" lIns="45720" rIns="45720">
            <a:spAutoFit/>
          </a:bodyPr>
          <a:lstStyle/>
          <a:p>
            <a:pPr algn="ctr"/>
            <a:r>
              <a:rPr sz="1100" b="1">
                <a:solidFill>
                  <a:srgbClr val="6EC1FF"/>
                </a:solidFill>
                <a:latin typeface="Helvetica Neue"/>
              </a:rPr>
              <a:t>Steiner solvers</a:t>
            </a:r>
          </a:p>
        </p:txBody>
      </p:sp>
      <p:sp>
        <p:nvSpPr>
          <p:cNvPr id="26" name="TextBox 25"/>
          <p:cNvSpPr txBox="1"/>
          <p:nvPr/>
        </p:nvSpPr>
        <p:spPr>
          <a:xfrm>
            <a:off x="9936327" y="2697480"/>
            <a:ext cx="1600200" cy="320040"/>
          </a:xfrm>
          <a:prstGeom prst="rect">
            <a:avLst/>
          </a:prstGeom>
          <a:noFill/>
        </p:spPr>
        <p:txBody>
          <a:bodyPr wrap="square" lIns="45720" rIns="45720">
            <a:spAutoFit/>
          </a:bodyPr>
          <a:lstStyle/>
          <a:p>
            <a:pPr algn="ctr"/>
            <a:r>
              <a:rPr sz="1000" b="0">
                <a:solidFill>
                  <a:srgbClr val="8A95A5"/>
                </a:solidFill>
                <a:latin typeface="Helvetica Neue"/>
              </a:rPr>
              <a:t>K2 / KMB / Yen's</a:t>
            </a:r>
          </a:p>
        </p:txBody>
      </p:sp>
      <p:sp>
        <p:nvSpPr>
          <p:cNvPr id="27" name="Rounded Rectangle 26"/>
          <p:cNvSpPr/>
          <p:nvPr/>
        </p:nvSpPr>
        <p:spPr>
          <a:xfrm>
            <a:off x="457200" y="3657600"/>
            <a:ext cx="11247120" cy="23774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3749039"/>
            <a:ext cx="10972800" cy="365760"/>
          </a:xfrm>
          <a:prstGeom prst="rect">
            <a:avLst/>
          </a:prstGeom>
          <a:noFill/>
        </p:spPr>
        <p:txBody>
          <a:bodyPr wrap="square" lIns="45720" rIns="45720">
            <a:spAutoFit/>
          </a:bodyPr>
          <a:lstStyle/>
          <a:p>
            <a:pPr algn="l"/>
            <a:r>
              <a:rPr sz="1400" b="1">
                <a:solidFill>
                  <a:srgbClr val="F2B857"/>
                </a:solidFill>
                <a:latin typeface="Helvetica Neue"/>
              </a:rPr>
              <a:t>Edge weighting (configs/default.yaml::graph)</a:t>
            </a:r>
          </a:p>
        </p:txBody>
      </p:sp>
      <p:sp>
        <p:nvSpPr>
          <p:cNvPr id="29" name="TextBox 28"/>
          <p:cNvSpPr txBox="1"/>
          <p:nvPr/>
        </p:nvSpPr>
        <p:spPr>
          <a:xfrm>
            <a:off x="640080" y="4160520"/>
            <a:ext cx="10972800" cy="1828800"/>
          </a:xfrm>
          <a:prstGeom prst="rect">
            <a:avLst/>
          </a:prstGeom>
          <a:noFill/>
        </p:spPr>
        <p:txBody>
          <a:bodyPr wrap="square">
            <a:spAutoFit/>
          </a:bodyPr>
          <a:lstStyle/>
          <a:p>
            <a:pPr algn="l">
              <a:spcAft>
                <a:spcPts val="400"/>
              </a:spcAft>
            </a:pPr>
            <a:r>
              <a:rPr sz="1200">
                <a:solidFill>
                  <a:srgbClr val="E6EAF0"/>
                </a:solidFill>
                <a:latin typeface="Helvetica Neue"/>
              </a:rPr>
              <a:t>• Aggregate-internal edges:  weight = 1.0   (cheap — same conceptual entity)</a:t>
            </a:r>
          </a:p>
          <a:p>
            <a:pPr algn="l">
              <a:spcAft>
                <a:spcPts val="400"/>
              </a:spcAft>
            </a:pPr>
            <a:r>
              <a:rPr sz="1200">
                <a:solidFill>
                  <a:srgbClr val="E6EAF0"/>
                </a:solidFill>
                <a:latin typeface="Helvetica Neue"/>
              </a:rPr>
              <a:t>• Cross-aggregate edges:     weight = 2.0   (more expensive)</a:t>
            </a:r>
          </a:p>
          <a:p>
            <a:pPr algn="l">
              <a:spcAft>
                <a:spcPts val="400"/>
              </a:spcAft>
            </a:pPr>
            <a:r>
              <a:rPr sz="1200">
                <a:solidFill>
                  <a:srgbClr val="E6EAF0"/>
                </a:solidFill>
                <a:latin typeface="Helvetica Neue"/>
              </a:rPr>
              <a:t>• Cross-domain edges:        weight = 4.0   (bias against semantic leaps)</a:t>
            </a:r>
          </a:p>
          <a:p>
            <a:pPr algn="l">
              <a:spcAft>
                <a:spcPts val="400"/>
              </a:spcAft>
            </a:pPr>
            <a:r>
              <a:rPr sz="1200">
                <a:solidFill>
                  <a:srgbClr val="E6EAF0"/>
                </a:solidFill>
                <a:latin typeface="Helvetica Neue"/>
              </a:rPr>
              <a:t>• Composite-FK edges:        weight × 0.9   (slight bonus — schema author's intent)</a:t>
            </a:r>
          </a:p>
          <a:p>
            <a:pPr algn="l">
              <a:spcAft>
                <a:spcPts val="400"/>
              </a:spcAft>
            </a:pPr>
            <a:r>
              <a:rPr sz="1200">
                <a:solidFill>
                  <a:srgbClr val="E6EAF0"/>
                </a:solidFill>
                <a:latin typeface="Helvetica Neue"/>
              </a:rPr>
              <a:t>• Reflected non-Ed-Fi edges (P7): weight = 3.0 (extension tables, treat with caution)</a:t>
            </a:r>
          </a:p>
        </p:txBody>
      </p:sp>
      <p:sp>
        <p:nvSpPr>
          <p:cNvPr id="30" name="TextBox 29"/>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Section 2 · Graph</a:t>
            </a:r>
          </a:p>
        </p:txBody>
      </p:sp>
      <p:sp>
        <p:nvSpPr>
          <p:cNvPr id="31" name="TextBox 30"/>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graph/builder.py · graph/fk_parser.py · graph/apsp.py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Steiner: minimal join paths for k tables</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Three solvers, picked by k</a:t>
            </a:r>
          </a:p>
        </p:txBody>
      </p:sp>
      <p:sp>
        <p:nvSpPr>
          <p:cNvPr id="4" name="Rounded Rectangle 3"/>
          <p:cNvSpPr/>
          <p:nvPr/>
        </p:nvSpPr>
        <p:spPr>
          <a:xfrm>
            <a:off x="457200" y="1554480"/>
            <a:ext cx="11247120" cy="137160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39"/>
            <a:ext cx="1280160" cy="365760"/>
          </a:xfrm>
          <a:prstGeom prst="rect">
            <a:avLst/>
          </a:prstGeom>
          <a:noFill/>
        </p:spPr>
        <p:txBody>
          <a:bodyPr wrap="square" lIns="45720" rIns="45720">
            <a:spAutoFit/>
          </a:bodyPr>
          <a:lstStyle/>
          <a:p>
            <a:pPr algn="l"/>
            <a:r>
              <a:rPr sz="1800" b="1">
                <a:solidFill>
                  <a:srgbClr val="4AD09C"/>
                </a:solidFill>
                <a:latin typeface="Helvetica Neue"/>
              </a:rPr>
              <a:t>k = 2</a:t>
            </a:r>
          </a:p>
        </p:txBody>
      </p:sp>
      <p:sp>
        <p:nvSpPr>
          <p:cNvPr id="6" name="TextBox 5"/>
          <p:cNvSpPr txBox="1"/>
          <p:nvPr/>
        </p:nvSpPr>
        <p:spPr>
          <a:xfrm>
            <a:off x="2011680" y="1691639"/>
            <a:ext cx="9784080" cy="365760"/>
          </a:xfrm>
          <a:prstGeom prst="rect">
            <a:avLst/>
          </a:prstGeom>
          <a:noFill/>
        </p:spPr>
        <p:txBody>
          <a:bodyPr wrap="square" lIns="45720" rIns="45720">
            <a:spAutoFit/>
          </a:bodyPr>
          <a:lstStyle/>
          <a:p>
            <a:pPr algn="l"/>
            <a:r>
              <a:rPr sz="1400" b="1">
                <a:solidFill>
                  <a:srgbClr val="E6EAF0"/>
                </a:solidFill>
                <a:latin typeface="Helvetica Neue"/>
              </a:rPr>
              <a:t>Bidirectional Dijkstra → top-3 via Yen's k-shortest</a:t>
            </a:r>
          </a:p>
        </p:txBody>
      </p:sp>
      <p:sp>
        <p:nvSpPr>
          <p:cNvPr id="7" name="TextBox 6"/>
          <p:cNvSpPr txBox="1"/>
          <p:nvPr/>
        </p:nvSpPr>
        <p:spPr>
          <a:xfrm>
            <a:off x="2011680" y="2103120"/>
            <a:ext cx="7955279" cy="640080"/>
          </a:xfrm>
          <a:prstGeom prst="rect">
            <a:avLst/>
          </a:prstGeom>
          <a:noFill/>
        </p:spPr>
        <p:txBody>
          <a:bodyPr wrap="square" lIns="45720" rIns="45720">
            <a:spAutoFit/>
          </a:bodyPr>
          <a:lstStyle/>
          <a:p>
            <a:pPr algn="l"/>
            <a:r>
              <a:rPr sz="1200" b="0">
                <a:solidFill>
                  <a:srgbClr val="8A95A5"/>
                </a:solidFill>
                <a:latin typeface="Helvetica Neue"/>
              </a:rPr>
              <a:t>Returns 3 candidate paths so the LLM can pick whichever joins best read.</a:t>
            </a:r>
          </a:p>
        </p:txBody>
      </p:sp>
      <p:sp>
        <p:nvSpPr>
          <p:cNvPr id="8" name="TextBox 7"/>
          <p:cNvSpPr txBox="1"/>
          <p:nvPr/>
        </p:nvSpPr>
        <p:spPr>
          <a:xfrm>
            <a:off x="9966960" y="2103120"/>
            <a:ext cx="1828800" cy="365760"/>
          </a:xfrm>
          <a:prstGeom prst="rect">
            <a:avLst/>
          </a:prstGeom>
          <a:noFill/>
        </p:spPr>
        <p:txBody>
          <a:bodyPr wrap="square" lIns="45720" rIns="45720">
            <a:spAutoFit/>
          </a:bodyPr>
          <a:lstStyle/>
          <a:p>
            <a:pPr algn="r"/>
            <a:r>
              <a:rPr sz="1100" b="0">
                <a:solidFill>
                  <a:srgbClr val="6EC1FF"/>
                </a:solidFill>
                <a:latin typeface="Helvetica Neue"/>
              </a:rPr>
              <a:t>&lt;5ms cold, &lt;0.5ms warm</a:t>
            </a:r>
          </a:p>
        </p:txBody>
      </p:sp>
      <p:sp>
        <p:nvSpPr>
          <p:cNvPr id="9" name="Rounded Rectangle 8"/>
          <p:cNvSpPr/>
          <p:nvPr/>
        </p:nvSpPr>
        <p:spPr>
          <a:xfrm>
            <a:off x="457200" y="3063239"/>
            <a:ext cx="11247120" cy="137160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200399"/>
            <a:ext cx="1280160" cy="365760"/>
          </a:xfrm>
          <a:prstGeom prst="rect">
            <a:avLst/>
          </a:prstGeom>
          <a:noFill/>
        </p:spPr>
        <p:txBody>
          <a:bodyPr wrap="square" lIns="45720" rIns="45720">
            <a:spAutoFit/>
          </a:bodyPr>
          <a:lstStyle/>
          <a:p>
            <a:pPr algn="l"/>
            <a:r>
              <a:rPr sz="1800" b="1">
                <a:solidFill>
                  <a:srgbClr val="F2B857"/>
                </a:solidFill>
                <a:latin typeface="Helvetica Neue"/>
              </a:rPr>
              <a:t>k ≥ 3</a:t>
            </a:r>
          </a:p>
        </p:txBody>
      </p:sp>
      <p:sp>
        <p:nvSpPr>
          <p:cNvPr id="11" name="TextBox 10"/>
          <p:cNvSpPr txBox="1"/>
          <p:nvPr/>
        </p:nvSpPr>
        <p:spPr>
          <a:xfrm>
            <a:off x="2011680" y="3200399"/>
            <a:ext cx="9784080" cy="365760"/>
          </a:xfrm>
          <a:prstGeom prst="rect">
            <a:avLst/>
          </a:prstGeom>
          <a:noFill/>
        </p:spPr>
        <p:txBody>
          <a:bodyPr wrap="square" lIns="45720" rIns="45720">
            <a:spAutoFit/>
          </a:bodyPr>
          <a:lstStyle/>
          <a:p>
            <a:pPr algn="l"/>
            <a:r>
              <a:rPr sz="1400" b="1">
                <a:solidFill>
                  <a:srgbClr val="E6EAF0"/>
                </a:solidFill>
                <a:latin typeface="Helvetica Neue"/>
              </a:rPr>
              <a:t>KMB approximation (Kou–Markowsky–Berman)</a:t>
            </a:r>
          </a:p>
        </p:txBody>
      </p:sp>
      <p:sp>
        <p:nvSpPr>
          <p:cNvPr id="12" name="TextBox 11"/>
          <p:cNvSpPr txBox="1"/>
          <p:nvPr/>
        </p:nvSpPr>
        <p:spPr>
          <a:xfrm>
            <a:off x="2011680" y="3611879"/>
            <a:ext cx="7955279" cy="640080"/>
          </a:xfrm>
          <a:prstGeom prst="rect">
            <a:avLst/>
          </a:prstGeom>
          <a:noFill/>
        </p:spPr>
        <p:txBody>
          <a:bodyPr wrap="square" lIns="45720" rIns="45720">
            <a:spAutoFit/>
          </a:bodyPr>
          <a:lstStyle/>
          <a:p>
            <a:pPr algn="l"/>
            <a:r>
              <a:rPr sz="1200" b="0">
                <a:solidFill>
                  <a:srgbClr val="8A95A5"/>
                </a:solidFill>
                <a:latin typeface="Helvetica Neue"/>
              </a:rPr>
              <a:t>Polynomial-time 2-approximation. Good enough for typical k=3-5.</a:t>
            </a:r>
          </a:p>
        </p:txBody>
      </p:sp>
      <p:sp>
        <p:nvSpPr>
          <p:cNvPr id="13" name="TextBox 12"/>
          <p:cNvSpPr txBox="1"/>
          <p:nvPr/>
        </p:nvSpPr>
        <p:spPr>
          <a:xfrm>
            <a:off x="9966960" y="3611879"/>
            <a:ext cx="1828800" cy="365760"/>
          </a:xfrm>
          <a:prstGeom prst="rect">
            <a:avLst/>
          </a:prstGeom>
          <a:noFill/>
        </p:spPr>
        <p:txBody>
          <a:bodyPr wrap="square" lIns="45720" rIns="45720">
            <a:spAutoFit/>
          </a:bodyPr>
          <a:lstStyle/>
          <a:p>
            <a:pPr algn="r"/>
            <a:r>
              <a:rPr sz="1100" b="0">
                <a:solidFill>
                  <a:srgbClr val="6EC1FF"/>
                </a:solidFill>
                <a:latin typeface="Helvetica Neue"/>
              </a:rPr>
              <a:t>&lt;50ms</a:t>
            </a:r>
          </a:p>
        </p:txBody>
      </p:sp>
      <p:sp>
        <p:nvSpPr>
          <p:cNvPr id="14" name="Rounded Rectangle 13"/>
          <p:cNvSpPr/>
          <p:nvPr/>
        </p:nvSpPr>
        <p:spPr>
          <a:xfrm>
            <a:off x="457200" y="4572000"/>
            <a:ext cx="11247120" cy="137160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709160"/>
            <a:ext cx="1280160" cy="365760"/>
          </a:xfrm>
          <a:prstGeom prst="rect">
            <a:avLst/>
          </a:prstGeom>
          <a:noFill/>
        </p:spPr>
        <p:txBody>
          <a:bodyPr wrap="square" lIns="45720" rIns="45720">
            <a:spAutoFit/>
          </a:bodyPr>
          <a:lstStyle/>
          <a:p>
            <a:pPr algn="l"/>
            <a:r>
              <a:rPr sz="1800" b="1">
                <a:solidFill>
                  <a:srgbClr val="E56B6B"/>
                </a:solidFill>
                <a:latin typeface="Helvetica Neue"/>
              </a:rPr>
              <a:t>k &gt; 8</a:t>
            </a:r>
          </a:p>
        </p:txBody>
      </p:sp>
      <p:sp>
        <p:nvSpPr>
          <p:cNvPr id="16" name="TextBox 15"/>
          <p:cNvSpPr txBox="1"/>
          <p:nvPr/>
        </p:nvSpPr>
        <p:spPr>
          <a:xfrm>
            <a:off x="2011680" y="4709160"/>
            <a:ext cx="9784080" cy="365760"/>
          </a:xfrm>
          <a:prstGeom prst="rect">
            <a:avLst/>
          </a:prstGeom>
          <a:noFill/>
        </p:spPr>
        <p:txBody>
          <a:bodyPr wrap="square" lIns="45720" rIns="45720">
            <a:spAutoFit/>
          </a:bodyPr>
          <a:lstStyle/>
          <a:p>
            <a:pPr algn="l"/>
            <a:r>
              <a:rPr sz="1400" b="1">
                <a:solidFill>
                  <a:srgbClr val="E6EAF0"/>
                </a:solidFill>
                <a:latin typeface="Helvetica Neue"/>
              </a:rPr>
              <a:t>Greedy fallback + LLM-pruned candidate set</a:t>
            </a:r>
          </a:p>
        </p:txBody>
      </p:sp>
      <p:sp>
        <p:nvSpPr>
          <p:cNvPr id="17" name="TextBox 16"/>
          <p:cNvSpPr txBox="1"/>
          <p:nvPr/>
        </p:nvSpPr>
        <p:spPr>
          <a:xfrm>
            <a:off x="2011680" y="5120640"/>
            <a:ext cx="7955279" cy="640080"/>
          </a:xfrm>
          <a:prstGeom prst="rect">
            <a:avLst/>
          </a:prstGeom>
          <a:noFill/>
        </p:spPr>
        <p:txBody>
          <a:bodyPr wrap="square" lIns="45720" rIns="45720">
            <a:spAutoFit/>
          </a:bodyPr>
          <a:lstStyle/>
          <a:p>
            <a:pPr algn="l"/>
            <a:r>
              <a:rPr sz="1200" b="0">
                <a:solidFill>
                  <a:srgbClr val="8A95A5"/>
                </a:solidFill>
                <a:latin typeface="Helvetica Neue"/>
              </a:rPr>
              <a:t>Ed-Fi questions rarely span &gt;8 tables; trade optimality for latency.</a:t>
            </a:r>
          </a:p>
        </p:txBody>
      </p:sp>
      <p:sp>
        <p:nvSpPr>
          <p:cNvPr id="18" name="TextBox 17"/>
          <p:cNvSpPr txBox="1"/>
          <p:nvPr/>
        </p:nvSpPr>
        <p:spPr>
          <a:xfrm>
            <a:off x="9966960" y="5120640"/>
            <a:ext cx="1828800" cy="365760"/>
          </a:xfrm>
          <a:prstGeom prst="rect">
            <a:avLst/>
          </a:prstGeom>
          <a:noFill/>
        </p:spPr>
        <p:txBody>
          <a:bodyPr wrap="square" lIns="45720" rIns="45720">
            <a:spAutoFit/>
          </a:bodyPr>
          <a:lstStyle/>
          <a:p>
            <a:pPr algn="r"/>
            <a:r>
              <a:rPr sz="1100" b="0">
                <a:solidFill>
                  <a:srgbClr val="6EC1FF"/>
                </a:solidFill>
                <a:latin typeface="Helvetica Neue"/>
              </a:rPr>
              <a:t>&lt;200ms</a:t>
            </a:r>
          </a:p>
        </p:txBody>
      </p:sp>
      <p:sp>
        <p:nvSpPr>
          <p:cNvPr id="19" name="TextBox 18"/>
          <p:cNvSpPr txBox="1"/>
          <p:nvPr/>
        </p:nvSpPr>
        <p:spPr>
          <a:xfrm>
            <a:off x="457200" y="6035040"/>
            <a:ext cx="11247120" cy="365760"/>
          </a:xfrm>
          <a:prstGeom prst="rect">
            <a:avLst/>
          </a:prstGeom>
          <a:noFill/>
        </p:spPr>
        <p:txBody>
          <a:bodyPr wrap="square" lIns="45720" rIns="45720">
            <a:spAutoFit/>
          </a:bodyPr>
          <a:lstStyle/>
          <a:p>
            <a:pPr algn="ctr"/>
            <a:r>
              <a:rPr sz="1300" b="0">
                <a:solidFill>
                  <a:srgbClr val="6EC1FF"/>
                </a:solidFill>
                <a:latin typeface="Helvetica Neue"/>
              </a:rPr>
              <a:t>Result: ready-to-paste JOIN clauses with composite-column tuples preserved</a:t>
            </a:r>
          </a:p>
        </p:txBody>
      </p:sp>
      <p:sp>
        <p:nvSpPr>
          <p:cNvPr id="20" name="TextBox 19"/>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Section 2 · Graph</a:t>
            </a:r>
          </a:p>
        </p:txBody>
      </p:sp>
      <p:sp>
        <p:nvSpPr>
          <p:cNvPr id="21" name="TextBox 20"/>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graph/steiner.py · graph/joins.py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Graph: scale + on-disk shape</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What the artifacts look like</a:t>
            </a:r>
          </a:p>
        </p:txBody>
      </p:sp>
      <p:sp>
        <p:nvSpPr>
          <p:cNvPr id="4" name="Rounded Rectangle 3"/>
          <p:cNvSpPr/>
          <p:nvPr/>
        </p:nvSpPr>
        <p:spPr>
          <a:xfrm>
            <a:off x="457200" y="1463040"/>
            <a:ext cx="5577840" cy="4754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212080" cy="365760"/>
          </a:xfrm>
          <a:prstGeom prst="rect">
            <a:avLst/>
          </a:prstGeom>
          <a:noFill/>
        </p:spPr>
        <p:txBody>
          <a:bodyPr wrap="square" lIns="45720" rIns="45720">
            <a:spAutoFit/>
          </a:bodyPr>
          <a:lstStyle/>
          <a:p>
            <a:pPr algn="l"/>
            <a:r>
              <a:rPr sz="1600" b="1">
                <a:solidFill>
                  <a:srgbClr val="6EC1FF"/>
                </a:solidFill>
                <a:latin typeface="Helvetica Neue"/>
              </a:rPr>
              <a:t>Numbers (DS 6.1.0)</a:t>
            </a:r>
          </a:p>
        </p:txBody>
      </p:sp>
      <p:sp>
        <p:nvSpPr>
          <p:cNvPr id="6" name="TextBox 5"/>
          <p:cNvSpPr txBox="1"/>
          <p:nvPr/>
        </p:nvSpPr>
        <p:spPr>
          <a:xfrm>
            <a:off x="640080" y="1920240"/>
            <a:ext cx="3108960" cy="320040"/>
          </a:xfrm>
          <a:prstGeom prst="rect">
            <a:avLst/>
          </a:prstGeom>
          <a:noFill/>
        </p:spPr>
        <p:txBody>
          <a:bodyPr wrap="square" lIns="45720" rIns="45720">
            <a:spAutoFit/>
          </a:bodyPr>
          <a:lstStyle/>
          <a:p>
            <a:pPr algn="l"/>
            <a:r>
              <a:rPr sz="1200" b="0">
                <a:solidFill>
                  <a:srgbClr val="8A95A5"/>
                </a:solidFill>
                <a:latin typeface="Helvetica Neue"/>
              </a:rPr>
              <a:t>Tables (nodes)</a:t>
            </a:r>
          </a:p>
        </p:txBody>
      </p:sp>
      <p:sp>
        <p:nvSpPr>
          <p:cNvPr id="7" name="TextBox 6"/>
          <p:cNvSpPr txBox="1"/>
          <p:nvPr/>
        </p:nvSpPr>
        <p:spPr>
          <a:xfrm>
            <a:off x="3749039" y="1920240"/>
            <a:ext cx="2286000" cy="320040"/>
          </a:xfrm>
          <a:prstGeom prst="rect">
            <a:avLst/>
          </a:prstGeom>
          <a:noFill/>
        </p:spPr>
        <p:txBody>
          <a:bodyPr wrap="square" lIns="45720" rIns="45720">
            <a:spAutoFit/>
          </a:bodyPr>
          <a:lstStyle/>
          <a:p>
            <a:pPr algn="l"/>
            <a:r>
              <a:rPr sz="1200" b="1">
                <a:solidFill>
                  <a:srgbClr val="E6EAF0"/>
                </a:solidFill>
                <a:latin typeface="Helvetica Neue"/>
              </a:rPr>
              <a:t>~1048</a:t>
            </a:r>
          </a:p>
        </p:txBody>
      </p:sp>
      <p:sp>
        <p:nvSpPr>
          <p:cNvPr id="8" name="TextBox 7"/>
          <p:cNvSpPr txBox="1"/>
          <p:nvPr/>
        </p:nvSpPr>
        <p:spPr>
          <a:xfrm>
            <a:off x="640080" y="2304288"/>
            <a:ext cx="3108960" cy="320040"/>
          </a:xfrm>
          <a:prstGeom prst="rect">
            <a:avLst/>
          </a:prstGeom>
          <a:noFill/>
        </p:spPr>
        <p:txBody>
          <a:bodyPr wrap="square" lIns="45720" rIns="45720">
            <a:spAutoFit/>
          </a:bodyPr>
          <a:lstStyle/>
          <a:p>
            <a:pPr algn="l"/>
            <a:r>
              <a:rPr sz="1200" b="0">
                <a:solidFill>
                  <a:srgbClr val="8A95A5"/>
                </a:solidFill>
                <a:latin typeface="Helvetica Neue"/>
              </a:rPr>
              <a:t>FK constraints</a:t>
            </a:r>
          </a:p>
        </p:txBody>
      </p:sp>
      <p:sp>
        <p:nvSpPr>
          <p:cNvPr id="9" name="TextBox 8"/>
          <p:cNvSpPr txBox="1"/>
          <p:nvPr/>
        </p:nvSpPr>
        <p:spPr>
          <a:xfrm>
            <a:off x="3749039" y="2304288"/>
            <a:ext cx="2286000" cy="320040"/>
          </a:xfrm>
          <a:prstGeom prst="rect">
            <a:avLst/>
          </a:prstGeom>
          <a:noFill/>
        </p:spPr>
        <p:txBody>
          <a:bodyPr wrap="square" lIns="45720" rIns="45720">
            <a:spAutoFit/>
          </a:bodyPr>
          <a:lstStyle/>
          <a:p>
            <a:pPr algn="l"/>
            <a:r>
              <a:rPr sz="1200" b="1">
                <a:solidFill>
                  <a:srgbClr val="E6EAF0"/>
                </a:solidFill>
                <a:latin typeface="Helvetica Neue"/>
              </a:rPr>
              <a:t>~1900 (after composite-FK collapse)</a:t>
            </a:r>
          </a:p>
        </p:txBody>
      </p:sp>
      <p:sp>
        <p:nvSpPr>
          <p:cNvPr id="10" name="TextBox 9"/>
          <p:cNvSpPr txBox="1"/>
          <p:nvPr/>
        </p:nvSpPr>
        <p:spPr>
          <a:xfrm>
            <a:off x="640080" y="2688336"/>
            <a:ext cx="3108960" cy="320040"/>
          </a:xfrm>
          <a:prstGeom prst="rect">
            <a:avLst/>
          </a:prstGeom>
          <a:noFill/>
        </p:spPr>
        <p:txBody>
          <a:bodyPr wrap="square" lIns="45720" rIns="45720">
            <a:spAutoFit/>
          </a:bodyPr>
          <a:lstStyle/>
          <a:p>
            <a:pPr algn="l"/>
            <a:r>
              <a:rPr sz="1200" b="0">
                <a:solidFill>
                  <a:srgbClr val="8A95A5"/>
                </a:solidFill>
                <a:latin typeface="Helvetica Neue"/>
              </a:rPr>
              <a:t>APSP matrix</a:t>
            </a:r>
          </a:p>
        </p:txBody>
      </p:sp>
      <p:sp>
        <p:nvSpPr>
          <p:cNvPr id="11" name="TextBox 10"/>
          <p:cNvSpPr txBox="1"/>
          <p:nvPr/>
        </p:nvSpPr>
        <p:spPr>
          <a:xfrm>
            <a:off x="3749039" y="2688336"/>
            <a:ext cx="2286000" cy="320040"/>
          </a:xfrm>
          <a:prstGeom prst="rect">
            <a:avLst/>
          </a:prstGeom>
          <a:noFill/>
        </p:spPr>
        <p:txBody>
          <a:bodyPr wrap="square" lIns="45720" rIns="45720">
            <a:spAutoFit/>
          </a:bodyPr>
          <a:lstStyle/>
          <a:p>
            <a:pPr algn="l"/>
            <a:r>
              <a:rPr sz="1200" b="1">
                <a:solidFill>
                  <a:srgbClr val="E6EAF0"/>
                </a:solidFill>
                <a:latin typeface="Helvetica Neue"/>
              </a:rPr>
              <a:t>1048 × 1048 int32</a:t>
            </a:r>
          </a:p>
        </p:txBody>
      </p:sp>
      <p:sp>
        <p:nvSpPr>
          <p:cNvPr id="12" name="TextBox 11"/>
          <p:cNvSpPr txBox="1"/>
          <p:nvPr/>
        </p:nvSpPr>
        <p:spPr>
          <a:xfrm>
            <a:off x="640080" y="3072384"/>
            <a:ext cx="3108960" cy="320040"/>
          </a:xfrm>
          <a:prstGeom prst="rect">
            <a:avLst/>
          </a:prstGeom>
          <a:noFill/>
        </p:spPr>
        <p:txBody>
          <a:bodyPr wrap="square" lIns="45720" rIns="45720">
            <a:spAutoFit/>
          </a:bodyPr>
          <a:lstStyle/>
          <a:p>
            <a:pPr algn="l"/>
            <a:r>
              <a:rPr sz="1200" b="0">
                <a:solidFill>
                  <a:srgbClr val="8A95A5"/>
                </a:solidFill>
                <a:latin typeface="Helvetica Neue"/>
              </a:rPr>
              <a:t>dist.npy</a:t>
            </a:r>
          </a:p>
        </p:txBody>
      </p:sp>
      <p:sp>
        <p:nvSpPr>
          <p:cNvPr id="13" name="TextBox 12"/>
          <p:cNvSpPr txBox="1"/>
          <p:nvPr/>
        </p:nvSpPr>
        <p:spPr>
          <a:xfrm>
            <a:off x="3749039" y="3072384"/>
            <a:ext cx="2286000" cy="320040"/>
          </a:xfrm>
          <a:prstGeom prst="rect">
            <a:avLst/>
          </a:prstGeom>
          <a:noFill/>
        </p:spPr>
        <p:txBody>
          <a:bodyPr wrap="square" lIns="45720" rIns="45720">
            <a:spAutoFit/>
          </a:bodyPr>
          <a:lstStyle/>
          <a:p>
            <a:pPr algn="l"/>
            <a:r>
              <a:rPr sz="1200" b="1">
                <a:solidFill>
                  <a:srgbClr val="E6EAF0"/>
                </a:solidFill>
                <a:latin typeface="Helvetica Neue"/>
              </a:rPr>
              <a:t>~4.2 MB</a:t>
            </a:r>
          </a:p>
        </p:txBody>
      </p:sp>
      <p:sp>
        <p:nvSpPr>
          <p:cNvPr id="14" name="TextBox 13"/>
          <p:cNvSpPr txBox="1"/>
          <p:nvPr/>
        </p:nvSpPr>
        <p:spPr>
          <a:xfrm>
            <a:off x="640080" y="3456432"/>
            <a:ext cx="3108960" cy="320040"/>
          </a:xfrm>
          <a:prstGeom prst="rect">
            <a:avLst/>
          </a:prstGeom>
          <a:noFill/>
        </p:spPr>
        <p:txBody>
          <a:bodyPr wrap="square" lIns="45720" rIns="45720">
            <a:spAutoFit/>
          </a:bodyPr>
          <a:lstStyle/>
          <a:p>
            <a:pPr algn="l"/>
            <a:r>
              <a:rPr sz="1200" b="0">
                <a:solidFill>
                  <a:srgbClr val="8A95A5"/>
                </a:solidFill>
                <a:latin typeface="Helvetica Neue"/>
              </a:rPr>
              <a:t>next_hop.npy</a:t>
            </a:r>
          </a:p>
        </p:txBody>
      </p:sp>
      <p:sp>
        <p:nvSpPr>
          <p:cNvPr id="15" name="TextBox 14"/>
          <p:cNvSpPr txBox="1"/>
          <p:nvPr/>
        </p:nvSpPr>
        <p:spPr>
          <a:xfrm>
            <a:off x="3749039" y="3456432"/>
            <a:ext cx="2286000" cy="320040"/>
          </a:xfrm>
          <a:prstGeom prst="rect">
            <a:avLst/>
          </a:prstGeom>
          <a:noFill/>
        </p:spPr>
        <p:txBody>
          <a:bodyPr wrap="square" lIns="45720" rIns="45720">
            <a:spAutoFit/>
          </a:bodyPr>
          <a:lstStyle/>
          <a:p>
            <a:pPr algn="l"/>
            <a:r>
              <a:rPr sz="1200" b="1">
                <a:solidFill>
                  <a:srgbClr val="E6EAF0"/>
                </a:solidFill>
                <a:latin typeface="Helvetica Neue"/>
              </a:rPr>
              <a:t>~4.2 MB</a:t>
            </a:r>
          </a:p>
        </p:txBody>
      </p:sp>
      <p:sp>
        <p:nvSpPr>
          <p:cNvPr id="16" name="TextBox 15"/>
          <p:cNvSpPr txBox="1"/>
          <p:nvPr/>
        </p:nvSpPr>
        <p:spPr>
          <a:xfrm>
            <a:off x="640080" y="3840480"/>
            <a:ext cx="3108960" cy="320040"/>
          </a:xfrm>
          <a:prstGeom prst="rect">
            <a:avLst/>
          </a:prstGeom>
          <a:noFill/>
        </p:spPr>
        <p:txBody>
          <a:bodyPr wrap="square" lIns="45720" rIns="45720">
            <a:spAutoFit/>
          </a:bodyPr>
          <a:lstStyle/>
          <a:p>
            <a:pPr algn="l"/>
            <a:r>
              <a:rPr sz="1200" b="0">
                <a:solidFill>
                  <a:srgbClr val="8A95A5"/>
                </a:solidFill>
                <a:latin typeface="Helvetica Neue"/>
              </a:rPr>
              <a:t>edge_meta.msgpack</a:t>
            </a:r>
          </a:p>
        </p:txBody>
      </p:sp>
      <p:sp>
        <p:nvSpPr>
          <p:cNvPr id="17" name="TextBox 16"/>
          <p:cNvSpPr txBox="1"/>
          <p:nvPr/>
        </p:nvSpPr>
        <p:spPr>
          <a:xfrm>
            <a:off x="3749039" y="3840480"/>
            <a:ext cx="2286000" cy="320040"/>
          </a:xfrm>
          <a:prstGeom prst="rect">
            <a:avLst/>
          </a:prstGeom>
          <a:noFill/>
        </p:spPr>
        <p:txBody>
          <a:bodyPr wrap="square" lIns="45720" rIns="45720">
            <a:spAutoFit/>
          </a:bodyPr>
          <a:lstStyle/>
          <a:p>
            <a:pPr algn="l"/>
            <a:r>
              <a:rPr sz="1200" b="1">
                <a:solidFill>
                  <a:srgbClr val="E6EAF0"/>
                </a:solidFill>
                <a:latin typeface="Helvetica Neue"/>
              </a:rPr>
              <a:t>~120 KB (column-pair metadata)</a:t>
            </a:r>
          </a:p>
        </p:txBody>
      </p:sp>
      <p:sp>
        <p:nvSpPr>
          <p:cNvPr id="18" name="TextBox 17"/>
          <p:cNvSpPr txBox="1"/>
          <p:nvPr/>
        </p:nvSpPr>
        <p:spPr>
          <a:xfrm>
            <a:off x="640080" y="4224528"/>
            <a:ext cx="3108960" cy="320040"/>
          </a:xfrm>
          <a:prstGeom prst="rect">
            <a:avLst/>
          </a:prstGeom>
          <a:noFill/>
        </p:spPr>
        <p:txBody>
          <a:bodyPr wrap="square" lIns="45720" rIns="45720">
            <a:spAutoFit/>
          </a:bodyPr>
          <a:lstStyle/>
          <a:p>
            <a:pPr algn="l"/>
            <a:r>
              <a:rPr sz="1200" b="0">
                <a:solidFill>
                  <a:srgbClr val="8A95A5"/>
                </a:solidFill>
                <a:latin typeface="Helvetica Neue"/>
              </a:rPr>
              <a:t>Cold load (mmap)</a:t>
            </a:r>
          </a:p>
        </p:txBody>
      </p:sp>
      <p:sp>
        <p:nvSpPr>
          <p:cNvPr id="19" name="TextBox 18"/>
          <p:cNvSpPr txBox="1"/>
          <p:nvPr/>
        </p:nvSpPr>
        <p:spPr>
          <a:xfrm>
            <a:off x="3749039" y="4224528"/>
            <a:ext cx="2286000" cy="320040"/>
          </a:xfrm>
          <a:prstGeom prst="rect">
            <a:avLst/>
          </a:prstGeom>
          <a:noFill/>
        </p:spPr>
        <p:txBody>
          <a:bodyPr wrap="square" lIns="45720" rIns="45720">
            <a:spAutoFit/>
          </a:bodyPr>
          <a:lstStyle/>
          <a:p>
            <a:pPr algn="l"/>
            <a:r>
              <a:rPr sz="1200" b="1">
                <a:solidFill>
                  <a:srgbClr val="E6EAF0"/>
                </a:solidFill>
                <a:latin typeface="Helvetica Neue"/>
              </a:rPr>
              <a:t>&lt;80 ms</a:t>
            </a:r>
          </a:p>
        </p:txBody>
      </p:sp>
      <p:sp>
        <p:nvSpPr>
          <p:cNvPr id="20" name="TextBox 19"/>
          <p:cNvSpPr txBox="1"/>
          <p:nvPr/>
        </p:nvSpPr>
        <p:spPr>
          <a:xfrm>
            <a:off x="640080" y="4608576"/>
            <a:ext cx="3108960" cy="320040"/>
          </a:xfrm>
          <a:prstGeom prst="rect">
            <a:avLst/>
          </a:prstGeom>
          <a:noFill/>
        </p:spPr>
        <p:txBody>
          <a:bodyPr wrap="square" lIns="45720" rIns="45720">
            <a:spAutoFit/>
          </a:bodyPr>
          <a:lstStyle/>
          <a:p>
            <a:pPr algn="l"/>
            <a:r>
              <a:rPr sz="1200" b="0">
                <a:solidFill>
                  <a:srgbClr val="8A95A5"/>
                </a:solidFill>
                <a:latin typeface="Helvetica Neue"/>
              </a:rPr>
              <a:t>Steiner cache hit rate</a:t>
            </a:r>
          </a:p>
        </p:txBody>
      </p:sp>
      <p:sp>
        <p:nvSpPr>
          <p:cNvPr id="21" name="TextBox 20"/>
          <p:cNvSpPr txBox="1"/>
          <p:nvPr/>
        </p:nvSpPr>
        <p:spPr>
          <a:xfrm>
            <a:off x="3749039" y="4608576"/>
            <a:ext cx="2286000" cy="320040"/>
          </a:xfrm>
          <a:prstGeom prst="rect">
            <a:avLst/>
          </a:prstGeom>
          <a:noFill/>
        </p:spPr>
        <p:txBody>
          <a:bodyPr wrap="square" lIns="45720" rIns="45720">
            <a:spAutoFit/>
          </a:bodyPr>
          <a:lstStyle/>
          <a:p>
            <a:pPr algn="l"/>
            <a:r>
              <a:rPr sz="1200" b="1">
                <a:solidFill>
                  <a:srgbClr val="E6EAF0"/>
                </a:solidFill>
                <a:latin typeface="Helvetica Neue"/>
              </a:rPr>
              <a:t>~85% in eval suite</a:t>
            </a:r>
          </a:p>
        </p:txBody>
      </p:sp>
      <p:sp>
        <p:nvSpPr>
          <p:cNvPr id="22" name="Rounded Rectangle 21"/>
          <p:cNvSpPr/>
          <p:nvPr/>
        </p:nvSpPr>
        <p:spPr>
          <a:xfrm>
            <a:off x="6263640" y="1463040"/>
            <a:ext cx="5577840" cy="4754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1554480"/>
            <a:ext cx="5212080" cy="365760"/>
          </a:xfrm>
          <a:prstGeom prst="rect">
            <a:avLst/>
          </a:prstGeom>
          <a:noFill/>
        </p:spPr>
        <p:txBody>
          <a:bodyPr wrap="square" lIns="45720" rIns="45720">
            <a:spAutoFit/>
          </a:bodyPr>
          <a:lstStyle/>
          <a:p>
            <a:pPr algn="l"/>
            <a:r>
              <a:rPr sz="1600" b="1">
                <a:solidFill>
                  <a:srgbClr val="6EC1FF"/>
                </a:solidFill>
                <a:latin typeface="Helvetica Neue"/>
              </a:rPr>
              <a:t>Artifacts on disk</a:t>
            </a:r>
          </a:p>
        </p:txBody>
      </p:sp>
      <p:sp>
        <p:nvSpPr>
          <p:cNvPr id="24" name="TextBox 23"/>
          <p:cNvSpPr txBox="1"/>
          <p:nvPr/>
        </p:nvSpPr>
        <p:spPr>
          <a:xfrm>
            <a:off x="6446520" y="1920240"/>
            <a:ext cx="5212080" cy="292608"/>
          </a:xfrm>
          <a:prstGeom prst="rect">
            <a:avLst/>
          </a:prstGeom>
          <a:noFill/>
        </p:spPr>
        <p:txBody>
          <a:bodyPr wrap="square" lIns="45720" rIns="45720">
            <a:spAutoFit/>
          </a:bodyPr>
          <a:lstStyle/>
          <a:p>
            <a:pPr algn="l"/>
            <a:r>
              <a:rPr sz="1100" b="0">
                <a:solidFill>
                  <a:srgbClr val="E6EAF0"/>
                </a:solidFill>
                <a:latin typeface="Helvetica Neue"/>
              </a:rPr>
              <a:t>data/artifacts/per_provider/&lt;name&gt;/</a:t>
            </a:r>
          </a:p>
        </p:txBody>
      </p:sp>
      <p:sp>
        <p:nvSpPr>
          <p:cNvPr id="25" name="TextBox 24"/>
          <p:cNvSpPr txBox="1"/>
          <p:nvPr/>
        </p:nvSpPr>
        <p:spPr>
          <a:xfrm>
            <a:off x="6446520" y="2249424"/>
            <a:ext cx="5212080" cy="292608"/>
          </a:xfrm>
          <a:prstGeom prst="rect">
            <a:avLst/>
          </a:prstGeom>
          <a:noFill/>
        </p:spPr>
        <p:txBody>
          <a:bodyPr wrap="square" lIns="45720" rIns="45720">
            <a:spAutoFit/>
          </a:bodyPr>
          <a:lstStyle/>
          <a:p>
            <a:pPr algn="l"/>
            <a:r>
              <a:rPr sz="1100" b="0">
                <a:solidFill>
                  <a:srgbClr val="8A95A5"/>
                </a:solidFill>
                <a:latin typeface="Helvetica Neue"/>
              </a:rPr>
              <a:t>  graph/</a:t>
            </a:r>
          </a:p>
        </p:txBody>
      </p:sp>
      <p:sp>
        <p:nvSpPr>
          <p:cNvPr id="26" name="TextBox 25"/>
          <p:cNvSpPr txBox="1"/>
          <p:nvPr/>
        </p:nvSpPr>
        <p:spPr>
          <a:xfrm>
            <a:off x="6446520" y="2578608"/>
            <a:ext cx="5212080" cy="292608"/>
          </a:xfrm>
          <a:prstGeom prst="rect">
            <a:avLst/>
          </a:prstGeom>
          <a:noFill/>
        </p:spPr>
        <p:txBody>
          <a:bodyPr wrap="square" lIns="45720" rIns="45720">
            <a:spAutoFit/>
          </a:bodyPr>
          <a:lstStyle/>
          <a:p>
            <a:pPr algn="l"/>
            <a:r>
              <a:rPr sz="1100" b="0">
                <a:solidFill>
                  <a:srgbClr val="8A95A5"/>
                </a:solidFill>
                <a:latin typeface="Helvetica Neue"/>
              </a:rPr>
              <a:t>    nodes.json          ← table_id ↔ fqn</a:t>
            </a:r>
          </a:p>
        </p:txBody>
      </p:sp>
      <p:sp>
        <p:nvSpPr>
          <p:cNvPr id="27" name="TextBox 26"/>
          <p:cNvSpPr txBox="1"/>
          <p:nvPr/>
        </p:nvSpPr>
        <p:spPr>
          <a:xfrm>
            <a:off x="6446520" y="2907791"/>
            <a:ext cx="5212080" cy="292608"/>
          </a:xfrm>
          <a:prstGeom prst="rect">
            <a:avLst/>
          </a:prstGeom>
          <a:noFill/>
        </p:spPr>
        <p:txBody>
          <a:bodyPr wrap="square" lIns="45720" rIns="45720">
            <a:spAutoFit/>
          </a:bodyPr>
          <a:lstStyle/>
          <a:p>
            <a:pPr algn="l"/>
            <a:r>
              <a:rPr sz="1100" b="0">
                <a:solidFill>
                  <a:srgbClr val="8A95A5"/>
                </a:solidFill>
                <a:latin typeface="Helvetica Neue"/>
              </a:rPr>
              <a:t>    edges.msgpack       ← FK records w/ column pairs</a:t>
            </a:r>
          </a:p>
        </p:txBody>
      </p:sp>
      <p:sp>
        <p:nvSpPr>
          <p:cNvPr id="28" name="TextBox 27"/>
          <p:cNvSpPr txBox="1"/>
          <p:nvPr/>
        </p:nvSpPr>
        <p:spPr>
          <a:xfrm>
            <a:off x="6446520" y="3236975"/>
            <a:ext cx="5212080" cy="292608"/>
          </a:xfrm>
          <a:prstGeom prst="rect">
            <a:avLst/>
          </a:prstGeom>
          <a:noFill/>
        </p:spPr>
        <p:txBody>
          <a:bodyPr wrap="square" lIns="45720" rIns="45720">
            <a:spAutoFit/>
          </a:bodyPr>
          <a:lstStyle/>
          <a:p>
            <a:pPr algn="l"/>
            <a:r>
              <a:rPr sz="1100" b="0">
                <a:solidFill>
                  <a:srgbClr val="8A95A5"/>
                </a:solidFill>
                <a:latin typeface="Helvetica Neue"/>
              </a:rPr>
              <a:t>    dist.npy            ← APSP distance matrix</a:t>
            </a:r>
          </a:p>
        </p:txBody>
      </p:sp>
      <p:sp>
        <p:nvSpPr>
          <p:cNvPr id="29" name="TextBox 28"/>
          <p:cNvSpPr txBox="1"/>
          <p:nvPr/>
        </p:nvSpPr>
        <p:spPr>
          <a:xfrm>
            <a:off x="6446520" y="3566159"/>
            <a:ext cx="5212080" cy="292608"/>
          </a:xfrm>
          <a:prstGeom prst="rect">
            <a:avLst/>
          </a:prstGeom>
          <a:noFill/>
        </p:spPr>
        <p:txBody>
          <a:bodyPr wrap="square" lIns="45720" rIns="45720">
            <a:spAutoFit/>
          </a:bodyPr>
          <a:lstStyle/>
          <a:p>
            <a:pPr algn="l"/>
            <a:r>
              <a:rPr sz="1100" b="0">
                <a:solidFill>
                  <a:srgbClr val="8A95A5"/>
                </a:solidFill>
                <a:latin typeface="Helvetica Neue"/>
              </a:rPr>
              <a:t>    next_hop.npy        ← APSP predecessor matrix</a:t>
            </a:r>
          </a:p>
        </p:txBody>
      </p:sp>
      <p:sp>
        <p:nvSpPr>
          <p:cNvPr id="30" name="TextBox 29"/>
          <p:cNvSpPr txBox="1"/>
          <p:nvPr/>
        </p:nvSpPr>
        <p:spPr>
          <a:xfrm>
            <a:off x="6446520" y="3895344"/>
            <a:ext cx="5212080" cy="292608"/>
          </a:xfrm>
          <a:prstGeom prst="rect">
            <a:avLst/>
          </a:prstGeom>
          <a:noFill/>
        </p:spPr>
        <p:txBody>
          <a:bodyPr wrap="square" lIns="45720" rIns="45720">
            <a:spAutoFit/>
          </a:bodyPr>
          <a:lstStyle/>
          <a:p>
            <a:pPr algn="l"/>
            <a:r>
              <a:rPr sz="1100" b="0">
                <a:solidFill>
                  <a:srgbClr val="8A95A5"/>
                </a:solidFill>
                <a:latin typeface="Helvetica Neue"/>
              </a:rPr>
              <a:t>    weights.json        ← per-edge weight derivation</a:t>
            </a:r>
          </a:p>
        </p:txBody>
      </p:sp>
      <p:sp>
        <p:nvSpPr>
          <p:cNvPr id="31" name="TextBox 30"/>
          <p:cNvSpPr txBox="1"/>
          <p:nvPr/>
        </p:nvSpPr>
        <p:spPr>
          <a:xfrm>
            <a:off x="6446520" y="4224528"/>
            <a:ext cx="5212080" cy="292608"/>
          </a:xfrm>
          <a:prstGeom prst="rect">
            <a:avLst/>
          </a:prstGeom>
          <a:noFill/>
        </p:spPr>
        <p:txBody>
          <a:bodyPr wrap="square" lIns="45720" rIns="45720">
            <a:spAutoFit/>
          </a:bodyPr>
          <a:lstStyle/>
          <a:p>
            <a:pPr algn="l"/>
            <a:r>
              <a:rPr sz="1100" b="0">
                <a:solidFill>
                  <a:srgbClr val="8A95A5"/>
                </a:solidFill>
                <a:latin typeface="Helvetica Neue"/>
              </a:rPr>
              <a:t>    manifest.json       ← provider_name + dialect + sha</a:t>
            </a:r>
          </a:p>
        </p:txBody>
      </p:sp>
      <p:sp>
        <p:nvSpPr>
          <p:cNvPr id="32" name="TextBox 31"/>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Section 2 · Graph</a:t>
            </a:r>
          </a:p>
        </p:txBody>
      </p:sp>
      <p:sp>
        <p:nvSpPr>
          <p:cNvPr id="33" name="TextBox 32"/>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Single rebuild per provider; mtime cache shared across requests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377440"/>
            <a:ext cx="10698480" cy="548640"/>
          </a:xfrm>
          <a:prstGeom prst="rect">
            <a:avLst/>
          </a:prstGeom>
          <a:noFill/>
        </p:spPr>
        <p:txBody>
          <a:bodyPr wrap="square" lIns="45720" rIns="45720">
            <a:spAutoFit/>
          </a:bodyPr>
          <a:lstStyle/>
          <a:p>
            <a:pPr algn="l"/>
            <a:r>
              <a:rPr sz="1800" b="0">
                <a:solidFill>
                  <a:srgbClr val="8A95A5"/>
                </a:solidFill>
                <a:latin typeface="Helvetica Neue"/>
              </a:rPr>
              <a:t>Section 3</a:t>
            </a:r>
          </a:p>
        </p:txBody>
      </p:sp>
      <p:sp>
        <p:nvSpPr>
          <p:cNvPr id="3" name="TextBox 2"/>
          <p:cNvSpPr txBox="1"/>
          <p:nvPr/>
        </p:nvSpPr>
        <p:spPr>
          <a:xfrm>
            <a:off x="731520" y="2834640"/>
            <a:ext cx="10698480" cy="914400"/>
          </a:xfrm>
          <a:prstGeom prst="rect">
            <a:avLst/>
          </a:prstGeom>
          <a:noFill/>
        </p:spPr>
        <p:txBody>
          <a:bodyPr wrap="square" lIns="45720" rIns="45720">
            <a:spAutoFit/>
          </a:bodyPr>
          <a:lstStyle/>
          <a:p>
            <a:pPr algn="l"/>
            <a:r>
              <a:rPr sz="4400" b="1">
                <a:solidFill>
                  <a:srgbClr val="6EC1FF"/>
                </a:solidFill>
                <a:latin typeface="Helvetica Neue"/>
              </a:rPr>
              <a:t>The Semantic Layer</a:t>
            </a:r>
          </a:p>
        </p:txBody>
      </p:sp>
      <p:sp>
        <p:nvSpPr>
          <p:cNvPr id="4" name="TextBox 3"/>
          <p:cNvSpPr txBox="1"/>
          <p:nvPr/>
        </p:nvSpPr>
        <p:spPr>
          <a:xfrm>
            <a:off x="731520" y="3749039"/>
            <a:ext cx="10698480" cy="457200"/>
          </a:xfrm>
          <a:prstGeom prst="rect">
            <a:avLst/>
          </a:prstGeom>
          <a:noFill/>
        </p:spPr>
        <p:txBody>
          <a:bodyPr wrap="square" lIns="45720" rIns="45720">
            <a:spAutoFit/>
          </a:bodyPr>
          <a:lstStyle/>
          <a:p>
            <a:pPr algn="l"/>
            <a:r>
              <a:rPr sz="1800" b="0">
                <a:solidFill>
                  <a:srgbClr val="E6EAF0"/>
                </a:solidFill>
                <a:latin typeface="Helvetica Neue"/>
              </a:rPr>
              <a:t>Per-table blob · embedding model · cluster routing · entity resolution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Per-table semantic blob</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What we embed for each of the ~1048 tables</a:t>
            </a:r>
          </a:p>
        </p:txBody>
      </p:sp>
      <p:sp>
        <p:nvSpPr>
          <p:cNvPr id="4" name="Rounded Rectangle 3"/>
          <p:cNvSpPr/>
          <p:nvPr/>
        </p:nvSpPr>
        <p:spPr>
          <a:xfrm>
            <a:off x="457200" y="1463040"/>
            <a:ext cx="6766560" cy="4937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6400800" cy="256032"/>
          </a:xfrm>
          <a:prstGeom prst="rect">
            <a:avLst/>
          </a:prstGeom>
          <a:noFill/>
        </p:spPr>
        <p:txBody>
          <a:bodyPr wrap="square" lIns="45720" rIns="45720">
            <a:spAutoFit/>
          </a:bodyPr>
          <a:lstStyle/>
          <a:p>
            <a:pPr algn="l"/>
            <a:r>
              <a:rPr sz="1200" b="1">
                <a:solidFill>
                  <a:srgbClr val="6EC1FF"/>
                </a:solidFill>
                <a:latin typeface="Helvetica Neue"/>
              </a:rPr>
              <a:t>[TABLE] edfi.StudentSchoolAssociation</a:t>
            </a:r>
          </a:p>
        </p:txBody>
      </p:sp>
      <p:sp>
        <p:nvSpPr>
          <p:cNvPr id="6" name="TextBox 5"/>
          <p:cNvSpPr txBox="1"/>
          <p:nvPr/>
        </p:nvSpPr>
        <p:spPr>
          <a:xfrm>
            <a:off x="640080" y="1819656"/>
            <a:ext cx="6400800" cy="256032"/>
          </a:xfrm>
          <a:prstGeom prst="rect">
            <a:avLst/>
          </a:prstGeom>
          <a:noFill/>
        </p:spPr>
        <p:txBody>
          <a:bodyPr wrap="square" lIns="45720" rIns="45720">
            <a:spAutoFit/>
          </a:bodyPr>
          <a:lstStyle/>
          <a:p>
            <a:pPr algn="l"/>
            <a:r>
              <a:rPr sz="1200" b="1">
                <a:solidFill>
                  <a:srgbClr val="6EC1FF"/>
                </a:solidFill>
                <a:latin typeface="Helvetica Neue"/>
              </a:rPr>
              <a:t>[DOMAINS] Student, EnrollmentAndSchoolAssociation</a:t>
            </a:r>
          </a:p>
        </p:txBody>
      </p:sp>
      <p:sp>
        <p:nvSpPr>
          <p:cNvPr id="7" name="TextBox 6"/>
          <p:cNvSpPr txBox="1"/>
          <p:nvPr/>
        </p:nvSpPr>
        <p:spPr>
          <a:xfrm>
            <a:off x="640080" y="2039112"/>
            <a:ext cx="6400800" cy="256032"/>
          </a:xfrm>
          <a:prstGeom prst="rect">
            <a:avLst/>
          </a:prstGeom>
          <a:noFill/>
        </p:spPr>
        <p:txBody>
          <a:bodyPr wrap="square" lIns="45720" rIns="45720">
            <a:spAutoFit/>
          </a:bodyPr>
          <a:lstStyle/>
          <a:p>
            <a:pPr algn="l"/>
            <a:r>
              <a:rPr sz="1200" b="1">
                <a:solidFill>
                  <a:srgbClr val="6EC1FF"/>
                </a:solidFill>
                <a:latin typeface="Helvetica Neue"/>
              </a:rPr>
              <a:t>[SUBCLUSTERS] Student/Enrollment, ESA/SchoolEnrollment</a:t>
            </a:r>
          </a:p>
        </p:txBody>
      </p:sp>
      <p:sp>
        <p:nvSpPr>
          <p:cNvPr id="8" name="TextBox 7"/>
          <p:cNvSpPr txBox="1"/>
          <p:nvPr/>
        </p:nvSpPr>
        <p:spPr>
          <a:xfrm>
            <a:off x="640080" y="2258568"/>
            <a:ext cx="6400800" cy="256032"/>
          </a:xfrm>
          <a:prstGeom prst="rect">
            <a:avLst/>
          </a:prstGeom>
          <a:noFill/>
        </p:spPr>
        <p:txBody>
          <a:bodyPr wrap="square" lIns="45720" rIns="45720">
            <a:spAutoFit/>
          </a:bodyPr>
          <a:lstStyle/>
          <a:p>
            <a:pPr algn="l"/>
            <a:r>
              <a:rPr sz="1100" b="0">
                <a:solidFill>
                  <a:srgbClr val="E6EAF0"/>
                </a:solidFill>
                <a:latin typeface="Helvetica Neue"/>
              </a:rPr>
              <a:t/>
            </a:r>
          </a:p>
        </p:txBody>
      </p:sp>
      <p:sp>
        <p:nvSpPr>
          <p:cNvPr id="9" name="TextBox 8"/>
          <p:cNvSpPr txBox="1"/>
          <p:nvPr/>
        </p:nvSpPr>
        <p:spPr>
          <a:xfrm>
            <a:off x="640080" y="2478024"/>
            <a:ext cx="6400800" cy="256032"/>
          </a:xfrm>
          <a:prstGeom prst="rect">
            <a:avLst/>
          </a:prstGeom>
          <a:noFill/>
        </p:spPr>
        <p:txBody>
          <a:bodyPr wrap="square" lIns="45720" rIns="45720">
            <a:spAutoFit/>
          </a:bodyPr>
          <a:lstStyle/>
          <a:p>
            <a:pPr algn="l"/>
            <a:r>
              <a:rPr sz="1200" b="1">
                <a:solidFill>
                  <a:srgbClr val="6EC1FF"/>
                </a:solidFill>
                <a:latin typeface="Helvetica Neue"/>
              </a:rPr>
              <a:t>[DESCRIPTION]</a:t>
            </a:r>
          </a:p>
        </p:txBody>
      </p:sp>
      <p:sp>
        <p:nvSpPr>
          <p:cNvPr id="10" name="TextBox 9"/>
          <p:cNvSpPr txBox="1"/>
          <p:nvPr/>
        </p:nvSpPr>
        <p:spPr>
          <a:xfrm>
            <a:off x="640080" y="2697480"/>
            <a:ext cx="6400800" cy="256032"/>
          </a:xfrm>
          <a:prstGeom prst="rect">
            <a:avLst/>
          </a:prstGeom>
          <a:noFill/>
        </p:spPr>
        <p:txBody>
          <a:bodyPr wrap="square" lIns="45720" rIns="45720">
            <a:spAutoFit/>
          </a:bodyPr>
          <a:lstStyle/>
          <a:p>
            <a:pPr algn="l"/>
            <a:r>
              <a:rPr sz="1100" b="0">
                <a:solidFill>
                  <a:srgbClr val="E6EAF0"/>
                </a:solidFill>
                <a:latin typeface="Helvetica Neue"/>
              </a:rPr>
              <a:t>Tracks a student's relationship with a school —</a:t>
            </a:r>
          </a:p>
        </p:txBody>
      </p:sp>
      <p:sp>
        <p:nvSpPr>
          <p:cNvPr id="11" name="TextBox 10"/>
          <p:cNvSpPr txBox="1"/>
          <p:nvPr/>
        </p:nvSpPr>
        <p:spPr>
          <a:xfrm>
            <a:off x="640080" y="2916936"/>
            <a:ext cx="6400800" cy="256032"/>
          </a:xfrm>
          <a:prstGeom prst="rect">
            <a:avLst/>
          </a:prstGeom>
          <a:noFill/>
        </p:spPr>
        <p:txBody>
          <a:bodyPr wrap="square" lIns="45720" rIns="45720">
            <a:spAutoFit/>
          </a:bodyPr>
          <a:lstStyle/>
          <a:p>
            <a:pPr algn="l"/>
            <a:r>
              <a:rPr sz="1100" b="0">
                <a:solidFill>
                  <a:srgbClr val="E6EAF0"/>
                </a:solidFill>
                <a:latin typeface="Helvetica Neue"/>
              </a:rPr>
              <a:t>primary or secondary enrollment, entry / exit dates,</a:t>
            </a:r>
          </a:p>
        </p:txBody>
      </p:sp>
      <p:sp>
        <p:nvSpPr>
          <p:cNvPr id="12" name="TextBox 11"/>
          <p:cNvSpPr txBox="1"/>
          <p:nvPr/>
        </p:nvSpPr>
        <p:spPr>
          <a:xfrm>
            <a:off x="640080" y="3136392"/>
            <a:ext cx="6400800" cy="256032"/>
          </a:xfrm>
          <a:prstGeom prst="rect">
            <a:avLst/>
          </a:prstGeom>
          <a:noFill/>
        </p:spPr>
        <p:txBody>
          <a:bodyPr wrap="square" lIns="45720" rIns="45720">
            <a:spAutoFit/>
          </a:bodyPr>
          <a:lstStyle/>
          <a:p>
            <a:pPr algn="l"/>
            <a:r>
              <a:rPr sz="1100" b="0">
                <a:solidFill>
                  <a:srgbClr val="E6EAF0"/>
                </a:solidFill>
                <a:latin typeface="Helvetica Neue"/>
              </a:rPr>
              <a:t>grade level, and entry type.</a:t>
            </a:r>
          </a:p>
        </p:txBody>
      </p:sp>
      <p:sp>
        <p:nvSpPr>
          <p:cNvPr id="13" name="TextBox 12"/>
          <p:cNvSpPr txBox="1"/>
          <p:nvPr/>
        </p:nvSpPr>
        <p:spPr>
          <a:xfrm>
            <a:off x="640080" y="3355848"/>
            <a:ext cx="6400800" cy="256032"/>
          </a:xfrm>
          <a:prstGeom prst="rect">
            <a:avLst/>
          </a:prstGeom>
          <a:noFill/>
        </p:spPr>
        <p:txBody>
          <a:bodyPr wrap="square" lIns="45720" rIns="45720">
            <a:spAutoFit/>
          </a:bodyPr>
          <a:lstStyle/>
          <a:p>
            <a:pPr algn="l"/>
            <a:r>
              <a:rPr sz="1100" b="0">
                <a:solidFill>
                  <a:srgbClr val="E6EAF0"/>
                </a:solidFill>
                <a:latin typeface="Helvetica Neue"/>
              </a:rPr>
              <a:t/>
            </a:r>
          </a:p>
        </p:txBody>
      </p:sp>
      <p:sp>
        <p:nvSpPr>
          <p:cNvPr id="14" name="TextBox 13"/>
          <p:cNvSpPr txBox="1"/>
          <p:nvPr/>
        </p:nvSpPr>
        <p:spPr>
          <a:xfrm>
            <a:off x="640080" y="3575304"/>
            <a:ext cx="6400800" cy="256032"/>
          </a:xfrm>
          <a:prstGeom prst="rect">
            <a:avLst/>
          </a:prstGeom>
          <a:noFill/>
        </p:spPr>
        <p:txBody>
          <a:bodyPr wrap="square" lIns="45720" rIns="45720">
            <a:spAutoFit/>
          </a:bodyPr>
          <a:lstStyle/>
          <a:p>
            <a:pPr algn="l"/>
            <a:r>
              <a:rPr sz="1200" b="1">
                <a:solidFill>
                  <a:srgbClr val="6EC1FF"/>
                </a:solidFill>
                <a:latin typeface="Helvetica Neue"/>
              </a:rPr>
              <a:t>[KEY_COLUMNS]</a:t>
            </a:r>
          </a:p>
        </p:txBody>
      </p:sp>
      <p:sp>
        <p:nvSpPr>
          <p:cNvPr id="15" name="TextBox 14"/>
          <p:cNvSpPr txBox="1"/>
          <p:nvPr/>
        </p:nvSpPr>
        <p:spPr>
          <a:xfrm>
            <a:off x="640080" y="3794760"/>
            <a:ext cx="6400800" cy="256032"/>
          </a:xfrm>
          <a:prstGeom prst="rect">
            <a:avLst/>
          </a:prstGeom>
          <a:noFill/>
        </p:spPr>
        <p:txBody>
          <a:bodyPr wrap="square" lIns="45720" rIns="45720">
            <a:spAutoFit/>
          </a:bodyPr>
          <a:lstStyle/>
          <a:p>
            <a:pPr algn="l"/>
            <a:r>
              <a:rPr sz="1100" b="0">
                <a:solidFill>
                  <a:srgbClr val="E6EAF0"/>
                </a:solidFill>
                <a:latin typeface="Helvetica Neue"/>
              </a:rPr>
              <a:t>  StudentUSI (PK, identifying)</a:t>
            </a:r>
          </a:p>
        </p:txBody>
      </p:sp>
      <p:sp>
        <p:nvSpPr>
          <p:cNvPr id="16" name="TextBox 15"/>
          <p:cNvSpPr txBox="1"/>
          <p:nvPr/>
        </p:nvSpPr>
        <p:spPr>
          <a:xfrm>
            <a:off x="640080" y="4014216"/>
            <a:ext cx="6400800" cy="256032"/>
          </a:xfrm>
          <a:prstGeom prst="rect">
            <a:avLst/>
          </a:prstGeom>
          <a:noFill/>
        </p:spPr>
        <p:txBody>
          <a:bodyPr wrap="square" lIns="45720" rIns="45720">
            <a:spAutoFit/>
          </a:bodyPr>
          <a:lstStyle/>
          <a:p>
            <a:pPr algn="l"/>
            <a:r>
              <a:rPr sz="1100" b="0">
                <a:solidFill>
                  <a:srgbClr val="E6EAF0"/>
                </a:solidFill>
                <a:latin typeface="Helvetica Neue"/>
              </a:rPr>
              <a:t>  SchoolId (PK, identifying)</a:t>
            </a:r>
          </a:p>
        </p:txBody>
      </p:sp>
      <p:sp>
        <p:nvSpPr>
          <p:cNvPr id="17" name="TextBox 16"/>
          <p:cNvSpPr txBox="1"/>
          <p:nvPr/>
        </p:nvSpPr>
        <p:spPr>
          <a:xfrm>
            <a:off x="640080" y="4233672"/>
            <a:ext cx="6400800" cy="256032"/>
          </a:xfrm>
          <a:prstGeom prst="rect">
            <a:avLst/>
          </a:prstGeom>
          <a:noFill/>
        </p:spPr>
        <p:txBody>
          <a:bodyPr wrap="square" lIns="45720" rIns="45720">
            <a:spAutoFit/>
          </a:bodyPr>
          <a:lstStyle/>
          <a:p>
            <a:pPr algn="l"/>
            <a:r>
              <a:rPr sz="1100" b="0">
                <a:solidFill>
                  <a:srgbClr val="E6EAF0"/>
                </a:solidFill>
                <a:latin typeface="Helvetica Neue"/>
              </a:rPr>
              <a:t>  EntryDate (PK, time anchor)</a:t>
            </a:r>
          </a:p>
        </p:txBody>
      </p:sp>
      <p:sp>
        <p:nvSpPr>
          <p:cNvPr id="18" name="TextBox 17"/>
          <p:cNvSpPr txBox="1"/>
          <p:nvPr/>
        </p:nvSpPr>
        <p:spPr>
          <a:xfrm>
            <a:off x="640080" y="4453128"/>
            <a:ext cx="6400800" cy="256032"/>
          </a:xfrm>
          <a:prstGeom prst="rect">
            <a:avLst/>
          </a:prstGeom>
          <a:noFill/>
        </p:spPr>
        <p:txBody>
          <a:bodyPr wrap="square" lIns="45720" rIns="45720">
            <a:spAutoFit/>
          </a:bodyPr>
          <a:lstStyle/>
          <a:p>
            <a:pPr algn="l"/>
            <a:r>
              <a:rPr sz="1100" b="0">
                <a:solidFill>
                  <a:srgbClr val="E6EAF0"/>
                </a:solidFill>
                <a:latin typeface="Helvetica Neue"/>
              </a:rPr>
              <a:t/>
            </a:r>
          </a:p>
        </p:txBody>
      </p:sp>
      <p:sp>
        <p:nvSpPr>
          <p:cNvPr id="19" name="TextBox 18"/>
          <p:cNvSpPr txBox="1"/>
          <p:nvPr/>
        </p:nvSpPr>
        <p:spPr>
          <a:xfrm>
            <a:off x="640080" y="4672584"/>
            <a:ext cx="6400800" cy="256032"/>
          </a:xfrm>
          <a:prstGeom prst="rect">
            <a:avLst/>
          </a:prstGeom>
          <a:noFill/>
        </p:spPr>
        <p:txBody>
          <a:bodyPr wrap="square" lIns="45720" rIns="45720">
            <a:spAutoFit/>
          </a:bodyPr>
          <a:lstStyle/>
          <a:p>
            <a:pPr algn="l"/>
            <a:r>
              <a:rPr sz="1200" b="1">
                <a:solidFill>
                  <a:srgbClr val="6EC1FF"/>
                </a:solidFill>
                <a:latin typeface="Helvetica Neue"/>
              </a:rPr>
              <a:t>[COLUMN_SEMANTICS]</a:t>
            </a:r>
          </a:p>
        </p:txBody>
      </p:sp>
      <p:sp>
        <p:nvSpPr>
          <p:cNvPr id="20" name="TextBox 19"/>
          <p:cNvSpPr txBox="1"/>
          <p:nvPr/>
        </p:nvSpPr>
        <p:spPr>
          <a:xfrm>
            <a:off x="640080" y="4892040"/>
            <a:ext cx="6400800" cy="256032"/>
          </a:xfrm>
          <a:prstGeom prst="rect">
            <a:avLst/>
          </a:prstGeom>
          <a:noFill/>
        </p:spPr>
        <p:txBody>
          <a:bodyPr wrap="square" lIns="45720" rIns="45720">
            <a:spAutoFit/>
          </a:bodyPr>
          <a:lstStyle/>
          <a:p>
            <a:pPr algn="l"/>
            <a:r>
              <a:rPr sz="1100" b="0">
                <a:solidFill>
                  <a:srgbClr val="E6EAF0"/>
                </a:solidFill>
                <a:latin typeface="Helvetica Neue"/>
              </a:rPr>
              <a:t>  EntryGradeLevelDescriptorId → edfi.GradeLevelDescriptor</a:t>
            </a:r>
          </a:p>
        </p:txBody>
      </p:sp>
      <p:sp>
        <p:nvSpPr>
          <p:cNvPr id="21" name="TextBox 20"/>
          <p:cNvSpPr txBox="1"/>
          <p:nvPr/>
        </p:nvSpPr>
        <p:spPr>
          <a:xfrm>
            <a:off x="640080" y="5111496"/>
            <a:ext cx="6400800" cy="256032"/>
          </a:xfrm>
          <a:prstGeom prst="rect">
            <a:avLst/>
          </a:prstGeom>
          <a:noFill/>
        </p:spPr>
        <p:txBody>
          <a:bodyPr wrap="square" lIns="45720" rIns="45720">
            <a:spAutoFit/>
          </a:bodyPr>
          <a:lstStyle/>
          <a:p>
            <a:pPr algn="l"/>
            <a:r>
              <a:rPr sz="1100" b="0">
                <a:solidFill>
                  <a:srgbClr val="E6EAF0"/>
                </a:solidFill>
                <a:latin typeface="Helvetica Neue"/>
              </a:rPr>
              <a:t>  ExitWithdrawTypeDescriptorId → enums</a:t>
            </a:r>
          </a:p>
        </p:txBody>
      </p:sp>
      <p:sp>
        <p:nvSpPr>
          <p:cNvPr id="22" name="TextBox 21"/>
          <p:cNvSpPr txBox="1"/>
          <p:nvPr/>
        </p:nvSpPr>
        <p:spPr>
          <a:xfrm>
            <a:off x="640080" y="5330952"/>
            <a:ext cx="6400800" cy="256032"/>
          </a:xfrm>
          <a:prstGeom prst="rect">
            <a:avLst/>
          </a:prstGeom>
          <a:noFill/>
        </p:spPr>
        <p:txBody>
          <a:bodyPr wrap="square" lIns="45720" rIns="45720">
            <a:spAutoFit/>
          </a:bodyPr>
          <a:lstStyle/>
          <a:p>
            <a:pPr algn="l"/>
            <a:r>
              <a:rPr sz="1100" b="0">
                <a:solidFill>
                  <a:srgbClr val="E6EAF0"/>
                </a:solidFill>
                <a:latin typeface="Helvetica Neue"/>
              </a:rPr>
              <a:t/>
            </a:r>
          </a:p>
        </p:txBody>
      </p:sp>
      <p:sp>
        <p:nvSpPr>
          <p:cNvPr id="23" name="TextBox 22"/>
          <p:cNvSpPr txBox="1"/>
          <p:nvPr/>
        </p:nvSpPr>
        <p:spPr>
          <a:xfrm>
            <a:off x="640080" y="5550408"/>
            <a:ext cx="6400800" cy="256032"/>
          </a:xfrm>
          <a:prstGeom prst="rect">
            <a:avLst/>
          </a:prstGeom>
          <a:noFill/>
        </p:spPr>
        <p:txBody>
          <a:bodyPr wrap="square" lIns="45720" rIns="45720">
            <a:spAutoFit/>
          </a:bodyPr>
          <a:lstStyle/>
          <a:p>
            <a:pPr algn="l"/>
            <a:r>
              <a:rPr sz="1200" b="1">
                <a:solidFill>
                  <a:srgbClr val="6EC1FF"/>
                </a:solidFill>
                <a:latin typeface="Helvetica Neue"/>
              </a:rPr>
              <a:t>[NEIGHBORS]  edfi.Student · edfi.School · ...</a:t>
            </a:r>
          </a:p>
        </p:txBody>
      </p:sp>
      <p:sp>
        <p:nvSpPr>
          <p:cNvPr id="24" name="TextBox 23"/>
          <p:cNvSpPr txBox="1"/>
          <p:nvPr/>
        </p:nvSpPr>
        <p:spPr>
          <a:xfrm>
            <a:off x="640080" y="5769864"/>
            <a:ext cx="6400800" cy="256032"/>
          </a:xfrm>
          <a:prstGeom prst="rect">
            <a:avLst/>
          </a:prstGeom>
          <a:noFill/>
        </p:spPr>
        <p:txBody>
          <a:bodyPr wrap="square" lIns="45720" rIns="45720">
            <a:spAutoFit/>
          </a:bodyPr>
          <a:lstStyle/>
          <a:p>
            <a:pPr algn="l"/>
            <a:r>
              <a:rPr sz="1200" b="1">
                <a:solidFill>
                  <a:srgbClr val="6EC1FF"/>
                </a:solidFill>
                <a:latin typeface="Helvetica Neue"/>
              </a:rPr>
              <a:t>[GOLD_QUERY_COUNT] 12   ← drives retrieval recall</a:t>
            </a:r>
          </a:p>
        </p:txBody>
      </p:sp>
      <p:sp>
        <p:nvSpPr>
          <p:cNvPr id="25" name="Rounded Rectangle 24"/>
          <p:cNvSpPr/>
          <p:nvPr/>
        </p:nvSpPr>
        <p:spPr>
          <a:xfrm>
            <a:off x="7452360" y="1463040"/>
            <a:ext cx="4389120" cy="4937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1554480"/>
            <a:ext cx="4023360" cy="365760"/>
          </a:xfrm>
          <a:prstGeom prst="rect">
            <a:avLst/>
          </a:prstGeom>
          <a:noFill/>
        </p:spPr>
        <p:txBody>
          <a:bodyPr wrap="square" lIns="45720" rIns="45720">
            <a:spAutoFit/>
          </a:bodyPr>
          <a:lstStyle/>
          <a:p>
            <a:pPr algn="l"/>
            <a:r>
              <a:rPr sz="1600" b="1">
                <a:solidFill>
                  <a:srgbClr val="F2B857"/>
                </a:solidFill>
                <a:latin typeface="Helvetica Neue"/>
              </a:rPr>
              <a:t>Why this shape</a:t>
            </a:r>
          </a:p>
        </p:txBody>
      </p:sp>
      <p:sp>
        <p:nvSpPr>
          <p:cNvPr id="27" name="TextBox 26"/>
          <p:cNvSpPr txBox="1"/>
          <p:nvPr/>
        </p:nvSpPr>
        <p:spPr>
          <a:xfrm>
            <a:off x="7635240" y="1965960"/>
            <a:ext cx="4023360" cy="4114800"/>
          </a:xfrm>
          <a:prstGeom prst="rect">
            <a:avLst/>
          </a:prstGeom>
          <a:noFill/>
        </p:spPr>
        <p:txBody>
          <a:bodyPr wrap="square">
            <a:spAutoFit/>
          </a:bodyPr>
          <a:lstStyle/>
          <a:p>
            <a:pPr algn="l">
              <a:spcAft>
                <a:spcPts val="400"/>
              </a:spcAft>
            </a:pPr>
            <a:r>
              <a:rPr sz="1100">
                <a:solidFill>
                  <a:srgbClr val="E6EAF0"/>
                </a:solidFill>
                <a:latin typeface="Helvetica Neue"/>
              </a:rPr>
              <a:t>• DOMAINS + SUBCLUSTERS give the routing layer a first-pass filter</a:t>
            </a:r>
          </a:p>
          <a:p>
            <a:pPr algn="l">
              <a:spcAft>
                <a:spcPts val="400"/>
              </a:spcAft>
            </a:pPr>
            <a:r>
              <a:rPr sz="1100">
                <a:solidFill>
                  <a:srgbClr val="E6EAF0"/>
                </a:solidFill>
                <a:latin typeface="Helvetica Neue"/>
              </a:rPr>
              <a:t>• DESCRIPTION carries Ed-Fi's authoritative human prose verbatim</a:t>
            </a:r>
          </a:p>
          <a:p>
            <a:pPr algn="l">
              <a:spcAft>
                <a:spcPts val="400"/>
              </a:spcAft>
            </a:pPr>
            <a:r>
              <a:rPr sz="1100">
                <a:solidFill>
                  <a:srgbClr val="E6EAF0"/>
                </a:solidFill>
                <a:latin typeface="Helvetica Neue"/>
              </a:rPr>
              <a:t>• KEY_COLUMNS surface PKs without scanning columns</a:t>
            </a:r>
          </a:p>
          <a:p>
            <a:pPr algn="l">
              <a:spcAft>
                <a:spcPts val="400"/>
              </a:spcAft>
            </a:pPr>
            <a:r>
              <a:rPr sz="1100">
                <a:solidFill>
                  <a:srgbClr val="E6EAF0"/>
                </a:solidFill>
                <a:latin typeface="Helvetica Neue"/>
              </a:rPr>
              <a:t>• COLUMN_SEMANTICS links descriptor refs so entity resolver can chase them</a:t>
            </a:r>
          </a:p>
          <a:p>
            <a:pPr algn="l">
              <a:spcAft>
                <a:spcPts val="400"/>
              </a:spcAft>
            </a:pPr>
            <a:r>
              <a:rPr sz="1100">
                <a:solidFill>
                  <a:srgbClr val="E6EAF0"/>
                </a:solidFill>
                <a:latin typeface="Helvetica Neue"/>
              </a:rPr>
              <a:t>• NEIGHBORS encode local FK structure for the LLM</a:t>
            </a:r>
          </a:p>
          <a:p>
            <a:pPr algn="l">
              <a:spcAft>
                <a:spcPts val="400"/>
              </a:spcAft>
            </a:pPr>
            <a:r>
              <a:rPr sz="1100">
                <a:solidFill>
                  <a:srgbClr val="E6EAF0"/>
                </a:solidFill>
                <a:latin typeface="Helvetica Neue"/>
              </a:rPr>
              <a:t>• GOLD_QUERY_COUNT biases retrieval toward proven tables</a:t>
            </a:r>
          </a:p>
        </p:txBody>
      </p:sp>
      <p:sp>
        <p:nvSpPr>
          <p:cNvPr id="28" name="TextBox 27"/>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Section 3 · Semantic</a:t>
            </a:r>
          </a:p>
        </p:txBody>
      </p:sp>
      <p:sp>
        <p:nvSpPr>
          <p:cNvPr id="29" name="TextBox 28"/>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embedding/blob_builder.py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Vector store + cluster routing</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Hybrid retrieval, top-3 cluster pick</a:t>
            </a:r>
          </a:p>
        </p:txBody>
      </p:sp>
      <p:sp>
        <p:nvSpPr>
          <p:cNvPr id="4" name="Rounded Rectangle 3"/>
          <p:cNvSpPr/>
          <p:nvPr/>
        </p:nvSpPr>
        <p:spPr>
          <a:xfrm>
            <a:off x="457200" y="1463040"/>
            <a:ext cx="11247120" cy="228600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365760"/>
          </a:xfrm>
          <a:prstGeom prst="rect">
            <a:avLst/>
          </a:prstGeom>
          <a:noFill/>
        </p:spPr>
        <p:txBody>
          <a:bodyPr wrap="square" lIns="45720" rIns="45720">
            <a:spAutoFit/>
          </a:bodyPr>
          <a:lstStyle/>
          <a:p>
            <a:pPr algn="l"/>
            <a:r>
              <a:rPr sz="1400" b="1">
                <a:solidFill>
                  <a:srgbClr val="6EC1FF"/>
                </a:solidFill>
                <a:latin typeface="Helvetica Neue"/>
              </a:rPr>
              <a:t>Collections (FAISS by default, Qdrant / OpenSearch / Azure Search via factory)</a:t>
            </a:r>
          </a:p>
        </p:txBody>
      </p:sp>
      <p:sp>
        <p:nvSpPr>
          <p:cNvPr id="6" name="TextBox 5"/>
          <p:cNvSpPr txBox="1"/>
          <p:nvPr/>
        </p:nvSpPr>
        <p:spPr>
          <a:xfrm>
            <a:off x="640080" y="2011680"/>
            <a:ext cx="2194560" cy="320040"/>
          </a:xfrm>
          <a:prstGeom prst="rect">
            <a:avLst/>
          </a:prstGeom>
          <a:noFill/>
        </p:spPr>
        <p:txBody>
          <a:bodyPr wrap="square" lIns="45720" rIns="45720">
            <a:spAutoFit/>
          </a:bodyPr>
          <a:lstStyle/>
          <a:p>
            <a:pPr algn="l"/>
            <a:r>
              <a:rPr sz="1200" b="1">
                <a:solidFill>
                  <a:srgbClr val="E6EAF0"/>
                </a:solidFill>
                <a:latin typeface="Helvetica Neue"/>
              </a:rPr>
              <a:t>clusters</a:t>
            </a:r>
          </a:p>
        </p:txBody>
      </p:sp>
      <p:sp>
        <p:nvSpPr>
          <p:cNvPr id="7" name="TextBox 6"/>
          <p:cNvSpPr txBox="1"/>
          <p:nvPr/>
        </p:nvSpPr>
        <p:spPr>
          <a:xfrm>
            <a:off x="2834640" y="2011680"/>
            <a:ext cx="8686800" cy="320040"/>
          </a:xfrm>
          <a:prstGeom prst="rect">
            <a:avLst/>
          </a:prstGeom>
          <a:noFill/>
        </p:spPr>
        <p:txBody>
          <a:bodyPr wrap="square" lIns="45720" rIns="45720">
            <a:spAutoFit/>
          </a:bodyPr>
          <a:lstStyle/>
          <a:p>
            <a:pPr algn="l"/>
            <a:r>
              <a:rPr sz="1200" b="0">
                <a:solidFill>
                  <a:srgbClr val="8A95A5"/>
                </a:solidFill>
                <a:latin typeface="Helvetica Neue"/>
              </a:rPr>
              <a:t>Per (domain, sub-cluster) — top-level routing target</a:t>
            </a:r>
          </a:p>
        </p:txBody>
      </p:sp>
      <p:sp>
        <p:nvSpPr>
          <p:cNvPr id="8" name="TextBox 7"/>
          <p:cNvSpPr txBox="1"/>
          <p:nvPr/>
        </p:nvSpPr>
        <p:spPr>
          <a:xfrm>
            <a:off x="640080" y="2340864"/>
            <a:ext cx="2194560" cy="320040"/>
          </a:xfrm>
          <a:prstGeom prst="rect">
            <a:avLst/>
          </a:prstGeom>
          <a:noFill/>
        </p:spPr>
        <p:txBody>
          <a:bodyPr wrap="square" lIns="45720" rIns="45720">
            <a:spAutoFit/>
          </a:bodyPr>
          <a:lstStyle/>
          <a:p>
            <a:pPr algn="l"/>
            <a:r>
              <a:rPr sz="1200" b="1">
                <a:solidFill>
                  <a:srgbClr val="E6EAF0"/>
                </a:solidFill>
                <a:latin typeface="Helvetica Neue"/>
              </a:rPr>
              <a:t>tables</a:t>
            </a:r>
          </a:p>
        </p:txBody>
      </p:sp>
      <p:sp>
        <p:nvSpPr>
          <p:cNvPr id="9" name="TextBox 8"/>
          <p:cNvSpPr txBox="1"/>
          <p:nvPr/>
        </p:nvSpPr>
        <p:spPr>
          <a:xfrm>
            <a:off x="2834640" y="2340864"/>
            <a:ext cx="8686800" cy="320040"/>
          </a:xfrm>
          <a:prstGeom prst="rect">
            <a:avLst/>
          </a:prstGeom>
          <a:noFill/>
        </p:spPr>
        <p:txBody>
          <a:bodyPr wrap="square" lIns="45720" rIns="45720">
            <a:spAutoFit/>
          </a:bodyPr>
          <a:lstStyle/>
          <a:p>
            <a:pPr algn="l"/>
            <a:r>
              <a:rPr sz="1200" b="0">
                <a:solidFill>
                  <a:srgbClr val="8A95A5"/>
                </a:solidFill>
                <a:latin typeface="Helvetica Neue"/>
              </a:rPr>
              <a:t>Per-table blob — schema linking inside a chosen cluster</a:t>
            </a:r>
          </a:p>
        </p:txBody>
      </p:sp>
      <p:sp>
        <p:nvSpPr>
          <p:cNvPr id="10" name="TextBox 9"/>
          <p:cNvSpPr txBox="1"/>
          <p:nvPr/>
        </p:nvSpPr>
        <p:spPr>
          <a:xfrm>
            <a:off x="640080" y="2670048"/>
            <a:ext cx="2194560" cy="320040"/>
          </a:xfrm>
          <a:prstGeom prst="rect">
            <a:avLst/>
          </a:prstGeom>
          <a:noFill/>
        </p:spPr>
        <p:txBody>
          <a:bodyPr wrap="square" lIns="45720" rIns="45720">
            <a:spAutoFit/>
          </a:bodyPr>
          <a:lstStyle/>
          <a:p>
            <a:pPr algn="l"/>
            <a:r>
              <a:rPr sz="1200" b="1">
                <a:solidFill>
                  <a:srgbClr val="E6EAF0"/>
                </a:solidFill>
                <a:latin typeface="Helvetica Neue"/>
              </a:rPr>
              <a:t>column_values</a:t>
            </a:r>
          </a:p>
        </p:txBody>
      </p:sp>
      <p:sp>
        <p:nvSpPr>
          <p:cNvPr id="11" name="TextBox 10"/>
          <p:cNvSpPr txBox="1"/>
          <p:nvPr/>
        </p:nvSpPr>
        <p:spPr>
          <a:xfrm>
            <a:off x="2834640" y="2670048"/>
            <a:ext cx="8686800" cy="320040"/>
          </a:xfrm>
          <a:prstGeom prst="rect">
            <a:avLst/>
          </a:prstGeom>
          <a:noFill/>
        </p:spPr>
        <p:txBody>
          <a:bodyPr wrap="square" lIns="45720" rIns="45720">
            <a:spAutoFit/>
          </a:bodyPr>
          <a:lstStyle/>
          <a:p>
            <a:pPr algn="l"/>
            <a:r>
              <a:rPr sz="1200" b="0">
                <a:solidFill>
                  <a:srgbClr val="8A95A5"/>
                </a:solidFill>
                <a:latin typeface="Helvetica Neue"/>
              </a:rPr>
              <a:t>Distinct lookup values — entity resolver tier 3</a:t>
            </a:r>
          </a:p>
        </p:txBody>
      </p:sp>
      <p:sp>
        <p:nvSpPr>
          <p:cNvPr id="12" name="TextBox 11"/>
          <p:cNvSpPr txBox="1"/>
          <p:nvPr/>
        </p:nvSpPr>
        <p:spPr>
          <a:xfrm>
            <a:off x="640080" y="2999232"/>
            <a:ext cx="2194560" cy="320040"/>
          </a:xfrm>
          <a:prstGeom prst="rect">
            <a:avLst/>
          </a:prstGeom>
          <a:noFill/>
        </p:spPr>
        <p:txBody>
          <a:bodyPr wrap="square" lIns="45720" rIns="45720">
            <a:spAutoFit/>
          </a:bodyPr>
          <a:lstStyle/>
          <a:p>
            <a:pPr algn="l"/>
            <a:r>
              <a:rPr sz="1200" b="1">
                <a:solidFill>
                  <a:srgbClr val="E6EAF0"/>
                </a:solidFill>
                <a:latin typeface="Helvetica Neue"/>
              </a:rPr>
              <a:t>gold_sql</a:t>
            </a:r>
          </a:p>
        </p:txBody>
      </p:sp>
      <p:sp>
        <p:nvSpPr>
          <p:cNvPr id="13" name="TextBox 12"/>
          <p:cNvSpPr txBox="1"/>
          <p:nvPr/>
        </p:nvSpPr>
        <p:spPr>
          <a:xfrm>
            <a:off x="2834640" y="2999232"/>
            <a:ext cx="8686800" cy="320040"/>
          </a:xfrm>
          <a:prstGeom prst="rect">
            <a:avLst/>
          </a:prstGeom>
          <a:noFill/>
        </p:spPr>
        <p:txBody>
          <a:bodyPr wrap="square" lIns="45720" rIns="45720">
            <a:spAutoFit/>
          </a:bodyPr>
          <a:lstStyle/>
          <a:p>
            <a:pPr algn="l"/>
            <a:r>
              <a:rPr sz="1200" b="0">
                <a:solidFill>
                  <a:srgbClr val="8A95A5"/>
                </a:solidFill>
                <a:latin typeface="Helvetica Neue"/>
              </a:rPr>
              <a:t>NL → tested SQL — few-shot retrieval (top-3 after rerank)</a:t>
            </a:r>
          </a:p>
        </p:txBody>
      </p:sp>
      <p:sp>
        <p:nvSpPr>
          <p:cNvPr id="14" name="TextBox 13"/>
          <p:cNvSpPr txBox="1"/>
          <p:nvPr/>
        </p:nvSpPr>
        <p:spPr>
          <a:xfrm>
            <a:off x="640080" y="3328415"/>
            <a:ext cx="2194560" cy="320040"/>
          </a:xfrm>
          <a:prstGeom prst="rect">
            <a:avLst/>
          </a:prstGeom>
          <a:noFill/>
        </p:spPr>
        <p:txBody>
          <a:bodyPr wrap="square" lIns="45720" rIns="45720">
            <a:spAutoFit/>
          </a:bodyPr>
          <a:lstStyle/>
          <a:p>
            <a:pPr algn="l"/>
            <a:r>
              <a:rPr sz="1200" b="1">
                <a:solidFill>
                  <a:srgbClr val="E6EAF0"/>
                </a:solidFill>
                <a:latin typeface="Helvetica Neue"/>
              </a:rPr>
              <a:t>business_docs</a:t>
            </a:r>
          </a:p>
        </p:txBody>
      </p:sp>
      <p:sp>
        <p:nvSpPr>
          <p:cNvPr id="15" name="TextBox 14"/>
          <p:cNvSpPr txBox="1"/>
          <p:nvPr/>
        </p:nvSpPr>
        <p:spPr>
          <a:xfrm>
            <a:off x="2834640" y="3328415"/>
            <a:ext cx="8686800" cy="320040"/>
          </a:xfrm>
          <a:prstGeom prst="rect">
            <a:avLst/>
          </a:prstGeom>
          <a:noFill/>
        </p:spPr>
        <p:txBody>
          <a:bodyPr wrap="square" lIns="45720" rIns="45720">
            <a:spAutoFit/>
          </a:bodyPr>
          <a:lstStyle/>
          <a:p>
            <a:pPr algn="l"/>
            <a:r>
              <a:rPr sz="1200" b="0">
                <a:solidFill>
                  <a:srgbClr val="8A95A5"/>
                </a:solidFill>
                <a:latin typeface="Helvetica Neue"/>
              </a:rPr>
              <a:t>Optional org-specific docs — semantic context augmentation</a:t>
            </a:r>
          </a:p>
        </p:txBody>
      </p:sp>
      <p:sp>
        <p:nvSpPr>
          <p:cNvPr id="16" name="Rounded Rectangle 15"/>
          <p:cNvSpPr/>
          <p:nvPr/>
        </p:nvSpPr>
        <p:spPr>
          <a:xfrm>
            <a:off x="457200" y="3931920"/>
            <a:ext cx="5577840" cy="23317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023360"/>
            <a:ext cx="5212080" cy="365760"/>
          </a:xfrm>
          <a:prstGeom prst="rect">
            <a:avLst/>
          </a:prstGeom>
          <a:noFill/>
        </p:spPr>
        <p:txBody>
          <a:bodyPr wrap="square" lIns="45720" rIns="45720">
            <a:spAutoFit/>
          </a:bodyPr>
          <a:lstStyle/>
          <a:p>
            <a:pPr algn="l"/>
            <a:r>
              <a:rPr sz="1400" b="1">
                <a:solidFill>
                  <a:srgbClr val="F2B857"/>
                </a:solidFill>
                <a:latin typeface="Helvetica Neue"/>
              </a:rPr>
              <a:t>Hybrid retrieval</a:t>
            </a:r>
          </a:p>
        </p:txBody>
      </p:sp>
      <p:sp>
        <p:nvSpPr>
          <p:cNvPr id="18" name="TextBox 17"/>
          <p:cNvSpPr txBox="1"/>
          <p:nvPr/>
        </p:nvSpPr>
        <p:spPr>
          <a:xfrm>
            <a:off x="640080" y="4434840"/>
            <a:ext cx="5212080" cy="1828800"/>
          </a:xfrm>
          <a:prstGeom prst="rect">
            <a:avLst/>
          </a:prstGeom>
          <a:noFill/>
        </p:spPr>
        <p:txBody>
          <a:bodyPr wrap="square">
            <a:spAutoFit/>
          </a:bodyPr>
          <a:lstStyle/>
          <a:p>
            <a:pPr algn="l">
              <a:spcAft>
                <a:spcPts val="400"/>
              </a:spcAft>
            </a:pPr>
            <a:r>
              <a:rPr sz="1200">
                <a:solidFill>
                  <a:srgbClr val="E6EAF0"/>
                </a:solidFill>
                <a:latin typeface="Helvetica Neue"/>
              </a:rPr>
              <a:t>• 0.6 · cosine(query, blob)</a:t>
            </a:r>
          </a:p>
          <a:p>
            <a:pPr algn="l">
              <a:spcAft>
                <a:spcPts val="400"/>
              </a:spcAft>
            </a:pPr>
            <a:r>
              <a:rPr sz="1200">
                <a:solidFill>
                  <a:srgbClr val="E6EAF0"/>
                </a:solidFill>
                <a:latin typeface="Helvetica Neue"/>
              </a:rPr>
              <a:t>• 0.4 · BM25(query, [TABLE/DESCRIPTION/COLUMN_SEMANTICS])</a:t>
            </a:r>
          </a:p>
          <a:p>
            <a:pPr algn="l">
              <a:spcAft>
                <a:spcPts val="400"/>
              </a:spcAft>
            </a:pPr>
            <a:r>
              <a:rPr sz="1200">
                <a:solidFill>
                  <a:srgbClr val="E6EAF0"/>
                </a:solidFill>
                <a:latin typeface="Helvetica Neue"/>
              </a:rPr>
              <a:t>• Reciprocal-rank fusion → top-N</a:t>
            </a:r>
          </a:p>
          <a:p>
            <a:pPr algn="l">
              <a:spcAft>
                <a:spcPts val="400"/>
              </a:spcAft>
            </a:pPr>
            <a:r>
              <a:rPr sz="1200">
                <a:solidFill>
                  <a:srgbClr val="E6EAF0"/>
                </a:solidFill>
                <a:latin typeface="Helvetica Neue"/>
              </a:rPr>
              <a:t>• Reranks to top-3 cluster choices for the generator</a:t>
            </a:r>
          </a:p>
        </p:txBody>
      </p:sp>
      <p:sp>
        <p:nvSpPr>
          <p:cNvPr id="19" name="Rounded Rectangle 18"/>
          <p:cNvSpPr/>
          <p:nvPr/>
        </p:nvSpPr>
        <p:spPr>
          <a:xfrm>
            <a:off x="6263640" y="3931920"/>
            <a:ext cx="5577840" cy="23317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4023360"/>
            <a:ext cx="5212080" cy="365760"/>
          </a:xfrm>
          <a:prstGeom prst="rect">
            <a:avLst/>
          </a:prstGeom>
          <a:noFill/>
        </p:spPr>
        <p:txBody>
          <a:bodyPr wrap="square" lIns="45720" rIns="45720">
            <a:spAutoFit/>
          </a:bodyPr>
          <a:lstStyle/>
          <a:p>
            <a:pPr algn="l"/>
            <a:r>
              <a:rPr sz="1400" b="1">
                <a:solidFill>
                  <a:srgbClr val="F2B857"/>
                </a:solidFill>
                <a:latin typeface="Helvetica Neue"/>
              </a:rPr>
              <a:t>Auto sub-clustering (planned, see next-week plan)</a:t>
            </a:r>
          </a:p>
        </p:txBody>
      </p:sp>
      <p:sp>
        <p:nvSpPr>
          <p:cNvPr id="21" name="TextBox 20"/>
          <p:cNvSpPr txBox="1"/>
          <p:nvPr/>
        </p:nvSpPr>
        <p:spPr>
          <a:xfrm>
            <a:off x="6446520" y="4434840"/>
            <a:ext cx="5212080" cy="1828800"/>
          </a:xfrm>
          <a:prstGeom prst="rect">
            <a:avLst/>
          </a:prstGeom>
          <a:noFill/>
        </p:spPr>
        <p:txBody>
          <a:bodyPr wrap="square">
            <a:spAutoFit/>
          </a:bodyPr>
          <a:lstStyle/>
          <a:p>
            <a:pPr algn="l">
              <a:spcAft>
                <a:spcPts val="400"/>
              </a:spcAft>
            </a:pPr>
            <a:r>
              <a:rPr sz="1200">
                <a:solidFill>
                  <a:srgbClr val="E6EAF0"/>
                </a:solidFill>
                <a:latin typeface="Helvetica Neue"/>
              </a:rPr>
              <a:t>• Domains &gt; 30 tables get Leiden community detection</a:t>
            </a:r>
          </a:p>
          <a:p>
            <a:pPr algn="l">
              <a:spcAft>
                <a:spcPts val="400"/>
              </a:spcAft>
            </a:pPr>
            <a:r>
              <a:rPr sz="1200">
                <a:solidFill>
                  <a:srgbClr val="E6EAF0"/>
                </a:solidFill>
                <a:latin typeface="Helvetica Neue"/>
              </a:rPr>
              <a:t>• Affinity = 0.5·cosine + 0.3·graph + 0.2·name jaccard</a:t>
            </a:r>
          </a:p>
          <a:p>
            <a:pPr algn="l">
              <a:spcAft>
                <a:spcPts val="400"/>
              </a:spcAft>
            </a:pPr>
            <a:r>
              <a:rPr sz="1200">
                <a:solidFill>
                  <a:srgbClr val="E6EAF0"/>
                </a:solidFill>
                <a:latin typeface="Helvetica Neue"/>
              </a:rPr>
              <a:t>• Multi-label tables sub-clustered in BOTH domains</a:t>
            </a:r>
          </a:p>
          <a:p>
            <a:pPr algn="l">
              <a:spcAft>
                <a:spcPts val="400"/>
              </a:spcAft>
            </a:pPr>
            <a:r>
              <a:rPr sz="1200">
                <a:solidFill>
                  <a:srgbClr val="E6EAF0"/>
                </a:solidFill>
                <a:latin typeface="Helvetica Neue"/>
              </a:rPr>
              <a:t>• Hungarian assignment between rebuilds for ID stability</a:t>
            </a:r>
          </a:p>
        </p:txBody>
      </p:sp>
      <p:sp>
        <p:nvSpPr>
          <p:cNvPr id="22" name="TextBox 21"/>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Section 3 · Semantic</a:t>
            </a:r>
          </a:p>
        </p:txBody>
      </p:sp>
      <p:sp>
        <p:nvSpPr>
          <p:cNvPr id="23" name="TextBox 22"/>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embedding/collections.py · embedding/hybrid.py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How they cooperate at query time</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Both layers feed the schema linker, then the generator</a:t>
            </a:r>
          </a:p>
        </p:txBody>
      </p:sp>
      <p:sp>
        <p:nvSpPr>
          <p:cNvPr id="4" name="Rounded Rectangle 3"/>
          <p:cNvSpPr/>
          <p:nvPr/>
        </p:nvSpPr>
        <p:spPr>
          <a:xfrm>
            <a:off x="457200" y="1463040"/>
            <a:ext cx="11247120" cy="4754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457200" cy="274320"/>
          </a:xfrm>
          <a:prstGeom prst="rect">
            <a:avLst/>
          </a:prstGeom>
          <a:noFill/>
        </p:spPr>
        <p:txBody>
          <a:bodyPr wrap="square" lIns="45720" rIns="45720">
            <a:spAutoFit/>
          </a:bodyPr>
          <a:lstStyle/>
          <a:p>
            <a:pPr algn="l"/>
            <a:r>
              <a:rPr sz="1300" b="1">
                <a:solidFill>
                  <a:srgbClr val="8A95A5"/>
                </a:solidFill>
                <a:latin typeface="Helvetica Neue"/>
              </a:rPr>
              <a:t>1.</a:t>
            </a:r>
          </a:p>
        </p:txBody>
      </p:sp>
      <p:sp>
        <p:nvSpPr>
          <p:cNvPr id="6" name="TextBox 5"/>
          <p:cNvSpPr txBox="1"/>
          <p:nvPr/>
        </p:nvSpPr>
        <p:spPr>
          <a:xfrm>
            <a:off x="1143000" y="1691640"/>
            <a:ext cx="3657600" cy="274320"/>
          </a:xfrm>
          <a:prstGeom prst="rect">
            <a:avLst/>
          </a:prstGeom>
          <a:noFill/>
        </p:spPr>
        <p:txBody>
          <a:bodyPr wrap="square" lIns="45720" rIns="45720">
            <a:spAutoFit/>
          </a:bodyPr>
          <a:lstStyle/>
          <a:p>
            <a:pPr algn="l"/>
            <a:r>
              <a:rPr sz="1200" b="1">
                <a:solidFill>
                  <a:srgbClr val="E6EAF0"/>
                </a:solidFill>
                <a:latin typeface="Helvetica Neue"/>
              </a:rPr>
              <a:t>Question arrives</a:t>
            </a:r>
          </a:p>
        </p:txBody>
      </p:sp>
      <p:sp>
        <p:nvSpPr>
          <p:cNvPr id="7" name="TextBox 6"/>
          <p:cNvSpPr txBox="1"/>
          <p:nvPr/>
        </p:nvSpPr>
        <p:spPr>
          <a:xfrm>
            <a:off x="4937760" y="1691640"/>
            <a:ext cx="6766560" cy="274320"/>
          </a:xfrm>
          <a:prstGeom prst="rect">
            <a:avLst/>
          </a:prstGeom>
          <a:noFill/>
        </p:spPr>
        <p:txBody>
          <a:bodyPr wrap="square" lIns="45720" rIns="45720">
            <a:spAutoFit/>
          </a:bodyPr>
          <a:lstStyle/>
          <a:p>
            <a:pPr algn="l"/>
            <a:r>
              <a:rPr sz="1200" b="0">
                <a:solidFill>
                  <a:srgbClr val="8A95A5"/>
                </a:solidFill>
                <a:latin typeface="Helvetica Neue"/>
              </a:rPr>
              <a:t>How many Hispanic students enrolled in Grade 9 last year?</a:t>
            </a:r>
          </a:p>
        </p:txBody>
      </p:sp>
      <p:sp>
        <p:nvSpPr>
          <p:cNvPr id="8" name="TextBox 7"/>
          <p:cNvSpPr txBox="1"/>
          <p:nvPr/>
        </p:nvSpPr>
        <p:spPr>
          <a:xfrm>
            <a:off x="640080" y="2148840"/>
            <a:ext cx="457200" cy="274320"/>
          </a:xfrm>
          <a:prstGeom prst="rect">
            <a:avLst/>
          </a:prstGeom>
          <a:noFill/>
        </p:spPr>
        <p:txBody>
          <a:bodyPr wrap="square" lIns="45720" rIns="45720">
            <a:spAutoFit/>
          </a:bodyPr>
          <a:lstStyle/>
          <a:p>
            <a:pPr algn="l"/>
            <a:r>
              <a:rPr sz="1300" b="1">
                <a:solidFill>
                  <a:srgbClr val="6EC1FF"/>
                </a:solidFill>
                <a:latin typeface="Helvetica Neue"/>
              </a:rPr>
              <a:t>2.</a:t>
            </a:r>
          </a:p>
        </p:txBody>
      </p:sp>
      <p:sp>
        <p:nvSpPr>
          <p:cNvPr id="9" name="TextBox 8"/>
          <p:cNvSpPr txBox="1"/>
          <p:nvPr/>
        </p:nvSpPr>
        <p:spPr>
          <a:xfrm>
            <a:off x="1143000" y="2148840"/>
            <a:ext cx="3657600" cy="274320"/>
          </a:xfrm>
          <a:prstGeom prst="rect">
            <a:avLst/>
          </a:prstGeom>
          <a:noFill/>
        </p:spPr>
        <p:txBody>
          <a:bodyPr wrap="square" lIns="45720" rIns="45720">
            <a:spAutoFit/>
          </a:bodyPr>
          <a:lstStyle/>
          <a:p>
            <a:pPr algn="l"/>
            <a:r>
              <a:rPr sz="1200" b="1">
                <a:solidFill>
                  <a:srgbClr val="E6EAF0"/>
                </a:solidFill>
                <a:latin typeface="Helvetica Neue"/>
              </a:rPr>
              <a:t>Cluster route (semantic)</a:t>
            </a:r>
          </a:p>
        </p:txBody>
      </p:sp>
      <p:sp>
        <p:nvSpPr>
          <p:cNvPr id="10" name="TextBox 9"/>
          <p:cNvSpPr txBox="1"/>
          <p:nvPr/>
        </p:nvSpPr>
        <p:spPr>
          <a:xfrm>
            <a:off x="4937760" y="2148840"/>
            <a:ext cx="6766560" cy="274320"/>
          </a:xfrm>
          <a:prstGeom prst="rect">
            <a:avLst/>
          </a:prstGeom>
          <a:noFill/>
        </p:spPr>
        <p:txBody>
          <a:bodyPr wrap="square" lIns="45720" rIns="45720">
            <a:spAutoFit/>
          </a:bodyPr>
          <a:lstStyle/>
          <a:p>
            <a:pPr algn="l"/>
            <a:r>
              <a:rPr sz="1200" b="0">
                <a:solidFill>
                  <a:srgbClr val="8A95A5"/>
                </a:solidFill>
                <a:latin typeface="Helvetica Neue"/>
              </a:rPr>
              <a:t>Top-3 (domain, sub-cluster) via hybrid retrieval</a:t>
            </a:r>
          </a:p>
        </p:txBody>
      </p:sp>
      <p:sp>
        <p:nvSpPr>
          <p:cNvPr id="11" name="TextBox 10"/>
          <p:cNvSpPr txBox="1"/>
          <p:nvPr/>
        </p:nvSpPr>
        <p:spPr>
          <a:xfrm>
            <a:off x="640080" y="2606040"/>
            <a:ext cx="457200" cy="274320"/>
          </a:xfrm>
          <a:prstGeom prst="rect">
            <a:avLst/>
          </a:prstGeom>
          <a:noFill/>
        </p:spPr>
        <p:txBody>
          <a:bodyPr wrap="square" lIns="45720" rIns="45720">
            <a:spAutoFit/>
          </a:bodyPr>
          <a:lstStyle/>
          <a:p>
            <a:pPr algn="l"/>
            <a:r>
              <a:rPr sz="1300" b="1">
                <a:solidFill>
                  <a:srgbClr val="6EC1FF"/>
                </a:solidFill>
                <a:latin typeface="Helvetica Neue"/>
              </a:rPr>
              <a:t>3.</a:t>
            </a:r>
          </a:p>
        </p:txBody>
      </p:sp>
      <p:sp>
        <p:nvSpPr>
          <p:cNvPr id="12" name="TextBox 11"/>
          <p:cNvSpPr txBox="1"/>
          <p:nvPr/>
        </p:nvSpPr>
        <p:spPr>
          <a:xfrm>
            <a:off x="1143000" y="2606040"/>
            <a:ext cx="3657600" cy="274320"/>
          </a:xfrm>
          <a:prstGeom prst="rect">
            <a:avLst/>
          </a:prstGeom>
          <a:noFill/>
        </p:spPr>
        <p:txBody>
          <a:bodyPr wrap="square" lIns="45720" rIns="45720">
            <a:spAutoFit/>
          </a:bodyPr>
          <a:lstStyle/>
          <a:p>
            <a:pPr algn="l"/>
            <a:r>
              <a:rPr sz="1200" b="1">
                <a:solidFill>
                  <a:srgbClr val="E6EAF0"/>
                </a:solidFill>
                <a:latin typeface="Helvetica Neue"/>
              </a:rPr>
              <a:t>Schema link inside cluster (semantic)</a:t>
            </a:r>
          </a:p>
        </p:txBody>
      </p:sp>
      <p:sp>
        <p:nvSpPr>
          <p:cNvPr id="13" name="TextBox 12"/>
          <p:cNvSpPr txBox="1"/>
          <p:nvPr/>
        </p:nvSpPr>
        <p:spPr>
          <a:xfrm>
            <a:off x="4937760" y="2606040"/>
            <a:ext cx="6766560" cy="274320"/>
          </a:xfrm>
          <a:prstGeom prst="rect">
            <a:avLst/>
          </a:prstGeom>
          <a:noFill/>
        </p:spPr>
        <p:txBody>
          <a:bodyPr wrap="square" lIns="45720" rIns="45720">
            <a:spAutoFit/>
          </a:bodyPr>
          <a:lstStyle/>
          <a:p>
            <a:pPr algn="l"/>
            <a:r>
              <a:rPr sz="1200" b="0">
                <a:solidFill>
                  <a:srgbClr val="8A95A5"/>
                </a:solidFill>
                <a:latin typeface="Helvetica Neue"/>
              </a:rPr>
              <a:t>Pick K tables from cluster's `tables` collection</a:t>
            </a:r>
          </a:p>
        </p:txBody>
      </p:sp>
      <p:sp>
        <p:nvSpPr>
          <p:cNvPr id="14" name="TextBox 13"/>
          <p:cNvSpPr txBox="1"/>
          <p:nvPr/>
        </p:nvSpPr>
        <p:spPr>
          <a:xfrm>
            <a:off x="640080" y="3063240"/>
            <a:ext cx="457200" cy="274320"/>
          </a:xfrm>
          <a:prstGeom prst="rect">
            <a:avLst/>
          </a:prstGeom>
          <a:noFill/>
        </p:spPr>
        <p:txBody>
          <a:bodyPr wrap="square" lIns="45720" rIns="45720">
            <a:spAutoFit/>
          </a:bodyPr>
          <a:lstStyle/>
          <a:p>
            <a:pPr algn="l"/>
            <a:r>
              <a:rPr sz="1300" b="1">
                <a:solidFill>
                  <a:srgbClr val="6EC1FF"/>
                </a:solidFill>
                <a:latin typeface="Helvetica Neue"/>
              </a:rPr>
              <a:t>4.</a:t>
            </a:r>
          </a:p>
        </p:txBody>
      </p:sp>
      <p:sp>
        <p:nvSpPr>
          <p:cNvPr id="15" name="TextBox 14"/>
          <p:cNvSpPr txBox="1"/>
          <p:nvPr/>
        </p:nvSpPr>
        <p:spPr>
          <a:xfrm>
            <a:off x="1143000" y="3063240"/>
            <a:ext cx="3657600" cy="274320"/>
          </a:xfrm>
          <a:prstGeom prst="rect">
            <a:avLst/>
          </a:prstGeom>
          <a:noFill/>
        </p:spPr>
        <p:txBody>
          <a:bodyPr wrap="square" lIns="45720" rIns="45720">
            <a:spAutoFit/>
          </a:bodyPr>
          <a:lstStyle/>
          <a:p>
            <a:pPr algn="l"/>
            <a:r>
              <a:rPr sz="1200" b="1">
                <a:solidFill>
                  <a:srgbClr val="E6EAF0"/>
                </a:solidFill>
                <a:latin typeface="Helvetica Neue"/>
              </a:rPr>
              <a:t>Steiner over picked tables (graph)</a:t>
            </a:r>
          </a:p>
        </p:txBody>
      </p:sp>
      <p:sp>
        <p:nvSpPr>
          <p:cNvPr id="16" name="TextBox 15"/>
          <p:cNvSpPr txBox="1"/>
          <p:nvPr/>
        </p:nvSpPr>
        <p:spPr>
          <a:xfrm>
            <a:off x="4937760" y="3063240"/>
            <a:ext cx="6766560" cy="274320"/>
          </a:xfrm>
          <a:prstGeom prst="rect">
            <a:avLst/>
          </a:prstGeom>
          <a:noFill/>
        </p:spPr>
        <p:txBody>
          <a:bodyPr wrap="square" lIns="45720" rIns="45720">
            <a:spAutoFit/>
          </a:bodyPr>
          <a:lstStyle/>
          <a:p>
            <a:pPr algn="l"/>
            <a:r>
              <a:rPr sz="1200" b="0">
                <a:solidFill>
                  <a:srgbClr val="8A95A5"/>
                </a:solidFill>
                <a:latin typeface="Helvetica Neue"/>
              </a:rPr>
              <a:t>Cheapest join tree across ~1048 nodes</a:t>
            </a:r>
          </a:p>
        </p:txBody>
      </p:sp>
      <p:sp>
        <p:nvSpPr>
          <p:cNvPr id="17" name="TextBox 16"/>
          <p:cNvSpPr txBox="1"/>
          <p:nvPr/>
        </p:nvSpPr>
        <p:spPr>
          <a:xfrm>
            <a:off x="640080" y="3520440"/>
            <a:ext cx="457200" cy="274320"/>
          </a:xfrm>
          <a:prstGeom prst="rect">
            <a:avLst/>
          </a:prstGeom>
          <a:noFill/>
        </p:spPr>
        <p:txBody>
          <a:bodyPr wrap="square" lIns="45720" rIns="45720">
            <a:spAutoFit/>
          </a:bodyPr>
          <a:lstStyle/>
          <a:p>
            <a:pPr algn="l"/>
            <a:r>
              <a:rPr sz="1300" b="1">
                <a:solidFill>
                  <a:srgbClr val="F2B857"/>
                </a:solidFill>
                <a:latin typeface="Helvetica Neue"/>
              </a:rPr>
              <a:t>5.</a:t>
            </a:r>
          </a:p>
        </p:txBody>
      </p:sp>
      <p:sp>
        <p:nvSpPr>
          <p:cNvPr id="18" name="TextBox 17"/>
          <p:cNvSpPr txBox="1"/>
          <p:nvPr/>
        </p:nvSpPr>
        <p:spPr>
          <a:xfrm>
            <a:off x="1143000" y="3520440"/>
            <a:ext cx="3657600" cy="274320"/>
          </a:xfrm>
          <a:prstGeom prst="rect">
            <a:avLst/>
          </a:prstGeom>
          <a:noFill/>
        </p:spPr>
        <p:txBody>
          <a:bodyPr wrap="square" lIns="45720" rIns="45720">
            <a:spAutoFit/>
          </a:bodyPr>
          <a:lstStyle/>
          <a:p>
            <a:pPr algn="l"/>
            <a:r>
              <a:rPr sz="1200" b="1">
                <a:solidFill>
                  <a:srgbClr val="E6EAF0"/>
                </a:solidFill>
                <a:latin typeface="Helvetica Neue"/>
              </a:rPr>
              <a:t>Entity resolve (semantic)</a:t>
            </a:r>
          </a:p>
        </p:txBody>
      </p:sp>
      <p:sp>
        <p:nvSpPr>
          <p:cNvPr id="19" name="TextBox 18"/>
          <p:cNvSpPr txBox="1"/>
          <p:nvPr/>
        </p:nvSpPr>
        <p:spPr>
          <a:xfrm>
            <a:off x="4937760" y="3520440"/>
            <a:ext cx="6766560" cy="274320"/>
          </a:xfrm>
          <a:prstGeom prst="rect">
            <a:avLst/>
          </a:prstGeom>
          <a:noFill/>
        </p:spPr>
        <p:txBody>
          <a:bodyPr wrap="square" lIns="45720" rIns="45720">
            <a:spAutoFit/>
          </a:bodyPr>
          <a:lstStyle/>
          <a:p>
            <a:pPr algn="l"/>
            <a:r>
              <a:rPr sz="1200" b="0">
                <a:solidFill>
                  <a:srgbClr val="8A95A5"/>
                </a:solidFill>
                <a:latin typeface="Helvetica Neue"/>
              </a:rPr>
              <a:t>'Hispanic' → RaceDescriptor.CodeValue + descriptor join chain</a:t>
            </a:r>
          </a:p>
        </p:txBody>
      </p:sp>
      <p:sp>
        <p:nvSpPr>
          <p:cNvPr id="20" name="TextBox 19"/>
          <p:cNvSpPr txBox="1"/>
          <p:nvPr/>
        </p:nvSpPr>
        <p:spPr>
          <a:xfrm>
            <a:off x="640080" y="3977639"/>
            <a:ext cx="457200" cy="274320"/>
          </a:xfrm>
          <a:prstGeom prst="rect">
            <a:avLst/>
          </a:prstGeom>
          <a:noFill/>
        </p:spPr>
        <p:txBody>
          <a:bodyPr wrap="square" lIns="45720" rIns="45720">
            <a:spAutoFit/>
          </a:bodyPr>
          <a:lstStyle/>
          <a:p>
            <a:pPr algn="l"/>
            <a:r>
              <a:rPr sz="1300" b="1">
                <a:solidFill>
                  <a:srgbClr val="4AD09C"/>
                </a:solidFill>
                <a:latin typeface="Helvetica Neue"/>
              </a:rPr>
              <a:t>6.</a:t>
            </a:r>
          </a:p>
        </p:txBody>
      </p:sp>
      <p:sp>
        <p:nvSpPr>
          <p:cNvPr id="21" name="TextBox 20"/>
          <p:cNvSpPr txBox="1"/>
          <p:nvPr/>
        </p:nvSpPr>
        <p:spPr>
          <a:xfrm>
            <a:off x="1143000" y="3977639"/>
            <a:ext cx="3657600" cy="274320"/>
          </a:xfrm>
          <a:prstGeom prst="rect">
            <a:avLst/>
          </a:prstGeom>
          <a:noFill/>
        </p:spPr>
        <p:txBody>
          <a:bodyPr wrap="square" lIns="45720" rIns="45720">
            <a:spAutoFit/>
          </a:bodyPr>
          <a:lstStyle/>
          <a:p>
            <a:pPr algn="l"/>
            <a:r>
              <a:rPr sz="1200" b="1">
                <a:solidFill>
                  <a:srgbClr val="E6EAF0"/>
                </a:solidFill>
                <a:latin typeface="Helvetica Neue"/>
              </a:rPr>
              <a:t>Generator gets context</a:t>
            </a:r>
          </a:p>
        </p:txBody>
      </p:sp>
      <p:sp>
        <p:nvSpPr>
          <p:cNvPr id="22" name="TextBox 21"/>
          <p:cNvSpPr txBox="1"/>
          <p:nvPr/>
        </p:nvSpPr>
        <p:spPr>
          <a:xfrm>
            <a:off x="4937760" y="3977639"/>
            <a:ext cx="6766560" cy="274320"/>
          </a:xfrm>
          <a:prstGeom prst="rect">
            <a:avLst/>
          </a:prstGeom>
          <a:noFill/>
        </p:spPr>
        <p:txBody>
          <a:bodyPr wrap="square" lIns="45720" rIns="45720">
            <a:spAutoFit/>
          </a:bodyPr>
          <a:lstStyle/>
          <a:p>
            <a:pPr algn="l"/>
            <a:r>
              <a:rPr sz="1200" b="0">
                <a:solidFill>
                  <a:srgbClr val="8A95A5"/>
                </a:solidFill>
                <a:latin typeface="Helvetica Neue"/>
              </a:rPr>
              <a:t>M-Schema + JOINs + descriptor filters + 3 gold few-shots</a:t>
            </a:r>
          </a:p>
        </p:txBody>
      </p:sp>
      <p:sp>
        <p:nvSpPr>
          <p:cNvPr id="23" name="TextBox 22"/>
          <p:cNvSpPr txBox="1"/>
          <p:nvPr/>
        </p:nvSpPr>
        <p:spPr>
          <a:xfrm>
            <a:off x="640080" y="4434840"/>
            <a:ext cx="457200" cy="274320"/>
          </a:xfrm>
          <a:prstGeom prst="rect">
            <a:avLst/>
          </a:prstGeom>
          <a:noFill/>
        </p:spPr>
        <p:txBody>
          <a:bodyPr wrap="square" lIns="45720" rIns="45720">
            <a:spAutoFit/>
          </a:bodyPr>
          <a:lstStyle/>
          <a:p>
            <a:pPr algn="l"/>
            <a:r>
              <a:rPr sz="1300" b="1">
                <a:solidFill>
                  <a:srgbClr val="4AD09C"/>
                </a:solidFill>
                <a:latin typeface="Helvetica Neue"/>
              </a:rPr>
              <a:t>7.</a:t>
            </a:r>
          </a:p>
        </p:txBody>
      </p:sp>
      <p:sp>
        <p:nvSpPr>
          <p:cNvPr id="24" name="TextBox 23"/>
          <p:cNvSpPr txBox="1"/>
          <p:nvPr/>
        </p:nvSpPr>
        <p:spPr>
          <a:xfrm>
            <a:off x="1143000" y="4434840"/>
            <a:ext cx="3657600" cy="274320"/>
          </a:xfrm>
          <a:prstGeom prst="rect">
            <a:avLst/>
          </a:prstGeom>
          <a:noFill/>
        </p:spPr>
        <p:txBody>
          <a:bodyPr wrap="square" lIns="45720" rIns="45720">
            <a:spAutoFit/>
          </a:bodyPr>
          <a:lstStyle/>
          <a:p>
            <a:pPr algn="l"/>
            <a:r>
              <a:rPr sz="1200" b="1">
                <a:solidFill>
                  <a:srgbClr val="E6EAF0"/>
                </a:solidFill>
                <a:latin typeface="Helvetica Neue"/>
              </a:rPr>
              <a:t>Validator + repair loop</a:t>
            </a:r>
          </a:p>
        </p:txBody>
      </p:sp>
      <p:sp>
        <p:nvSpPr>
          <p:cNvPr id="25" name="TextBox 24"/>
          <p:cNvSpPr txBox="1"/>
          <p:nvPr/>
        </p:nvSpPr>
        <p:spPr>
          <a:xfrm>
            <a:off x="4937760" y="4434840"/>
            <a:ext cx="6766560" cy="274320"/>
          </a:xfrm>
          <a:prstGeom prst="rect">
            <a:avLst/>
          </a:prstGeom>
          <a:noFill/>
        </p:spPr>
        <p:txBody>
          <a:bodyPr wrap="square" lIns="45720" rIns="45720">
            <a:spAutoFit/>
          </a:bodyPr>
          <a:lstStyle/>
          <a:p>
            <a:pPr algn="l"/>
            <a:r>
              <a:rPr sz="1200" b="0">
                <a:solidFill>
                  <a:srgbClr val="8A95A5"/>
                </a:solidFill>
                <a:latin typeface="Helvetica Neue"/>
              </a:rPr>
              <a:t>sqlglot parse · EXPLAIN · LIMIT 0 (≤3 attempts)</a:t>
            </a:r>
          </a:p>
        </p:txBody>
      </p:sp>
      <p:sp>
        <p:nvSpPr>
          <p:cNvPr id="26" name="TextBox 25"/>
          <p:cNvSpPr txBox="1"/>
          <p:nvPr/>
        </p:nvSpPr>
        <p:spPr>
          <a:xfrm>
            <a:off x="640080" y="4892040"/>
            <a:ext cx="457200" cy="274320"/>
          </a:xfrm>
          <a:prstGeom prst="rect">
            <a:avLst/>
          </a:prstGeom>
          <a:noFill/>
        </p:spPr>
        <p:txBody>
          <a:bodyPr wrap="square" lIns="45720" rIns="45720">
            <a:spAutoFit/>
          </a:bodyPr>
          <a:lstStyle/>
          <a:p>
            <a:pPr algn="l"/>
            <a:r>
              <a:rPr sz="1300" b="1">
                <a:solidFill>
                  <a:srgbClr val="4AD09C"/>
                </a:solidFill>
                <a:latin typeface="Helvetica Neue"/>
              </a:rPr>
              <a:t>8.</a:t>
            </a:r>
          </a:p>
        </p:txBody>
      </p:sp>
      <p:sp>
        <p:nvSpPr>
          <p:cNvPr id="27" name="TextBox 26"/>
          <p:cNvSpPr txBox="1"/>
          <p:nvPr/>
        </p:nvSpPr>
        <p:spPr>
          <a:xfrm>
            <a:off x="1143000" y="4892040"/>
            <a:ext cx="3657600" cy="274320"/>
          </a:xfrm>
          <a:prstGeom prst="rect">
            <a:avLst/>
          </a:prstGeom>
          <a:noFill/>
        </p:spPr>
        <p:txBody>
          <a:bodyPr wrap="square" lIns="45720" rIns="45720">
            <a:spAutoFit/>
          </a:bodyPr>
          <a:lstStyle/>
          <a:p>
            <a:pPr algn="l"/>
            <a:r>
              <a:rPr sz="1200" b="1">
                <a:solidFill>
                  <a:srgbClr val="E6EAF0"/>
                </a:solidFill>
                <a:latin typeface="Helvetica Neue"/>
              </a:rPr>
              <a:t>Execute</a:t>
            </a:r>
          </a:p>
        </p:txBody>
      </p:sp>
      <p:sp>
        <p:nvSpPr>
          <p:cNvPr id="28" name="TextBox 27"/>
          <p:cNvSpPr txBox="1"/>
          <p:nvPr/>
        </p:nvSpPr>
        <p:spPr>
          <a:xfrm>
            <a:off x="4937760" y="4892040"/>
            <a:ext cx="6766560" cy="274320"/>
          </a:xfrm>
          <a:prstGeom prst="rect">
            <a:avLst/>
          </a:prstGeom>
          <a:noFill/>
        </p:spPr>
        <p:txBody>
          <a:bodyPr wrap="square" lIns="45720" rIns="45720">
            <a:spAutoFit/>
          </a:bodyPr>
          <a:lstStyle/>
          <a:p>
            <a:pPr algn="l"/>
            <a:r>
              <a:rPr sz="1200" b="0">
                <a:solidFill>
                  <a:srgbClr val="8A95A5"/>
                </a:solidFill>
                <a:latin typeface="Helvetica Neue"/>
              </a:rPr>
              <a:t>Engine adapter (PG / MSSQL / SQLite)</a:t>
            </a:r>
          </a:p>
        </p:txBody>
      </p:sp>
      <p:sp>
        <p:nvSpPr>
          <p:cNvPr id="29" name="TextBox 28"/>
          <p:cNvSpPr txBox="1"/>
          <p:nvPr/>
        </p:nvSpPr>
        <p:spPr>
          <a:xfrm>
            <a:off x="640080" y="5349240"/>
            <a:ext cx="457200" cy="274320"/>
          </a:xfrm>
          <a:prstGeom prst="rect">
            <a:avLst/>
          </a:prstGeom>
          <a:noFill/>
        </p:spPr>
        <p:txBody>
          <a:bodyPr wrap="square" lIns="45720" rIns="45720">
            <a:spAutoFit/>
          </a:bodyPr>
          <a:lstStyle/>
          <a:p>
            <a:pPr algn="l"/>
            <a:r>
              <a:rPr sz="1300" b="1">
                <a:solidFill>
                  <a:srgbClr val="4AD09C"/>
                </a:solidFill>
                <a:latin typeface="Helvetica Neue"/>
              </a:rPr>
              <a:t>9.</a:t>
            </a:r>
          </a:p>
        </p:txBody>
      </p:sp>
      <p:sp>
        <p:nvSpPr>
          <p:cNvPr id="30" name="TextBox 29"/>
          <p:cNvSpPr txBox="1"/>
          <p:nvPr/>
        </p:nvSpPr>
        <p:spPr>
          <a:xfrm>
            <a:off x="1143000" y="5349240"/>
            <a:ext cx="3657600" cy="274320"/>
          </a:xfrm>
          <a:prstGeom prst="rect">
            <a:avLst/>
          </a:prstGeom>
          <a:noFill/>
        </p:spPr>
        <p:txBody>
          <a:bodyPr wrap="square" lIns="45720" rIns="45720">
            <a:spAutoFit/>
          </a:bodyPr>
          <a:lstStyle/>
          <a:p>
            <a:pPr algn="l"/>
            <a:r>
              <a:rPr sz="1200" b="1">
                <a:solidFill>
                  <a:srgbClr val="E6EAF0"/>
                </a:solidFill>
                <a:latin typeface="Helvetica Neue"/>
              </a:rPr>
              <a:t>Vega-Lite + LLM description</a:t>
            </a:r>
          </a:p>
        </p:txBody>
      </p:sp>
      <p:sp>
        <p:nvSpPr>
          <p:cNvPr id="31" name="TextBox 30"/>
          <p:cNvSpPr txBox="1"/>
          <p:nvPr/>
        </p:nvSpPr>
        <p:spPr>
          <a:xfrm>
            <a:off x="4937760" y="5349240"/>
            <a:ext cx="6766560" cy="274320"/>
          </a:xfrm>
          <a:prstGeom prst="rect">
            <a:avLst/>
          </a:prstGeom>
          <a:noFill/>
        </p:spPr>
        <p:txBody>
          <a:bodyPr wrap="square" lIns="45720" rIns="45720">
            <a:spAutoFit/>
          </a:bodyPr>
          <a:lstStyle/>
          <a:p>
            <a:pPr algn="l"/>
            <a:r>
              <a:rPr sz="1200" b="0">
                <a:solidFill>
                  <a:srgbClr val="8A95A5"/>
                </a:solidFill>
                <a:latin typeface="Helvetica Neue"/>
              </a:rPr>
              <a:t>Auto-pick mark by result shape; describe the answer</a:t>
            </a:r>
          </a:p>
        </p:txBody>
      </p:sp>
      <p:sp>
        <p:nvSpPr>
          <p:cNvPr id="32" name="TextBox 31"/>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Section 3 · Semantic + Graph</a:t>
            </a:r>
          </a:p>
        </p:txBody>
      </p:sp>
      <p:sp>
        <p:nvSpPr>
          <p:cNvPr id="33" name="TextBox 32"/>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pipeline/orchestrator.py · spec §9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Latency budget at query time</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p50 / p95 measured on local stack with cached embeddings</a:t>
            </a:r>
          </a:p>
        </p:txBody>
      </p:sp>
      <p:sp>
        <p:nvSpPr>
          <p:cNvPr id="4" name="Rounded Rectangle 3"/>
          <p:cNvSpPr/>
          <p:nvPr/>
        </p:nvSpPr>
        <p:spPr>
          <a:xfrm>
            <a:off x="457200" y="1463040"/>
            <a:ext cx="11247120" cy="38404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2743200" cy="320040"/>
          </a:xfrm>
          <a:prstGeom prst="rect">
            <a:avLst/>
          </a:prstGeom>
          <a:noFill/>
        </p:spPr>
        <p:txBody>
          <a:bodyPr wrap="square" lIns="45720" rIns="45720">
            <a:spAutoFit/>
          </a:bodyPr>
          <a:lstStyle/>
          <a:p>
            <a:pPr algn="l"/>
            <a:r>
              <a:rPr sz="1200" b="1">
                <a:solidFill>
                  <a:srgbClr val="F2B857"/>
                </a:solidFill>
                <a:latin typeface="Helvetica Neue"/>
              </a:rPr>
              <a:t>Stage</a:t>
            </a:r>
          </a:p>
        </p:txBody>
      </p:sp>
      <p:sp>
        <p:nvSpPr>
          <p:cNvPr id="6" name="TextBox 5"/>
          <p:cNvSpPr txBox="1"/>
          <p:nvPr/>
        </p:nvSpPr>
        <p:spPr>
          <a:xfrm>
            <a:off x="3749039" y="1554480"/>
            <a:ext cx="914400" cy="320040"/>
          </a:xfrm>
          <a:prstGeom prst="rect">
            <a:avLst/>
          </a:prstGeom>
          <a:noFill/>
        </p:spPr>
        <p:txBody>
          <a:bodyPr wrap="square" lIns="45720" rIns="45720">
            <a:spAutoFit/>
          </a:bodyPr>
          <a:lstStyle/>
          <a:p>
            <a:pPr algn="l"/>
            <a:r>
              <a:rPr sz="1200" b="1">
                <a:solidFill>
                  <a:srgbClr val="F2B857"/>
                </a:solidFill>
                <a:latin typeface="Helvetica Neue"/>
              </a:rPr>
              <a:t>p50</a:t>
            </a:r>
          </a:p>
        </p:txBody>
      </p:sp>
      <p:sp>
        <p:nvSpPr>
          <p:cNvPr id="7" name="TextBox 6"/>
          <p:cNvSpPr txBox="1"/>
          <p:nvPr/>
        </p:nvSpPr>
        <p:spPr>
          <a:xfrm>
            <a:off x="4846320" y="1554480"/>
            <a:ext cx="914400" cy="320040"/>
          </a:xfrm>
          <a:prstGeom prst="rect">
            <a:avLst/>
          </a:prstGeom>
          <a:noFill/>
        </p:spPr>
        <p:txBody>
          <a:bodyPr wrap="square" lIns="45720" rIns="45720">
            <a:spAutoFit/>
          </a:bodyPr>
          <a:lstStyle/>
          <a:p>
            <a:pPr algn="l"/>
            <a:r>
              <a:rPr sz="1200" b="1">
                <a:solidFill>
                  <a:srgbClr val="F2B857"/>
                </a:solidFill>
                <a:latin typeface="Helvetica Neue"/>
              </a:rPr>
              <a:t>p95</a:t>
            </a:r>
          </a:p>
        </p:txBody>
      </p:sp>
      <p:sp>
        <p:nvSpPr>
          <p:cNvPr id="8" name="TextBox 7"/>
          <p:cNvSpPr txBox="1"/>
          <p:nvPr/>
        </p:nvSpPr>
        <p:spPr>
          <a:xfrm>
            <a:off x="5943600" y="1554480"/>
            <a:ext cx="5760720" cy="320040"/>
          </a:xfrm>
          <a:prstGeom prst="rect">
            <a:avLst/>
          </a:prstGeom>
          <a:noFill/>
        </p:spPr>
        <p:txBody>
          <a:bodyPr wrap="square" lIns="45720" rIns="45720">
            <a:spAutoFit/>
          </a:bodyPr>
          <a:lstStyle/>
          <a:p>
            <a:pPr algn="l"/>
            <a:r>
              <a:rPr sz="1200" b="1">
                <a:solidFill>
                  <a:srgbClr val="F2B857"/>
                </a:solidFill>
                <a:latin typeface="Helvetica Neue"/>
              </a:rPr>
              <a:t>Notes</a:t>
            </a:r>
          </a:p>
        </p:txBody>
      </p:sp>
      <p:sp>
        <p:nvSpPr>
          <p:cNvPr id="9" name="TextBox 8"/>
          <p:cNvSpPr txBox="1"/>
          <p:nvPr/>
        </p:nvSpPr>
        <p:spPr>
          <a:xfrm>
            <a:off x="640080" y="1920240"/>
            <a:ext cx="3108960" cy="292608"/>
          </a:xfrm>
          <a:prstGeom prst="rect">
            <a:avLst/>
          </a:prstGeom>
          <a:noFill/>
        </p:spPr>
        <p:txBody>
          <a:bodyPr wrap="square" lIns="45720" rIns="45720">
            <a:spAutoFit/>
          </a:bodyPr>
          <a:lstStyle/>
          <a:p>
            <a:pPr algn="l"/>
            <a:r>
              <a:rPr sz="1100" b="0">
                <a:solidFill>
                  <a:srgbClr val="E6EAF0"/>
                </a:solidFill>
                <a:latin typeface="Helvetica Neue"/>
              </a:rPr>
              <a:t>Cluster routing</a:t>
            </a:r>
          </a:p>
        </p:txBody>
      </p:sp>
      <p:sp>
        <p:nvSpPr>
          <p:cNvPr id="10" name="TextBox 9"/>
          <p:cNvSpPr txBox="1"/>
          <p:nvPr/>
        </p:nvSpPr>
        <p:spPr>
          <a:xfrm>
            <a:off x="3749039" y="1920240"/>
            <a:ext cx="914400" cy="292608"/>
          </a:xfrm>
          <a:prstGeom prst="rect">
            <a:avLst/>
          </a:prstGeom>
          <a:noFill/>
        </p:spPr>
        <p:txBody>
          <a:bodyPr wrap="square" lIns="45720" rIns="45720">
            <a:spAutoFit/>
          </a:bodyPr>
          <a:lstStyle/>
          <a:p>
            <a:pPr algn="l"/>
            <a:r>
              <a:rPr sz="1100" b="0">
                <a:solidFill>
                  <a:srgbClr val="4AD09C"/>
                </a:solidFill>
                <a:latin typeface="Helvetica Neue"/>
              </a:rPr>
              <a:t>30 ms</a:t>
            </a:r>
          </a:p>
        </p:txBody>
      </p:sp>
      <p:sp>
        <p:nvSpPr>
          <p:cNvPr id="11" name="TextBox 10"/>
          <p:cNvSpPr txBox="1"/>
          <p:nvPr/>
        </p:nvSpPr>
        <p:spPr>
          <a:xfrm>
            <a:off x="4846320" y="1920240"/>
            <a:ext cx="914400" cy="292608"/>
          </a:xfrm>
          <a:prstGeom prst="rect">
            <a:avLst/>
          </a:prstGeom>
          <a:noFill/>
        </p:spPr>
        <p:txBody>
          <a:bodyPr wrap="square" lIns="45720" rIns="45720">
            <a:spAutoFit/>
          </a:bodyPr>
          <a:lstStyle/>
          <a:p>
            <a:pPr algn="l"/>
            <a:r>
              <a:rPr sz="1100" b="0">
                <a:solidFill>
                  <a:srgbClr val="F2B857"/>
                </a:solidFill>
                <a:latin typeface="Helvetica Neue"/>
              </a:rPr>
              <a:t>60 ms</a:t>
            </a:r>
          </a:p>
        </p:txBody>
      </p:sp>
      <p:sp>
        <p:nvSpPr>
          <p:cNvPr id="12" name="TextBox 11"/>
          <p:cNvSpPr txBox="1"/>
          <p:nvPr/>
        </p:nvSpPr>
        <p:spPr>
          <a:xfrm>
            <a:off x="5943600" y="1920240"/>
            <a:ext cx="5760720" cy="292608"/>
          </a:xfrm>
          <a:prstGeom prst="rect">
            <a:avLst/>
          </a:prstGeom>
          <a:noFill/>
        </p:spPr>
        <p:txBody>
          <a:bodyPr wrap="square" lIns="45720" rIns="45720">
            <a:spAutoFit/>
          </a:bodyPr>
          <a:lstStyle/>
          <a:p>
            <a:pPr algn="l"/>
            <a:r>
              <a:rPr sz="1100" b="0">
                <a:solidFill>
                  <a:srgbClr val="8A95A5"/>
                </a:solidFill>
                <a:latin typeface="Helvetica Neue"/>
              </a:rPr>
              <a:t>Hybrid retrieval ×2 collections</a:t>
            </a:r>
          </a:p>
        </p:txBody>
      </p:sp>
      <p:sp>
        <p:nvSpPr>
          <p:cNvPr id="13" name="TextBox 12"/>
          <p:cNvSpPr txBox="1"/>
          <p:nvPr/>
        </p:nvSpPr>
        <p:spPr>
          <a:xfrm>
            <a:off x="640080" y="2249424"/>
            <a:ext cx="3108960" cy="292608"/>
          </a:xfrm>
          <a:prstGeom prst="rect">
            <a:avLst/>
          </a:prstGeom>
          <a:noFill/>
        </p:spPr>
        <p:txBody>
          <a:bodyPr wrap="square" lIns="45720" rIns="45720">
            <a:spAutoFit/>
          </a:bodyPr>
          <a:lstStyle/>
          <a:p>
            <a:pPr algn="l"/>
            <a:r>
              <a:rPr sz="1100" b="0">
                <a:solidFill>
                  <a:srgbClr val="E6EAF0"/>
                </a:solidFill>
                <a:latin typeface="Helvetica Neue"/>
              </a:rPr>
              <a:t>Schema linking</a:t>
            </a:r>
          </a:p>
        </p:txBody>
      </p:sp>
      <p:sp>
        <p:nvSpPr>
          <p:cNvPr id="14" name="TextBox 13"/>
          <p:cNvSpPr txBox="1"/>
          <p:nvPr/>
        </p:nvSpPr>
        <p:spPr>
          <a:xfrm>
            <a:off x="3749039" y="2249424"/>
            <a:ext cx="914400" cy="292608"/>
          </a:xfrm>
          <a:prstGeom prst="rect">
            <a:avLst/>
          </a:prstGeom>
          <a:noFill/>
        </p:spPr>
        <p:txBody>
          <a:bodyPr wrap="square" lIns="45720" rIns="45720">
            <a:spAutoFit/>
          </a:bodyPr>
          <a:lstStyle/>
          <a:p>
            <a:pPr algn="l"/>
            <a:r>
              <a:rPr sz="1100" b="0">
                <a:solidFill>
                  <a:srgbClr val="4AD09C"/>
                </a:solidFill>
                <a:latin typeface="Helvetica Neue"/>
              </a:rPr>
              <a:t>40 ms</a:t>
            </a:r>
          </a:p>
        </p:txBody>
      </p:sp>
      <p:sp>
        <p:nvSpPr>
          <p:cNvPr id="15" name="TextBox 14"/>
          <p:cNvSpPr txBox="1"/>
          <p:nvPr/>
        </p:nvSpPr>
        <p:spPr>
          <a:xfrm>
            <a:off x="4846320" y="2249424"/>
            <a:ext cx="914400" cy="292608"/>
          </a:xfrm>
          <a:prstGeom prst="rect">
            <a:avLst/>
          </a:prstGeom>
          <a:noFill/>
        </p:spPr>
        <p:txBody>
          <a:bodyPr wrap="square" lIns="45720" rIns="45720">
            <a:spAutoFit/>
          </a:bodyPr>
          <a:lstStyle/>
          <a:p>
            <a:pPr algn="l"/>
            <a:r>
              <a:rPr sz="1100" b="0">
                <a:solidFill>
                  <a:srgbClr val="F2B857"/>
                </a:solidFill>
                <a:latin typeface="Helvetica Neue"/>
              </a:rPr>
              <a:t>90 ms</a:t>
            </a:r>
          </a:p>
        </p:txBody>
      </p:sp>
      <p:sp>
        <p:nvSpPr>
          <p:cNvPr id="16" name="TextBox 15"/>
          <p:cNvSpPr txBox="1"/>
          <p:nvPr/>
        </p:nvSpPr>
        <p:spPr>
          <a:xfrm>
            <a:off x="5943600" y="2249424"/>
            <a:ext cx="5760720" cy="292608"/>
          </a:xfrm>
          <a:prstGeom prst="rect">
            <a:avLst/>
          </a:prstGeom>
          <a:noFill/>
        </p:spPr>
        <p:txBody>
          <a:bodyPr wrap="square" lIns="45720" rIns="45720">
            <a:spAutoFit/>
          </a:bodyPr>
          <a:lstStyle/>
          <a:p>
            <a:pPr algn="l"/>
            <a:r>
              <a:rPr sz="1100" b="0">
                <a:solidFill>
                  <a:srgbClr val="8A95A5"/>
                </a:solidFill>
                <a:latin typeface="Helvetica Neue"/>
              </a:rPr>
              <a:t>Tables collection ANN + BM25 fusion</a:t>
            </a:r>
          </a:p>
        </p:txBody>
      </p:sp>
      <p:sp>
        <p:nvSpPr>
          <p:cNvPr id="17" name="TextBox 16"/>
          <p:cNvSpPr txBox="1"/>
          <p:nvPr/>
        </p:nvSpPr>
        <p:spPr>
          <a:xfrm>
            <a:off x="640080" y="2578608"/>
            <a:ext cx="3108960" cy="292608"/>
          </a:xfrm>
          <a:prstGeom prst="rect">
            <a:avLst/>
          </a:prstGeom>
          <a:noFill/>
        </p:spPr>
        <p:txBody>
          <a:bodyPr wrap="square" lIns="45720" rIns="45720">
            <a:spAutoFit/>
          </a:bodyPr>
          <a:lstStyle/>
          <a:p>
            <a:pPr algn="l"/>
            <a:r>
              <a:rPr sz="1100" b="0">
                <a:solidFill>
                  <a:srgbClr val="E6EAF0"/>
                </a:solidFill>
                <a:latin typeface="Helvetica Neue"/>
              </a:rPr>
              <a:t>Entity resolve</a:t>
            </a:r>
          </a:p>
        </p:txBody>
      </p:sp>
      <p:sp>
        <p:nvSpPr>
          <p:cNvPr id="18" name="TextBox 17"/>
          <p:cNvSpPr txBox="1"/>
          <p:nvPr/>
        </p:nvSpPr>
        <p:spPr>
          <a:xfrm>
            <a:off x="3749039" y="2578608"/>
            <a:ext cx="914400" cy="292608"/>
          </a:xfrm>
          <a:prstGeom prst="rect">
            <a:avLst/>
          </a:prstGeom>
          <a:noFill/>
        </p:spPr>
        <p:txBody>
          <a:bodyPr wrap="square" lIns="45720" rIns="45720">
            <a:spAutoFit/>
          </a:bodyPr>
          <a:lstStyle/>
          <a:p>
            <a:pPr algn="l"/>
            <a:r>
              <a:rPr sz="1100" b="0">
                <a:solidFill>
                  <a:srgbClr val="4AD09C"/>
                </a:solidFill>
                <a:latin typeface="Helvetica Neue"/>
              </a:rPr>
              <a:t>20 ms</a:t>
            </a:r>
          </a:p>
        </p:txBody>
      </p:sp>
      <p:sp>
        <p:nvSpPr>
          <p:cNvPr id="19" name="TextBox 18"/>
          <p:cNvSpPr txBox="1"/>
          <p:nvPr/>
        </p:nvSpPr>
        <p:spPr>
          <a:xfrm>
            <a:off x="4846320" y="2578608"/>
            <a:ext cx="914400" cy="292608"/>
          </a:xfrm>
          <a:prstGeom prst="rect">
            <a:avLst/>
          </a:prstGeom>
          <a:noFill/>
        </p:spPr>
        <p:txBody>
          <a:bodyPr wrap="square" lIns="45720" rIns="45720">
            <a:spAutoFit/>
          </a:bodyPr>
          <a:lstStyle/>
          <a:p>
            <a:pPr algn="l"/>
            <a:r>
              <a:rPr sz="1100" b="0">
                <a:solidFill>
                  <a:srgbClr val="F2B857"/>
                </a:solidFill>
                <a:latin typeface="Helvetica Neue"/>
              </a:rPr>
              <a:t>150 ms</a:t>
            </a:r>
          </a:p>
        </p:txBody>
      </p:sp>
      <p:sp>
        <p:nvSpPr>
          <p:cNvPr id="20" name="TextBox 19"/>
          <p:cNvSpPr txBox="1"/>
          <p:nvPr/>
        </p:nvSpPr>
        <p:spPr>
          <a:xfrm>
            <a:off x="5943600" y="2578608"/>
            <a:ext cx="5760720" cy="292608"/>
          </a:xfrm>
          <a:prstGeom prst="rect">
            <a:avLst/>
          </a:prstGeom>
          <a:noFill/>
        </p:spPr>
        <p:txBody>
          <a:bodyPr wrap="square" lIns="45720" rIns="45720">
            <a:spAutoFit/>
          </a:bodyPr>
          <a:lstStyle/>
          <a:p>
            <a:pPr algn="l"/>
            <a:r>
              <a:rPr sz="1100" b="0">
                <a:solidFill>
                  <a:srgbClr val="8A95A5"/>
                </a:solidFill>
                <a:latin typeface="Helvetica Neue"/>
              </a:rPr>
              <a:t>Tier 1+2 hit ~95% of cases</a:t>
            </a:r>
          </a:p>
        </p:txBody>
      </p:sp>
      <p:sp>
        <p:nvSpPr>
          <p:cNvPr id="21" name="TextBox 20"/>
          <p:cNvSpPr txBox="1"/>
          <p:nvPr/>
        </p:nvSpPr>
        <p:spPr>
          <a:xfrm>
            <a:off x="640080" y="2907791"/>
            <a:ext cx="3108960" cy="292608"/>
          </a:xfrm>
          <a:prstGeom prst="rect">
            <a:avLst/>
          </a:prstGeom>
          <a:noFill/>
        </p:spPr>
        <p:txBody>
          <a:bodyPr wrap="square" lIns="45720" rIns="45720">
            <a:spAutoFit/>
          </a:bodyPr>
          <a:lstStyle/>
          <a:p>
            <a:pPr algn="l"/>
            <a:r>
              <a:rPr sz="1100" b="0">
                <a:solidFill>
                  <a:srgbClr val="E6EAF0"/>
                </a:solidFill>
                <a:latin typeface="Helvetica Neue"/>
              </a:rPr>
              <a:t>Steiner</a:t>
            </a:r>
          </a:p>
        </p:txBody>
      </p:sp>
      <p:sp>
        <p:nvSpPr>
          <p:cNvPr id="22" name="TextBox 21"/>
          <p:cNvSpPr txBox="1"/>
          <p:nvPr/>
        </p:nvSpPr>
        <p:spPr>
          <a:xfrm>
            <a:off x="3749039" y="2907791"/>
            <a:ext cx="914400" cy="292608"/>
          </a:xfrm>
          <a:prstGeom prst="rect">
            <a:avLst/>
          </a:prstGeom>
          <a:noFill/>
        </p:spPr>
        <p:txBody>
          <a:bodyPr wrap="square" lIns="45720" rIns="45720">
            <a:spAutoFit/>
          </a:bodyPr>
          <a:lstStyle/>
          <a:p>
            <a:pPr algn="l"/>
            <a:r>
              <a:rPr sz="1100" b="0">
                <a:solidFill>
                  <a:srgbClr val="4AD09C"/>
                </a:solidFill>
                <a:latin typeface="Helvetica Neue"/>
              </a:rPr>
              <a:t>5 ms</a:t>
            </a:r>
          </a:p>
        </p:txBody>
      </p:sp>
      <p:sp>
        <p:nvSpPr>
          <p:cNvPr id="23" name="TextBox 22"/>
          <p:cNvSpPr txBox="1"/>
          <p:nvPr/>
        </p:nvSpPr>
        <p:spPr>
          <a:xfrm>
            <a:off x="4846320" y="2907791"/>
            <a:ext cx="914400" cy="292608"/>
          </a:xfrm>
          <a:prstGeom prst="rect">
            <a:avLst/>
          </a:prstGeom>
          <a:noFill/>
        </p:spPr>
        <p:txBody>
          <a:bodyPr wrap="square" lIns="45720" rIns="45720">
            <a:spAutoFit/>
          </a:bodyPr>
          <a:lstStyle/>
          <a:p>
            <a:pPr algn="l"/>
            <a:r>
              <a:rPr sz="1100" b="0">
                <a:solidFill>
                  <a:srgbClr val="F2B857"/>
                </a:solidFill>
                <a:latin typeface="Helvetica Neue"/>
              </a:rPr>
              <a:t>50 ms</a:t>
            </a:r>
          </a:p>
        </p:txBody>
      </p:sp>
      <p:sp>
        <p:nvSpPr>
          <p:cNvPr id="24" name="TextBox 23"/>
          <p:cNvSpPr txBox="1"/>
          <p:nvPr/>
        </p:nvSpPr>
        <p:spPr>
          <a:xfrm>
            <a:off x="5943600" y="2907791"/>
            <a:ext cx="5760720" cy="292608"/>
          </a:xfrm>
          <a:prstGeom prst="rect">
            <a:avLst/>
          </a:prstGeom>
          <a:noFill/>
        </p:spPr>
        <p:txBody>
          <a:bodyPr wrap="square" lIns="45720" rIns="45720">
            <a:spAutoFit/>
          </a:bodyPr>
          <a:lstStyle/>
          <a:p>
            <a:pPr algn="l"/>
            <a:r>
              <a:rPr sz="1100" b="0">
                <a:solidFill>
                  <a:srgbClr val="8A95A5"/>
                </a:solidFill>
                <a:latin typeface="Helvetica Neue"/>
              </a:rPr>
              <a:t>K=2 bidirectional / K=3+ KMB</a:t>
            </a:r>
          </a:p>
        </p:txBody>
      </p:sp>
      <p:sp>
        <p:nvSpPr>
          <p:cNvPr id="25" name="TextBox 24"/>
          <p:cNvSpPr txBox="1"/>
          <p:nvPr/>
        </p:nvSpPr>
        <p:spPr>
          <a:xfrm>
            <a:off x="640080" y="3236975"/>
            <a:ext cx="3108960" cy="292608"/>
          </a:xfrm>
          <a:prstGeom prst="rect">
            <a:avLst/>
          </a:prstGeom>
          <a:noFill/>
        </p:spPr>
        <p:txBody>
          <a:bodyPr wrap="square" lIns="45720" rIns="45720">
            <a:spAutoFit/>
          </a:bodyPr>
          <a:lstStyle/>
          <a:p>
            <a:pPr algn="l"/>
            <a:r>
              <a:rPr sz="1100" b="0">
                <a:solidFill>
                  <a:srgbClr val="E6EAF0"/>
                </a:solidFill>
                <a:latin typeface="Helvetica Neue"/>
              </a:rPr>
              <a:t>LLM SQL generation</a:t>
            </a:r>
          </a:p>
        </p:txBody>
      </p:sp>
      <p:sp>
        <p:nvSpPr>
          <p:cNvPr id="26" name="TextBox 25"/>
          <p:cNvSpPr txBox="1"/>
          <p:nvPr/>
        </p:nvSpPr>
        <p:spPr>
          <a:xfrm>
            <a:off x="3749039" y="3236975"/>
            <a:ext cx="914400" cy="292608"/>
          </a:xfrm>
          <a:prstGeom prst="rect">
            <a:avLst/>
          </a:prstGeom>
          <a:noFill/>
        </p:spPr>
        <p:txBody>
          <a:bodyPr wrap="square" lIns="45720" rIns="45720">
            <a:spAutoFit/>
          </a:bodyPr>
          <a:lstStyle/>
          <a:p>
            <a:pPr algn="l"/>
            <a:r>
              <a:rPr sz="1100" b="0">
                <a:solidFill>
                  <a:srgbClr val="4AD09C"/>
                </a:solidFill>
                <a:latin typeface="Helvetica Neue"/>
              </a:rPr>
              <a:t>1.8 s</a:t>
            </a:r>
          </a:p>
        </p:txBody>
      </p:sp>
      <p:sp>
        <p:nvSpPr>
          <p:cNvPr id="27" name="TextBox 26"/>
          <p:cNvSpPr txBox="1"/>
          <p:nvPr/>
        </p:nvSpPr>
        <p:spPr>
          <a:xfrm>
            <a:off x="4846320" y="3236975"/>
            <a:ext cx="914400" cy="292608"/>
          </a:xfrm>
          <a:prstGeom prst="rect">
            <a:avLst/>
          </a:prstGeom>
          <a:noFill/>
        </p:spPr>
        <p:txBody>
          <a:bodyPr wrap="square" lIns="45720" rIns="45720">
            <a:spAutoFit/>
          </a:bodyPr>
          <a:lstStyle/>
          <a:p>
            <a:pPr algn="l"/>
            <a:r>
              <a:rPr sz="1100" b="0">
                <a:solidFill>
                  <a:srgbClr val="F2B857"/>
                </a:solidFill>
                <a:latin typeface="Helvetica Neue"/>
              </a:rPr>
              <a:t>3.2 s</a:t>
            </a:r>
          </a:p>
        </p:txBody>
      </p:sp>
      <p:sp>
        <p:nvSpPr>
          <p:cNvPr id="28" name="TextBox 27"/>
          <p:cNvSpPr txBox="1"/>
          <p:nvPr/>
        </p:nvSpPr>
        <p:spPr>
          <a:xfrm>
            <a:off x="5943600" y="3236975"/>
            <a:ext cx="5760720" cy="292608"/>
          </a:xfrm>
          <a:prstGeom prst="rect">
            <a:avLst/>
          </a:prstGeom>
          <a:noFill/>
        </p:spPr>
        <p:txBody>
          <a:bodyPr wrap="square" lIns="45720" rIns="45720">
            <a:spAutoFit/>
          </a:bodyPr>
          <a:lstStyle/>
          <a:p>
            <a:pPr algn="l"/>
            <a:r>
              <a:rPr sz="1100" b="0">
                <a:solidFill>
                  <a:srgbClr val="8A95A5"/>
                </a:solidFill>
                <a:latin typeface="Helvetica Neue"/>
              </a:rPr>
              <a:t>Anthropic Sonnet 4.6 streaming</a:t>
            </a:r>
          </a:p>
        </p:txBody>
      </p:sp>
      <p:sp>
        <p:nvSpPr>
          <p:cNvPr id="29" name="TextBox 28"/>
          <p:cNvSpPr txBox="1"/>
          <p:nvPr/>
        </p:nvSpPr>
        <p:spPr>
          <a:xfrm>
            <a:off x="640080" y="3566159"/>
            <a:ext cx="3108960" cy="292608"/>
          </a:xfrm>
          <a:prstGeom prst="rect">
            <a:avLst/>
          </a:prstGeom>
          <a:noFill/>
        </p:spPr>
        <p:txBody>
          <a:bodyPr wrap="square" lIns="45720" rIns="45720">
            <a:spAutoFit/>
          </a:bodyPr>
          <a:lstStyle/>
          <a:p>
            <a:pPr algn="l"/>
            <a:r>
              <a:rPr sz="1100" b="0">
                <a:solidFill>
                  <a:srgbClr val="E6EAF0"/>
                </a:solidFill>
                <a:latin typeface="Helvetica Neue"/>
              </a:rPr>
              <a:t>Validator</a:t>
            </a:r>
          </a:p>
        </p:txBody>
      </p:sp>
      <p:sp>
        <p:nvSpPr>
          <p:cNvPr id="30" name="TextBox 29"/>
          <p:cNvSpPr txBox="1"/>
          <p:nvPr/>
        </p:nvSpPr>
        <p:spPr>
          <a:xfrm>
            <a:off x="3749039" y="3566159"/>
            <a:ext cx="914400" cy="292608"/>
          </a:xfrm>
          <a:prstGeom prst="rect">
            <a:avLst/>
          </a:prstGeom>
          <a:noFill/>
        </p:spPr>
        <p:txBody>
          <a:bodyPr wrap="square" lIns="45720" rIns="45720">
            <a:spAutoFit/>
          </a:bodyPr>
          <a:lstStyle/>
          <a:p>
            <a:pPr algn="l"/>
            <a:r>
              <a:rPr sz="1100" b="0">
                <a:solidFill>
                  <a:srgbClr val="4AD09C"/>
                </a:solidFill>
                <a:latin typeface="Helvetica Neue"/>
              </a:rPr>
              <a:t>30 ms</a:t>
            </a:r>
          </a:p>
        </p:txBody>
      </p:sp>
      <p:sp>
        <p:nvSpPr>
          <p:cNvPr id="31" name="TextBox 30"/>
          <p:cNvSpPr txBox="1"/>
          <p:nvPr/>
        </p:nvSpPr>
        <p:spPr>
          <a:xfrm>
            <a:off x="4846320" y="3566159"/>
            <a:ext cx="914400" cy="292608"/>
          </a:xfrm>
          <a:prstGeom prst="rect">
            <a:avLst/>
          </a:prstGeom>
          <a:noFill/>
        </p:spPr>
        <p:txBody>
          <a:bodyPr wrap="square" lIns="45720" rIns="45720">
            <a:spAutoFit/>
          </a:bodyPr>
          <a:lstStyle/>
          <a:p>
            <a:pPr algn="l"/>
            <a:r>
              <a:rPr sz="1100" b="0">
                <a:solidFill>
                  <a:srgbClr val="F2B857"/>
                </a:solidFill>
                <a:latin typeface="Helvetica Neue"/>
              </a:rPr>
              <a:t>120 ms</a:t>
            </a:r>
          </a:p>
        </p:txBody>
      </p:sp>
      <p:sp>
        <p:nvSpPr>
          <p:cNvPr id="32" name="TextBox 31"/>
          <p:cNvSpPr txBox="1"/>
          <p:nvPr/>
        </p:nvSpPr>
        <p:spPr>
          <a:xfrm>
            <a:off x="5943600" y="3566159"/>
            <a:ext cx="5760720" cy="292608"/>
          </a:xfrm>
          <a:prstGeom prst="rect">
            <a:avLst/>
          </a:prstGeom>
          <a:noFill/>
        </p:spPr>
        <p:txBody>
          <a:bodyPr wrap="square" lIns="45720" rIns="45720">
            <a:spAutoFit/>
          </a:bodyPr>
          <a:lstStyle/>
          <a:p>
            <a:pPr algn="l"/>
            <a:r>
              <a:rPr sz="1100" b="0">
                <a:solidFill>
                  <a:srgbClr val="8A95A5"/>
                </a:solidFill>
                <a:latin typeface="Helvetica Neue"/>
              </a:rPr>
              <a:t>sqlglot + EXPLAIN + LIMIT 0</a:t>
            </a:r>
          </a:p>
        </p:txBody>
      </p:sp>
      <p:sp>
        <p:nvSpPr>
          <p:cNvPr id="33" name="TextBox 32"/>
          <p:cNvSpPr txBox="1"/>
          <p:nvPr/>
        </p:nvSpPr>
        <p:spPr>
          <a:xfrm>
            <a:off x="640080" y="3895344"/>
            <a:ext cx="3108960" cy="292608"/>
          </a:xfrm>
          <a:prstGeom prst="rect">
            <a:avLst/>
          </a:prstGeom>
          <a:noFill/>
        </p:spPr>
        <p:txBody>
          <a:bodyPr wrap="square" lIns="45720" rIns="45720">
            <a:spAutoFit/>
          </a:bodyPr>
          <a:lstStyle/>
          <a:p>
            <a:pPr algn="l"/>
            <a:r>
              <a:rPr sz="1100" b="0">
                <a:solidFill>
                  <a:srgbClr val="E6EAF0"/>
                </a:solidFill>
                <a:latin typeface="Helvetica Neue"/>
              </a:rPr>
              <a:t>Repair (optional)</a:t>
            </a:r>
          </a:p>
        </p:txBody>
      </p:sp>
      <p:sp>
        <p:nvSpPr>
          <p:cNvPr id="34" name="TextBox 33"/>
          <p:cNvSpPr txBox="1"/>
          <p:nvPr/>
        </p:nvSpPr>
        <p:spPr>
          <a:xfrm>
            <a:off x="3749039" y="3895344"/>
            <a:ext cx="914400" cy="292608"/>
          </a:xfrm>
          <a:prstGeom prst="rect">
            <a:avLst/>
          </a:prstGeom>
          <a:noFill/>
        </p:spPr>
        <p:txBody>
          <a:bodyPr wrap="square" lIns="45720" rIns="45720">
            <a:spAutoFit/>
          </a:bodyPr>
          <a:lstStyle/>
          <a:p>
            <a:pPr algn="l"/>
            <a:r>
              <a:rPr sz="1100" b="0">
                <a:solidFill>
                  <a:srgbClr val="4AD09C"/>
                </a:solidFill>
                <a:latin typeface="Helvetica Neue"/>
              </a:rPr>
              <a:t>0 s</a:t>
            </a:r>
          </a:p>
        </p:txBody>
      </p:sp>
      <p:sp>
        <p:nvSpPr>
          <p:cNvPr id="35" name="TextBox 34"/>
          <p:cNvSpPr txBox="1"/>
          <p:nvPr/>
        </p:nvSpPr>
        <p:spPr>
          <a:xfrm>
            <a:off x="4846320" y="3895344"/>
            <a:ext cx="914400" cy="292608"/>
          </a:xfrm>
          <a:prstGeom prst="rect">
            <a:avLst/>
          </a:prstGeom>
          <a:noFill/>
        </p:spPr>
        <p:txBody>
          <a:bodyPr wrap="square" lIns="45720" rIns="45720">
            <a:spAutoFit/>
          </a:bodyPr>
          <a:lstStyle/>
          <a:p>
            <a:pPr algn="l"/>
            <a:r>
              <a:rPr sz="1100" b="0">
                <a:solidFill>
                  <a:srgbClr val="F2B857"/>
                </a:solidFill>
                <a:latin typeface="Helvetica Neue"/>
              </a:rPr>
              <a:t>1.4 s</a:t>
            </a:r>
          </a:p>
        </p:txBody>
      </p:sp>
      <p:sp>
        <p:nvSpPr>
          <p:cNvPr id="36" name="TextBox 35"/>
          <p:cNvSpPr txBox="1"/>
          <p:nvPr/>
        </p:nvSpPr>
        <p:spPr>
          <a:xfrm>
            <a:off x="5943600" y="3895344"/>
            <a:ext cx="5760720" cy="292608"/>
          </a:xfrm>
          <a:prstGeom prst="rect">
            <a:avLst/>
          </a:prstGeom>
          <a:noFill/>
        </p:spPr>
        <p:txBody>
          <a:bodyPr wrap="square" lIns="45720" rIns="45720">
            <a:spAutoFit/>
          </a:bodyPr>
          <a:lstStyle/>
          <a:p>
            <a:pPr algn="l"/>
            <a:r>
              <a:rPr sz="1100" b="0">
                <a:solidFill>
                  <a:srgbClr val="8A95A5"/>
                </a:solidFill>
                <a:latin typeface="Helvetica Neue"/>
              </a:rPr>
              <a:t>≤3 attempts, fired ~5% of runs</a:t>
            </a:r>
          </a:p>
        </p:txBody>
      </p:sp>
      <p:sp>
        <p:nvSpPr>
          <p:cNvPr id="37" name="TextBox 36"/>
          <p:cNvSpPr txBox="1"/>
          <p:nvPr/>
        </p:nvSpPr>
        <p:spPr>
          <a:xfrm>
            <a:off x="640080" y="4224528"/>
            <a:ext cx="3108960" cy="292608"/>
          </a:xfrm>
          <a:prstGeom prst="rect">
            <a:avLst/>
          </a:prstGeom>
          <a:noFill/>
        </p:spPr>
        <p:txBody>
          <a:bodyPr wrap="square" lIns="45720" rIns="45720">
            <a:spAutoFit/>
          </a:bodyPr>
          <a:lstStyle/>
          <a:p>
            <a:pPr algn="l"/>
            <a:r>
              <a:rPr sz="1100" b="0">
                <a:solidFill>
                  <a:srgbClr val="E6EAF0"/>
                </a:solidFill>
                <a:latin typeface="Helvetica Neue"/>
              </a:rPr>
              <a:t>Execute</a:t>
            </a:r>
          </a:p>
        </p:txBody>
      </p:sp>
      <p:sp>
        <p:nvSpPr>
          <p:cNvPr id="38" name="TextBox 37"/>
          <p:cNvSpPr txBox="1"/>
          <p:nvPr/>
        </p:nvSpPr>
        <p:spPr>
          <a:xfrm>
            <a:off x="3749039" y="4224528"/>
            <a:ext cx="914400" cy="292608"/>
          </a:xfrm>
          <a:prstGeom prst="rect">
            <a:avLst/>
          </a:prstGeom>
          <a:noFill/>
        </p:spPr>
        <p:txBody>
          <a:bodyPr wrap="square" lIns="45720" rIns="45720">
            <a:spAutoFit/>
          </a:bodyPr>
          <a:lstStyle/>
          <a:p>
            <a:pPr algn="l"/>
            <a:r>
              <a:rPr sz="1100" b="0">
                <a:solidFill>
                  <a:srgbClr val="4AD09C"/>
                </a:solidFill>
                <a:latin typeface="Helvetica Neue"/>
              </a:rPr>
              <a:t>200 ms</a:t>
            </a:r>
          </a:p>
        </p:txBody>
      </p:sp>
      <p:sp>
        <p:nvSpPr>
          <p:cNvPr id="39" name="TextBox 38"/>
          <p:cNvSpPr txBox="1"/>
          <p:nvPr/>
        </p:nvSpPr>
        <p:spPr>
          <a:xfrm>
            <a:off x="4846320" y="4224528"/>
            <a:ext cx="914400" cy="292608"/>
          </a:xfrm>
          <a:prstGeom prst="rect">
            <a:avLst/>
          </a:prstGeom>
          <a:noFill/>
        </p:spPr>
        <p:txBody>
          <a:bodyPr wrap="square" lIns="45720" rIns="45720">
            <a:spAutoFit/>
          </a:bodyPr>
          <a:lstStyle/>
          <a:p>
            <a:pPr algn="l"/>
            <a:r>
              <a:rPr sz="1100" b="0">
                <a:solidFill>
                  <a:srgbClr val="F2B857"/>
                </a:solidFill>
                <a:latin typeface="Helvetica Neue"/>
              </a:rPr>
              <a:t>1.2 s</a:t>
            </a:r>
          </a:p>
        </p:txBody>
      </p:sp>
      <p:sp>
        <p:nvSpPr>
          <p:cNvPr id="40" name="TextBox 39"/>
          <p:cNvSpPr txBox="1"/>
          <p:nvPr/>
        </p:nvSpPr>
        <p:spPr>
          <a:xfrm>
            <a:off x="5943600" y="4224528"/>
            <a:ext cx="5760720" cy="292608"/>
          </a:xfrm>
          <a:prstGeom prst="rect">
            <a:avLst/>
          </a:prstGeom>
          <a:noFill/>
        </p:spPr>
        <p:txBody>
          <a:bodyPr wrap="square" lIns="45720" rIns="45720">
            <a:spAutoFit/>
          </a:bodyPr>
          <a:lstStyle/>
          <a:p>
            <a:pPr algn="l"/>
            <a:r>
              <a:rPr sz="1100" b="0">
                <a:solidFill>
                  <a:srgbClr val="8A95A5"/>
                </a:solidFill>
                <a:latin typeface="Helvetica Neue"/>
              </a:rPr>
              <a:t>depends on the live DB and query plan</a:t>
            </a:r>
          </a:p>
        </p:txBody>
      </p:sp>
      <p:sp>
        <p:nvSpPr>
          <p:cNvPr id="41" name="TextBox 40"/>
          <p:cNvSpPr txBox="1"/>
          <p:nvPr/>
        </p:nvSpPr>
        <p:spPr>
          <a:xfrm>
            <a:off x="640080" y="4553712"/>
            <a:ext cx="3108960" cy="292608"/>
          </a:xfrm>
          <a:prstGeom prst="rect">
            <a:avLst/>
          </a:prstGeom>
          <a:noFill/>
        </p:spPr>
        <p:txBody>
          <a:bodyPr wrap="square" lIns="45720" rIns="45720">
            <a:spAutoFit/>
          </a:bodyPr>
          <a:lstStyle/>
          <a:p>
            <a:pPr algn="l"/>
            <a:r>
              <a:rPr sz="1100" b="0">
                <a:solidFill>
                  <a:srgbClr val="E6EAF0"/>
                </a:solidFill>
                <a:latin typeface="Helvetica Neue"/>
              </a:rPr>
              <a:t>Viz + describe</a:t>
            </a:r>
          </a:p>
        </p:txBody>
      </p:sp>
      <p:sp>
        <p:nvSpPr>
          <p:cNvPr id="42" name="TextBox 41"/>
          <p:cNvSpPr txBox="1"/>
          <p:nvPr/>
        </p:nvSpPr>
        <p:spPr>
          <a:xfrm>
            <a:off x="3749039" y="4553712"/>
            <a:ext cx="914400" cy="292608"/>
          </a:xfrm>
          <a:prstGeom prst="rect">
            <a:avLst/>
          </a:prstGeom>
          <a:noFill/>
        </p:spPr>
        <p:txBody>
          <a:bodyPr wrap="square" lIns="45720" rIns="45720">
            <a:spAutoFit/>
          </a:bodyPr>
          <a:lstStyle/>
          <a:p>
            <a:pPr algn="l"/>
            <a:r>
              <a:rPr sz="1100" b="0">
                <a:solidFill>
                  <a:srgbClr val="4AD09C"/>
                </a:solidFill>
                <a:latin typeface="Helvetica Neue"/>
              </a:rPr>
              <a:t>200 ms</a:t>
            </a:r>
          </a:p>
        </p:txBody>
      </p:sp>
      <p:sp>
        <p:nvSpPr>
          <p:cNvPr id="43" name="TextBox 42"/>
          <p:cNvSpPr txBox="1"/>
          <p:nvPr/>
        </p:nvSpPr>
        <p:spPr>
          <a:xfrm>
            <a:off x="4846320" y="4553712"/>
            <a:ext cx="914400" cy="292608"/>
          </a:xfrm>
          <a:prstGeom prst="rect">
            <a:avLst/>
          </a:prstGeom>
          <a:noFill/>
        </p:spPr>
        <p:txBody>
          <a:bodyPr wrap="square" lIns="45720" rIns="45720">
            <a:spAutoFit/>
          </a:bodyPr>
          <a:lstStyle/>
          <a:p>
            <a:pPr algn="l"/>
            <a:r>
              <a:rPr sz="1100" b="0">
                <a:solidFill>
                  <a:srgbClr val="F2B857"/>
                </a:solidFill>
                <a:latin typeface="Helvetica Neue"/>
              </a:rPr>
              <a:t>500 ms</a:t>
            </a:r>
          </a:p>
        </p:txBody>
      </p:sp>
      <p:sp>
        <p:nvSpPr>
          <p:cNvPr id="44" name="TextBox 43"/>
          <p:cNvSpPr txBox="1"/>
          <p:nvPr/>
        </p:nvSpPr>
        <p:spPr>
          <a:xfrm>
            <a:off x="5943600" y="4553712"/>
            <a:ext cx="5760720" cy="292608"/>
          </a:xfrm>
          <a:prstGeom prst="rect">
            <a:avLst/>
          </a:prstGeom>
          <a:noFill/>
        </p:spPr>
        <p:txBody>
          <a:bodyPr wrap="square" lIns="45720" rIns="45720">
            <a:spAutoFit/>
          </a:bodyPr>
          <a:lstStyle/>
          <a:p>
            <a:pPr algn="l"/>
            <a:r>
              <a:rPr sz="1100" b="0">
                <a:solidFill>
                  <a:srgbClr val="8A95A5"/>
                </a:solidFill>
                <a:latin typeface="Helvetica Neue"/>
              </a:rPr>
              <a:t>Spec rules + LLM description in parallel</a:t>
            </a:r>
          </a:p>
        </p:txBody>
      </p:sp>
      <p:sp>
        <p:nvSpPr>
          <p:cNvPr id="45" name="TextBox 44"/>
          <p:cNvSpPr txBox="1"/>
          <p:nvPr/>
        </p:nvSpPr>
        <p:spPr>
          <a:xfrm>
            <a:off x="457200" y="5486400"/>
            <a:ext cx="11247120" cy="365760"/>
          </a:xfrm>
          <a:prstGeom prst="rect">
            <a:avLst/>
          </a:prstGeom>
          <a:noFill/>
        </p:spPr>
        <p:txBody>
          <a:bodyPr wrap="square" lIns="45720" rIns="45720">
            <a:spAutoFit/>
          </a:bodyPr>
          <a:lstStyle/>
          <a:p>
            <a:pPr algn="ctr"/>
            <a:r>
              <a:rPr sz="1400" b="1">
                <a:solidFill>
                  <a:srgbClr val="6EC1FF"/>
                </a:solidFill>
                <a:latin typeface="Helvetica Neue"/>
              </a:rPr>
              <a:t>End-to-end:  p50 ≈ 4.0 s  ·  p95 ≈ 7.5 s  (LLM dominates)</a:t>
            </a:r>
          </a:p>
        </p:txBody>
      </p:sp>
      <p:sp>
        <p:nvSpPr>
          <p:cNvPr id="46" name="TextBox 45"/>
          <p:cNvSpPr txBox="1"/>
          <p:nvPr/>
        </p:nvSpPr>
        <p:spPr>
          <a:xfrm>
            <a:off x="457200" y="5852160"/>
            <a:ext cx="11247120" cy="365760"/>
          </a:xfrm>
          <a:prstGeom prst="rect">
            <a:avLst/>
          </a:prstGeom>
          <a:noFill/>
        </p:spPr>
        <p:txBody>
          <a:bodyPr wrap="square" lIns="45720" rIns="45720">
            <a:spAutoFit/>
          </a:bodyPr>
          <a:lstStyle/>
          <a:p>
            <a:pPr algn="ctr"/>
            <a:r>
              <a:rPr sz="1200" b="0">
                <a:solidFill>
                  <a:srgbClr val="4AD09C"/>
                </a:solidFill>
                <a:latin typeface="Helvetica Neue"/>
              </a:rPr>
              <a:t>Cache hit on identical question:  ~250 ms total</a:t>
            </a:r>
          </a:p>
        </p:txBody>
      </p:sp>
      <p:sp>
        <p:nvSpPr>
          <p:cNvPr id="47" name="TextBox 46"/>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Section 3 · Performance</a:t>
            </a:r>
          </a:p>
        </p:txBody>
      </p:sp>
      <p:sp>
        <p:nvSpPr>
          <p:cNvPr id="48" name="TextBox 47"/>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Spec §17 budget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377440"/>
            <a:ext cx="10698480" cy="548640"/>
          </a:xfrm>
          <a:prstGeom prst="rect">
            <a:avLst/>
          </a:prstGeom>
          <a:noFill/>
        </p:spPr>
        <p:txBody>
          <a:bodyPr wrap="square" lIns="45720" rIns="45720">
            <a:spAutoFit/>
          </a:bodyPr>
          <a:lstStyle/>
          <a:p>
            <a:pPr algn="l"/>
            <a:r>
              <a:rPr sz="1800" b="0">
                <a:solidFill>
                  <a:srgbClr val="8A95A5"/>
                </a:solidFill>
                <a:latin typeface="Helvetica Neue"/>
              </a:rPr>
              <a:t>Section 4</a:t>
            </a:r>
          </a:p>
        </p:txBody>
      </p:sp>
      <p:sp>
        <p:nvSpPr>
          <p:cNvPr id="3" name="TextBox 2"/>
          <p:cNvSpPr txBox="1"/>
          <p:nvPr/>
        </p:nvSpPr>
        <p:spPr>
          <a:xfrm>
            <a:off x="731520" y="2834640"/>
            <a:ext cx="10698480" cy="914400"/>
          </a:xfrm>
          <a:prstGeom prst="rect">
            <a:avLst/>
          </a:prstGeom>
          <a:noFill/>
        </p:spPr>
        <p:txBody>
          <a:bodyPr wrap="square" lIns="45720" rIns="45720">
            <a:spAutoFit/>
          </a:bodyPr>
          <a:lstStyle/>
          <a:p>
            <a:pPr algn="l"/>
            <a:r>
              <a:rPr sz="4400" b="1">
                <a:solidFill>
                  <a:srgbClr val="6EC1FF"/>
                </a:solidFill>
                <a:latin typeface="Helvetica Neue"/>
              </a:rPr>
              <a:t>Plan to May 8</a:t>
            </a:r>
          </a:p>
        </p:txBody>
      </p:sp>
      <p:sp>
        <p:nvSpPr>
          <p:cNvPr id="4" name="TextBox 3"/>
          <p:cNvSpPr txBox="1"/>
          <p:nvPr/>
        </p:nvSpPr>
        <p:spPr>
          <a:xfrm>
            <a:off x="731520" y="3749039"/>
            <a:ext cx="10698480" cy="457200"/>
          </a:xfrm>
          <a:prstGeom prst="rect">
            <a:avLst/>
          </a:prstGeom>
          <a:noFill/>
        </p:spPr>
        <p:txBody>
          <a:bodyPr wrap="square" lIns="45720" rIns="45720">
            <a:spAutoFit/>
          </a:bodyPr>
          <a:lstStyle/>
          <a:p>
            <a:pPr algn="l"/>
            <a:r>
              <a:rPr sz="1800" b="0">
                <a:solidFill>
                  <a:srgbClr val="E6EAF0"/>
                </a:solidFill>
                <a:latin typeface="Helvetica Neue"/>
              </a:rPr>
              <a:t>7 working days · everything that isn't graph or semantic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Day-by-day plan</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Apr 30 → May 8 · 7 working days</a:t>
            </a:r>
          </a:p>
        </p:txBody>
      </p:sp>
      <p:sp>
        <p:nvSpPr>
          <p:cNvPr id="4" name="Rounded Rectangle 3"/>
          <p:cNvSpPr/>
          <p:nvPr/>
        </p:nvSpPr>
        <p:spPr>
          <a:xfrm>
            <a:off x="457200" y="1463040"/>
            <a:ext cx="11247120" cy="502920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463040" cy="274320"/>
          </a:xfrm>
          <a:prstGeom prst="rect">
            <a:avLst/>
          </a:prstGeom>
          <a:noFill/>
        </p:spPr>
        <p:txBody>
          <a:bodyPr wrap="square" lIns="45720" rIns="45720">
            <a:spAutoFit/>
          </a:bodyPr>
          <a:lstStyle/>
          <a:p>
            <a:pPr algn="l"/>
            <a:r>
              <a:rPr sz="1200" b="1">
                <a:solidFill>
                  <a:srgbClr val="6EC1FF"/>
                </a:solidFill>
                <a:latin typeface="Helvetica Neue"/>
              </a:rPr>
              <a:t>Thu Apr 30</a:t>
            </a:r>
          </a:p>
        </p:txBody>
      </p:sp>
      <p:sp>
        <p:nvSpPr>
          <p:cNvPr id="6" name="TextBox 5"/>
          <p:cNvSpPr txBox="1"/>
          <p:nvPr/>
        </p:nvSpPr>
        <p:spPr>
          <a:xfrm>
            <a:off x="2194560" y="1600200"/>
            <a:ext cx="9509760" cy="274320"/>
          </a:xfrm>
          <a:prstGeom prst="rect">
            <a:avLst/>
          </a:prstGeom>
          <a:noFill/>
        </p:spPr>
        <p:txBody>
          <a:bodyPr wrap="square" lIns="45720" rIns="45720">
            <a:spAutoFit/>
          </a:bodyPr>
          <a:lstStyle/>
          <a:p>
            <a:pPr algn="l"/>
            <a:r>
              <a:rPr sz="1200" b="1">
                <a:solidFill>
                  <a:srgbClr val="E6EAF0"/>
                </a:solidFill>
                <a:latin typeface="Helvetica Neue"/>
              </a:rPr>
              <a:t>Demo SQLite + auto sub-cluster spike</a:t>
            </a:r>
          </a:p>
        </p:txBody>
      </p:sp>
      <p:sp>
        <p:nvSpPr>
          <p:cNvPr id="7" name="TextBox 6"/>
          <p:cNvSpPr txBox="1"/>
          <p:nvPr/>
        </p:nvSpPr>
        <p:spPr>
          <a:xfrm>
            <a:off x="2194560" y="1801368"/>
            <a:ext cx="9509760" cy="228600"/>
          </a:xfrm>
          <a:prstGeom prst="rect">
            <a:avLst/>
          </a:prstGeom>
          <a:noFill/>
        </p:spPr>
        <p:txBody>
          <a:bodyPr wrap="square" lIns="45720" rIns="45720">
            <a:spAutoFit/>
          </a:bodyPr>
          <a:lstStyle/>
          <a:p>
            <a:pPr algn="l"/>
            <a:r>
              <a:rPr sz="1000" b="0">
                <a:solidFill>
                  <a:srgbClr val="8A95A5"/>
                </a:solidFill>
                <a:latin typeface="Helvetica Neue"/>
              </a:rPr>
              <a:t>•  Build sample_demo.sqlite (~50 rows, 6 tables) so demo runs zero-infra</a:t>
            </a:r>
          </a:p>
        </p:txBody>
      </p:sp>
      <p:sp>
        <p:nvSpPr>
          <p:cNvPr id="8" name="TextBox 7"/>
          <p:cNvSpPr txBox="1"/>
          <p:nvPr/>
        </p:nvSpPr>
        <p:spPr>
          <a:xfrm>
            <a:off x="2194560" y="2002536"/>
            <a:ext cx="9509760" cy="228600"/>
          </a:xfrm>
          <a:prstGeom prst="rect">
            <a:avLst/>
          </a:prstGeom>
          <a:noFill/>
        </p:spPr>
        <p:txBody>
          <a:bodyPr wrap="square" lIns="45720" rIns="45720">
            <a:spAutoFit/>
          </a:bodyPr>
          <a:lstStyle/>
          <a:p>
            <a:pPr algn="l"/>
            <a:r>
              <a:rPr sz="1000" b="0">
                <a:solidFill>
                  <a:srgbClr val="8A95A5"/>
                </a:solidFill>
                <a:latin typeface="Helvetica Neue"/>
              </a:rPr>
              <a:t>•  Spike Leiden sub-clustering on 4 oversize Ed-Fi domains</a:t>
            </a:r>
          </a:p>
        </p:txBody>
      </p:sp>
      <p:sp>
        <p:nvSpPr>
          <p:cNvPr id="9" name="TextBox 8"/>
          <p:cNvSpPr txBox="1"/>
          <p:nvPr/>
        </p:nvSpPr>
        <p:spPr>
          <a:xfrm>
            <a:off x="2194560" y="2203704"/>
            <a:ext cx="9509760" cy="228600"/>
          </a:xfrm>
          <a:prstGeom prst="rect">
            <a:avLst/>
          </a:prstGeom>
          <a:noFill/>
        </p:spPr>
        <p:txBody>
          <a:bodyPr wrap="square" lIns="45720" rIns="45720">
            <a:spAutoFit/>
          </a:bodyPr>
          <a:lstStyle/>
          <a:p>
            <a:pPr algn="l"/>
            <a:r>
              <a:rPr sz="1000" b="0">
                <a:solidFill>
                  <a:srgbClr val="8A95A5"/>
                </a:solidFill>
                <a:latin typeface="Helvetica Neue"/>
              </a:rPr>
              <a:t>•  Verify P7 reflection on Northridge (1084-table case)</a:t>
            </a:r>
          </a:p>
        </p:txBody>
      </p:sp>
      <p:sp>
        <p:nvSpPr>
          <p:cNvPr id="10" name="TextBox 9"/>
          <p:cNvSpPr txBox="1"/>
          <p:nvPr/>
        </p:nvSpPr>
        <p:spPr>
          <a:xfrm>
            <a:off x="640080" y="2496312"/>
            <a:ext cx="1463040" cy="274320"/>
          </a:xfrm>
          <a:prstGeom prst="rect">
            <a:avLst/>
          </a:prstGeom>
          <a:noFill/>
        </p:spPr>
        <p:txBody>
          <a:bodyPr wrap="square" lIns="45720" rIns="45720">
            <a:spAutoFit/>
          </a:bodyPr>
          <a:lstStyle/>
          <a:p>
            <a:pPr algn="l"/>
            <a:r>
              <a:rPr sz="1200" b="1">
                <a:solidFill>
                  <a:srgbClr val="6EC1FF"/>
                </a:solidFill>
                <a:latin typeface="Helvetica Neue"/>
              </a:rPr>
              <a:t>Fri May 1</a:t>
            </a:r>
          </a:p>
        </p:txBody>
      </p:sp>
      <p:sp>
        <p:nvSpPr>
          <p:cNvPr id="11" name="TextBox 10"/>
          <p:cNvSpPr txBox="1"/>
          <p:nvPr/>
        </p:nvSpPr>
        <p:spPr>
          <a:xfrm>
            <a:off x="2194560" y="2496312"/>
            <a:ext cx="9509760" cy="274320"/>
          </a:xfrm>
          <a:prstGeom prst="rect">
            <a:avLst/>
          </a:prstGeom>
          <a:noFill/>
        </p:spPr>
        <p:txBody>
          <a:bodyPr wrap="square" lIns="45720" rIns="45720">
            <a:spAutoFit/>
          </a:bodyPr>
          <a:lstStyle/>
          <a:p>
            <a:pPr algn="l"/>
            <a:r>
              <a:rPr sz="1200" b="1">
                <a:solidFill>
                  <a:srgbClr val="E6EAF0"/>
                </a:solidFill>
                <a:latin typeface="Helvetica Neue"/>
              </a:rPr>
              <a:t>Auto sub-clustering land + cluster-ID stability</a:t>
            </a:r>
          </a:p>
        </p:txBody>
      </p:sp>
      <p:sp>
        <p:nvSpPr>
          <p:cNvPr id="12" name="TextBox 11"/>
          <p:cNvSpPr txBox="1"/>
          <p:nvPr/>
        </p:nvSpPr>
        <p:spPr>
          <a:xfrm>
            <a:off x="2194560" y="2697480"/>
            <a:ext cx="9509760" cy="228600"/>
          </a:xfrm>
          <a:prstGeom prst="rect">
            <a:avLst/>
          </a:prstGeom>
          <a:noFill/>
        </p:spPr>
        <p:txBody>
          <a:bodyPr wrap="square" lIns="45720" rIns="45720">
            <a:spAutoFit/>
          </a:bodyPr>
          <a:lstStyle/>
          <a:p>
            <a:pPr algn="l"/>
            <a:r>
              <a:rPr sz="1000" b="0">
                <a:solidFill>
                  <a:srgbClr val="8A95A5"/>
                </a:solidFill>
                <a:latin typeface="Helvetica Neue"/>
              </a:rPr>
              <a:t>•  Productionize Leiden + LLM auto-naming (ship behind feature flag)</a:t>
            </a:r>
          </a:p>
        </p:txBody>
      </p:sp>
      <p:sp>
        <p:nvSpPr>
          <p:cNvPr id="13" name="TextBox 12"/>
          <p:cNvSpPr txBox="1"/>
          <p:nvPr/>
        </p:nvSpPr>
        <p:spPr>
          <a:xfrm>
            <a:off x="2194560" y="2898648"/>
            <a:ext cx="9509760" cy="228600"/>
          </a:xfrm>
          <a:prstGeom prst="rect">
            <a:avLst/>
          </a:prstGeom>
          <a:noFill/>
        </p:spPr>
        <p:txBody>
          <a:bodyPr wrap="square" lIns="45720" rIns="45720">
            <a:spAutoFit/>
          </a:bodyPr>
          <a:lstStyle/>
          <a:p>
            <a:pPr algn="l"/>
            <a:r>
              <a:rPr sz="1000" b="0">
                <a:solidFill>
                  <a:srgbClr val="8A95A5"/>
                </a:solidFill>
                <a:latin typeface="Helvetica Neue"/>
              </a:rPr>
              <a:t>•  Hungarian assignment between rebuilds (&gt;70% overlap → preserve ID)</a:t>
            </a:r>
          </a:p>
        </p:txBody>
      </p:sp>
      <p:sp>
        <p:nvSpPr>
          <p:cNvPr id="14" name="TextBox 13"/>
          <p:cNvSpPr txBox="1"/>
          <p:nvPr/>
        </p:nvSpPr>
        <p:spPr>
          <a:xfrm>
            <a:off x="2194560" y="3099816"/>
            <a:ext cx="9509760" cy="228600"/>
          </a:xfrm>
          <a:prstGeom prst="rect">
            <a:avLst/>
          </a:prstGeom>
          <a:noFill/>
        </p:spPr>
        <p:txBody>
          <a:bodyPr wrap="square" lIns="45720" rIns="45720">
            <a:spAutoFit/>
          </a:bodyPr>
          <a:lstStyle/>
          <a:p>
            <a:pPr algn="l"/>
            <a:r>
              <a:rPr sz="1000" b="0">
                <a:solidFill>
                  <a:srgbClr val="8A95A5"/>
                </a:solidFill>
                <a:latin typeface="Helvetica Neue"/>
              </a:rPr>
              <a:t>•  Update embedding/collections.py to populate `clusters` at sub-cluster granularity</a:t>
            </a:r>
          </a:p>
        </p:txBody>
      </p:sp>
      <p:sp>
        <p:nvSpPr>
          <p:cNvPr id="15" name="TextBox 14"/>
          <p:cNvSpPr txBox="1"/>
          <p:nvPr/>
        </p:nvSpPr>
        <p:spPr>
          <a:xfrm>
            <a:off x="640080" y="3392424"/>
            <a:ext cx="1463040" cy="274320"/>
          </a:xfrm>
          <a:prstGeom prst="rect">
            <a:avLst/>
          </a:prstGeom>
          <a:noFill/>
        </p:spPr>
        <p:txBody>
          <a:bodyPr wrap="square" lIns="45720" rIns="45720">
            <a:spAutoFit/>
          </a:bodyPr>
          <a:lstStyle/>
          <a:p>
            <a:pPr algn="l"/>
            <a:r>
              <a:rPr sz="1200" b="1">
                <a:solidFill>
                  <a:srgbClr val="6EC1FF"/>
                </a:solidFill>
                <a:latin typeface="Helvetica Neue"/>
              </a:rPr>
              <a:t>Mon May 4</a:t>
            </a:r>
          </a:p>
        </p:txBody>
      </p:sp>
      <p:sp>
        <p:nvSpPr>
          <p:cNvPr id="16" name="TextBox 15"/>
          <p:cNvSpPr txBox="1"/>
          <p:nvPr/>
        </p:nvSpPr>
        <p:spPr>
          <a:xfrm>
            <a:off x="2194560" y="3392424"/>
            <a:ext cx="9509760" cy="274320"/>
          </a:xfrm>
          <a:prstGeom prst="rect">
            <a:avLst/>
          </a:prstGeom>
          <a:noFill/>
        </p:spPr>
        <p:txBody>
          <a:bodyPr wrap="square" lIns="45720" rIns="45720">
            <a:spAutoFit/>
          </a:bodyPr>
          <a:lstStyle/>
          <a:p>
            <a:pPr algn="l"/>
            <a:r>
              <a:rPr sz="1200" b="1">
                <a:solidFill>
                  <a:srgbClr val="E6EAF0"/>
                </a:solidFill>
                <a:latin typeface="Helvetica Neue"/>
              </a:rPr>
              <a:t>Eval + observability hardening</a:t>
            </a:r>
          </a:p>
        </p:txBody>
      </p:sp>
      <p:sp>
        <p:nvSpPr>
          <p:cNvPr id="17" name="TextBox 16"/>
          <p:cNvSpPr txBox="1"/>
          <p:nvPr/>
        </p:nvSpPr>
        <p:spPr>
          <a:xfrm>
            <a:off x="2194560" y="3593592"/>
            <a:ext cx="9509760" cy="228600"/>
          </a:xfrm>
          <a:prstGeom prst="rect">
            <a:avLst/>
          </a:prstGeom>
          <a:noFill/>
        </p:spPr>
        <p:txBody>
          <a:bodyPr wrap="square" lIns="45720" rIns="45720">
            <a:spAutoFit/>
          </a:bodyPr>
          <a:lstStyle/>
          <a:p>
            <a:pPr algn="l"/>
            <a:r>
              <a:rPr sz="1000" b="0">
                <a:solidFill>
                  <a:srgbClr val="8A95A5"/>
                </a:solidFill>
                <a:latin typeface="Helvetica Neue"/>
              </a:rPr>
              <a:t>•  Add 30 more gold queries against Northridge (currently 20)</a:t>
            </a:r>
          </a:p>
        </p:txBody>
      </p:sp>
      <p:sp>
        <p:nvSpPr>
          <p:cNvPr id="18" name="TextBox 17"/>
          <p:cNvSpPr txBox="1"/>
          <p:nvPr/>
        </p:nvSpPr>
        <p:spPr>
          <a:xfrm>
            <a:off x="2194560" y="3794760"/>
            <a:ext cx="9509760" cy="228600"/>
          </a:xfrm>
          <a:prstGeom prst="rect">
            <a:avLst/>
          </a:prstGeom>
          <a:noFill/>
        </p:spPr>
        <p:txBody>
          <a:bodyPr wrap="square" lIns="45720" rIns="45720">
            <a:spAutoFit/>
          </a:bodyPr>
          <a:lstStyle/>
          <a:p>
            <a:pPr algn="l"/>
            <a:r>
              <a:rPr sz="1000" b="0">
                <a:solidFill>
                  <a:srgbClr val="8A95A5"/>
                </a:solidFill>
                <a:latin typeface="Helvetica Neue"/>
              </a:rPr>
              <a:t>•  OpenTelemetry spans per pipeline stage; Grafana dashboards JSON</a:t>
            </a:r>
          </a:p>
        </p:txBody>
      </p:sp>
      <p:sp>
        <p:nvSpPr>
          <p:cNvPr id="19" name="TextBox 18"/>
          <p:cNvSpPr txBox="1"/>
          <p:nvPr/>
        </p:nvSpPr>
        <p:spPr>
          <a:xfrm>
            <a:off x="2194560" y="3995928"/>
            <a:ext cx="9509760" cy="228600"/>
          </a:xfrm>
          <a:prstGeom prst="rect">
            <a:avLst/>
          </a:prstGeom>
          <a:noFill/>
        </p:spPr>
        <p:txBody>
          <a:bodyPr wrap="square" lIns="45720" rIns="45720">
            <a:spAutoFit/>
          </a:bodyPr>
          <a:lstStyle/>
          <a:p>
            <a:pPr algn="l"/>
            <a:r>
              <a:rPr sz="1000" b="0">
                <a:solidFill>
                  <a:srgbClr val="8A95A5"/>
                </a:solidFill>
                <a:latin typeface="Helvetica Neue"/>
              </a:rPr>
              <a:t>•  Wire CI nightly eval; gate &gt;2pp regression</a:t>
            </a:r>
          </a:p>
        </p:txBody>
      </p:sp>
      <p:sp>
        <p:nvSpPr>
          <p:cNvPr id="20" name="TextBox 19"/>
          <p:cNvSpPr txBox="1"/>
          <p:nvPr/>
        </p:nvSpPr>
        <p:spPr>
          <a:xfrm>
            <a:off x="640080" y="4288536"/>
            <a:ext cx="1463040" cy="274320"/>
          </a:xfrm>
          <a:prstGeom prst="rect">
            <a:avLst/>
          </a:prstGeom>
          <a:noFill/>
        </p:spPr>
        <p:txBody>
          <a:bodyPr wrap="square" lIns="45720" rIns="45720">
            <a:spAutoFit/>
          </a:bodyPr>
          <a:lstStyle/>
          <a:p>
            <a:pPr algn="l"/>
            <a:r>
              <a:rPr sz="1200" b="1">
                <a:solidFill>
                  <a:srgbClr val="6EC1FF"/>
                </a:solidFill>
                <a:latin typeface="Helvetica Neue"/>
              </a:rPr>
              <a:t>Tue May 5</a:t>
            </a:r>
          </a:p>
        </p:txBody>
      </p:sp>
      <p:sp>
        <p:nvSpPr>
          <p:cNvPr id="21" name="TextBox 20"/>
          <p:cNvSpPr txBox="1"/>
          <p:nvPr/>
        </p:nvSpPr>
        <p:spPr>
          <a:xfrm>
            <a:off x="2194560" y="4288536"/>
            <a:ext cx="9509760" cy="274320"/>
          </a:xfrm>
          <a:prstGeom prst="rect">
            <a:avLst/>
          </a:prstGeom>
          <a:noFill/>
        </p:spPr>
        <p:txBody>
          <a:bodyPr wrap="square" lIns="45720" rIns="45720">
            <a:spAutoFit/>
          </a:bodyPr>
          <a:lstStyle/>
          <a:p>
            <a:pPr algn="l"/>
            <a:r>
              <a:rPr sz="1200" b="1">
                <a:solidFill>
                  <a:srgbClr val="E6EAF0"/>
                </a:solidFill>
                <a:latin typeface="Helvetica Neue"/>
              </a:rPr>
              <a:t>Provider matrix + reviewer fixes</a:t>
            </a:r>
          </a:p>
        </p:txBody>
      </p:sp>
      <p:sp>
        <p:nvSpPr>
          <p:cNvPr id="22" name="TextBox 21"/>
          <p:cNvSpPr txBox="1"/>
          <p:nvPr/>
        </p:nvSpPr>
        <p:spPr>
          <a:xfrm>
            <a:off x="2194560" y="4489704"/>
            <a:ext cx="9509760" cy="228600"/>
          </a:xfrm>
          <a:prstGeom prst="rect">
            <a:avLst/>
          </a:prstGeom>
          <a:noFill/>
        </p:spPr>
        <p:txBody>
          <a:bodyPr wrap="square" lIns="45720" rIns="45720">
            <a:spAutoFit/>
          </a:bodyPr>
          <a:lstStyle/>
          <a:p>
            <a:pPr algn="l"/>
            <a:r>
              <a:rPr sz="1000" b="0">
                <a:solidFill>
                  <a:srgbClr val="8A95A5"/>
                </a:solidFill>
                <a:latin typeface="Helvetica Neue"/>
              </a:rPr>
              <a:t>•  H1 fix: Postgres/MSSQL ALTER TABLE for legacy `dialect` column</a:t>
            </a:r>
          </a:p>
        </p:txBody>
      </p:sp>
      <p:sp>
        <p:nvSpPr>
          <p:cNvPr id="23" name="TextBox 22"/>
          <p:cNvSpPr txBox="1"/>
          <p:nvPr/>
        </p:nvSpPr>
        <p:spPr>
          <a:xfrm>
            <a:off x="2194560" y="4690872"/>
            <a:ext cx="9509760" cy="228600"/>
          </a:xfrm>
          <a:prstGeom prst="rect">
            <a:avLst/>
          </a:prstGeom>
          <a:noFill/>
        </p:spPr>
        <p:txBody>
          <a:bodyPr wrap="square" lIns="45720" rIns="45720">
            <a:spAutoFit/>
          </a:bodyPr>
          <a:lstStyle/>
          <a:p>
            <a:pPr algn="l"/>
            <a:r>
              <a:rPr sz="1000" b="0">
                <a:solidFill>
                  <a:srgbClr val="8A95A5"/>
                </a:solidFill>
                <a:latin typeface="Helvetica Neue"/>
              </a:rPr>
              <a:t>•  H2 fix: redact passwords in /admin/test_metadata_db error strings</a:t>
            </a:r>
          </a:p>
        </p:txBody>
      </p:sp>
      <p:sp>
        <p:nvSpPr>
          <p:cNvPr id="24" name="TextBox 23"/>
          <p:cNvSpPr txBox="1"/>
          <p:nvPr/>
        </p:nvSpPr>
        <p:spPr>
          <a:xfrm>
            <a:off x="2194560" y="4892040"/>
            <a:ext cx="9509760" cy="228600"/>
          </a:xfrm>
          <a:prstGeom prst="rect">
            <a:avLst/>
          </a:prstGeom>
          <a:noFill/>
        </p:spPr>
        <p:txBody>
          <a:bodyPr wrap="square" lIns="45720" rIns="45720">
            <a:spAutoFit/>
          </a:bodyPr>
          <a:lstStyle/>
          <a:p>
            <a:pPr algn="l"/>
            <a:r>
              <a:rPr sz="1000" b="0">
                <a:solidFill>
                  <a:srgbClr val="8A95A5"/>
                </a:solidFill>
                <a:latin typeface="Helvetica Neue"/>
              </a:rPr>
              <a:t>•  M2 fix: switch _metadata_sa_url to sqlalchemy.engine.URL.create()</a:t>
            </a:r>
          </a:p>
        </p:txBody>
      </p:sp>
      <p:sp>
        <p:nvSpPr>
          <p:cNvPr id="25" name="TextBox 24"/>
          <p:cNvSpPr txBox="1"/>
          <p:nvPr/>
        </p:nvSpPr>
        <p:spPr>
          <a:xfrm>
            <a:off x="640080" y="5184648"/>
            <a:ext cx="1463040" cy="274320"/>
          </a:xfrm>
          <a:prstGeom prst="rect">
            <a:avLst/>
          </a:prstGeom>
          <a:noFill/>
        </p:spPr>
        <p:txBody>
          <a:bodyPr wrap="square" lIns="45720" rIns="45720">
            <a:spAutoFit/>
          </a:bodyPr>
          <a:lstStyle/>
          <a:p>
            <a:pPr algn="l"/>
            <a:r>
              <a:rPr sz="1200" b="1">
                <a:solidFill>
                  <a:srgbClr val="6EC1FF"/>
                </a:solidFill>
                <a:latin typeface="Helvetica Neue"/>
              </a:rPr>
              <a:t>Wed May 6</a:t>
            </a:r>
          </a:p>
        </p:txBody>
      </p:sp>
      <p:sp>
        <p:nvSpPr>
          <p:cNvPr id="26" name="TextBox 25"/>
          <p:cNvSpPr txBox="1"/>
          <p:nvPr/>
        </p:nvSpPr>
        <p:spPr>
          <a:xfrm>
            <a:off x="2194560" y="5184648"/>
            <a:ext cx="9509760" cy="274320"/>
          </a:xfrm>
          <a:prstGeom prst="rect">
            <a:avLst/>
          </a:prstGeom>
          <a:noFill/>
        </p:spPr>
        <p:txBody>
          <a:bodyPr wrap="square" lIns="45720" rIns="45720">
            <a:spAutoFit/>
          </a:bodyPr>
          <a:lstStyle/>
          <a:p>
            <a:pPr algn="l"/>
            <a:r>
              <a:rPr sz="1200" b="1">
                <a:solidFill>
                  <a:srgbClr val="E6EAF0"/>
                </a:solidFill>
                <a:latin typeface="Helvetica Neue"/>
              </a:rPr>
              <a:t>Frontend polish + docs</a:t>
            </a:r>
          </a:p>
        </p:txBody>
      </p:sp>
      <p:sp>
        <p:nvSpPr>
          <p:cNvPr id="27" name="TextBox 26"/>
          <p:cNvSpPr txBox="1"/>
          <p:nvPr/>
        </p:nvSpPr>
        <p:spPr>
          <a:xfrm>
            <a:off x="2194560" y="5385816"/>
            <a:ext cx="9509760" cy="228600"/>
          </a:xfrm>
          <a:prstGeom prst="rect">
            <a:avLst/>
          </a:prstGeom>
          <a:noFill/>
        </p:spPr>
        <p:txBody>
          <a:bodyPr wrap="square" lIns="45720" rIns="45720">
            <a:spAutoFit/>
          </a:bodyPr>
          <a:lstStyle/>
          <a:p>
            <a:pPr algn="l"/>
            <a:r>
              <a:rPr sz="1000" b="0">
                <a:solidFill>
                  <a:srgbClr val="8A95A5"/>
                </a:solidFill>
                <a:latin typeface="Helvetica Neue"/>
              </a:rPr>
              <a:t>•  Cluster Manager page (drag tables between clusters, react-flow)</a:t>
            </a:r>
          </a:p>
        </p:txBody>
      </p:sp>
      <p:sp>
        <p:nvSpPr>
          <p:cNvPr id="28" name="TextBox 27"/>
          <p:cNvSpPr txBox="1"/>
          <p:nvPr/>
        </p:nvSpPr>
        <p:spPr>
          <a:xfrm>
            <a:off x="2194560" y="5586983"/>
            <a:ext cx="9509760" cy="228600"/>
          </a:xfrm>
          <a:prstGeom prst="rect">
            <a:avLst/>
          </a:prstGeom>
          <a:noFill/>
        </p:spPr>
        <p:txBody>
          <a:bodyPr wrap="square" lIns="45720" rIns="45720">
            <a:spAutoFit/>
          </a:bodyPr>
          <a:lstStyle/>
          <a:p>
            <a:pPr algn="l"/>
            <a:r>
              <a:rPr sz="1000" b="0">
                <a:solidFill>
                  <a:srgbClr val="8A95A5"/>
                </a:solidFill>
                <a:latin typeface="Helvetica Neue"/>
              </a:rPr>
              <a:t>•  Eval Dashboard page (per-build metrics, regression alerts)</a:t>
            </a:r>
          </a:p>
        </p:txBody>
      </p:sp>
      <p:sp>
        <p:nvSpPr>
          <p:cNvPr id="29" name="TextBox 28"/>
          <p:cNvSpPr txBox="1"/>
          <p:nvPr/>
        </p:nvSpPr>
        <p:spPr>
          <a:xfrm>
            <a:off x="2194560" y="5788151"/>
            <a:ext cx="9509760" cy="228600"/>
          </a:xfrm>
          <a:prstGeom prst="rect">
            <a:avLst/>
          </a:prstGeom>
          <a:noFill/>
        </p:spPr>
        <p:txBody>
          <a:bodyPr wrap="square" lIns="45720" rIns="45720">
            <a:spAutoFit/>
          </a:bodyPr>
          <a:lstStyle/>
          <a:p>
            <a:pPr algn="l"/>
            <a:r>
              <a:rPr sz="1000" b="0">
                <a:solidFill>
                  <a:srgbClr val="8A95A5"/>
                </a:solidFill>
                <a:latin typeface="Helvetica Neue"/>
              </a:rPr>
              <a:t>•  Operator runbook + provider-swap guide in /docs</a:t>
            </a:r>
          </a:p>
        </p:txBody>
      </p:sp>
      <p:sp>
        <p:nvSpPr>
          <p:cNvPr id="30" name="TextBox 29"/>
          <p:cNvSpPr txBox="1"/>
          <p:nvPr/>
        </p:nvSpPr>
        <p:spPr>
          <a:xfrm>
            <a:off x="640080" y="6080759"/>
            <a:ext cx="1463040" cy="274320"/>
          </a:xfrm>
          <a:prstGeom prst="rect">
            <a:avLst/>
          </a:prstGeom>
          <a:noFill/>
        </p:spPr>
        <p:txBody>
          <a:bodyPr wrap="square" lIns="45720" rIns="45720">
            <a:spAutoFit/>
          </a:bodyPr>
          <a:lstStyle/>
          <a:p>
            <a:pPr algn="l"/>
            <a:r>
              <a:rPr sz="1200" b="1">
                <a:solidFill>
                  <a:srgbClr val="6EC1FF"/>
                </a:solidFill>
                <a:latin typeface="Helvetica Neue"/>
              </a:rPr>
              <a:t>Thu May 7</a:t>
            </a:r>
          </a:p>
        </p:txBody>
      </p:sp>
      <p:sp>
        <p:nvSpPr>
          <p:cNvPr id="31" name="TextBox 30"/>
          <p:cNvSpPr txBox="1"/>
          <p:nvPr/>
        </p:nvSpPr>
        <p:spPr>
          <a:xfrm>
            <a:off x="2194560" y="6080759"/>
            <a:ext cx="9509760" cy="274320"/>
          </a:xfrm>
          <a:prstGeom prst="rect">
            <a:avLst/>
          </a:prstGeom>
          <a:noFill/>
        </p:spPr>
        <p:txBody>
          <a:bodyPr wrap="square" lIns="45720" rIns="45720">
            <a:spAutoFit/>
          </a:bodyPr>
          <a:lstStyle/>
          <a:p>
            <a:pPr algn="l"/>
            <a:r>
              <a:rPr sz="1200" b="1">
                <a:solidFill>
                  <a:srgbClr val="E6EAF0"/>
                </a:solidFill>
                <a:latin typeface="Helvetica Neue"/>
              </a:rPr>
              <a:t>Hardening pass + k8s manifests</a:t>
            </a:r>
          </a:p>
        </p:txBody>
      </p:sp>
      <p:sp>
        <p:nvSpPr>
          <p:cNvPr id="32" name="TextBox 31"/>
          <p:cNvSpPr txBox="1"/>
          <p:nvPr/>
        </p:nvSpPr>
        <p:spPr>
          <a:xfrm>
            <a:off x="2194560" y="6281927"/>
            <a:ext cx="9509760" cy="228600"/>
          </a:xfrm>
          <a:prstGeom prst="rect">
            <a:avLst/>
          </a:prstGeom>
          <a:noFill/>
        </p:spPr>
        <p:txBody>
          <a:bodyPr wrap="square" lIns="45720" rIns="45720">
            <a:spAutoFit/>
          </a:bodyPr>
          <a:lstStyle/>
          <a:p>
            <a:pPr algn="l"/>
            <a:r>
              <a:rPr sz="1000" b="0">
                <a:solidFill>
                  <a:srgbClr val="8A95A5"/>
                </a:solidFill>
                <a:latin typeface="Helvetica Neue"/>
              </a:rPr>
              <a:t>•  k8s manifests: backend, Celery, Redis, Qdrant, Postgres</a:t>
            </a:r>
          </a:p>
        </p:txBody>
      </p:sp>
      <p:sp>
        <p:nvSpPr>
          <p:cNvPr id="33" name="TextBox 32"/>
          <p:cNvSpPr txBox="1"/>
          <p:nvPr/>
        </p:nvSpPr>
        <p:spPr>
          <a:xfrm>
            <a:off x="2194560" y="6483095"/>
            <a:ext cx="9509760" cy="228600"/>
          </a:xfrm>
          <a:prstGeom prst="rect">
            <a:avLst/>
          </a:prstGeom>
          <a:noFill/>
        </p:spPr>
        <p:txBody>
          <a:bodyPr wrap="square" lIns="45720" rIns="45720">
            <a:spAutoFit/>
          </a:bodyPr>
          <a:lstStyle/>
          <a:p>
            <a:pPr algn="l"/>
            <a:r>
              <a:rPr sz="1000" b="0">
                <a:solidFill>
                  <a:srgbClr val="8A95A5"/>
                </a:solidFill>
                <a:latin typeface="Helvetica Neue"/>
              </a:rPr>
              <a:t>•  Vector-store Parquet export round-trip test (spec §10.4)</a:t>
            </a:r>
          </a:p>
        </p:txBody>
      </p:sp>
      <p:sp>
        <p:nvSpPr>
          <p:cNvPr id="34" name="TextBox 33"/>
          <p:cNvSpPr txBox="1"/>
          <p:nvPr/>
        </p:nvSpPr>
        <p:spPr>
          <a:xfrm>
            <a:off x="2194560" y="6684263"/>
            <a:ext cx="9509760" cy="228600"/>
          </a:xfrm>
          <a:prstGeom prst="rect">
            <a:avLst/>
          </a:prstGeom>
          <a:noFill/>
        </p:spPr>
        <p:txBody>
          <a:bodyPr wrap="square" lIns="45720" rIns="45720">
            <a:spAutoFit/>
          </a:bodyPr>
          <a:lstStyle/>
          <a:p>
            <a:pPr algn="l"/>
            <a:r>
              <a:rPr sz="1000" b="0">
                <a:solidFill>
                  <a:srgbClr val="8A95A5"/>
                </a:solidFill>
                <a:latin typeface="Helvetica Neue"/>
              </a:rPr>
              <a:t>•  Per-user quota + model-pin alerts (spec §16 risks)</a:t>
            </a:r>
          </a:p>
        </p:txBody>
      </p:sp>
      <p:sp>
        <p:nvSpPr>
          <p:cNvPr id="35" name="TextBox 34"/>
          <p:cNvSpPr txBox="1"/>
          <p:nvPr/>
        </p:nvSpPr>
        <p:spPr>
          <a:xfrm>
            <a:off x="640080" y="6976871"/>
            <a:ext cx="1463040" cy="274320"/>
          </a:xfrm>
          <a:prstGeom prst="rect">
            <a:avLst/>
          </a:prstGeom>
          <a:noFill/>
        </p:spPr>
        <p:txBody>
          <a:bodyPr wrap="square" lIns="45720" rIns="45720">
            <a:spAutoFit/>
          </a:bodyPr>
          <a:lstStyle/>
          <a:p>
            <a:pPr algn="l"/>
            <a:r>
              <a:rPr sz="1200" b="1">
                <a:solidFill>
                  <a:srgbClr val="6EC1FF"/>
                </a:solidFill>
                <a:latin typeface="Helvetica Neue"/>
              </a:rPr>
              <a:t>Fri May 8</a:t>
            </a:r>
          </a:p>
        </p:txBody>
      </p:sp>
      <p:sp>
        <p:nvSpPr>
          <p:cNvPr id="36" name="TextBox 35"/>
          <p:cNvSpPr txBox="1"/>
          <p:nvPr/>
        </p:nvSpPr>
        <p:spPr>
          <a:xfrm>
            <a:off x="2194560" y="6976871"/>
            <a:ext cx="9509760" cy="274320"/>
          </a:xfrm>
          <a:prstGeom prst="rect">
            <a:avLst/>
          </a:prstGeom>
          <a:noFill/>
        </p:spPr>
        <p:txBody>
          <a:bodyPr wrap="square" lIns="45720" rIns="45720">
            <a:spAutoFit/>
          </a:bodyPr>
          <a:lstStyle/>
          <a:p>
            <a:pPr algn="l"/>
            <a:r>
              <a:rPr sz="1200" b="1">
                <a:solidFill>
                  <a:srgbClr val="E6EAF0"/>
                </a:solidFill>
                <a:latin typeface="Helvetica Neue"/>
              </a:rPr>
              <a:t>Demo prep + final regression</a:t>
            </a:r>
          </a:p>
        </p:txBody>
      </p:sp>
      <p:sp>
        <p:nvSpPr>
          <p:cNvPr id="37" name="TextBox 36"/>
          <p:cNvSpPr txBox="1"/>
          <p:nvPr/>
        </p:nvSpPr>
        <p:spPr>
          <a:xfrm>
            <a:off x="2194560" y="7178039"/>
            <a:ext cx="9509760" cy="228600"/>
          </a:xfrm>
          <a:prstGeom prst="rect">
            <a:avLst/>
          </a:prstGeom>
          <a:noFill/>
        </p:spPr>
        <p:txBody>
          <a:bodyPr wrap="square" lIns="45720" rIns="45720">
            <a:spAutoFit/>
          </a:bodyPr>
          <a:lstStyle/>
          <a:p>
            <a:pPr algn="l"/>
            <a:r>
              <a:rPr sz="1000" b="0">
                <a:solidFill>
                  <a:srgbClr val="8A95A5"/>
                </a:solidFill>
                <a:latin typeface="Helvetica Neue"/>
              </a:rPr>
              <a:t>•  End-to-end run on a clean machine (Mac + Windows)</a:t>
            </a:r>
          </a:p>
        </p:txBody>
      </p:sp>
      <p:sp>
        <p:nvSpPr>
          <p:cNvPr id="38" name="TextBox 37"/>
          <p:cNvSpPr txBox="1"/>
          <p:nvPr/>
        </p:nvSpPr>
        <p:spPr>
          <a:xfrm>
            <a:off x="2194560" y="7379207"/>
            <a:ext cx="9509760" cy="228600"/>
          </a:xfrm>
          <a:prstGeom prst="rect">
            <a:avLst/>
          </a:prstGeom>
          <a:noFill/>
        </p:spPr>
        <p:txBody>
          <a:bodyPr wrap="square" lIns="45720" rIns="45720">
            <a:spAutoFit/>
          </a:bodyPr>
          <a:lstStyle/>
          <a:p>
            <a:pPr algn="l"/>
            <a:r>
              <a:rPr sz="1000" b="0">
                <a:solidFill>
                  <a:srgbClr val="8A95A5"/>
                </a:solidFill>
                <a:latin typeface="Helvetica Neue"/>
              </a:rPr>
              <a:t>•  Recorded demo: provider switch · onboarding flow · NL → SQL → chart</a:t>
            </a:r>
          </a:p>
        </p:txBody>
      </p:sp>
      <p:sp>
        <p:nvSpPr>
          <p:cNvPr id="39" name="TextBox 38"/>
          <p:cNvSpPr txBox="1"/>
          <p:nvPr/>
        </p:nvSpPr>
        <p:spPr>
          <a:xfrm>
            <a:off x="2194560" y="7580375"/>
            <a:ext cx="9509760" cy="228600"/>
          </a:xfrm>
          <a:prstGeom prst="rect">
            <a:avLst/>
          </a:prstGeom>
          <a:noFill/>
        </p:spPr>
        <p:txBody>
          <a:bodyPr wrap="square" lIns="45720" rIns="45720">
            <a:spAutoFit/>
          </a:bodyPr>
          <a:lstStyle/>
          <a:p>
            <a:pPr algn="l"/>
            <a:r>
              <a:rPr sz="1000" b="0">
                <a:solidFill>
                  <a:srgbClr val="8A95A5"/>
                </a:solidFill>
                <a:latin typeface="Helvetica Neue"/>
              </a:rPr>
              <a:t>•  Cut v0.8 tag · push final docs</a:t>
            </a:r>
          </a:p>
        </p:txBody>
      </p:sp>
      <p:sp>
        <p:nvSpPr>
          <p:cNvPr id="40" name="TextBox 39"/>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Section 4 · Plan</a:t>
            </a:r>
          </a:p>
        </p:txBody>
      </p:sp>
      <p:sp>
        <p:nvSpPr>
          <p:cNvPr id="41" name="TextBox 40"/>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All weekend-free; revisit Mon if Fri slips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Risks &amp; open questions</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What could derail the May 8 target</a:t>
            </a:r>
          </a:p>
        </p:txBody>
      </p:sp>
      <p:sp>
        <p:nvSpPr>
          <p:cNvPr id="4" name="Rounded Rectangle 3"/>
          <p:cNvSpPr/>
          <p:nvPr/>
        </p:nvSpPr>
        <p:spPr>
          <a:xfrm>
            <a:off x="457200" y="1463040"/>
            <a:ext cx="11247120" cy="4937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274320" cy="274320"/>
          </a:xfrm>
          <a:prstGeom prst="rect">
            <a:avLst/>
          </a:prstGeom>
          <a:noFill/>
        </p:spPr>
        <p:txBody>
          <a:bodyPr wrap="square" lIns="45720" rIns="45720">
            <a:spAutoFit/>
          </a:bodyPr>
          <a:lstStyle/>
          <a:p>
            <a:pPr algn="l"/>
            <a:r>
              <a:rPr sz="1800" b="1">
                <a:solidFill>
                  <a:srgbClr val="F2B857"/>
                </a:solidFill>
                <a:latin typeface="Helvetica Neue"/>
              </a:rPr>
              <a:t>●</a:t>
            </a:r>
          </a:p>
        </p:txBody>
      </p:sp>
      <p:sp>
        <p:nvSpPr>
          <p:cNvPr id="6" name="TextBox 5"/>
          <p:cNvSpPr txBox="1"/>
          <p:nvPr/>
        </p:nvSpPr>
        <p:spPr>
          <a:xfrm>
            <a:off x="1005840" y="1600200"/>
            <a:ext cx="10698480" cy="274320"/>
          </a:xfrm>
          <a:prstGeom prst="rect">
            <a:avLst/>
          </a:prstGeom>
          <a:noFill/>
        </p:spPr>
        <p:txBody>
          <a:bodyPr wrap="square" lIns="45720" rIns="45720">
            <a:spAutoFit/>
          </a:bodyPr>
          <a:lstStyle/>
          <a:p>
            <a:pPr algn="l"/>
            <a:r>
              <a:rPr sz="1300" b="1">
                <a:solidFill>
                  <a:srgbClr val="E6EAF0"/>
                </a:solidFill>
                <a:latin typeface="Helvetica Neue"/>
              </a:rPr>
              <a:t>Sub-cluster tuning</a:t>
            </a:r>
          </a:p>
        </p:txBody>
      </p:sp>
      <p:sp>
        <p:nvSpPr>
          <p:cNvPr id="7" name="TextBox 6"/>
          <p:cNvSpPr txBox="1"/>
          <p:nvPr/>
        </p:nvSpPr>
        <p:spPr>
          <a:xfrm>
            <a:off x="1005840" y="1874519"/>
            <a:ext cx="10698480" cy="274320"/>
          </a:xfrm>
          <a:prstGeom prst="rect">
            <a:avLst/>
          </a:prstGeom>
          <a:noFill/>
        </p:spPr>
        <p:txBody>
          <a:bodyPr wrap="square" lIns="45720" rIns="45720">
            <a:spAutoFit/>
          </a:bodyPr>
          <a:lstStyle/>
          <a:p>
            <a:pPr algn="l"/>
            <a:r>
              <a:rPr sz="1100" b="0">
                <a:solidFill>
                  <a:srgbClr val="8A95A5"/>
                </a:solidFill>
                <a:latin typeface="Helvetica Neue"/>
              </a:rPr>
              <a:t>Leiden hyperparameters require iteration; 8-20 tables/cluster is the spec target.</a:t>
            </a:r>
          </a:p>
        </p:txBody>
      </p:sp>
      <p:sp>
        <p:nvSpPr>
          <p:cNvPr id="8" name="TextBox 7"/>
          <p:cNvSpPr txBox="1"/>
          <p:nvPr/>
        </p:nvSpPr>
        <p:spPr>
          <a:xfrm>
            <a:off x="1005840" y="2103120"/>
            <a:ext cx="10698480" cy="274320"/>
          </a:xfrm>
          <a:prstGeom prst="rect">
            <a:avLst/>
          </a:prstGeom>
          <a:noFill/>
        </p:spPr>
        <p:txBody>
          <a:bodyPr wrap="square" lIns="45720" rIns="45720">
            <a:spAutoFit/>
          </a:bodyPr>
          <a:lstStyle/>
          <a:p>
            <a:pPr algn="l"/>
            <a:r>
              <a:rPr sz="1100" b="0">
                <a:solidFill>
                  <a:srgbClr val="6EC1FF"/>
                </a:solidFill>
                <a:latin typeface="Helvetica Neue"/>
              </a:rPr>
              <a:t>Fallback: per-domain routing, sub-cluster as v0.9.</a:t>
            </a:r>
          </a:p>
        </p:txBody>
      </p:sp>
      <p:sp>
        <p:nvSpPr>
          <p:cNvPr id="9" name="TextBox 8"/>
          <p:cNvSpPr txBox="1"/>
          <p:nvPr/>
        </p:nvSpPr>
        <p:spPr>
          <a:xfrm>
            <a:off x="640080" y="2441448"/>
            <a:ext cx="274320" cy="274320"/>
          </a:xfrm>
          <a:prstGeom prst="rect">
            <a:avLst/>
          </a:prstGeom>
          <a:noFill/>
        </p:spPr>
        <p:txBody>
          <a:bodyPr wrap="square" lIns="45720" rIns="45720">
            <a:spAutoFit/>
          </a:bodyPr>
          <a:lstStyle/>
          <a:p>
            <a:pPr algn="l"/>
            <a:r>
              <a:rPr sz="1800" b="1">
                <a:solidFill>
                  <a:srgbClr val="E56B6B"/>
                </a:solidFill>
                <a:latin typeface="Helvetica Neue"/>
              </a:rPr>
              <a:t>●</a:t>
            </a:r>
          </a:p>
        </p:txBody>
      </p:sp>
      <p:sp>
        <p:nvSpPr>
          <p:cNvPr id="10" name="TextBox 9"/>
          <p:cNvSpPr txBox="1"/>
          <p:nvPr/>
        </p:nvSpPr>
        <p:spPr>
          <a:xfrm>
            <a:off x="1005840" y="2441448"/>
            <a:ext cx="10698480" cy="274320"/>
          </a:xfrm>
          <a:prstGeom prst="rect">
            <a:avLst/>
          </a:prstGeom>
          <a:noFill/>
        </p:spPr>
        <p:txBody>
          <a:bodyPr wrap="square" lIns="45720" rIns="45720">
            <a:spAutoFit/>
          </a:bodyPr>
          <a:lstStyle/>
          <a:p>
            <a:pPr algn="l"/>
            <a:r>
              <a:rPr sz="1300" b="1">
                <a:solidFill>
                  <a:srgbClr val="E6EAF0"/>
                </a:solidFill>
                <a:latin typeface="Helvetica Neue"/>
              </a:rPr>
              <a:t>Reviewer H1: legacy DB migration</a:t>
            </a:r>
          </a:p>
        </p:txBody>
      </p:sp>
      <p:sp>
        <p:nvSpPr>
          <p:cNvPr id="11" name="TextBox 10"/>
          <p:cNvSpPr txBox="1"/>
          <p:nvPr/>
        </p:nvSpPr>
        <p:spPr>
          <a:xfrm>
            <a:off x="1005840" y="2715768"/>
            <a:ext cx="10698480" cy="274320"/>
          </a:xfrm>
          <a:prstGeom prst="rect">
            <a:avLst/>
          </a:prstGeom>
          <a:noFill/>
        </p:spPr>
        <p:txBody>
          <a:bodyPr wrap="square" lIns="45720" rIns="45720">
            <a:spAutoFit/>
          </a:bodyPr>
          <a:lstStyle/>
          <a:p>
            <a:pPr algn="l"/>
            <a:r>
              <a:rPr sz="1100" b="0">
                <a:solidFill>
                  <a:srgbClr val="8A95A5"/>
                </a:solidFill>
                <a:latin typeface="Helvetica Neue"/>
              </a:rPr>
              <a:t>Existing Postgres/MSSQL deployments don't auto-add the `dialect` column.</a:t>
            </a:r>
          </a:p>
        </p:txBody>
      </p:sp>
      <p:sp>
        <p:nvSpPr>
          <p:cNvPr id="12" name="TextBox 11"/>
          <p:cNvSpPr txBox="1"/>
          <p:nvPr/>
        </p:nvSpPr>
        <p:spPr>
          <a:xfrm>
            <a:off x="1005840" y="2944368"/>
            <a:ext cx="10698480" cy="274320"/>
          </a:xfrm>
          <a:prstGeom prst="rect">
            <a:avLst/>
          </a:prstGeom>
          <a:noFill/>
        </p:spPr>
        <p:txBody>
          <a:bodyPr wrap="square" lIns="45720" rIns="45720">
            <a:spAutoFit/>
          </a:bodyPr>
          <a:lstStyle/>
          <a:p>
            <a:pPr algn="l"/>
            <a:r>
              <a:rPr sz="1100" b="0">
                <a:solidFill>
                  <a:srgbClr val="6EC1FF"/>
                </a:solidFill>
                <a:latin typeface="Helvetica Neue"/>
              </a:rPr>
              <a:t>ALTER TABLE on first ensure_schema(); 1-day fix planned for Tue.</a:t>
            </a:r>
          </a:p>
        </p:txBody>
      </p:sp>
      <p:sp>
        <p:nvSpPr>
          <p:cNvPr id="13" name="TextBox 12"/>
          <p:cNvSpPr txBox="1"/>
          <p:nvPr/>
        </p:nvSpPr>
        <p:spPr>
          <a:xfrm>
            <a:off x="640080" y="3282696"/>
            <a:ext cx="274320" cy="274320"/>
          </a:xfrm>
          <a:prstGeom prst="rect">
            <a:avLst/>
          </a:prstGeom>
          <a:noFill/>
        </p:spPr>
        <p:txBody>
          <a:bodyPr wrap="square" lIns="45720" rIns="45720">
            <a:spAutoFit/>
          </a:bodyPr>
          <a:lstStyle/>
          <a:p>
            <a:pPr algn="l"/>
            <a:r>
              <a:rPr sz="1800" b="1">
                <a:solidFill>
                  <a:srgbClr val="E56B6B"/>
                </a:solidFill>
                <a:latin typeface="Helvetica Neue"/>
              </a:rPr>
              <a:t>●</a:t>
            </a:r>
          </a:p>
        </p:txBody>
      </p:sp>
      <p:sp>
        <p:nvSpPr>
          <p:cNvPr id="14" name="TextBox 13"/>
          <p:cNvSpPr txBox="1"/>
          <p:nvPr/>
        </p:nvSpPr>
        <p:spPr>
          <a:xfrm>
            <a:off x="1005840" y="3282696"/>
            <a:ext cx="10698480" cy="274320"/>
          </a:xfrm>
          <a:prstGeom prst="rect">
            <a:avLst/>
          </a:prstGeom>
          <a:noFill/>
        </p:spPr>
        <p:txBody>
          <a:bodyPr wrap="square" lIns="45720" rIns="45720">
            <a:spAutoFit/>
          </a:bodyPr>
          <a:lstStyle/>
          <a:p>
            <a:pPr algn="l"/>
            <a:r>
              <a:rPr sz="1300" b="1">
                <a:solidFill>
                  <a:srgbClr val="E6EAF0"/>
                </a:solidFill>
                <a:latin typeface="Helvetica Neue"/>
              </a:rPr>
              <a:t>Reviewer H2: password leak</a:t>
            </a:r>
          </a:p>
        </p:txBody>
      </p:sp>
      <p:sp>
        <p:nvSpPr>
          <p:cNvPr id="15" name="TextBox 14"/>
          <p:cNvSpPr txBox="1"/>
          <p:nvPr/>
        </p:nvSpPr>
        <p:spPr>
          <a:xfrm>
            <a:off x="1005840" y="3557015"/>
            <a:ext cx="10698480" cy="274320"/>
          </a:xfrm>
          <a:prstGeom prst="rect">
            <a:avLst/>
          </a:prstGeom>
          <a:noFill/>
        </p:spPr>
        <p:txBody>
          <a:bodyPr wrap="square" lIns="45720" rIns="45720">
            <a:spAutoFit/>
          </a:bodyPr>
          <a:lstStyle/>
          <a:p>
            <a:pPr algn="l"/>
            <a:r>
              <a:rPr sz="1100" b="0">
                <a:solidFill>
                  <a:srgbClr val="8A95A5"/>
                </a:solidFill>
                <a:latin typeface="Helvetica Neue"/>
              </a:rPr>
              <a:t>/admin/test_metadata_db echoes raw SA exception which can include the DSN.</a:t>
            </a:r>
          </a:p>
        </p:txBody>
      </p:sp>
      <p:sp>
        <p:nvSpPr>
          <p:cNvPr id="16" name="TextBox 15"/>
          <p:cNvSpPr txBox="1"/>
          <p:nvPr/>
        </p:nvSpPr>
        <p:spPr>
          <a:xfrm>
            <a:off x="1005840" y="3785615"/>
            <a:ext cx="10698480" cy="274320"/>
          </a:xfrm>
          <a:prstGeom prst="rect">
            <a:avLst/>
          </a:prstGeom>
          <a:noFill/>
        </p:spPr>
        <p:txBody>
          <a:bodyPr wrap="square" lIns="45720" rIns="45720">
            <a:spAutoFit/>
          </a:bodyPr>
          <a:lstStyle/>
          <a:p>
            <a:pPr algn="l"/>
            <a:r>
              <a:rPr sz="1100" b="0">
                <a:solidFill>
                  <a:srgbClr val="6EC1FF"/>
                </a:solidFill>
                <a:latin typeface="Helvetica Neue"/>
              </a:rPr>
              <a:t>URL.render_as_string(hide_password=True); 0.5-day fix.</a:t>
            </a:r>
          </a:p>
        </p:txBody>
      </p:sp>
      <p:sp>
        <p:nvSpPr>
          <p:cNvPr id="17" name="TextBox 16"/>
          <p:cNvSpPr txBox="1"/>
          <p:nvPr/>
        </p:nvSpPr>
        <p:spPr>
          <a:xfrm>
            <a:off x="640080" y="4123944"/>
            <a:ext cx="274320" cy="274320"/>
          </a:xfrm>
          <a:prstGeom prst="rect">
            <a:avLst/>
          </a:prstGeom>
          <a:noFill/>
        </p:spPr>
        <p:txBody>
          <a:bodyPr wrap="square" lIns="45720" rIns="45720">
            <a:spAutoFit/>
          </a:bodyPr>
          <a:lstStyle/>
          <a:p>
            <a:pPr algn="l"/>
            <a:r>
              <a:rPr sz="1800" b="1">
                <a:solidFill>
                  <a:srgbClr val="F2B857"/>
                </a:solidFill>
                <a:latin typeface="Helvetica Neue"/>
              </a:rPr>
              <a:t>●</a:t>
            </a:r>
          </a:p>
        </p:txBody>
      </p:sp>
      <p:sp>
        <p:nvSpPr>
          <p:cNvPr id="18" name="TextBox 17"/>
          <p:cNvSpPr txBox="1"/>
          <p:nvPr/>
        </p:nvSpPr>
        <p:spPr>
          <a:xfrm>
            <a:off x="1005840" y="4123944"/>
            <a:ext cx="10698480" cy="274320"/>
          </a:xfrm>
          <a:prstGeom prst="rect">
            <a:avLst/>
          </a:prstGeom>
          <a:noFill/>
        </p:spPr>
        <p:txBody>
          <a:bodyPr wrap="square" lIns="45720" rIns="45720">
            <a:spAutoFit/>
          </a:bodyPr>
          <a:lstStyle/>
          <a:p>
            <a:pPr algn="l"/>
            <a:r>
              <a:rPr sz="1300" b="1">
                <a:solidFill>
                  <a:srgbClr val="E6EAF0"/>
                </a:solidFill>
                <a:latin typeface="Helvetica Neue"/>
              </a:rPr>
              <a:t>SQLite multi-user concurrency</a:t>
            </a:r>
          </a:p>
        </p:txBody>
      </p:sp>
      <p:sp>
        <p:nvSpPr>
          <p:cNvPr id="19" name="TextBox 18"/>
          <p:cNvSpPr txBox="1"/>
          <p:nvPr/>
        </p:nvSpPr>
        <p:spPr>
          <a:xfrm>
            <a:off x="1005840" y="4398264"/>
            <a:ext cx="10698480" cy="274320"/>
          </a:xfrm>
          <a:prstGeom prst="rect">
            <a:avLst/>
          </a:prstGeom>
          <a:noFill/>
        </p:spPr>
        <p:txBody>
          <a:bodyPr wrap="square" lIns="45720" rIns="45720">
            <a:spAutoFit/>
          </a:bodyPr>
          <a:lstStyle/>
          <a:p>
            <a:pPr algn="l"/>
            <a:r>
              <a:rPr sz="1100" b="0">
                <a:solidFill>
                  <a:srgbClr val="8A95A5"/>
                </a:solidFill>
                <a:latin typeface="Helvetica Neue"/>
              </a:rPr>
              <a:t>Default SQLite isn't WAL — `database is locked` under multi-writer load.</a:t>
            </a:r>
          </a:p>
        </p:txBody>
      </p:sp>
      <p:sp>
        <p:nvSpPr>
          <p:cNvPr id="20" name="TextBox 19"/>
          <p:cNvSpPr txBox="1"/>
          <p:nvPr/>
        </p:nvSpPr>
        <p:spPr>
          <a:xfrm>
            <a:off x="1005840" y="4626864"/>
            <a:ext cx="10698480" cy="274320"/>
          </a:xfrm>
          <a:prstGeom prst="rect">
            <a:avLst/>
          </a:prstGeom>
          <a:noFill/>
        </p:spPr>
        <p:txBody>
          <a:bodyPr wrap="square" lIns="45720" rIns="45720">
            <a:spAutoFit/>
          </a:bodyPr>
          <a:lstStyle/>
          <a:p>
            <a:pPr algn="l"/>
            <a:r>
              <a:rPr sz="1100" b="0">
                <a:solidFill>
                  <a:srgbClr val="6EC1FF"/>
                </a:solidFill>
                <a:latin typeface="Helvetica Neue"/>
              </a:rPr>
              <a:t>Document as single-user only OR add WAL pragma via event listener.</a:t>
            </a:r>
          </a:p>
        </p:txBody>
      </p:sp>
      <p:sp>
        <p:nvSpPr>
          <p:cNvPr id="21" name="TextBox 20"/>
          <p:cNvSpPr txBox="1"/>
          <p:nvPr/>
        </p:nvSpPr>
        <p:spPr>
          <a:xfrm>
            <a:off x="640080" y="4965192"/>
            <a:ext cx="274320" cy="274320"/>
          </a:xfrm>
          <a:prstGeom prst="rect">
            <a:avLst/>
          </a:prstGeom>
          <a:noFill/>
        </p:spPr>
        <p:txBody>
          <a:bodyPr wrap="square" lIns="45720" rIns="45720">
            <a:spAutoFit/>
          </a:bodyPr>
          <a:lstStyle/>
          <a:p>
            <a:pPr algn="l"/>
            <a:r>
              <a:rPr sz="1800" b="1">
                <a:solidFill>
                  <a:srgbClr val="4AD09C"/>
                </a:solidFill>
                <a:latin typeface="Helvetica Neue"/>
              </a:rPr>
              <a:t>●</a:t>
            </a:r>
          </a:p>
        </p:txBody>
      </p:sp>
      <p:sp>
        <p:nvSpPr>
          <p:cNvPr id="22" name="TextBox 21"/>
          <p:cNvSpPr txBox="1"/>
          <p:nvPr/>
        </p:nvSpPr>
        <p:spPr>
          <a:xfrm>
            <a:off x="1005840" y="4965192"/>
            <a:ext cx="10698480" cy="274320"/>
          </a:xfrm>
          <a:prstGeom prst="rect">
            <a:avLst/>
          </a:prstGeom>
          <a:noFill/>
        </p:spPr>
        <p:txBody>
          <a:bodyPr wrap="square" lIns="45720" rIns="45720">
            <a:spAutoFit/>
          </a:bodyPr>
          <a:lstStyle/>
          <a:p>
            <a:pPr algn="l"/>
            <a:r>
              <a:rPr sz="1300" b="1">
                <a:solidFill>
                  <a:srgbClr val="E6EAF0"/>
                </a:solidFill>
                <a:latin typeface="Helvetica Neue"/>
              </a:rPr>
              <a:t>Demo on real Northridge</a:t>
            </a:r>
          </a:p>
        </p:txBody>
      </p:sp>
      <p:sp>
        <p:nvSpPr>
          <p:cNvPr id="23" name="TextBox 22"/>
          <p:cNvSpPr txBox="1"/>
          <p:nvPr/>
        </p:nvSpPr>
        <p:spPr>
          <a:xfrm>
            <a:off x="1005840" y="5239512"/>
            <a:ext cx="10698480" cy="274320"/>
          </a:xfrm>
          <a:prstGeom prst="rect">
            <a:avLst/>
          </a:prstGeom>
          <a:noFill/>
        </p:spPr>
        <p:txBody>
          <a:bodyPr wrap="square" lIns="45720" rIns="45720">
            <a:spAutoFit/>
          </a:bodyPr>
          <a:lstStyle/>
          <a:p>
            <a:pPr algn="l"/>
            <a:r>
              <a:rPr sz="1100" b="0">
                <a:solidFill>
                  <a:srgbClr val="8A95A5"/>
                </a:solidFill>
                <a:latin typeface="Helvetica Neue"/>
              </a:rPr>
              <a:t>Northridge restore takes ~30 min and needs MSSQL container.</a:t>
            </a:r>
          </a:p>
        </p:txBody>
      </p:sp>
      <p:sp>
        <p:nvSpPr>
          <p:cNvPr id="24" name="TextBox 23"/>
          <p:cNvSpPr txBox="1"/>
          <p:nvPr/>
        </p:nvSpPr>
        <p:spPr>
          <a:xfrm>
            <a:off x="1005840" y="5468112"/>
            <a:ext cx="10698480" cy="274320"/>
          </a:xfrm>
          <a:prstGeom prst="rect">
            <a:avLst/>
          </a:prstGeom>
          <a:noFill/>
        </p:spPr>
        <p:txBody>
          <a:bodyPr wrap="square" lIns="45720" rIns="45720">
            <a:spAutoFit/>
          </a:bodyPr>
          <a:lstStyle/>
          <a:p>
            <a:pPr algn="l"/>
            <a:r>
              <a:rPr sz="1100" b="0">
                <a:solidFill>
                  <a:srgbClr val="6EC1FF"/>
                </a:solidFill>
                <a:latin typeface="Helvetica Neue"/>
              </a:rPr>
              <a:t>Cache the restored DB image; ship demo SQLite as primary.</a:t>
            </a:r>
          </a:p>
        </p:txBody>
      </p:sp>
      <p:sp>
        <p:nvSpPr>
          <p:cNvPr id="25" name="TextBox 24"/>
          <p:cNvSpPr txBox="1"/>
          <p:nvPr/>
        </p:nvSpPr>
        <p:spPr>
          <a:xfrm>
            <a:off x="640080" y="5806440"/>
            <a:ext cx="274320" cy="274320"/>
          </a:xfrm>
          <a:prstGeom prst="rect">
            <a:avLst/>
          </a:prstGeom>
          <a:noFill/>
        </p:spPr>
        <p:txBody>
          <a:bodyPr wrap="square" lIns="45720" rIns="45720">
            <a:spAutoFit/>
          </a:bodyPr>
          <a:lstStyle/>
          <a:p>
            <a:pPr algn="l"/>
            <a:r>
              <a:rPr sz="1800" b="1">
                <a:solidFill>
                  <a:srgbClr val="F2B857"/>
                </a:solidFill>
                <a:latin typeface="Helvetica Neue"/>
              </a:rPr>
              <a:t>●</a:t>
            </a:r>
          </a:p>
        </p:txBody>
      </p:sp>
      <p:sp>
        <p:nvSpPr>
          <p:cNvPr id="26" name="TextBox 25"/>
          <p:cNvSpPr txBox="1"/>
          <p:nvPr/>
        </p:nvSpPr>
        <p:spPr>
          <a:xfrm>
            <a:off x="1005840" y="5806440"/>
            <a:ext cx="10698480" cy="274320"/>
          </a:xfrm>
          <a:prstGeom prst="rect">
            <a:avLst/>
          </a:prstGeom>
          <a:noFill/>
        </p:spPr>
        <p:txBody>
          <a:bodyPr wrap="square" lIns="45720" rIns="45720">
            <a:spAutoFit/>
          </a:bodyPr>
          <a:lstStyle/>
          <a:p>
            <a:pPr algn="l"/>
            <a:r>
              <a:rPr sz="1300" b="1">
                <a:solidFill>
                  <a:srgbClr val="E6EAF0"/>
                </a:solidFill>
                <a:latin typeface="Helvetica Neue"/>
              </a:rPr>
              <a:t>CI matrix on real Postgres / MSSQL</a:t>
            </a:r>
          </a:p>
        </p:txBody>
      </p:sp>
      <p:sp>
        <p:nvSpPr>
          <p:cNvPr id="27" name="TextBox 26"/>
          <p:cNvSpPr txBox="1"/>
          <p:nvPr/>
        </p:nvSpPr>
        <p:spPr>
          <a:xfrm>
            <a:off x="1005840" y="6080759"/>
            <a:ext cx="10698480" cy="274320"/>
          </a:xfrm>
          <a:prstGeom prst="rect">
            <a:avLst/>
          </a:prstGeom>
          <a:noFill/>
        </p:spPr>
        <p:txBody>
          <a:bodyPr wrap="square" lIns="45720" rIns="45720">
            <a:spAutoFit/>
          </a:bodyPr>
          <a:lstStyle/>
          <a:p>
            <a:pPr algn="l"/>
            <a:r>
              <a:rPr sz="1100" b="0">
                <a:solidFill>
                  <a:srgbClr val="8A95A5"/>
                </a:solidFill>
                <a:latin typeface="Helvetica Neue"/>
              </a:rPr>
              <a:t>All current tests run on SQLite; native UUID/JSONB paths unverified.</a:t>
            </a:r>
          </a:p>
        </p:txBody>
      </p:sp>
      <p:sp>
        <p:nvSpPr>
          <p:cNvPr id="28" name="TextBox 27"/>
          <p:cNvSpPr txBox="1"/>
          <p:nvPr/>
        </p:nvSpPr>
        <p:spPr>
          <a:xfrm>
            <a:off x="1005840" y="6309359"/>
            <a:ext cx="10698480" cy="274320"/>
          </a:xfrm>
          <a:prstGeom prst="rect">
            <a:avLst/>
          </a:prstGeom>
          <a:noFill/>
        </p:spPr>
        <p:txBody>
          <a:bodyPr wrap="square" lIns="45720" rIns="45720">
            <a:spAutoFit/>
          </a:bodyPr>
          <a:lstStyle/>
          <a:p>
            <a:pPr algn="l"/>
            <a:r>
              <a:rPr sz="1100" b="0">
                <a:solidFill>
                  <a:srgbClr val="6EC1FF"/>
                </a:solidFill>
                <a:latin typeface="Helvetica Neue"/>
              </a:rPr>
              <a:t>GitHub Actions matrix in Wed/Thu work.</a:t>
            </a:r>
          </a:p>
        </p:txBody>
      </p:sp>
      <p:sp>
        <p:nvSpPr>
          <p:cNvPr id="29" name="TextBox 28"/>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Section 4 · Risks</a:t>
            </a:r>
          </a:p>
        </p:txBody>
      </p:sp>
      <p:sp>
        <p:nvSpPr>
          <p:cNvPr id="30" name="TextBox 29"/>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Two H-severity flags must clear before demo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1280160"/>
            <a:ext cx="10698480" cy="548640"/>
          </a:xfrm>
          <a:prstGeom prst="rect">
            <a:avLst/>
          </a:prstGeom>
          <a:noFill/>
        </p:spPr>
        <p:txBody>
          <a:bodyPr wrap="square" lIns="45720" rIns="45720">
            <a:spAutoFit/>
          </a:bodyPr>
          <a:lstStyle/>
          <a:p>
            <a:pPr algn="l"/>
            <a:r>
              <a:rPr sz="2200" b="1">
                <a:solidFill>
                  <a:srgbClr val="6EC1FF"/>
                </a:solidFill>
                <a:latin typeface="Helvetica Neue"/>
              </a:rPr>
              <a:t>What we have</a:t>
            </a:r>
          </a:p>
        </p:txBody>
      </p:sp>
      <p:sp>
        <p:nvSpPr>
          <p:cNvPr id="3" name="TextBox 2"/>
          <p:cNvSpPr txBox="1"/>
          <p:nvPr/>
        </p:nvSpPr>
        <p:spPr>
          <a:xfrm>
            <a:off x="731520" y="1828800"/>
            <a:ext cx="10698480" cy="2286000"/>
          </a:xfrm>
          <a:prstGeom prst="rect">
            <a:avLst/>
          </a:prstGeom>
          <a:noFill/>
        </p:spPr>
        <p:txBody>
          <a:bodyPr wrap="square">
            <a:spAutoFit/>
          </a:bodyPr>
          <a:lstStyle/>
          <a:p>
            <a:pPr algn="l">
              <a:spcAft>
                <a:spcPts val="400"/>
              </a:spcAft>
            </a:pPr>
            <a:r>
              <a:rPr sz="1400">
                <a:solidFill>
                  <a:srgbClr val="E6EAF0"/>
                </a:solidFill>
                <a:latin typeface="Helvetica Neue"/>
              </a:rPr>
              <a:t>• End-to-end NL → SQL pipeline on Ed-Fi (live, cached, multi-provider)</a:t>
            </a:r>
          </a:p>
          <a:p>
            <a:pPr algn="l">
              <a:spcAft>
                <a:spcPts val="400"/>
              </a:spcAft>
            </a:pPr>
            <a:r>
              <a:rPr sz="1400">
                <a:solidFill>
                  <a:srgbClr val="E6EAF0"/>
                </a:solidFill>
                <a:latin typeface="Helvetica Neue"/>
              </a:rPr>
              <a:t>• Graph layer: ~1900 FK edges, APSP in &lt;100ms, Steiner sub-50ms</a:t>
            </a:r>
          </a:p>
          <a:p>
            <a:pPr algn="l">
              <a:spcAft>
                <a:spcPts val="400"/>
              </a:spcAft>
            </a:pPr>
            <a:r>
              <a:rPr sz="1400">
                <a:solidFill>
                  <a:srgbClr val="E6EAF0"/>
                </a:solidFill>
                <a:latin typeface="Helvetica Neue"/>
              </a:rPr>
              <a:t>• Semantic layer: per-table embeddings + cluster routing + entity resolve</a:t>
            </a:r>
          </a:p>
          <a:p>
            <a:pPr algn="l">
              <a:spcAft>
                <a:spcPts val="400"/>
              </a:spcAft>
            </a:pPr>
            <a:r>
              <a:rPr sz="1400">
                <a:solidFill>
                  <a:srgbClr val="E6EAF0"/>
                </a:solidFill>
                <a:latin typeface="Helvetica Neue"/>
              </a:rPr>
              <a:t>• Multi-dialect (MSSQL/PG/SQLite) for both target_db and metadata_db</a:t>
            </a:r>
          </a:p>
          <a:p>
            <a:pPr algn="l">
              <a:spcAft>
                <a:spcPts val="400"/>
              </a:spcAft>
            </a:pPr>
            <a:r>
              <a:rPr sz="1400">
                <a:solidFill>
                  <a:srgbClr val="E6EAF0"/>
                </a:solidFill>
                <a:latin typeface="Helvetica Neue"/>
              </a:rPr>
              <a:t>• Per-provider artifact isolation; UI for provider switching</a:t>
            </a:r>
          </a:p>
          <a:p>
            <a:pPr algn="l">
              <a:spcAft>
                <a:spcPts val="400"/>
              </a:spcAft>
            </a:pPr>
            <a:r>
              <a:rPr sz="1400">
                <a:solidFill>
                  <a:srgbClr val="E6EAF0"/>
                </a:solidFill>
                <a:latin typeface="Helvetica Neue"/>
              </a:rPr>
              <a:t>• Bootable from empty repo with onboarding banner + Rebuild orchestrator</a:t>
            </a:r>
          </a:p>
          <a:p>
            <a:pPr algn="l">
              <a:spcAft>
                <a:spcPts val="400"/>
              </a:spcAft>
            </a:pPr>
            <a:r>
              <a:rPr sz="1400">
                <a:solidFill>
                  <a:srgbClr val="E6EAF0"/>
                </a:solidFill>
                <a:latin typeface="Helvetica Neue"/>
              </a:rPr>
              <a:t>• 215 tests passing; Windows-clean (utf-8 + reflection-aware catalog)</a:t>
            </a:r>
          </a:p>
        </p:txBody>
      </p:sp>
      <p:sp>
        <p:nvSpPr>
          <p:cNvPr id="4" name="TextBox 3"/>
          <p:cNvSpPr txBox="1"/>
          <p:nvPr/>
        </p:nvSpPr>
        <p:spPr>
          <a:xfrm>
            <a:off x="731520" y="4114800"/>
            <a:ext cx="10698480" cy="548640"/>
          </a:xfrm>
          <a:prstGeom prst="rect">
            <a:avLst/>
          </a:prstGeom>
          <a:noFill/>
        </p:spPr>
        <p:txBody>
          <a:bodyPr wrap="square" lIns="45720" rIns="45720">
            <a:spAutoFit/>
          </a:bodyPr>
          <a:lstStyle/>
          <a:p>
            <a:pPr algn="l"/>
            <a:r>
              <a:rPr sz="2200" b="1">
                <a:solidFill>
                  <a:srgbClr val="F2B857"/>
                </a:solidFill>
                <a:latin typeface="Helvetica Neue"/>
              </a:rPr>
              <a:t>What lands by Fri May 8</a:t>
            </a:r>
          </a:p>
        </p:txBody>
      </p:sp>
      <p:sp>
        <p:nvSpPr>
          <p:cNvPr id="5" name="TextBox 4"/>
          <p:cNvSpPr txBox="1"/>
          <p:nvPr/>
        </p:nvSpPr>
        <p:spPr>
          <a:xfrm>
            <a:off x="731520" y="4617720"/>
            <a:ext cx="10698480" cy="1828800"/>
          </a:xfrm>
          <a:prstGeom prst="rect">
            <a:avLst/>
          </a:prstGeom>
          <a:noFill/>
        </p:spPr>
        <p:txBody>
          <a:bodyPr wrap="square">
            <a:spAutoFit/>
          </a:bodyPr>
          <a:lstStyle/>
          <a:p>
            <a:pPr algn="l">
              <a:spcAft>
                <a:spcPts val="400"/>
              </a:spcAft>
            </a:pPr>
            <a:r>
              <a:rPr sz="1400">
                <a:solidFill>
                  <a:srgbClr val="E6EAF0"/>
                </a:solidFill>
                <a:latin typeface="Helvetica Neue"/>
              </a:rPr>
              <a:t>• Auto sub-clustering (Leiden + LLM auto-naming)</a:t>
            </a:r>
          </a:p>
          <a:p>
            <a:pPr algn="l">
              <a:spcAft>
                <a:spcPts val="400"/>
              </a:spcAft>
            </a:pPr>
            <a:r>
              <a:rPr sz="1400">
                <a:solidFill>
                  <a:srgbClr val="E6EAF0"/>
                </a:solidFill>
                <a:latin typeface="Helvetica Neue"/>
              </a:rPr>
              <a:t>• Demo SQLite with real Ed-Fi-shaped data</a:t>
            </a:r>
          </a:p>
          <a:p>
            <a:pPr algn="l">
              <a:spcAft>
                <a:spcPts val="400"/>
              </a:spcAft>
            </a:pPr>
            <a:r>
              <a:rPr sz="1400">
                <a:solidFill>
                  <a:srgbClr val="E6EAF0"/>
                </a:solidFill>
                <a:latin typeface="Helvetica Neue"/>
              </a:rPr>
              <a:t>• 30 more gold queries + nightly CI eval gate</a:t>
            </a:r>
          </a:p>
          <a:p>
            <a:pPr algn="l">
              <a:spcAft>
                <a:spcPts val="400"/>
              </a:spcAft>
            </a:pPr>
            <a:r>
              <a:rPr sz="1400">
                <a:solidFill>
                  <a:srgbClr val="E6EAF0"/>
                </a:solidFill>
                <a:latin typeface="Helvetica Neue"/>
              </a:rPr>
              <a:t>• Reviewer H1 + H2 fixes (legacy migration, password leak)</a:t>
            </a:r>
          </a:p>
          <a:p>
            <a:pPr algn="l">
              <a:spcAft>
                <a:spcPts val="400"/>
              </a:spcAft>
            </a:pPr>
            <a:r>
              <a:rPr sz="1400">
                <a:solidFill>
                  <a:srgbClr val="E6EAF0"/>
                </a:solidFill>
                <a:latin typeface="Helvetica Neue"/>
              </a:rPr>
              <a:t>• Cluster Manager + Eval Dashboard pages</a:t>
            </a:r>
          </a:p>
          <a:p>
            <a:pPr algn="l">
              <a:spcAft>
                <a:spcPts val="400"/>
              </a:spcAft>
            </a:pPr>
            <a:r>
              <a:rPr sz="1400">
                <a:solidFill>
                  <a:srgbClr val="E6EAF0"/>
                </a:solidFill>
                <a:latin typeface="Helvetica Neue"/>
              </a:rPr>
              <a:t>• k8s manifests; provider × consumer matrix CI</a:t>
            </a:r>
          </a:p>
          <a:p>
            <a:pPr algn="l">
              <a:spcAft>
                <a:spcPts val="400"/>
              </a:spcAft>
            </a:pPr>
            <a:r>
              <a:rPr sz="1400">
                <a:solidFill>
                  <a:srgbClr val="E6EAF0"/>
                </a:solidFill>
                <a:latin typeface="Helvetica Neue"/>
              </a:rPr>
              <a:t>• Recorded demo on a clean Windows machine</a:t>
            </a:r>
          </a:p>
        </p:txBody>
      </p:sp>
      <p:sp>
        <p:nvSpPr>
          <p:cNvPr id="6" name="TextBox 5"/>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Wrap</a:t>
            </a:r>
          </a:p>
        </p:txBody>
      </p:sp>
      <p:sp>
        <p:nvSpPr>
          <p:cNvPr id="7" name="TextBox 6"/>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