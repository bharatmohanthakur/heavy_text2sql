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the room: this is a status update, not a final review. Two big technical pieces are done — the semantic schema layer and the foreign-key graph. Those are the foundation everything else sits on. Today I'll show what each is, what it unlocks, and the concrete plan to demo by Friday May 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in the user pain. Most Ed-Fi work today goes through a small handful of people who can write SQL against the model. We're widening that bottleneck — not by training more SQL writers but by automating the translation from English.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single slide is the headline. The two foundational pieces are done — the parts that take longest to get right because they involve schema modeling and embeddings. Everything else is integration: hooking those pieces together, polishing the UX, and verifying accuracy. That's why a 7-working-day plan is realistic.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top-to-bottom. Pause on the Semantic Schema and Foreign-Key Graph rows — those are this deck's protagonists. The bottom rows are next-week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we just gave the LLM 1,048 tables and asked it to pick, accuracy would collapse and cost would explode. The semantic layer is the search index that fixes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of the 1,048 tables has this kind of profile, captured at build time. The profile is then turned into a numerical fingerprint (an embedding) that the platform can match against any incoming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Two-stage search. Without it, accuracy on 1,048 tables drops below useful. With it, we routinely route to the correct 3–8 tables for an Ed-Fi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layer that turns 'plain English' into 'database-correct'. Without it, questions like 'last year', 'Grade 9', or 'free-and-reduced lunch' would never land on the right rows.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semantic gives us 'these 5 tables', graph tells us 'this is the cheapest, most natural way to connect them'. Without it, even an LLM that knows Ed-Fi well would burn time guessing join paths.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ideas to leave the room with: the graph is small (10 MB) and fast (millisecond responses), and the weighting biases it to keep joins inside the natural Ed-Fi boundaries — which is also what a senior analyst would do by hand.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Don't dwell on KMB by name. The takeaway is: this is solved, fast, and we have fallbacks so the platform never freezes on an unusual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workstream produces a tangible thing the client can see at the demo. The order is dependency-driven: pipeline depends on graph + semantic; UI depends on pipeline; hardening goes last.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Front-loaded the pipeline because it unblocks UI and eval. Auto-grouping is a spike — if it doesn't tune well, we ship per-domain routing for v0.8 and revisit.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We're not promising perfection by Friday. We are promising a working end-to-end demo on a clean machine, with the foundation already proven. The flagged security items are scoped fixes, not unknowns.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the demo. The 7 specific things on this slide are what you'll watch. Each bullet is gated on a workstream above. We sequence them so even if Friday ends with the last item half-baked, the first six are still demo-ready.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920240"/>
            <a:ext cx="10698480" cy="914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600" b="1">
                <a:solidFill>
                  <a:srgbClr val="6EC1FF"/>
                </a:solidFill>
                <a:latin typeface="Helvetica Neue"/>
              </a:rPr>
              <a:t>Ed-Fi Text-to-SQL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880360"/>
            <a:ext cx="1069848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200" b="0">
                <a:solidFill>
                  <a:srgbClr val="E6EAF0"/>
                </a:solidFill>
                <a:latin typeface="Helvetica Neue"/>
              </a:rPr>
              <a:t>Ask questions of your school data in plain English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520440"/>
            <a:ext cx="1069848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0">
                <a:solidFill>
                  <a:srgbClr val="8A95A5"/>
                </a:solidFill>
                <a:latin typeface="Helvetica Neue"/>
              </a:rPr>
              <a:t>Progress update — foundation delivered, integration ahead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0">
                <a:solidFill>
                  <a:srgbClr val="8A95A5"/>
                </a:solidFill>
                <a:latin typeface="Helvetica Neue"/>
              </a:rPr>
              <a:t>Apr 30, 2026  ·  client review  ·  target demo Fri May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200" b="1">
                <a:solidFill>
                  <a:srgbClr val="6EC1FF"/>
                </a:solidFill>
                <a:latin typeface="Helvetica Neue"/>
              </a:rPr>
              <a:t>The problem we're solving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8A95A5"/>
                </a:solidFill>
                <a:latin typeface="Helvetica Neue"/>
              </a:rPr>
              <a:t>An analyst asks a question. The platform answers with data.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11247120" cy="1920240"/>
          </a:xfrm>
          <a:prstGeom prst="roundRect">
            <a:avLst/>
          </a:prstGeom>
          <a:solidFill>
            <a:srgbClr val="1A212A"/>
          </a:solidFill>
          <a:ln w="9525">
            <a:solidFill>
              <a:srgbClr val="2A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F2B857"/>
                </a:solidFill>
                <a:latin typeface="Helvetica Neue"/>
              </a:rPr>
              <a:t>Today, in any Ed-Fi-shaped database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>
                <a:solidFill>
                  <a:srgbClr val="E6EAF0"/>
                </a:solidFill>
                <a:latin typeface="Helvetica Neue"/>
              </a:rPr>
              <a:t>• 1,048 tables · ~10,000 columns · hundreds of foreign keys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E6EAF0"/>
                </a:solidFill>
                <a:latin typeface="Helvetica Neue"/>
              </a:rPr>
              <a:t>• An analyst with a question must (a) know which tables to join, (b) write the SQL, (c) execute it, (d) read it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E6EAF0"/>
                </a:solidFill>
                <a:latin typeface="Helvetica Neue"/>
              </a:rPr>
              <a:t>• End-to-end this is hours of work for a senior engineer — and impossible for a non-engineer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566160"/>
            <a:ext cx="11247120" cy="2651760"/>
          </a:xfrm>
          <a:prstGeom prst="roundRect">
            <a:avLst/>
          </a:prstGeom>
          <a:solidFill>
            <a:srgbClr val="1A212A"/>
          </a:solidFill>
          <a:ln w="9525">
            <a:solidFill>
              <a:srgbClr val="2A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657600"/>
            <a:ext cx="1088136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4AD09C"/>
                </a:solidFill>
                <a:latin typeface="Helvetica Neue"/>
              </a:rPr>
              <a:t>What we're building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023360"/>
            <a:ext cx="108813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>
                <a:solidFill>
                  <a:srgbClr val="E6EAF0"/>
                </a:solidFill>
                <a:latin typeface="Helvetica Neue"/>
              </a:rPr>
              <a:t>• Type a question in English  →  receive correct SQL, the rows it returns, a chart, and a written summary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E6EAF0"/>
                </a:solidFill>
                <a:latin typeface="Helvetica Neue"/>
              </a:rPr>
              <a:t>• Works on any Ed-Fi database (Postgres / MSSQL / SQLite) without changing the database itself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E6EAF0"/>
                </a:solidFill>
                <a:latin typeface="Helvetica Neue"/>
              </a:rPr>
              <a:t>• Cites the tables it used so an engineer can verify the answer in seconds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E6EAF0"/>
                </a:solidFill>
                <a:latin typeface="Helvetica Neue"/>
              </a:rPr>
              <a:t>• Learns from approved queries — the more it's used, the better it gets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8A95A5"/>
                </a:solidFill>
                <a:latin typeface="Helvetica Neue"/>
              </a:rPr>
              <a:t>Why this project · Section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6446520"/>
            <a:ext cx="393192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8A95A5"/>
                </a:solidFill>
                <a:latin typeface="Helvetica Neue"/>
              </a:rPr>
              <a:t/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200" b="1">
                <a:solidFill>
                  <a:srgbClr val="6EC1FF"/>
                </a:solidFill>
                <a:latin typeface="Helvetica Neue"/>
              </a:rPr>
              <a:t>Status: foundation built, integration ahead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8A95A5"/>
                </a:solidFill>
                <a:latin typeface="Helvetica Neue"/>
              </a:rPr>
              <a:t>Two of seven workstreams complete; remaining five planned for the next 7 working days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11247120" cy="4754880"/>
          </a:xfrm>
          <a:prstGeom prst="roundRect">
            <a:avLst/>
          </a:prstGeom>
          <a:solidFill>
            <a:srgbClr val="1A212A"/>
          </a:solidFill>
          <a:ln w="9525">
            <a:solidFill>
              <a:srgbClr val="2A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36576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E6EAF0"/>
                </a:solidFill>
                <a:latin typeface="Helvetica Neue"/>
              </a:rPr>
              <a:t>Foreign-Key Graph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26280" y="1618488"/>
            <a:ext cx="1097280" cy="292608"/>
          </a:xfrm>
          <a:prstGeom prst="roundRect">
            <a:avLst/>
          </a:prstGeom>
          <a:solidFill>
            <a:srgbClr val="4AD0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26280" y="1618488"/>
            <a:ext cx="1097280" cy="292608"/>
          </a:xfrm>
          <a:prstGeom prst="rect">
            <a:avLst/>
          </a:prstGeom>
          <a:noFill/>
        </p:spPr>
        <p:txBody>
          <a:bodyPr wrap="none" lIns="0" rIns="0" tIns="36576">
            <a:spAutoFit/>
          </a:bodyPr>
          <a:lstStyle/>
          <a:p>
            <a:pPr algn="ctr"/>
            <a:r>
              <a:rPr sz="1000" b="1">
                <a:solidFill>
                  <a:srgbClr val="0F141A"/>
                </a:solidFill>
                <a:latin typeface="Helvetica Neue"/>
              </a:rPr>
              <a:t>Done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1618488"/>
            <a:ext cx="58521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8A95A5"/>
                </a:solidFill>
                <a:latin typeface="Helvetica Neue"/>
              </a:rPr>
              <a:t>Maps how every Ed-Fi table connects to every other; computes the cheapest joins.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58568"/>
            <a:ext cx="36576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E6EAF0"/>
                </a:solidFill>
                <a:latin typeface="Helvetica Neue"/>
              </a:rPr>
              <a:t>Semantic Schema Layer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26280" y="2276856"/>
            <a:ext cx="1097280" cy="292608"/>
          </a:xfrm>
          <a:prstGeom prst="roundRect">
            <a:avLst/>
          </a:prstGeom>
          <a:solidFill>
            <a:srgbClr val="4AD0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2276856"/>
            <a:ext cx="1097280" cy="292608"/>
          </a:xfrm>
          <a:prstGeom prst="rect">
            <a:avLst/>
          </a:prstGeom>
          <a:noFill/>
        </p:spPr>
        <p:txBody>
          <a:bodyPr wrap="none" lIns="0" rIns="0" tIns="36576">
            <a:spAutoFit/>
          </a:bodyPr>
          <a:lstStyle/>
          <a:p>
            <a:pPr algn="ctr"/>
            <a:r>
              <a:rPr sz="1000" b="1">
                <a:solidFill>
                  <a:srgbClr val="0F141A"/>
                </a:solidFill>
                <a:latin typeface="Helvetica Neue"/>
              </a:rPr>
              <a:t>Done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2276856"/>
            <a:ext cx="58521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8A95A5"/>
                </a:solidFill>
                <a:latin typeface="Helvetica Neue"/>
              </a:rPr>
              <a:t>Embeds each table's meaning so questions can find the right tables.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16935"/>
            <a:ext cx="36576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E6EAF0"/>
                </a:solidFill>
                <a:latin typeface="Helvetica Neue"/>
              </a:rPr>
              <a:t>Question → SQL pipeline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26280" y="2935223"/>
            <a:ext cx="1097280" cy="292608"/>
          </a:xfrm>
          <a:prstGeom prst="roundRect">
            <a:avLst/>
          </a:prstGeom>
          <a:solidFill>
            <a:srgbClr val="F2B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2935223"/>
            <a:ext cx="1097280" cy="292608"/>
          </a:xfrm>
          <a:prstGeom prst="rect">
            <a:avLst/>
          </a:prstGeom>
          <a:noFill/>
        </p:spPr>
        <p:txBody>
          <a:bodyPr wrap="none" lIns="0" rIns="0" tIns="36576">
            <a:spAutoFit/>
          </a:bodyPr>
          <a:lstStyle/>
          <a:p>
            <a:pPr algn="ctr"/>
            <a:r>
              <a:rPr sz="1000" b="1">
                <a:solidFill>
                  <a:srgbClr val="0F141A"/>
                </a:solidFill>
                <a:latin typeface="Helvetica Neue"/>
              </a:rPr>
              <a:t>Next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2935223"/>
            <a:ext cx="58521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8A95A5"/>
                </a:solidFill>
                <a:latin typeface="Helvetica Neue"/>
              </a:rPr>
              <a:t>Wire graph + semantics into a routed, validated SQL generator with auto-repair.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575303"/>
            <a:ext cx="36576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E6EAF0"/>
                </a:solidFill>
                <a:latin typeface="Helvetica Neue"/>
              </a:rPr>
              <a:t>Validation &amp; Repair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26280" y="3593591"/>
            <a:ext cx="1097280" cy="292608"/>
          </a:xfrm>
          <a:prstGeom prst="roundRect">
            <a:avLst/>
          </a:prstGeom>
          <a:solidFill>
            <a:srgbClr val="F2B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6280" y="3593591"/>
            <a:ext cx="1097280" cy="292608"/>
          </a:xfrm>
          <a:prstGeom prst="rect">
            <a:avLst/>
          </a:prstGeom>
          <a:noFill/>
        </p:spPr>
        <p:txBody>
          <a:bodyPr wrap="none" lIns="0" rIns="0" tIns="36576">
            <a:spAutoFit/>
          </a:bodyPr>
          <a:lstStyle/>
          <a:p>
            <a:pPr algn="ctr"/>
            <a:r>
              <a:rPr sz="1000" b="1">
                <a:solidFill>
                  <a:srgbClr val="0F141A"/>
                </a:solidFill>
                <a:latin typeface="Helvetica Neue"/>
              </a:rPr>
              <a:t>Next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0" y="3593591"/>
            <a:ext cx="58521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8A95A5"/>
                </a:solidFill>
                <a:latin typeface="Helvetica Neue"/>
              </a:rPr>
              <a:t>Catch bad SQL before execution; auto-fix the common failure modes.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233671"/>
            <a:ext cx="36576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E6EAF0"/>
                </a:solidFill>
                <a:latin typeface="Helvetica Neue"/>
              </a:rPr>
              <a:t>Charts &amp; Descriptions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26280" y="4251959"/>
            <a:ext cx="1097280" cy="292608"/>
          </a:xfrm>
          <a:prstGeom prst="roundRect">
            <a:avLst/>
          </a:prstGeom>
          <a:solidFill>
            <a:srgbClr val="F2B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4251959"/>
            <a:ext cx="1097280" cy="292608"/>
          </a:xfrm>
          <a:prstGeom prst="rect">
            <a:avLst/>
          </a:prstGeom>
          <a:noFill/>
        </p:spPr>
        <p:txBody>
          <a:bodyPr wrap="none" lIns="0" rIns="0" tIns="36576">
            <a:spAutoFit/>
          </a:bodyPr>
          <a:lstStyle/>
          <a:p>
            <a:pPr algn="ctr"/>
            <a:r>
              <a:rPr sz="1000" b="1">
                <a:solidFill>
                  <a:srgbClr val="0F141A"/>
                </a:solidFill>
                <a:latin typeface="Helvetica Neue"/>
              </a:rPr>
              <a:t>Next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60" y="4251959"/>
            <a:ext cx="58521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8A95A5"/>
                </a:solidFill>
                <a:latin typeface="Helvetica Neue"/>
              </a:rPr>
              <a:t>Pick the right visualization automatically; explain the answer in English.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892039"/>
            <a:ext cx="36576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E6EAF0"/>
                </a:solidFill>
                <a:latin typeface="Helvetica Neue"/>
              </a:rPr>
              <a:t>Web UI · Settings · Eval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26280" y="4910327"/>
            <a:ext cx="1097280" cy="292608"/>
          </a:xfrm>
          <a:prstGeom prst="roundRect">
            <a:avLst/>
          </a:prstGeom>
          <a:solidFill>
            <a:srgbClr val="F2B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26280" y="4910327"/>
            <a:ext cx="1097280" cy="292608"/>
          </a:xfrm>
          <a:prstGeom prst="rect">
            <a:avLst/>
          </a:prstGeom>
          <a:noFill/>
        </p:spPr>
        <p:txBody>
          <a:bodyPr wrap="none" lIns="0" rIns="0" tIns="36576">
            <a:spAutoFit/>
          </a:bodyPr>
          <a:lstStyle/>
          <a:p>
            <a:pPr algn="ctr"/>
            <a:r>
              <a:rPr sz="1000" b="1">
                <a:solidFill>
                  <a:srgbClr val="0F141A"/>
                </a:solidFill>
                <a:latin typeface="Helvetica Neue"/>
              </a:rPr>
              <a:t>Next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52160" y="4910327"/>
            <a:ext cx="58521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8A95A5"/>
                </a:solidFill>
                <a:latin typeface="Helvetica Neue"/>
              </a:rPr>
              <a:t>Browser experience, operator controls, accuracy dashboards.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550407"/>
            <a:ext cx="36576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E6EAF0"/>
                </a:solidFill>
                <a:latin typeface="Helvetica Neue"/>
              </a:rPr>
              <a:t>Hardening &amp; Demo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26280" y="5568695"/>
            <a:ext cx="1097280" cy="292608"/>
          </a:xfrm>
          <a:prstGeom prst="roundRect">
            <a:avLst/>
          </a:prstGeom>
          <a:solidFill>
            <a:srgbClr val="F2B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26280" y="5568695"/>
            <a:ext cx="1097280" cy="292608"/>
          </a:xfrm>
          <a:prstGeom prst="rect">
            <a:avLst/>
          </a:prstGeom>
          <a:noFill/>
        </p:spPr>
        <p:txBody>
          <a:bodyPr wrap="none" lIns="0" rIns="0" tIns="36576">
            <a:spAutoFit/>
          </a:bodyPr>
          <a:lstStyle/>
          <a:p>
            <a:pPr algn="ctr"/>
            <a:r>
              <a:rPr sz="1000" b="1">
                <a:solidFill>
                  <a:srgbClr val="0F141A"/>
                </a:solidFill>
                <a:latin typeface="Helvetica Neue"/>
              </a:rPr>
              <a:t>Next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52160" y="5568695"/>
            <a:ext cx="58521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8A95A5"/>
                </a:solidFill>
                <a:latin typeface="Helvetica Neue"/>
              </a:rPr>
              <a:t>Multi-provider polish, observability, recorded demo on a clean machine.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8A95A5"/>
                </a:solidFill>
                <a:latin typeface="Helvetica Neue"/>
              </a:rPr>
              <a:t>Status snapshot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6446520"/>
            <a:ext cx="393192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8A95A5"/>
                </a:solidFill>
                <a:latin typeface="Helvetica Neue"/>
              </a:rPr>
              <a:t>Two of seven complete · 7 working days to demo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200" b="1">
                <a:solidFill>
                  <a:srgbClr val="6EC1FF"/>
                </a:solidFill>
                <a:latin typeface="Helvetica Neue"/>
              </a:rPr>
              <a:t>The big picture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8A95A5"/>
                </a:solidFill>
                <a:latin typeface="Helvetica Neue"/>
              </a:rPr>
              <a:t>How a question becomes an answer · two layers carry 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11247120" cy="868680"/>
          </a:xfrm>
          <a:prstGeom prst="roundRect">
            <a:avLst/>
          </a:prstGeom>
          <a:solidFill>
            <a:srgbClr val="1A212A"/>
          </a:solidFill>
          <a:ln w="9525">
            <a:solidFill>
              <a:srgbClr val="2A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24688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8A95A5"/>
                </a:solidFill>
                <a:latin typeface="Helvetica Neue"/>
              </a:rPr>
              <a:t>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1554480"/>
            <a:ext cx="84124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E6EAF0"/>
                </a:solidFill>
                <a:latin typeface="Helvetica Neue"/>
              </a:rPr>
              <a:t>• Analyst types: 'How many Hispanic students enrolled in Grade 9 last year?'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468880"/>
            <a:ext cx="11247120" cy="868680"/>
          </a:xfrm>
          <a:prstGeom prst="roundRect">
            <a:avLst/>
          </a:prstGeom>
          <a:solidFill>
            <a:srgbClr val="1A212A"/>
          </a:solidFill>
          <a:ln w="9525">
            <a:solidFill>
              <a:srgbClr val="2A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24688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4AD09C"/>
                </a:solidFill>
                <a:latin typeface="Helvetica Neue"/>
              </a:rPr>
              <a:t>Semantic Schema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2560320"/>
            <a:ext cx="84124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E6EAF0"/>
                </a:solidFill>
                <a:latin typeface="Helvetica Neue"/>
              </a:rPr>
              <a:t>• Finds the small set of tables that matter — out of 1,048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2852928"/>
            <a:ext cx="84124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E6EAF0"/>
                </a:solidFill>
                <a:latin typeface="Helvetica Neue"/>
              </a:rPr>
              <a:t>• Resolves real-world terms (e.g. 'Hispanic') to the right code in the right table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474720"/>
            <a:ext cx="11247120" cy="868680"/>
          </a:xfrm>
          <a:prstGeom prst="roundRect">
            <a:avLst/>
          </a:prstGeom>
          <a:solidFill>
            <a:srgbClr val="1A212A"/>
          </a:solidFill>
          <a:ln w="9525">
            <a:solidFill>
              <a:srgbClr val="2A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566160"/>
            <a:ext cx="24688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4AD09C"/>
                </a:solidFill>
                <a:latin typeface="Helvetica Neue"/>
              </a:rPr>
              <a:t>Foreign-Key Graph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3566160"/>
            <a:ext cx="84124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E6EAF0"/>
                </a:solidFill>
                <a:latin typeface="Helvetica Neue"/>
              </a:rPr>
              <a:t>• Computes the cheapest join path between those tables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3858768"/>
            <a:ext cx="84124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E6EAF0"/>
                </a:solidFill>
                <a:latin typeface="Helvetica Neue"/>
              </a:rPr>
              <a:t>• Hands the SQL generator ready-to-use JOIN clauses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480560"/>
            <a:ext cx="11247120" cy="868680"/>
          </a:xfrm>
          <a:prstGeom prst="roundRect">
            <a:avLst/>
          </a:prstGeom>
          <a:solidFill>
            <a:srgbClr val="1A212A"/>
          </a:solidFill>
          <a:ln w="9525">
            <a:solidFill>
              <a:srgbClr val="2A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572000"/>
            <a:ext cx="24688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F2B857"/>
                </a:solidFill>
                <a:latin typeface="Helvetica Neue"/>
              </a:rPr>
              <a:t>SQL · Validate · Run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08960" y="4572000"/>
            <a:ext cx="84124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E6EAF0"/>
                </a:solidFill>
                <a:latin typeface="Helvetica Neue"/>
              </a:rPr>
              <a:t>• LLM writes SQL grounded in real columns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4864608"/>
            <a:ext cx="84124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E6EAF0"/>
                </a:solidFill>
                <a:latin typeface="Helvetica Neue"/>
              </a:rPr>
              <a:t>• Validator catches errors; repair loop fixes them; engine executes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486400"/>
            <a:ext cx="11247120" cy="868680"/>
          </a:xfrm>
          <a:prstGeom prst="roundRect">
            <a:avLst/>
          </a:prstGeom>
          <a:solidFill>
            <a:srgbClr val="1A212A"/>
          </a:solidFill>
          <a:ln w="9525">
            <a:solidFill>
              <a:srgbClr val="2A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577840"/>
            <a:ext cx="24688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F2B857"/>
                </a:solidFill>
                <a:latin typeface="Helvetica Neue"/>
              </a:rPr>
              <a:t>Answer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5577840"/>
            <a:ext cx="84124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E6EAF0"/>
                </a:solidFill>
                <a:latin typeface="Helvetica Neue"/>
              </a:rPr>
              <a:t>• Rows + auto-picked chart + plain-English summary, with the tables cited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8A95A5"/>
                </a:solidFill>
                <a:latin typeface="Helvetica Neue"/>
              </a:rPr>
              <a:t>Green = built today  ·  Amber = next 7 working days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8A95A5"/>
                </a:solidFill>
                <a:latin typeface="Helvetica Neue"/>
              </a:rPr>
              <a:t>What's built · 1 of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88920"/>
            <a:ext cx="10698480" cy="914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400" b="1">
                <a:solidFill>
                  <a:srgbClr val="4AD09C"/>
                </a:solidFill>
                <a:latin typeface="Helvetica Neue"/>
              </a:rPr>
              <a:t>The Semantic Schema Layer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703320"/>
            <a:ext cx="1069848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E6EAF0"/>
                </a:solidFill>
                <a:latin typeface="Helvetica Neue"/>
              </a:rPr>
              <a:t>How the platform finds the right tables for an English question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200" b="1">
                <a:solidFill>
                  <a:srgbClr val="6EC1FF"/>
                </a:solidFill>
                <a:latin typeface="Helvetica Neue"/>
              </a:rPr>
              <a:t>What we know about each table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8A95A5"/>
                </a:solidFill>
                <a:latin typeface="Helvetica Neue"/>
              </a:rPr>
              <a:t>Captured once at build time; queried millions of times after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6766560" cy="4937760"/>
          </a:xfrm>
          <a:prstGeom prst="roundRect">
            <a:avLst/>
          </a:prstGeom>
          <a:solidFill>
            <a:srgbClr val="1A212A"/>
          </a:solidFill>
          <a:ln w="9525">
            <a:solidFill>
              <a:srgbClr val="2A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27632"/>
            <a:ext cx="64008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6EC1FF"/>
                </a:solidFill>
                <a:latin typeface="Helvetica Neue"/>
              </a:rPr>
              <a:t>Table:  edfi.StudentSchoolAssociation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65376"/>
            <a:ext cx="64008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6EC1FF"/>
                </a:solidFill>
                <a:latin typeface="Helvetica Neue"/>
              </a:rPr>
              <a:t>Domains:  Student · Enrollment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64008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8A95A5"/>
                </a:solidFill>
                <a:latin typeface="Helvetica Neue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40863"/>
            <a:ext cx="64008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6EC1FF"/>
                </a:solidFill>
                <a:latin typeface="Helvetica Neue"/>
              </a:rPr>
              <a:t>Description: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78607"/>
            <a:ext cx="64008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E6EAF0"/>
                </a:solidFill>
                <a:latin typeface="Helvetica Neue"/>
              </a:rPr>
              <a:t>Tracks a student's relationship with a school 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816351"/>
            <a:ext cx="64008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E6EAF0"/>
                </a:solidFill>
                <a:latin typeface="Helvetica Neue"/>
              </a:rPr>
              <a:t>primary or secondary enrollment, entry / exit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54095"/>
            <a:ext cx="64008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E6EAF0"/>
                </a:solidFill>
                <a:latin typeface="Helvetica Neue"/>
              </a:rPr>
              <a:t>dates, grade level, and entry type.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291839"/>
            <a:ext cx="64008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8A95A5"/>
                </a:solidFill>
                <a:latin typeface="Helvetica Neue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529583"/>
            <a:ext cx="64008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6EC1FF"/>
                </a:solidFill>
                <a:latin typeface="Helvetica Neue"/>
              </a:rPr>
              <a:t>Identifying columns: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767327"/>
            <a:ext cx="64008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E6EAF0"/>
                </a:solidFill>
                <a:latin typeface="Helvetica Neue"/>
              </a:rPr>
              <a:t>  StudentUSI  ·  SchoolId  ·  EntryDate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005071"/>
            <a:ext cx="64008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8A95A5"/>
                </a:solidFill>
                <a:latin typeface="Helvetica Neue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242815"/>
            <a:ext cx="64008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6EC1FF"/>
                </a:solidFill>
                <a:latin typeface="Helvetica Neue"/>
              </a:rPr>
              <a:t>Linked columns: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480559"/>
            <a:ext cx="64008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E6EAF0"/>
                </a:solidFill>
                <a:latin typeface="Helvetica Neue"/>
              </a:rPr>
              <a:t>  EntryGradeLevelDescriptorId → GradeLevelDescriptor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718303"/>
            <a:ext cx="64008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E6EAF0"/>
                </a:solidFill>
                <a:latin typeface="Helvetica Neue"/>
              </a:rPr>
              <a:t>  ExitWithdrawTypeDescriptorId → enums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956047"/>
            <a:ext cx="64008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8A95A5"/>
                </a:solidFill>
                <a:latin typeface="Helvetica Neue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193791"/>
            <a:ext cx="64008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6EC1FF"/>
                </a:solidFill>
                <a:latin typeface="Helvetica Neue"/>
              </a:rPr>
              <a:t>Connected tables: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431535"/>
            <a:ext cx="64008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E6EAF0"/>
                </a:solidFill>
                <a:latin typeface="Helvetica Neue"/>
              </a:rPr>
              <a:t>  edfi.Student · edfi.School · edfi.Section ...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669279"/>
            <a:ext cx="64008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8A95A5"/>
                </a:solidFill>
                <a:latin typeface="Helvetica Neue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907023"/>
            <a:ext cx="64008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E6EAF0"/>
                </a:solidFill>
                <a:latin typeface="Helvetica Neue"/>
              </a:rPr>
              <a:t>Proven queries that use it:  12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452360" y="1463040"/>
            <a:ext cx="4389120" cy="4937760"/>
          </a:xfrm>
          <a:prstGeom prst="roundRect">
            <a:avLst/>
          </a:prstGeom>
          <a:solidFill>
            <a:srgbClr val="1A212A"/>
          </a:solidFill>
          <a:ln w="9525">
            <a:solidFill>
              <a:srgbClr val="2A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35240" y="1554480"/>
            <a:ext cx="402336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F2B857"/>
                </a:solidFill>
                <a:latin typeface="Helvetica Neue"/>
              </a:rPr>
              <a:t>Why this works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35240" y="1965960"/>
            <a:ext cx="4023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>
                <a:solidFill>
                  <a:srgbClr val="E6EAF0"/>
                </a:solidFill>
                <a:latin typeface="Helvetica Neue"/>
              </a:rPr>
              <a:t>• Domains let us narrow 1,048 tables to ~30 in milliseconds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E6EAF0"/>
                </a:solidFill>
                <a:latin typeface="Helvetica Neue"/>
              </a:rPr>
              <a:t>• Description carries authoritative Ed-Fi prose — no LLM hallucination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E6EAF0"/>
                </a:solidFill>
                <a:latin typeface="Helvetica Neue"/>
              </a:rPr>
              <a:t>• Identifying columns surface what each row 'is'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E6EAF0"/>
                </a:solidFill>
                <a:latin typeface="Helvetica Neue"/>
              </a:rPr>
              <a:t>• Linked columns chase descriptor codes (e.g. 'Hispanic' → RaceDescriptor)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E6EAF0"/>
                </a:solidFill>
                <a:latin typeface="Helvetica Neue"/>
              </a:rPr>
              <a:t>• Connected tables remind the model what joins are natural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E6EAF0"/>
                </a:solidFill>
                <a:latin typeface="Helvetica Neue"/>
              </a:rPr>
              <a:t>• Proven-query count biases the search toward tables the platform has answered before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8A95A5"/>
                </a:solidFill>
                <a:latin typeface="Helvetica Neue"/>
              </a:rPr>
              <a:t>Built — Semantic Schema · 1 of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6446520"/>
            <a:ext cx="393192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8A95A5"/>
                </a:solidFill>
                <a:latin typeface="Helvetica Neue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200" b="1">
                <a:solidFill>
                  <a:srgbClr val="6EC1FF"/>
                </a:solidFill>
                <a:latin typeface="Helvetica Neue"/>
              </a:rPr>
              <a:t>How a question finds its tables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8A95A5"/>
                </a:solidFill>
                <a:latin typeface="Helvetica Neue"/>
              </a:rPr>
              <a:t>Two fast searches narrow 1,048 tables to a handful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11247120" cy="2468880"/>
          </a:xfrm>
          <a:prstGeom prst="roundRect">
            <a:avLst/>
          </a:prstGeom>
          <a:solidFill>
            <a:srgbClr val="1A212A"/>
          </a:solidFill>
          <a:ln w="9525">
            <a:solidFill>
              <a:srgbClr val="2A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6EC1FF"/>
                </a:solidFill>
                <a:latin typeface="Helvetica Neue"/>
              </a:rPr>
              <a:t>Step 1 — pick the right neighborhood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>
                <a:solidFill>
                  <a:srgbClr val="E6EAF0"/>
                </a:solidFill>
                <a:latin typeface="Helvetica Neue"/>
              </a:rPr>
              <a:t>• Compare the question's meaning against every domain (e.g. Student, Discipline, Assessment)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E6EAF0"/>
                </a:solidFill>
                <a:latin typeface="Helvetica Neue"/>
              </a:rPr>
              <a:t>• Combine semantic meaning (60%) with keyword match (40%) — best of both worlds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E6EAF0"/>
                </a:solidFill>
                <a:latin typeface="Helvetica Neue"/>
              </a:rPr>
              <a:t>• Return the top three neighborhoods so the model has options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4114800"/>
            <a:ext cx="11247120" cy="2194560"/>
          </a:xfrm>
          <a:prstGeom prst="roundRect">
            <a:avLst/>
          </a:prstGeom>
          <a:solidFill>
            <a:srgbClr val="1A212A"/>
          </a:solidFill>
          <a:ln w="9525">
            <a:solidFill>
              <a:srgbClr val="2A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20624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6EC1FF"/>
                </a:solidFill>
                <a:latin typeface="Helvetica Neue"/>
              </a:rPr>
              <a:t>Step 2 — pick tables inside that neighborhood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1772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>
                <a:solidFill>
                  <a:srgbClr val="E6EAF0"/>
                </a:solidFill>
                <a:latin typeface="Helvetica Neue"/>
              </a:rPr>
              <a:t>• Inside the chosen neighborhoods, score every table profile against the question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E6EAF0"/>
                </a:solidFill>
                <a:latin typeface="Helvetica Neue"/>
              </a:rPr>
              <a:t>• Pull the small set (typically 3–8 tables) that best matches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E6EAF0"/>
                </a:solidFill>
                <a:latin typeface="Helvetica Neue"/>
              </a:rPr>
              <a:t>• Hand them to the graph layer to figure out how to join them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8A95A5"/>
                </a:solidFill>
                <a:latin typeface="Helvetica Neue"/>
              </a:rPr>
              <a:t>Built — Semantic Schema · 2 of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6446520"/>
            <a:ext cx="393192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8A95A5"/>
                </a:solidFill>
                <a:latin typeface="Helvetica Neue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200" b="1">
                <a:solidFill>
                  <a:srgbClr val="6EC1FF"/>
                </a:solidFill>
                <a:latin typeface="Helvetica Neue"/>
              </a:rPr>
              <a:t>Resolving real-world terms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8A95A5"/>
                </a:solidFill>
                <a:latin typeface="Helvetica Neue"/>
              </a:rPr>
              <a:t>'Hispanic' is text on a screen — the database speaks codes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11247120" cy="1828800"/>
          </a:xfrm>
          <a:prstGeom prst="roundRect">
            <a:avLst/>
          </a:prstGeom>
          <a:solidFill>
            <a:srgbClr val="1A212A"/>
          </a:solidFill>
          <a:ln w="9525">
            <a:solidFill>
              <a:srgbClr val="2A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F2B857"/>
                </a:solidFill>
                <a:latin typeface="Helvetica Neue"/>
              </a:rPr>
              <a:t>Worked example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>
                <a:solidFill>
                  <a:srgbClr val="E6EAF0"/>
                </a:solidFill>
                <a:latin typeface="Helvetica Neue"/>
              </a:rPr>
              <a:t>• Analyst types: 'How many Hispanic students enrolled last year?'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E6EAF0"/>
                </a:solidFill>
                <a:latin typeface="Helvetica Neue"/>
              </a:rPr>
              <a:t>• Database has no field called 'Hispanic' — it stores a foreign key to RaceDescriptor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E6EAF0"/>
                </a:solidFill>
                <a:latin typeface="Helvetica Neue"/>
              </a:rPr>
              <a:t>• We need to: recognize 'Hispanic' is a value, find which descriptor table it lives in, attach the right join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474720"/>
            <a:ext cx="11247120" cy="2834640"/>
          </a:xfrm>
          <a:prstGeom prst="roundRect">
            <a:avLst/>
          </a:prstGeom>
          <a:solidFill>
            <a:srgbClr val="1A212A"/>
          </a:solidFill>
          <a:ln w="9525">
            <a:solidFill>
              <a:srgbClr val="2A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56616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6EC1FF"/>
                </a:solidFill>
                <a:latin typeface="Helvetica Neue"/>
              </a:rPr>
              <a:t>Four-tier resolver — fast first, smart last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023360"/>
            <a:ext cx="3657600" cy="2926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E6EAF0"/>
                </a:solidFill>
                <a:latin typeface="Helvetica Neue"/>
              </a:rPr>
              <a:t>Tier 1 · Bloom filter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4023360"/>
            <a:ext cx="5486400" cy="2926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8A95A5"/>
                </a:solidFill>
                <a:latin typeface="Helvetica Neue"/>
              </a:rPr>
              <a:t>Is this term even in the database?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4023360"/>
            <a:ext cx="1645920" cy="2926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200" b="0">
                <a:solidFill>
                  <a:srgbClr val="4AD09C"/>
                </a:solidFill>
                <a:latin typeface="Helvetica Neue"/>
              </a:rPr>
              <a:t>&lt;1 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526280"/>
            <a:ext cx="3657600" cy="2926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E6EAF0"/>
                </a:solidFill>
                <a:latin typeface="Helvetica Neue"/>
              </a:rPr>
              <a:t>Tier 2 · Fuzzy match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4526280"/>
            <a:ext cx="5486400" cy="2926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8A95A5"/>
                </a:solidFill>
                <a:latin typeface="Helvetica Neue"/>
              </a:rPr>
              <a:t>Handle typos: 'Hispanc' → 'Hispanic'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4526280"/>
            <a:ext cx="1645920" cy="2926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200" b="0">
                <a:solidFill>
                  <a:srgbClr val="4AD09C"/>
                </a:solidFill>
                <a:latin typeface="Helvetica Neue"/>
              </a:rPr>
              <a:t>5 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029200"/>
            <a:ext cx="3657600" cy="2926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E6EAF0"/>
                </a:solidFill>
                <a:latin typeface="Helvetica Neue"/>
              </a:rPr>
              <a:t>Tier 3 · Semantic lookup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5029200"/>
            <a:ext cx="5486400" cy="2926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8A95A5"/>
                </a:solidFill>
                <a:latin typeface="Helvetica Neue"/>
              </a:rPr>
              <a:t>Match meaning when spelling differs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5029200"/>
            <a:ext cx="1645920" cy="2926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200" b="0">
                <a:solidFill>
                  <a:srgbClr val="4AD09C"/>
                </a:solidFill>
                <a:latin typeface="Helvetica Neue"/>
              </a:rPr>
              <a:t>20 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532120"/>
            <a:ext cx="3657600" cy="2926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E6EAF0"/>
                </a:solidFill>
                <a:latin typeface="Helvetica Neue"/>
              </a:rPr>
              <a:t>Tier 4 · LLM disambiguate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5532120"/>
            <a:ext cx="5486400" cy="2926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8A95A5"/>
                </a:solidFill>
                <a:latin typeface="Helvetica Neue"/>
              </a:rPr>
              <a:t>When the value could mean two things, ask the model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5532120"/>
            <a:ext cx="1645920" cy="2926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200" b="0">
                <a:solidFill>
                  <a:srgbClr val="4AD09C"/>
                </a:solidFill>
                <a:latin typeface="Helvetica Neue"/>
              </a:rPr>
              <a:t>200 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8A95A5"/>
                </a:solidFill>
                <a:latin typeface="Helvetica Neue"/>
              </a:rPr>
              <a:t>Built — Semantic Schema · 3 of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0" y="6446520"/>
            <a:ext cx="393192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8A95A5"/>
                </a:solidFill>
                <a:latin typeface="Helvetica Neue"/>
              </a:rPr>
              <a:t>Tier 1+2 handle ~95% of cases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8A95A5"/>
                </a:solidFill>
                <a:latin typeface="Helvetica Neue"/>
              </a:rPr>
              <a:t>What's built · 2 of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88920"/>
            <a:ext cx="10698480" cy="914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400" b="1">
                <a:solidFill>
                  <a:srgbClr val="4AD09C"/>
                </a:solidFill>
                <a:latin typeface="Helvetica Neue"/>
              </a:rPr>
              <a:t>The Foreign-Key Graph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703320"/>
            <a:ext cx="1069848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E6EAF0"/>
                </a:solidFill>
                <a:latin typeface="Helvetica Neue"/>
              </a:rPr>
              <a:t>How the platform figures out which JOINs make sense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200" b="1">
                <a:solidFill>
                  <a:srgbClr val="6EC1FF"/>
                </a:solidFill>
                <a:latin typeface="Helvetica Neue"/>
              </a:rPr>
              <a:t>What the graph contains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8A95A5"/>
                </a:solidFill>
                <a:latin typeface="Helvetica Neue"/>
              </a:rPr>
              <a:t>Every Ed-Fi table and every relationship between them, weighted by closeness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5486400" cy="4754880"/>
          </a:xfrm>
          <a:prstGeom prst="roundRect">
            <a:avLst/>
          </a:prstGeom>
          <a:solidFill>
            <a:srgbClr val="1A212A"/>
          </a:solidFill>
          <a:ln w="9525">
            <a:solidFill>
              <a:srgbClr val="2A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512064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6EC1FF"/>
                </a:solidFill>
                <a:latin typeface="Helvetica Neue"/>
              </a:rPr>
              <a:t>By the numbers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3108960" cy="310896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0">
                <a:solidFill>
                  <a:srgbClr val="8A95A5"/>
                </a:solidFill>
                <a:latin typeface="Helvetica Neue"/>
              </a:rPr>
              <a:t>Tables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1965960"/>
            <a:ext cx="1828800" cy="310896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E6EAF0"/>
                </a:solidFill>
                <a:latin typeface="Helvetica Neue"/>
              </a:rPr>
              <a:t>1,048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8880"/>
            <a:ext cx="3108960" cy="310896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0">
                <a:solidFill>
                  <a:srgbClr val="8A95A5"/>
                </a:solidFill>
                <a:latin typeface="Helvetica Neue"/>
              </a:rPr>
              <a:t>Relationships (FKs)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39" y="2468880"/>
            <a:ext cx="1828800" cy="310896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E6EAF0"/>
                </a:solidFill>
                <a:latin typeface="Helvetica Neue"/>
              </a:rPr>
              <a:t>~1,900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71800"/>
            <a:ext cx="3108960" cy="310896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0">
                <a:solidFill>
                  <a:srgbClr val="8A95A5"/>
                </a:solidFill>
                <a:latin typeface="Helvetica Neue"/>
              </a:rPr>
              <a:t>Domains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971800"/>
            <a:ext cx="1828800" cy="310896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E6EAF0"/>
                </a:solidFill>
                <a:latin typeface="Helvetica Neue"/>
              </a:rPr>
              <a:t>35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474720"/>
            <a:ext cx="3108960" cy="310896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0">
                <a:solidFill>
                  <a:srgbClr val="8A95A5"/>
                </a:solidFill>
                <a:latin typeface="Helvetica Neue"/>
              </a:rPr>
              <a:t>Storage on disk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3474720"/>
            <a:ext cx="1828800" cy="310896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E6EAF0"/>
                </a:solidFill>
                <a:latin typeface="Helvetica Neue"/>
              </a:rPr>
              <a:t>&lt;10 MB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977639"/>
            <a:ext cx="3108960" cy="310896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0">
                <a:solidFill>
                  <a:srgbClr val="8A95A5"/>
                </a:solidFill>
                <a:latin typeface="Helvetica Neue"/>
              </a:rPr>
              <a:t>Load time at startup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39" y="3977639"/>
            <a:ext cx="1828800" cy="310896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E6EAF0"/>
                </a:solidFill>
                <a:latin typeface="Helvetica Neue"/>
              </a:rPr>
              <a:t>&lt;100 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480559"/>
            <a:ext cx="3108960" cy="310896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0">
                <a:solidFill>
                  <a:srgbClr val="8A95A5"/>
                </a:solidFill>
                <a:latin typeface="Helvetica Neue"/>
              </a:rPr>
              <a:t>Find best join (k=2)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4480559"/>
            <a:ext cx="1828800" cy="310896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E6EAF0"/>
                </a:solidFill>
                <a:latin typeface="Helvetica Neue"/>
              </a:rPr>
              <a:t>&lt;5 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983479"/>
            <a:ext cx="3108960" cy="310896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0">
                <a:solidFill>
                  <a:srgbClr val="8A95A5"/>
                </a:solidFill>
                <a:latin typeface="Helvetica Neue"/>
              </a:rPr>
              <a:t>Find best join tree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39" y="4983479"/>
            <a:ext cx="1828800" cy="310896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E6EAF0"/>
                </a:solidFill>
                <a:latin typeface="Helvetica Neue"/>
              </a:rPr>
              <a:t>&lt;50 ms typical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1463040"/>
            <a:ext cx="5486400" cy="4754880"/>
          </a:xfrm>
          <a:prstGeom prst="roundRect">
            <a:avLst/>
          </a:prstGeom>
          <a:solidFill>
            <a:srgbClr val="1A212A"/>
          </a:solidFill>
          <a:ln w="9525">
            <a:solidFill>
              <a:srgbClr val="2A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1554480"/>
            <a:ext cx="512064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F2B857"/>
                </a:solidFill>
                <a:latin typeface="Helvetica Neue"/>
              </a:rPr>
              <a:t>How relationships are weighted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196596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>
                <a:solidFill>
                  <a:srgbClr val="E6EAF0"/>
                </a:solidFill>
                <a:latin typeface="Helvetica Neue"/>
              </a:rPr>
              <a:t>• Inside the same Ed-Fi entity (e.g. Student): cheapest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E6EAF0"/>
                </a:solidFill>
                <a:latin typeface="Helvetica Neue"/>
              </a:rPr>
              <a:t>• Between related entities: more expensive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E6EAF0"/>
                </a:solidFill>
                <a:latin typeface="Helvetica Neue"/>
              </a:rPr>
              <a:t>• Between unrelated domains: most expensive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E6EAF0"/>
                </a:solidFill>
                <a:latin typeface="Helvetica Neue"/>
              </a:rPr>
              <a:t>• Multi-column keys earn a small bonus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E6EAF0"/>
                </a:solidFill>
                <a:latin typeface="Helvetica Neue"/>
              </a:rPr>
              <a:t>• Custom / non-Ed-Fi tables: handled with caution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5669280"/>
            <a:ext cx="512064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4AD09C"/>
                </a:solidFill>
                <a:latin typeface="Helvetica Neue"/>
              </a:rPr>
              <a:t>Net effect: joins follow the natural shape of Ed-Fi.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8A95A5"/>
                </a:solidFill>
                <a:latin typeface="Helvetica Neue"/>
              </a:rPr>
              <a:t>Built — Foreign-Key Graph · 1 of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0" y="6446520"/>
            <a:ext cx="393192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8A95A5"/>
                </a:solidFill>
                <a:latin typeface="Helvetica Neue"/>
              </a:rPr>
              <a:t/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200" b="1">
                <a:solidFill>
                  <a:srgbClr val="6EC1FF"/>
                </a:solidFill>
                <a:latin typeface="Helvetica Neue"/>
              </a:rPr>
              <a:t>Finding the best join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8A95A5"/>
                </a:solidFill>
                <a:latin typeface="Helvetica Neue"/>
              </a:rPr>
              <a:t>A classical computer-science problem, solved three ways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11247120" cy="1737360"/>
          </a:xfrm>
          <a:prstGeom prst="roundRect">
            <a:avLst/>
          </a:prstGeom>
          <a:solidFill>
            <a:srgbClr val="1A212A"/>
          </a:solidFill>
          <a:ln w="9525">
            <a:solidFill>
              <a:srgbClr val="2A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F2B857"/>
                </a:solidFill>
                <a:latin typeface="Helvetica Neue"/>
              </a:rPr>
              <a:t>The 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>
                <a:solidFill>
                  <a:srgbClr val="E6EAF0"/>
                </a:solidFill>
                <a:latin typeface="Helvetica Neue"/>
              </a:rPr>
              <a:t>• Given the small set of tables semantic has chosen, find the cheapest JOIN tree connecting them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E6EAF0"/>
                </a:solidFill>
                <a:latin typeface="Helvetica Neue"/>
              </a:rPr>
              <a:t>• Optimal solutions are mathematically expensive; we use proven approximations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383280"/>
            <a:ext cx="11247120" cy="2926080"/>
          </a:xfrm>
          <a:prstGeom prst="roundRect">
            <a:avLst/>
          </a:prstGeom>
          <a:solidFill>
            <a:srgbClr val="1A212A"/>
          </a:solidFill>
          <a:ln w="9525">
            <a:solidFill>
              <a:srgbClr val="2A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474720"/>
            <a:ext cx="3291840" cy="310896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E6EAF0"/>
                </a:solidFill>
                <a:latin typeface="Helvetica Neue"/>
              </a:rPr>
              <a:t>Connecting 2 tables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3474720"/>
            <a:ext cx="612648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8A95A5"/>
                </a:solidFill>
                <a:latin typeface="Helvetica Neue"/>
              </a:rPr>
              <a:t>Bidirectional shortest-path; returns three alternatives so the model picks the most readable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3749039"/>
            <a:ext cx="1554480" cy="310896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200" b="0">
                <a:solidFill>
                  <a:srgbClr val="4AD09C"/>
                </a:solidFill>
                <a:latin typeface="Helvetica Neue"/>
              </a:rPr>
              <a:t>&lt;5 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389120"/>
            <a:ext cx="3291840" cy="310896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E6EAF0"/>
                </a:solidFill>
                <a:latin typeface="Helvetica Neue"/>
              </a:rPr>
              <a:t>Connecting 3–8 tables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0" y="4389120"/>
            <a:ext cx="612648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8A95A5"/>
                </a:solidFill>
                <a:latin typeface="Helvetica Neue"/>
              </a:rPr>
              <a:t>Steiner-tree approximation (KMB) — provably within 2× of optimal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4663440"/>
            <a:ext cx="1554480" cy="310896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200" b="0">
                <a:solidFill>
                  <a:srgbClr val="4AD09C"/>
                </a:solidFill>
                <a:latin typeface="Helvetica Neue"/>
              </a:rPr>
              <a:t>&lt;50 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303520"/>
            <a:ext cx="3291840" cy="310896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E6EAF0"/>
                </a:solidFill>
                <a:latin typeface="Helvetica Neue"/>
              </a:rPr>
              <a:t>Edge cases (&gt;8 tables)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5303520"/>
            <a:ext cx="612648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8A95A5"/>
                </a:solidFill>
                <a:latin typeface="Helvetica Neue"/>
              </a:rPr>
              <a:t>Greedy fallback; rare on real Ed-Fi questions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0" y="5577840"/>
            <a:ext cx="1554480" cy="310896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200" b="0">
                <a:solidFill>
                  <a:srgbClr val="F2B857"/>
                </a:solidFill>
                <a:latin typeface="Helvetica Neue"/>
              </a:rPr>
              <a:t>&lt;200 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8A95A5"/>
                </a:solidFill>
                <a:latin typeface="Helvetica Neue"/>
              </a:rPr>
              <a:t>Built — Foreign-Key Graph · 2 of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6446520"/>
            <a:ext cx="393192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8A95A5"/>
                </a:solidFill>
                <a:latin typeface="Helvetica Neue"/>
              </a:rPr>
              <a:t/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94560"/>
            <a:ext cx="1069848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8A95A5"/>
                </a:solidFill>
                <a:latin typeface="Helvetica Neue"/>
              </a:rPr>
              <a:t>What ships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697480"/>
            <a:ext cx="10698480" cy="914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200" b="1">
                <a:solidFill>
                  <a:srgbClr val="F2B857"/>
                </a:solidFill>
                <a:latin typeface="Helvetica Neue"/>
              </a:rPr>
              <a:t>Five workstreams to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11880"/>
            <a:ext cx="1069848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E6EAF0"/>
                </a:solidFill>
                <a:latin typeface="Helvetica Neue"/>
              </a:rPr>
              <a:t>Question pipeline · Validation · Charts · UI · Hardening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60520"/>
            <a:ext cx="106984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8A95A5"/>
                </a:solidFill>
                <a:latin typeface="Helvetica Neue"/>
              </a:rPr>
              <a:t>7 working days · Apr 30 → Fri May 8 · weekend-free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200" b="1">
                <a:solidFill>
                  <a:srgbClr val="6EC1FF"/>
                </a:solidFill>
                <a:latin typeface="Helvetica Neue"/>
              </a:rPr>
              <a:t>Five workstreams in detail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8A95A5"/>
                </a:solidFill>
                <a:latin typeface="Helvetica Neue"/>
              </a:rPr>
              <a:t>What each one means for the demo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11247120" cy="4846320"/>
          </a:xfrm>
          <a:prstGeom prst="roundRect">
            <a:avLst/>
          </a:prstGeom>
          <a:solidFill>
            <a:srgbClr val="1A212A"/>
          </a:solidFill>
          <a:ln w="9525">
            <a:solidFill>
              <a:srgbClr val="2A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9728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6EC1FF"/>
                </a:solidFill>
                <a:latin typeface="Helvetica Neue"/>
              </a:rPr>
              <a:t>1.  Question → SQL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38528"/>
            <a:ext cx="1078992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8A95A5"/>
                </a:solidFill>
                <a:latin typeface="Helvetica Neue"/>
              </a:rPr>
              <a:t>The end-to-end orchestrator that takes an English question, calls the semantic + graph layers, and emits SQL grounded in real columns.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06040"/>
            <a:ext cx="109728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6EC1FF"/>
                </a:solidFill>
                <a:latin typeface="Helvetica Neue"/>
              </a:rPr>
              <a:t>2.  Validation &amp; repair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898648"/>
            <a:ext cx="1078992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8A95A5"/>
                </a:solidFill>
                <a:latin typeface="Helvetica Neue"/>
              </a:rPr>
              <a:t>Catch broken SQL before it runs (parse, plan check, dry-execute). Auto-fix the common failure modes — typos, missing joins, wrong column names — up to three retries.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66160"/>
            <a:ext cx="109728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6EC1FF"/>
                </a:solidFill>
                <a:latin typeface="Helvetica Neue"/>
              </a:rPr>
              <a:t>3.  Charts &amp; descriptions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858768"/>
            <a:ext cx="1078992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8A95A5"/>
                </a:solidFill>
                <a:latin typeface="Helvetica Neue"/>
              </a:rPr>
              <a:t>Pick the right chart automatically based on the result shape. Generate a one-paragraph summary in plain English so the answer reads itself.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526280"/>
            <a:ext cx="109728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6EC1FF"/>
                </a:solidFill>
                <a:latin typeface="Helvetica Neue"/>
              </a:rPr>
              <a:t>4.  Web UI · Settings · Eval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818888"/>
            <a:ext cx="1078992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8A95A5"/>
                </a:solidFill>
                <a:latin typeface="Helvetica Neue"/>
              </a:rPr>
              <a:t>Browser experience for analysts (Query, Chat, Tables); operator controls for connecting databases and LLMs; an Eval Dashboard tracking accuracy across builds.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486400"/>
            <a:ext cx="109728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6EC1FF"/>
                </a:solidFill>
                <a:latin typeface="Helvetica Neue"/>
              </a:rPr>
              <a:t>5.  Hardening &amp; demo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779008"/>
            <a:ext cx="1078992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8A95A5"/>
                </a:solidFill>
                <a:latin typeface="Helvetica Neue"/>
              </a:rPr>
              <a:t>Multi-provider readiness, observability, recorded demo on a clean Windows machine; v0.8 release tag.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8A95A5"/>
                </a:solidFill>
                <a:latin typeface="Helvetica Neue"/>
              </a:rPr>
              <a:t>Plan · Section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6446520"/>
            <a:ext cx="393192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8A95A5"/>
                </a:solidFill>
                <a:latin typeface="Helvetica Neue"/>
              </a:rPr>
              <a:t/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200" b="1">
                <a:solidFill>
                  <a:srgbClr val="6EC1FF"/>
                </a:solidFill>
                <a:latin typeface="Helvetica Neue"/>
              </a:rPr>
              <a:t>Day-by-day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8A95A5"/>
                </a:solidFill>
                <a:latin typeface="Helvetica Neue"/>
              </a:rPr>
              <a:t>Apr 30 → Fri May 8 · 7 working days · weekends excluded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11247120" cy="5029200"/>
          </a:xfrm>
          <a:prstGeom prst="roundRect">
            <a:avLst/>
          </a:prstGeom>
          <a:solidFill>
            <a:srgbClr val="1A212A"/>
          </a:solidFill>
          <a:ln w="9525">
            <a:solidFill>
              <a:srgbClr val="2A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554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6EC1FF"/>
                </a:solidFill>
                <a:latin typeface="Helvetica Neue"/>
              </a:rPr>
              <a:t>Thu Apr 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1600200"/>
            <a:ext cx="941832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E6EAF0"/>
                </a:solidFill>
                <a:latin typeface="Helvetica Neue"/>
              </a:rPr>
              <a:t>Pipeline scaffold + auto-grouping spike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1792224"/>
            <a:ext cx="9418320" cy="228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8A95A5"/>
                </a:solidFill>
                <a:latin typeface="Helvetica Neue"/>
              </a:rPr>
              <a:t>•  Wire question → semantic search → graph join into a single orchestrator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1984248"/>
            <a:ext cx="9418320" cy="228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8A95A5"/>
                </a:solidFill>
                <a:latin typeface="Helvetica Neue"/>
              </a:rPr>
              <a:t>•  Spike Leiden auto-grouping inside oversize domains for sharper routing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2176272"/>
            <a:ext cx="9418320" cy="228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8A95A5"/>
                </a:solidFill>
                <a:latin typeface="Helvetica Neue"/>
              </a:rPr>
              <a:t>•  Verify the platform handles real-world databases that have non-Ed-Fi tables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50591"/>
            <a:ext cx="1554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6EC1FF"/>
                </a:solidFill>
                <a:latin typeface="Helvetica Neue"/>
              </a:rPr>
              <a:t>Fri May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2450591"/>
            <a:ext cx="941832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E6EAF0"/>
                </a:solidFill>
                <a:latin typeface="Helvetica Neue"/>
              </a:rPr>
              <a:t>Pipeline land + retrieval polish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2642615"/>
            <a:ext cx="9418320" cy="228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8A95A5"/>
                </a:solidFill>
                <a:latin typeface="Helvetica Neue"/>
              </a:rPr>
              <a:t>•  Productionize the orchestrator with structured logs at every stage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834639"/>
            <a:ext cx="9418320" cy="228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8A95A5"/>
                </a:solidFill>
                <a:latin typeface="Helvetica Neue"/>
              </a:rPr>
              <a:t>•  Add proven-query retrieval (top-3 examples passed to the SQL generator)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3026663"/>
            <a:ext cx="9418320" cy="228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8A95A5"/>
                </a:solidFill>
                <a:latin typeface="Helvetica Neue"/>
              </a:rPr>
              <a:t>•  First end-to-end NL → SQL → rows on the demo SQLite database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300983"/>
            <a:ext cx="1554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6EC1FF"/>
                </a:solidFill>
                <a:latin typeface="Helvetica Neue"/>
              </a:rPr>
              <a:t>Mon May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3300983"/>
            <a:ext cx="941832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E6EAF0"/>
                </a:solidFill>
                <a:latin typeface="Helvetica Neue"/>
              </a:rPr>
              <a:t>Validation &amp; repair loop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3493007"/>
            <a:ext cx="9418320" cy="228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8A95A5"/>
                </a:solidFill>
                <a:latin typeface="Helvetica Neue"/>
              </a:rPr>
              <a:t>•  Parse-check, plan-check, and dry-execute every generated query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3685031"/>
            <a:ext cx="9418320" cy="228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8A95A5"/>
                </a:solidFill>
                <a:latin typeface="Helvetica Neue"/>
              </a:rPr>
              <a:t>•  Three-attempt repair loop for typical failure modes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3877055"/>
            <a:ext cx="9418320" cy="228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8A95A5"/>
                </a:solidFill>
                <a:latin typeface="Helvetica Neue"/>
              </a:rPr>
              <a:t>•  Expand the gold-query test suite to 50 questions; run nightly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151375"/>
            <a:ext cx="1554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6EC1FF"/>
                </a:solidFill>
                <a:latin typeface="Helvetica Neue"/>
              </a:rPr>
              <a:t>Tue May 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4151375"/>
            <a:ext cx="941832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E6EAF0"/>
                </a:solidFill>
                <a:latin typeface="Helvetica Neue"/>
              </a:rPr>
              <a:t>Charts, descriptions, and Settings UI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4343399"/>
            <a:ext cx="9418320" cy="228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8A95A5"/>
                </a:solidFill>
                <a:latin typeface="Helvetica Neue"/>
              </a:rPr>
              <a:t>•  Auto-pick chart type from result shape (Vega-Lite spec generation)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4535423"/>
            <a:ext cx="9418320" cy="228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8A95A5"/>
                </a:solidFill>
                <a:latin typeface="Helvetica Neue"/>
              </a:rPr>
              <a:t>•  Plain-English answer summary running in parallel with chart render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4727447"/>
            <a:ext cx="9418320" cy="228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8A95A5"/>
                </a:solidFill>
                <a:latin typeface="Helvetica Neue"/>
              </a:rPr>
              <a:t>•  Settings page editable end-to-end — pick database, LLM, embedding via UI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001767"/>
            <a:ext cx="1554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6EC1FF"/>
                </a:solidFill>
                <a:latin typeface="Helvetica Neue"/>
              </a:rPr>
              <a:t>Wed May 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86000" y="5001767"/>
            <a:ext cx="941832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E6EAF0"/>
                </a:solidFill>
                <a:latin typeface="Helvetica Neue"/>
              </a:rPr>
              <a:t>Eval dashboard + cluster manager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86000" y="5193791"/>
            <a:ext cx="9418320" cy="228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8A95A5"/>
                </a:solidFill>
                <a:latin typeface="Helvetica Neue"/>
              </a:rPr>
              <a:t>•  Eval Dashboard page: per-build metrics, regression alerts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86000" y="5385815"/>
            <a:ext cx="9418320" cy="228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8A95A5"/>
                </a:solidFill>
                <a:latin typeface="Helvetica Neue"/>
              </a:rPr>
              <a:t>•  Cluster Manager page: drag tables between groups, trigger rebuild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86000" y="5577839"/>
            <a:ext cx="9418320" cy="228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8A95A5"/>
                </a:solidFill>
                <a:latin typeface="Helvetica Neue"/>
              </a:rPr>
              <a:t>•  Operator runbook + provider-swap guide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5852159"/>
            <a:ext cx="1554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6EC1FF"/>
                </a:solidFill>
                <a:latin typeface="Helvetica Neue"/>
              </a:rPr>
              <a:t>Thu May 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86000" y="5852159"/>
            <a:ext cx="941832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E6EAF0"/>
                </a:solidFill>
                <a:latin typeface="Helvetica Neue"/>
              </a:rPr>
              <a:t>Hardening + multi-provider polish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86000" y="6044183"/>
            <a:ext cx="9418320" cy="228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8A95A5"/>
                </a:solidFill>
                <a:latin typeface="Helvetica Neue"/>
              </a:rPr>
              <a:t>•  Multi-provider matrix tested across all combinations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286000" y="6236207"/>
            <a:ext cx="9418320" cy="228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8A95A5"/>
                </a:solidFill>
                <a:latin typeface="Helvetica Neue"/>
              </a:rPr>
              <a:t>•  Performance pass — caching, observability dashboards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86000" y="6428231"/>
            <a:ext cx="9418320" cy="228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8A95A5"/>
                </a:solidFill>
                <a:latin typeface="Helvetica Neue"/>
              </a:rPr>
              <a:t>•  Two security fixes flagged in earlier review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6702551"/>
            <a:ext cx="1554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6EC1FF"/>
                </a:solidFill>
                <a:latin typeface="Helvetica Neue"/>
              </a:rPr>
              <a:t>Fri May 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86000" y="6702551"/>
            <a:ext cx="941832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E6EAF0"/>
                </a:solidFill>
                <a:latin typeface="Helvetica Neue"/>
              </a:rPr>
              <a:t>Demo prep + release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286000" y="6894575"/>
            <a:ext cx="9418320" cy="228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8A95A5"/>
                </a:solidFill>
                <a:latin typeface="Helvetica Neue"/>
              </a:rPr>
              <a:t>•  End-to-end run on a clean Mac and Windows machine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286000" y="7086599"/>
            <a:ext cx="9418320" cy="228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8A95A5"/>
                </a:solidFill>
                <a:latin typeface="Helvetica Neue"/>
              </a:rPr>
              <a:t>•  Recorded demo: connect database → ask question → see chart + summary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286000" y="7278623"/>
            <a:ext cx="9418320" cy="228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8A95A5"/>
                </a:solidFill>
                <a:latin typeface="Helvetica Neue"/>
              </a:rPr>
              <a:t>•  v0.8 release tag pushed; final docs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8A95A5"/>
                </a:solidFill>
                <a:latin typeface="Helvetica Neue"/>
              </a:rPr>
              <a:t>Plan · Section 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6446520"/>
            <a:ext cx="393192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8A95A5"/>
                </a:solidFill>
                <a:latin typeface="Helvetica Neue"/>
              </a:rPr>
              <a:t>Buffer day not built in — risks below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200" b="1">
                <a:solidFill>
                  <a:srgbClr val="6EC1FF"/>
                </a:solidFill>
                <a:latin typeface="Helvetica Neue"/>
              </a:rPr>
              <a:t>Risks &amp; how we'll handle them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8A95A5"/>
                </a:solidFill>
                <a:latin typeface="Helvetica Neue"/>
              </a:rPr>
              <a:t>Known unknowns flagged early; mitigations in the plan above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11247120" cy="4937760"/>
          </a:xfrm>
          <a:prstGeom prst="roundRect">
            <a:avLst/>
          </a:prstGeom>
          <a:solidFill>
            <a:srgbClr val="1A212A"/>
          </a:solidFill>
          <a:ln w="9525">
            <a:solidFill>
              <a:srgbClr val="2A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27432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F2B857"/>
                </a:solidFill>
                <a:latin typeface="Helvetica Neue"/>
              </a:rPr>
              <a:t>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645920"/>
            <a:ext cx="10698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E6EAF0"/>
                </a:solidFill>
                <a:latin typeface="Helvetica Neue"/>
              </a:rPr>
              <a:t>Auto-grouping accuracy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938528"/>
            <a:ext cx="10698480" cy="2926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8A95A5"/>
                </a:solidFill>
                <a:latin typeface="Helvetica Neue"/>
              </a:rPr>
              <a:t>Risk: Tuning the algorithm well takes iteration; we may not have it perfect by Friday.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212848"/>
            <a:ext cx="10698480" cy="2926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6EC1FF"/>
                </a:solidFill>
                <a:latin typeface="Helvetica Neue"/>
              </a:rPr>
              <a:t>Plan: Fallback to per-domain routing for v0.8 — already proven; auto-grouping ships in v0.9.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07208"/>
            <a:ext cx="27432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E56B6B"/>
                </a:solidFill>
                <a:latin typeface="Helvetica Neue"/>
              </a:rPr>
              <a:t>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807208"/>
            <a:ext cx="10698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E6EAF0"/>
                </a:solidFill>
                <a:latin typeface="Helvetica Neue"/>
              </a:rPr>
              <a:t>Two flagged security fixes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99816"/>
            <a:ext cx="10698480" cy="2926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8A95A5"/>
                </a:solidFill>
                <a:latin typeface="Helvetica Neue"/>
              </a:rPr>
              <a:t>Risk: Earlier code review flagged a credential-exposure path and a legacy-DB migration gap.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374136"/>
            <a:ext cx="10698480" cy="2926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6EC1FF"/>
                </a:solidFill>
                <a:latin typeface="Helvetica Neue"/>
              </a:rPr>
              <a:t>Plan: Both have ~half-day fixes scoped for Tuesday May 5.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968496"/>
            <a:ext cx="27432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F2B857"/>
                </a:solidFill>
                <a:latin typeface="Helvetica Neue"/>
              </a:rPr>
              <a:t>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968496"/>
            <a:ext cx="10698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E6EAF0"/>
                </a:solidFill>
                <a:latin typeface="Helvetica Neue"/>
              </a:rPr>
              <a:t>Concurrent users on SQLite metadata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261104"/>
            <a:ext cx="10698480" cy="2926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8A95A5"/>
                </a:solidFill>
                <a:latin typeface="Helvetica Neue"/>
              </a:rPr>
              <a:t>Risk: SQLite serializes writes; multi-user demos may hit lock contention.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535424"/>
            <a:ext cx="10698480" cy="2926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6EC1FF"/>
                </a:solidFill>
                <a:latin typeface="Helvetica Neue"/>
              </a:rPr>
              <a:t>Plan: Documented as single-user demo; multi-user uses Postgres metadata (already supported).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129783"/>
            <a:ext cx="27432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4AD09C"/>
                </a:solidFill>
                <a:latin typeface="Helvetica Neue"/>
              </a:rPr>
              <a:t>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129783"/>
            <a:ext cx="10698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E6EAF0"/>
                </a:solidFill>
                <a:latin typeface="Helvetica Neue"/>
              </a:rPr>
              <a:t>Live demo connectivity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422392"/>
            <a:ext cx="10698480" cy="2926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8A95A5"/>
                </a:solidFill>
                <a:latin typeface="Helvetica Neue"/>
              </a:rPr>
              <a:t>Risk: Recorded demos are safer than live demos for client meetings.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5696712"/>
            <a:ext cx="10698480" cy="2926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6EC1FF"/>
                </a:solidFill>
                <a:latin typeface="Helvetica Neue"/>
              </a:rPr>
              <a:t>Plan: Pre-record the full flow Friday morning; show recording with live Q&amp;A.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8A95A5"/>
                </a:solidFill>
                <a:latin typeface="Helvetica Neue"/>
              </a:rPr>
              <a:t>Risk register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0" y="6446520"/>
            <a:ext cx="393192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8A95A5"/>
                </a:solidFill>
                <a:latin typeface="Helvetica Neue"/>
              </a:rPr>
              <a:t/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280160"/>
            <a:ext cx="1069848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400" b="1">
                <a:solidFill>
                  <a:srgbClr val="6EC1FF"/>
                </a:solidFill>
                <a:latin typeface="Helvetica Neue"/>
              </a:rPr>
              <a:t>What you'll see at the demo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920240"/>
            <a:ext cx="11247120" cy="4206240"/>
          </a:xfrm>
          <a:prstGeom prst="roundRect">
            <a:avLst/>
          </a:prstGeom>
          <a:solidFill>
            <a:srgbClr val="1A212A"/>
          </a:solidFill>
          <a:ln w="9525">
            <a:solidFill>
              <a:srgbClr val="2A3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57400"/>
            <a:ext cx="10881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>
                <a:solidFill>
                  <a:srgbClr val="E6EAF0"/>
                </a:solidFill>
                <a:latin typeface="Helvetica Neue"/>
              </a:rPr>
              <a:t>• Connect any Ed-Fi-shaped database from a browser — no code, no config files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E6EAF0"/>
                </a:solidFill>
                <a:latin typeface="Helvetica Neue"/>
              </a:rPr>
              <a:t>• Ask plain-English questions and watch the answer arrive in seconds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E6EAF0"/>
                </a:solidFill>
                <a:latin typeface="Helvetica Neue"/>
              </a:rPr>
              <a:t>• See the SQL the platform generated, color-coded against the catalog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E6EAF0"/>
                </a:solidFill>
                <a:latin typeface="Helvetica Neue"/>
              </a:rPr>
              <a:t>• Look at the auto-picked chart and read the written summary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E6EAF0"/>
                </a:solidFill>
                <a:latin typeface="Helvetica Neue"/>
              </a:rPr>
              <a:t>• Approve a query — and watch the platform get smarter for the next question like it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E6EAF0"/>
                </a:solidFill>
                <a:latin typeface="Helvetica Neue"/>
              </a:rPr>
              <a:t>• Switch from one database to another mid-session and see results refresh automatically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E6EAF0"/>
                </a:solidFill>
                <a:latin typeface="Helvetica Neue"/>
              </a:rPr>
              <a:t>• Open the Eval Dashboard to see how accuracy is trending across builds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63640"/>
            <a:ext cx="1124712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0">
                <a:solidFill>
                  <a:srgbClr val="8A95A5"/>
                </a:solidFill>
                <a:latin typeface="Helvetica Neue"/>
              </a:rPr>
              <a:t>Demo machine: clean Windows install · no prior setup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