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room: this is an architecture-and-status review. The platform's foundation is built — knowledge layer, NL→SQL pipeline, agent loop, API, frontend, and ops tooling are all functionally complete and tested. The next six working weeks (Apr 30 through Fri June 12, weekends + May 1 holiday excluded) close the loop on agentic polish, multi-provider hardening, observability, performance, recorded demo, and documentation. v0.9 release is tagged Fri June 13. The honest reason the timeline runs to mid-June: the punch list is real work — provider matrix tests alone span 5 LLMs × 4 embeddings × 3 dialects × 4 consumers — and we've baked in buffer for the inevitable surprises rather than booking a heroics-only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in the user pain. Most Ed-Fi work today goes through a small handful of people who can write SQL against the model. We're widening that bottleneck — not by training more SQL writers but by automating the translation from English. Mention the conversation bullet — that's the agent-loop work that closes in this release.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Five rows green = foundation done; three amber = active work the team finishes by June 13; one red = stretch item that may slip into v0.10. The honest 6-week timeline (vs the original May 8) reflects the real punch list: provider matrix tests across the full 5 × 4 × 3 × 4 grid, Leiden tuning that needs iteration, observability work that touches every stage, and a recorded demo we want to be able to ship without disclaimers.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top-to-bottom. Each row corresponds to a tested module set in the repo. Spend the most time on Pipeline + Agentic — those are the parts the demo audience actually sees in motion.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numbers from the repo audit. Use them to anchor any 'is this actually working?' question — every figure has a corresponding test or artifact.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 Without this layer the LLM would be guessing across 1,048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handles 90% of tables deterministically. The LLM tier is the safety net for residual stragglers. Reflection of unknown DB tables (P7) handles the case where the operator's database has 36 extra tables that aren't in the Ed-Fi spec.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'what if my database has tables that aren't in the Ed-Fi spec?' Step 3 (reflection) is the key insight — we don't require the operator to write a schema-mapping config. SQLAlchemy's Inspector walks the live DB, anything we don't recognize gets reflected with composite FKs and sample rows, then merges into the same per-provider catalog the Ed-Fi tables live in. Per-provider artifact isolation (N1-N5) means switching from one operator DB to another flips a different set of files in — no stale state from the previous DB leaks into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to leave the room with: graph is small (10 MB) and fast (sub-millisecond responses), and weights bias joins to stay inside the natural Ed-Fi entity boundaries — which is what a senior analyst would do by hand.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'plain English' becomes 'database-correct'. Without it, questions like 'last year', 'Grade 9', or 'free-and-reduced lunch' would never land on the right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orchestrator that knits the knowledge layer into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heart of the demo. Walk through each stage with the audience imagining their own question — by the end they should feel like they've watched the platform think.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Repair is the magic that lets the platform be honest with the user. If the LLM writes a wrong column, EXPLAIN catches it; the system asks the LLM to fix it with the actual error message; we get the right answer most of the time. This is what makes the platform safe for non-engineers.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loop is what makes this feel like a partner, not a one-shot translator.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never invents tables or values — it must call SEARCH_TABLES and RESOLVE_ENTITY first. RUN_SQL is the only side-effecting tool, and it executes validated SQL 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 portability is what makes this safe to deploy in different agencies — Bedrock for AWS-native, Azure for Microsoft-native, Anthropic direct for everyone else. The agent code never branches on provider; the translator layer absorbs the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an operator or user actually interacts with day-to-day.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Provider-aware refresh (P1/P2) is the secret sauce: switch the active database in Settings, the Tables and Domains pages refresh automatically — no stale state.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pieces that make the platform actually usable on day one — and the reason a fresh git clone can demo without a populated database.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framing: most of the platform is already built. The June 13 date buys real headroom to land the things that matter for a confident demo — provider matrix, agent reliability, observability, performance, and a recorded walkthrough. If observability runs long it slips to v0.10 cleanly without affecting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six weeks (not eleven days): the punch list is real engineering work, not checklist items. Provider matrix touches 60 distinct combinations and historically surfaces translator-layer bugs that take a half-day each. Leiden tuning needs iteration. Observability work touches every span in the system. Recording a client-facing demo we'd actually ship takes time and re-takes. Six weeks gives honest buffer; if the team finishes early we ship early — but we won't book a heroics-only plan.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promising perfection by Friday June 13. We are promising a tested platform with a recorded demo, the multi-provider matrix passing, and stretch items called out before they slip silently. The 6-week timeline is honest engineering scope, not heroics.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demo. The 8 specific things on this slide are what you'll watch. Each bullet is gated on a workstream above. We sequence them so even if observability slips, the first 7 are still demo-ready.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1920240"/>
            <a:ext cx="10698480" cy="914400"/>
          </a:xfrm>
          <a:prstGeom prst="rect">
            <a:avLst/>
          </a:prstGeom>
          <a:noFill/>
        </p:spPr>
        <p:txBody>
          <a:bodyPr wrap="square" lIns="45720" rIns="45720">
            <a:spAutoFit/>
          </a:bodyPr>
          <a:lstStyle/>
          <a:p>
            <a:pPr algn="l"/>
            <a:r>
              <a:rPr sz="4600" b="1">
                <a:solidFill>
                  <a:srgbClr val="6EC1FF"/>
                </a:solidFill>
                <a:latin typeface="Helvetica Neue"/>
              </a:rPr>
              <a:t>Ed-Fi Text-to-SQL</a:t>
            </a:r>
          </a:p>
        </p:txBody>
      </p:sp>
      <p:sp>
        <p:nvSpPr>
          <p:cNvPr id="3" name="TextBox 2"/>
          <p:cNvSpPr txBox="1"/>
          <p:nvPr/>
        </p:nvSpPr>
        <p:spPr>
          <a:xfrm>
            <a:off x="731520" y="2880360"/>
            <a:ext cx="10698480" cy="548640"/>
          </a:xfrm>
          <a:prstGeom prst="rect">
            <a:avLst/>
          </a:prstGeom>
          <a:noFill/>
        </p:spPr>
        <p:txBody>
          <a:bodyPr wrap="square" lIns="45720" rIns="45720">
            <a:spAutoFit/>
          </a:bodyPr>
          <a:lstStyle/>
          <a:p>
            <a:pPr algn="l"/>
            <a:r>
              <a:rPr sz="2200" b="0">
                <a:solidFill>
                  <a:srgbClr val="E6EAF0"/>
                </a:solidFill>
                <a:latin typeface="Helvetica Neue"/>
              </a:rPr>
              <a:t>Ask questions of your school data in plain English</a:t>
            </a:r>
          </a:p>
        </p:txBody>
      </p:sp>
      <p:sp>
        <p:nvSpPr>
          <p:cNvPr id="4" name="TextBox 3"/>
          <p:cNvSpPr txBox="1"/>
          <p:nvPr/>
        </p:nvSpPr>
        <p:spPr>
          <a:xfrm>
            <a:off x="731520" y="3520440"/>
            <a:ext cx="10698480" cy="457200"/>
          </a:xfrm>
          <a:prstGeom prst="rect">
            <a:avLst/>
          </a:prstGeom>
          <a:noFill/>
        </p:spPr>
        <p:txBody>
          <a:bodyPr wrap="square" lIns="45720" rIns="45720">
            <a:spAutoFit/>
          </a:bodyPr>
          <a:lstStyle/>
          <a:p>
            <a:pPr algn="l"/>
            <a:r>
              <a:rPr sz="1600" b="0">
                <a:solidFill>
                  <a:srgbClr val="8A95A5"/>
                </a:solidFill>
                <a:latin typeface="Helvetica Neue"/>
              </a:rPr>
              <a:t>Architecture review · platform built · 6 working weeks to v0.9 release</a:t>
            </a:r>
          </a:p>
        </p:txBody>
      </p:sp>
      <p:sp>
        <p:nvSpPr>
          <p:cNvPr id="5" name="TextBox 4"/>
          <p:cNvSpPr txBox="1"/>
          <p:nvPr/>
        </p:nvSpPr>
        <p:spPr>
          <a:xfrm>
            <a:off x="731520" y="6035040"/>
            <a:ext cx="10698480" cy="365760"/>
          </a:xfrm>
          <a:prstGeom prst="rect">
            <a:avLst/>
          </a:prstGeom>
          <a:noFill/>
        </p:spPr>
        <p:txBody>
          <a:bodyPr wrap="square" lIns="45720" rIns="45720">
            <a:spAutoFit/>
          </a:bodyPr>
          <a:lstStyle/>
          <a:p>
            <a:pPr algn="l"/>
            <a:r>
              <a:rPr sz="1300" b="0">
                <a:solidFill>
                  <a:srgbClr val="8A95A5"/>
                </a:solidFill>
                <a:latin typeface="Helvetica Neue"/>
              </a:rPr>
              <a:t>Apr 30, 2026  ·  client review  ·  v0.9 release Fri June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The problem we're solving</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An analyst asks a question. The platform answers with data.</a:t>
            </a:r>
          </a:p>
        </p:txBody>
      </p:sp>
      <p:sp>
        <p:nvSpPr>
          <p:cNvPr id="4" name="Rounded Rectangle 3"/>
          <p:cNvSpPr/>
          <p:nvPr/>
        </p:nvSpPr>
        <p:spPr>
          <a:xfrm>
            <a:off x="457200" y="1463040"/>
            <a:ext cx="11247120" cy="19202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881360" cy="365760"/>
          </a:xfrm>
          <a:prstGeom prst="rect">
            <a:avLst/>
          </a:prstGeom>
          <a:noFill/>
        </p:spPr>
        <p:txBody>
          <a:bodyPr wrap="square" lIns="45720" rIns="45720">
            <a:spAutoFit/>
          </a:bodyPr>
          <a:lstStyle/>
          <a:p>
            <a:pPr algn="l"/>
            <a:r>
              <a:rPr sz="1400" b="1">
                <a:solidFill>
                  <a:srgbClr val="F2B857"/>
                </a:solidFill>
                <a:latin typeface="Helvetica Neue"/>
              </a:rPr>
              <a:t>Today, in any Ed-Fi-shaped database</a:t>
            </a:r>
          </a:p>
        </p:txBody>
      </p:sp>
      <p:sp>
        <p:nvSpPr>
          <p:cNvPr id="6" name="TextBox 5"/>
          <p:cNvSpPr txBox="1"/>
          <p:nvPr/>
        </p:nvSpPr>
        <p:spPr>
          <a:xfrm>
            <a:off x="640080" y="1920240"/>
            <a:ext cx="10881360" cy="1463040"/>
          </a:xfrm>
          <a:prstGeom prst="rect">
            <a:avLst/>
          </a:prstGeom>
          <a:noFill/>
        </p:spPr>
        <p:txBody>
          <a:bodyPr wrap="square">
            <a:spAutoFit/>
          </a:bodyPr>
          <a:lstStyle/>
          <a:p>
            <a:pPr algn="l">
              <a:spcAft>
                <a:spcPts val="400"/>
              </a:spcAft>
            </a:pPr>
            <a:r>
              <a:rPr sz="1300">
                <a:solidFill>
                  <a:srgbClr val="E6EAF0"/>
                </a:solidFill>
                <a:latin typeface="Helvetica Neue"/>
              </a:rPr>
              <a:t>• 1,048 tables · ~10,000 columns · 1,663 foreign keys (Ed-Fi DS 6.1.0)</a:t>
            </a:r>
          </a:p>
          <a:p>
            <a:pPr algn="l">
              <a:spcAft>
                <a:spcPts val="400"/>
              </a:spcAft>
            </a:pPr>
            <a:r>
              <a:rPr sz="1300">
                <a:solidFill>
                  <a:srgbClr val="E6EAF0"/>
                </a:solidFill>
                <a:latin typeface="Helvetica Neue"/>
              </a:rPr>
              <a:t>• An analyst with a question must (a) know which tables to join, (b) write the SQL, (c) execute it, (d) read it</a:t>
            </a:r>
          </a:p>
          <a:p>
            <a:pPr algn="l">
              <a:spcAft>
                <a:spcPts val="400"/>
              </a:spcAft>
            </a:pPr>
            <a:r>
              <a:rPr sz="1300">
                <a:solidFill>
                  <a:srgbClr val="E6EAF0"/>
                </a:solidFill>
                <a:latin typeface="Helvetica Neue"/>
              </a:rPr>
              <a:t>• End-to-end this is hours of work for a senior engineer — and impossible for a non-engineer</a:t>
            </a:r>
          </a:p>
        </p:txBody>
      </p:sp>
      <p:sp>
        <p:nvSpPr>
          <p:cNvPr id="7" name="Rounded Rectangle 6"/>
          <p:cNvSpPr/>
          <p:nvPr/>
        </p:nvSpPr>
        <p:spPr>
          <a:xfrm>
            <a:off x="457200" y="3566160"/>
            <a:ext cx="11247120" cy="2651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57600"/>
            <a:ext cx="10881360" cy="365760"/>
          </a:xfrm>
          <a:prstGeom prst="rect">
            <a:avLst/>
          </a:prstGeom>
          <a:noFill/>
        </p:spPr>
        <p:txBody>
          <a:bodyPr wrap="square" lIns="45720" rIns="45720">
            <a:spAutoFit/>
          </a:bodyPr>
          <a:lstStyle/>
          <a:p>
            <a:pPr algn="l"/>
            <a:r>
              <a:rPr sz="1400" b="1">
                <a:solidFill>
                  <a:srgbClr val="4AD09C"/>
                </a:solidFill>
                <a:latin typeface="Helvetica Neue"/>
              </a:rPr>
              <a:t>What we're delivering by Fri June 13</a:t>
            </a:r>
          </a:p>
        </p:txBody>
      </p:sp>
      <p:sp>
        <p:nvSpPr>
          <p:cNvPr id="9" name="TextBox 8"/>
          <p:cNvSpPr txBox="1"/>
          <p:nvPr/>
        </p:nvSpPr>
        <p:spPr>
          <a:xfrm>
            <a:off x="640080" y="4023360"/>
            <a:ext cx="10881360" cy="2194560"/>
          </a:xfrm>
          <a:prstGeom prst="rect">
            <a:avLst/>
          </a:prstGeom>
          <a:noFill/>
        </p:spPr>
        <p:txBody>
          <a:bodyPr wrap="square">
            <a:spAutoFit/>
          </a:bodyPr>
          <a:lstStyle/>
          <a:p>
            <a:pPr algn="l">
              <a:spcAft>
                <a:spcPts val="400"/>
              </a:spcAft>
            </a:pPr>
            <a:r>
              <a:rPr sz="1300">
                <a:solidFill>
                  <a:srgbClr val="E6EAF0"/>
                </a:solidFill>
                <a:latin typeface="Helvetica Neue"/>
              </a:rPr>
              <a:t>• Type a question in English  →  receive correct SQL, the rows it returns, a chart, and a written summary</a:t>
            </a:r>
          </a:p>
          <a:p>
            <a:pPr algn="l">
              <a:spcAft>
                <a:spcPts val="400"/>
              </a:spcAft>
            </a:pPr>
            <a:r>
              <a:rPr sz="1300">
                <a:solidFill>
                  <a:srgbClr val="E6EAF0"/>
                </a:solidFill>
                <a:latin typeface="Helvetica Neue"/>
              </a:rPr>
              <a:t>• Have a multi-turn conversation with the platform — it remembers what you asked before</a:t>
            </a:r>
          </a:p>
          <a:p>
            <a:pPr algn="l">
              <a:spcAft>
                <a:spcPts val="400"/>
              </a:spcAft>
            </a:pPr>
            <a:r>
              <a:rPr sz="1300">
                <a:solidFill>
                  <a:srgbClr val="E6EAF0"/>
                </a:solidFill>
                <a:latin typeface="Helvetica Neue"/>
              </a:rPr>
              <a:t>• Works on any Ed-Fi database (Postgres / MSSQL / SQLite) without changing the database itself</a:t>
            </a:r>
          </a:p>
          <a:p>
            <a:pPr algn="l">
              <a:spcAft>
                <a:spcPts val="400"/>
              </a:spcAft>
            </a:pPr>
            <a:r>
              <a:rPr sz="1300">
                <a:solidFill>
                  <a:srgbClr val="E6EAF0"/>
                </a:solidFill>
                <a:latin typeface="Helvetica Neue"/>
              </a:rPr>
              <a:t>• Cites the tables it used so an engineer can verify the answer in seconds</a:t>
            </a:r>
          </a:p>
          <a:p>
            <a:pPr algn="l">
              <a:spcAft>
                <a:spcPts val="400"/>
              </a:spcAft>
            </a:pPr>
            <a:r>
              <a:rPr sz="1300">
                <a:solidFill>
                  <a:srgbClr val="E6EAF0"/>
                </a:solidFill>
                <a:latin typeface="Helvetica Neue"/>
              </a:rPr>
              <a:t>• Learns from approved queries — the more it's used, the better it gets</a:t>
            </a:r>
          </a:p>
        </p:txBody>
      </p:sp>
      <p:sp>
        <p:nvSpPr>
          <p:cNvPr id="10" name="TextBox 9"/>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Why this project · Section 1</a:t>
            </a:r>
          </a:p>
        </p:txBody>
      </p:sp>
      <p:sp>
        <p:nvSpPr>
          <p:cNvPr id="11" name="TextBox 10"/>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Status: foundation built, polish ahead</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13 core components green and tested · 4 workstreams remaining for v0.9 on Fri June 13</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72768"/>
            <a:ext cx="3931920" cy="292608"/>
          </a:xfrm>
          <a:prstGeom prst="rect">
            <a:avLst/>
          </a:prstGeom>
          <a:noFill/>
        </p:spPr>
        <p:txBody>
          <a:bodyPr wrap="square" lIns="45720" rIns="45720">
            <a:spAutoFit/>
          </a:bodyPr>
          <a:lstStyle/>
          <a:p>
            <a:pPr algn="l"/>
            <a:r>
              <a:rPr sz="1200" b="1">
                <a:solidFill>
                  <a:srgbClr val="E6EAF0"/>
                </a:solidFill>
                <a:latin typeface="Helvetica Neue"/>
              </a:rPr>
              <a:t>Knowledge layer</a:t>
            </a:r>
          </a:p>
        </p:txBody>
      </p:sp>
      <p:sp>
        <p:nvSpPr>
          <p:cNvPr id="6" name="Rounded Rectangle 5"/>
          <p:cNvSpPr/>
          <p:nvPr/>
        </p:nvSpPr>
        <p:spPr>
          <a:xfrm>
            <a:off x="4663440" y="1591056"/>
            <a:ext cx="1051560" cy="292608"/>
          </a:xfrm>
          <a:prstGeom prst="roundRect">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591056"/>
            <a:ext cx="1051560" cy="292608"/>
          </a:xfrm>
          <a:prstGeom prst="rect">
            <a:avLst/>
          </a:prstGeom>
          <a:noFill/>
        </p:spPr>
        <p:txBody>
          <a:bodyPr wrap="none" lIns="0" rIns="0" tIns="36576">
            <a:spAutoFit/>
          </a:bodyPr>
          <a:lstStyle/>
          <a:p>
            <a:pPr algn="ctr"/>
            <a:r>
              <a:rPr sz="1000" b="1">
                <a:solidFill>
                  <a:srgbClr val="0F141A"/>
                </a:solidFill>
                <a:latin typeface="Helvetica Neue"/>
              </a:rPr>
              <a:t>Done</a:t>
            </a:r>
          </a:p>
        </p:txBody>
      </p:sp>
      <p:sp>
        <p:nvSpPr>
          <p:cNvPr id="8" name="TextBox 7"/>
          <p:cNvSpPr txBox="1"/>
          <p:nvPr/>
        </p:nvSpPr>
        <p:spPr>
          <a:xfrm>
            <a:off x="5897880" y="1591056"/>
            <a:ext cx="5760720" cy="548640"/>
          </a:xfrm>
          <a:prstGeom prst="rect">
            <a:avLst/>
          </a:prstGeom>
          <a:noFill/>
        </p:spPr>
        <p:txBody>
          <a:bodyPr wrap="square" lIns="45720" rIns="45720">
            <a:spAutoFit/>
          </a:bodyPr>
          <a:lstStyle/>
          <a:p>
            <a:pPr algn="l"/>
            <a:r>
              <a:rPr sz="1000" b="0">
                <a:solidFill>
                  <a:srgbClr val="8A95A5"/>
                </a:solidFill>
                <a:latin typeface="Helvetica Neue"/>
              </a:rPr>
              <a:t>Domain classification (829/829 tables), FK graph (1,663 edges), APSP, Steiner solver, table catalog, hybrid retrieval, 4-tier entity resolver</a:t>
            </a:r>
          </a:p>
        </p:txBody>
      </p:sp>
      <p:sp>
        <p:nvSpPr>
          <p:cNvPr id="9" name="TextBox 8"/>
          <p:cNvSpPr txBox="1"/>
          <p:nvPr/>
        </p:nvSpPr>
        <p:spPr>
          <a:xfrm>
            <a:off x="640080" y="2103120"/>
            <a:ext cx="3931920" cy="292608"/>
          </a:xfrm>
          <a:prstGeom prst="rect">
            <a:avLst/>
          </a:prstGeom>
          <a:noFill/>
        </p:spPr>
        <p:txBody>
          <a:bodyPr wrap="square" lIns="45720" rIns="45720">
            <a:spAutoFit/>
          </a:bodyPr>
          <a:lstStyle/>
          <a:p>
            <a:pPr algn="l"/>
            <a:r>
              <a:rPr sz="1200" b="1">
                <a:solidFill>
                  <a:srgbClr val="E6EAF0"/>
                </a:solidFill>
                <a:latin typeface="Helvetica Neue"/>
              </a:rPr>
              <a:t>NL → SQL pipeline</a:t>
            </a:r>
          </a:p>
        </p:txBody>
      </p:sp>
      <p:sp>
        <p:nvSpPr>
          <p:cNvPr id="10" name="Rounded Rectangle 9"/>
          <p:cNvSpPr/>
          <p:nvPr/>
        </p:nvSpPr>
        <p:spPr>
          <a:xfrm>
            <a:off x="4663440" y="2121408"/>
            <a:ext cx="1051560" cy="292608"/>
          </a:xfrm>
          <a:prstGeom prst="roundRect">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121408"/>
            <a:ext cx="1051560" cy="292608"/>
          </a:xfrm>
          <a:prstGeom prst="rect">
            <a:avLst/>
          </a:prstGeom>
          <a:noFill/>
        </p:spPr>
        <p:txBody>
          <a:bodyPr wrap="none" lIns="0" rIns="0" tIns="36576">
            <a:spAutoFit/>
          </a:bodyPr>
          <a:lstStyle/>
          <a:p>
            <a:pPr algn="ctr"/>
            <a:r>
              <a:rPr sz="1000" b="1">
                <a:solidFill>
                  <a:srgbClr val="0F141A"/>
                </a:solidFill>
                <a:latin typeface="Helvetica Neue"/>
              </a:rPr>
              <a:t>Done</a:t>
            </a:r>
          </a:p>
        </p:txBody>
      </p:sp>
      <p:sp>
        <p:nvSpPr>
          <p:cNvPr id="12" name="TextBox 11"/>
          <p:cNvSpPr txBox="1"/>
          <p:nvPr/>
        </p:nvSpPr>
        <p:spPr>
          <a:xfrm>
            <a:off x="5897880" y="2121408"/>
            <a:ext cx="5760720" cy="548640"/>
          </a:xfrm>
          <a:prstGeom prst="rect">
            <a:avLst/>
          </a:prstGeom>
          <a:noFill/>
        </p:spPr>
        <p:txBody>
          <a:bodyPr wrap="square" lIns="45720" rIns="45720">
            <a:spAutoFit/>
          </a:bodyPr>
          <a:lstStyle/>
          <a:p>
            <a:pPr algn="l"/>
            <a:r>
              <a:rPr sz="1000" b="0">
                <a:solidFill>
                  <a:srgbClr val="8A95A5"/>
                </a:solidFill>
                <a:latin typeface="Helvetica Neue"/>
              </a:rPr>
              <a:t>Routed orchestrator: classify → retrieve → resolve → generate → validate → repair → execute → chart + summary</a:t>
            </a:r>
          </a:p>
        </p:txBody>
      </p:sp>
      <p:sp>
        <p:nvSpPr>
          <p:cNvPr id="13" name="TextBox 12"/>
          <p:cNvSpPr txBox="1"/>
          <p:nvPr/>
        </p:nvSpPr>
        <p:spPr>
          <a:xfrm>
            <a:off x="640080" y="2633472"/>
            <a:ext cx="3931920" cy="292608"/>
          </a:xfrm>
          <a:prstGeom prst="rect">
            <a:avLst/>
          </a:prstGeom>
          <a:noFill/>
        </p:spPr>
        <p:txBody>
          <a:bodyPr wrap="square" lIns="45720" rIns="45720">
            <a:spAutoFit/>
          </a:bodyPr>
          <a:lstStyle/>
          <a:p>
            <a:pPr algn="l"/>
            <a:r>
              <a:rPr sz="1200" b="1">
                <a:solidFill>
                  <a:srgbClr val="E6EAF0"/>
                </a:solidFill>
                <a:latin typeface="Helvetica Neue"/>
              </a:rPr>
              <a:t>Agentic layer</a:t>
            </a:r>
          </a:p>
        </p:txBody>
      </p:sp>
      <p:sp>
        <p:nvSpPr>
          <p:cNvPr id="14" name="Rounded Rectangle 13"/>
          <p:cNvSpPr/>
          <p:nvPr/>
        </p:nvSpPr>
        <p:spPr>
          <a:xfrm>
            <a:off x="4663440" y="2651760"/>
            <a:ext cx="1051560" cy="292608"/>
          </a:xfrm>
          <a:prstGeom prst="roundRect">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651760"/>
            <a:ext cx="1051560" cy="292608"/>
          </a:xfrm>
          <a:prstGeom prst="rect">
            <a:avLst/>
          </a:prstGeom>
          <a:noFill/>
        </p:spPr>
        <p:txBody>
          <a:bodyPr wrap="none" lIns="0" rIns="0" tIns="36576">
            <a:spAutoFit/>
          </a:bodyPr>
          <a:lstStyle/>
          <a:p>
            <a:pPr algn="ctr"/>
            <a:r>
              <a:rPr sz="1000" b="1">
                <a:solidFill>
                  <a:srgbClr val="0F141A"/>
                </a:solidFill>
                <a:latin typeface="Helvetica Neue"/>
              </a:rPr>
              <a:t>Done</a:t>
            </a:r>
          </a:p>
        </p:txBody>
      </p:sp>
      <p:sp>
        <p:nvSpPr>
          <p:cNvPr id="16" name="TextBox 15"/>
          <p:cNvSpPr txBox="1"/>
          <p:nvPr/>
        </p:nvSpPr>
        <p:spPr>
          <a:xfrm>
            <a:off x="5897880" y="2651760"/>
            <a:ext cx="5760720" cy="548640"/>
          </a:xfrm>
          <a:prstGeom prst="rect">
            <a:avLst/>
          </a:prstGeom>
          <a:noFill/>
        </p:spPr>
        <p:txBody>
          <a:bodyPr wrap="square" lIns="45720" rIns="45720">
            <a:spAutoFit/>
          </a:bodyPr>
          <a:lstStyle/>
          <a:p>
            <a:pPr algn="l"/>
            <a:r>
              <a:rPr sz="1000" b="0">
                <a:solidFill>
                  <a:srgbClr val="8A95A5"/>
                </a:solidFill>
                <a:latin typeface="Helvetica Neue"/>
              </a:rPr>
              <a:t>8-tool agent loop, multi-turn conversations with cross-dialect history, server-sent streaming</a:t>
            </a:r>
          </a:p>
        </p:txBody>
      </p:sp>
      <p:sp>
        <p:nvSpPr>
          <p:cNvPr id="17" name="TextBox 16"/>
          <p:cNvSpPr txBox="1"/>
          <p:nvPr/>
        </p:nvSpPr>
        <p:spPr>
          <a:xfrm>
            <a:off x="640080" y="3163824"/>
            <a:ext cx="3931920" cy="292608"/>
          </a:xfrm>
          <a:prstGeom prst="rect">
            <a:avLst/>
          </a:prstGeom>
          <a:noFill/>
        </p:spPr>
        <p:txBody>
          <a:bodyPr wrap="square" lIns="45720" rIns="45720">
            <a:spAutoFit/>
          </a:bodyPr>
          <a:lstStyle/>
          <a:p>
            <a:pPr algn="l"/>
            <a:r>
              <a:rPr sz="1200" b="1">
                <a:solidFill>
                  <a:srgbClr val="E6EAF0"/>
                </a:solidFill>
                <a:latin typeface="Helvetica Neue"/>
              </a:rPr>
              <a:t>API + Web UI</a:t>
            </a:r>
          </a:p>
        </p:txBody>
      </p:sp>
      <p:sp>
        <p:nvSpPr>
          <p:cNvPr id="18" name="Rounded Rectangle 17"/>
          <p:cNvSpPr/>
          <p:nvPr/>
        </p:nvSpPr>
        <p:spPr>
          <a:xfrm>
            <a:off x="4663440" y="3182112"/>
            <a:ext cx="1051560" cy="292608"/>
          </a:xfrm>
          <a:prstGeom prst="roundRect">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182112"/>
            <a:ext cx="1051560" cy="292608"/>
          </a:xfrm>
          <a:prstGeom prst="rect">
            <a:avLst/>
          </a:prstGeom>
          <a:noFill/>
        </p:spPr>
        <p:txBody>
          <a:bodyPr wrap="none" lIns="0" rIns="0" tIns="36576">
            <a:spAutoFit/>
          </a:bodyPr>
          <a:lstStyle/>
          <a:p>
            <a:pPr algn="ctr"/>
            <a:r>
              <a:rPr sz="1000" b="1">
                <a:solidFill>
                  <a:srgbClr val="0F141A"/>
                </a:solidFill>
                <a:latin typeface="Helvetica Neue"/>
              </a:rPr>
              <a:t>Done</a:t>
            </a:r>
          </a:p>
        </p:txBody>
      </p:sp>
      <p:sp>
        <p:nvSpPr>
          <p:cNvPr id="20" name="TextBox 19"/>
          <p:cNvSpPr txBox="1"/>
          <p:nvPr/>
        </p:nvSpPr>
        <p:spPr>
          <a:xfrm>
            <a:off x="5897880" y="3182112"/>
            <a:ext cx="5760720" cy="548640"/>
          </a:xfrm>
          <a:prstGeom prst="rect">
            <a:avLst/>
          </a:prstGeom>
          <a:noFill/>
        </p:spPr>
        <p:txBody>
          <a:bodyPr wrap="square" lIns="45720" rIns="45720">
            <a:spAutoFit/>
          </a:bodyPr>
          <a:lstStyle/>
          <a:p>
            <a:pPr algn="l"/>
            <a:r>
              <a:rPr sz="1000" b="0">
                <a:solidFill>
                  <a:srgbClr val="8A95A5"/>
                </a:solidFill>
                <a:latin typeface="Helvetica Neue"/>
              </a:rPr>
              <a:t>18 endpoints (REST + WebSocket); 7 pages — Query, Chat, Tables, Domains, Gold, Settings, browser; provider-aware refresh</a:t>
            </a:r>
          </a:p>
        </p:txBody>
      </p:sp>
      <p:sp>
        <p:nvSpPr>
          <p:cNvPr id="21" name="TextBox 20"/>
          <p:cNvSpPr txBox="1"/>
          <p:nvPr/>
        </p:nvSpPr>
        <p:spPr>
          <a:xfrm>
            <a:off x="640080" y="3694176"/>
            <a:ext cx="3931920" cy="292608"/>
          </a:xfrm>
          <a:prstGeom prst="rect">
            <a:avLst/>
          </a:prstGeom>
          <a:noFill/>
        </p:spPr>
        <p:txBody>
          <a:bodyPr wrap="square" lIns="45720" rIns="45720">
            <a:spAutoFit/>
          </a:bodyPr>
          <a:lstStyle/>
          <a:p>
            <a:pPr algn="l"/>
            <a:r>
              <a:rPr sz="1200" b="1">
                <a:solidFill>
                  <a:srgbClr val="E6EAF0"/>
                </a:solidFill>
                <a:latin typeface="Helvetica Neue"/>
              </a:rPr>
              <a:t>Operations</a:t>
            </a:r>
          </a:p>
        </p:txBody>
      </p:sp>
      <p:sp>
        <p:nvSpPr>
          <p:cNvPr id="22" name="Rounded Rectangle 21"/>
          <p:cNvSpPr/>
          <p:nvPr/>
        </p:nvSpPr>
        <p:spPr>
          <a:xfrm>
            <a:off x="4663440" y="3712463"/>
            <a:ext cx="1051560" cy="292608"/>
          </a:xfrm>
          <a:prstGeom prst="roundRect">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3712463"/>
            <a:ext cx="1051560" cy="292608"/>
          </a:xfrm>
          <a:prstGeom prst="rect">
            <a:avLst/>
          </a:prstGeom>
          <a:noFill/>
        </p:spPr>
        <p:txBody>
          <a:bodyPr wrap="none" lIns="0" rIns="0" tIns="36576">
            <a:spAutoFit/>
          </a:bodyPr>
          <a:lstStyle/>
          <a:p>
            <a:pPr algn="ctr"/>
            <a:r>
              <a:rPr sz="1000" b="1">
                <a:solidFill>
                  <a:srgbClr val="0F141A"/>
                </a:solidFill>
                <a:latin typeface="Helvetica Neue"/>
              </a:rPr>
              <a:t>Done</a:t>
            </a:r>
          </a:p>
        </p:txBody>
      </p:sp>
      <p:sp>
        <p:nvSpPr>
          <p:cNvPr id="24" name="TextBox 23"/>
          <p:cNvSpPr txBox="1"/>
          <p:nvPr/>
        </p:nvSpPr>
        <p:spPr>
          <a:xfrm>
            <a:off x="5897880" y="3712463"/>
            <a:ext cx="5760720" cy="548640"/>
          </a:xfrm>
          <a:prstGeom prst="rect">
            <a:avLst/>
          </a:prstGeom>
          <a:noFill/>
        </p:spPr>
        <p:txBody>
          <a:bodyPr wrap="square" lIns="45720" rIns="45720">
            <a:spAutoFit/>
          </a:bodyPr>
          <a:lstStyle/>
          <a:p>
            <a:pPr algn="l"/>
            <a:r>
              <a:rPr sz="1000" b="0">
                <a:solidFill>
                  <a:srgbClr val="8A95A5"/>
                </a:solidFill>
                <a:latin typeface="Helvetica Neue"/>
              </a:rPr>
              <a:t>Multi-dialect metadata DB, runtime Settings UI, eval harness with JSON+Markdown reports, ships zero-infra demo SQLite</a:t>
            </a:r>
          </a:p>
        </p:txBody>
      </p:sp>
      <p:sp>
        <p:nvSpPr>
          <p:cNvPr id="25" name="TextBox 24"/>
          <p:cNvSpPr txBox="1"/>
          <p:nvPr/>
        </p:nvSpPr>
        <p:spPr>
          <a:xfrm>
            <a:off x="640080" y="4224528"/>
            <a:ext cx="3931920" cy="292608"/>
          </a:xfrm>
          <a:prstGeom prst="rect">
            <a:avLst/>
          </a:prstGeom>
          <a:noFill/>
        </p:spPr>
        <p:txBody>
          <a:bodyPr wrap="square" lIns="45720" rIns="45720">
            <a:spAutoFit/>
          </a:bodyPr>
          <a:lstStyle/>
          <a:p>
            <a:pPr algn="l"/>
            <a:r>
              <a:rPr sz="1200" b="1">
                <a:solidFill>
                  <a:srgbClr val="E6EAF0"/>
                </a:solidFill>
                <a:latin typeface="Helvetica Neue"/>
              </a:rPr>
              <a:t>Auto sub-clustering (Leiden)</a:t>
            </a:r>
          </a:p>
        </p:txBody>
      </p:sp>
      <p:sp>
        <p:nvSpPr>
          <p:cNvPr id="26" name="Rounded Rectangle 25"/>
          <p:cNvSpPr/>
          <p:nvPr/>
        </p:nvSpPr>
        <p:spPr>
          <a:xfrm>
            <a:off x="4663440" y="4242816"/>
            <a:ext cx="1051560" cy="292608"/>
          </a:xfrm>
          <a:prstGeom prst="roundRect">
            <a:avLst/>
          </a:prstGeom>
          <a:solidFill>
            <a:srgbClr val="F2B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242816"/>
            <a:ext cx="1051560" cy="292608"/>
          </a:xfrm>
          <a:prstGeom prst="rect">
            <a:avLst/>
          </a:prstGeom>
          <a:noFill/>
        </p:spPr>
        <p:txBody>
          <a:bodyPr wrap="none" lIns="0" rIns="0" tIns="36576">
            <a:spAutoFit/>
          </a:bodyPr>
          <a:lstStyle/>
          <a:p>
            <a:pPr algn="ctr"/>
            <a:r>
              <a:rPr sz="1000" b="1">
                <a:solidFill>
                  <a:srgbClr val="0F141A"/>
                </a:solidFill>
                <a:latin typeface="Helvetica Neue"/>
              </a:rPr>
              <a:t>In flight</a:t>
            </a:r>
          </a:p>
        </p:txBody>
      </p:sp>
      <p:sp>
        <p:nvSpPr>
          <p:cNvPr id="28" name="TextBox 27"/>
          <p:cNvSpPr txBox="1"/>
          <p:nvPr/>
        </p:nvSpPr>
        <p:spPr>
          <a:xfrm>
            <a:off x="5897880" y="4242816"/>
            <a:ext cx="5760720" cy="548640"/>
          </a:xfrm>
          <a:prstGeom prst="rect">
            <a:avLst/>
          </a:prstGeom>
          <a:noFill/>
        </p:spPr>
        <p:txBody>
          <a:bodyPr wrap="square" lIns="45720" rIns="45720">
            <a:spAutoFit/>
          </a:bodyPr>
          <a:lstStyle/>
          <a:p>
            <a:pPr algn="l"/>
            <a:r>
              <a:rPr sz="1000" b="0">
                <a:solidFill>
                  <a:srgbClr val="8A95A5"/>
                </a:solidFill>
                <a:latin typeface="Helvetica Neue"/>
              </a:rPr>
              <a:t>Refines oversize Ed-Fi domains into 8–20-table clusters for sharper routing; static taxonomy works today</a:t>
            </a:r>
          </a:p>
        </p:txBody>
      </p:sp>
      <p:sp>
        <p:nvSpPr>
          <p:cNvPr id="29" name="TextBox 28"/>
          <p:cNvSpPr txBox="1"/>
          <p:nvPr/>
        </p:nvSpPr>
        <p:spPr>
          <a:xfrm>
            <a:off x="640080" y="4754880"/>
            <a:ext cx="3931920" cy="292608"/>
          </a:xfrm>
          <a:prstGeom prst="rect">
            <a:avLst/>
          </a:prstGeom>
          <a:noFill/>
        </p:spPr>
        <p:txBody>
          <a:bodyPr wrap="square" lIns="45720" rIns="45720">
            <a:spAutoFit/>
          </a:bodyPr>
          <a:lstStyle/>
          <a:p>
            <a:pPr algn="l"/>
            <a:r>
              <a:rPr sz="1200" b="1">
                <a:solidFill>
                  <a:srgbClr val="E6EAF0"/>
                </a:solidFill>
                <a:latin typeface="Helvetica Neue"/>
              </a:rPr>
              <a:t>Multi-provider matrix tests</a:t>
            </a:r>
          </a:p>
        </p:txBody>
      </p:sp>
      <p:sp>
        <p:nvSpPr>
          <p:cNvPr id="30" name="Rounded Rectangle 29"/>
          <p:cNvSpPr/>
          <p:nvPr/>
        </p:nvSpPr>
        <p:spPr>
          <a:xfrm>
            <a:off x="4663440" y="4773168"/>
            <a:ext cx="1051560" cy="292608"/>
          </a:xfrm>
          <a:prstGeom prst="roundRect">
            <a:avLst/>
          </a:prstGeom>
          <a:solidFill>
            <a:srgbClr val="F2B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4773168"/>
            <a:ext cx="1051560" cy="292608"/>
          </a:xfrm>
          <a:prstGeom prst="rect">
            <a:avLst/>
          </a:prstGeom>
          <a:noFill/>
        </p:spPr>
        <p:txBody>
          <a:bodyPr wrap="none" lIns="0" rIns="0" tIns="36576">
            <a:spAutoFit/>
          </a:bodyPr>
          <a:lstStyle/>
          <a:p>
            <a:pPr algn="ctr"/>
            <a:r>
              <a:rPr sz="1000" b="1">
                <a:solidFill>
                  <a:srgbClr val="0F141A"/>
                </a:solidFill>
                <a:latin typeface="Helvetica Neue"/>
              </a:rPr>
              <a:t>In flight</a:t>
            </a:r>
          </a:p>
        </p:txBody>
      </p:sp>
      <p:sp>
        <p:nvSpPr>
          <p:cNvPr id="32" name="TextBox 31"/>
          <p:cNvSpPr txBox="1"/>
          <p:nvPr/>
        </p:nvSpPr>
        <p:spPr>
          <a:xfrm>
            <a:off x="5897880" y="4773168"/>
            <a:ext cx="5760720" cy="548640"/>
          </a:xfrm>
          <a:prstGeom prst="rect">
            <a:avLst/>
          </a:prstGeom>
          <a:noFill/>
        </p:spPr>
        <p:txBody>
          <a:bodyPr wrap="square" lIns="45720" rIns="45720">
            <a:spAutoFit/>
          </a:bodyPr>
          <a:lstStyle/>
          <a:p>
            <a:pPr algn="l"/>
            <a:r>
              <a:rPr sz="1000" b="0">
                <a:solidFill>
                  <a:srgbClr val="8A95A5"/>
                </a:solidFill>
                <a:latin typeface="Helvetica Neue"/>
              </a:rPr>
              <a:t>5 LLM providers + 4 embedding providers wired; cross-product regression matrix lands by June 13</a:t>
            </a:r>
          </a:p>
        </p:txBody>
      </p:sp>
      <p:sp>
        <p:nvSpPr>
          <p:cNvPr id="33" name="TextBox 32"/>
          <p:cNvSpPr txBox="1"/>
          <p:nvPr/>
        </p:nvSpPr>
        <p:spPr>
          <a:xfrm>
            <a:off x="640080" y="5285232"/>
            <a:ext cx="3931920" cy="292608"/>
          </a:xfrm>
          <a:prstGeom prst="rect">
            <a:avLst/>
          </a:prstGeom>
          <a:noFill/>
        </p:spPr>
        <p:txBody>
          <a:bodyPr wrap="square" lIns="45720" rIns="45720">
            <a:spAutoFit/>
          </a:bodyPr>
          <a:lstStyle/>
          <a:p>
            <a:pPr algn="l"/>
            <a:r>
              <a:rPr sz="1200" b="1">
                <a:solidFill>
                  <a:srgbClr val="E6EAF0"/>
                </a:solidFill>
                <a:latin typeface="Helvetica Neue"/>
              </a:rPr>
              <a:t>Agentic polish</a:t>
            </a:r>
          </a:p>
        </p:txBody>
      </p:sp>
      <p:sp>
        <p:nvSpPr>
          <p:cNvPr id="34" name="Rounded Rectangle 33"/>
          <p:cNvSpPr/>
          <p:nvPr/>
        </p:nvSpPr>
        <p:spPr>
          <a:xfrm>
            <a:off x="4663440" y="5303520"/>
            <a:ext cx="1051560" cy="292608"/>
          </a:xfrm>
          <a:prstGeom prst="roundRect">
            <a:avLst/>
          </a:prstGeom>
          <a:solidFill>
            <a:srgbClr val="F2B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5303520"/>
            <a:ext cx="1051560" cy="292608"/>
          </a:xfrm>
          <a:prstGeom prst="rect">
            <a:avLst/>
          </a:prstGeom>
          <a:noFill/>
        </p:spPr>
        <p:txBody>
          <a:bodyPr wrap="none" lIns="0" rIns="0" tIns="36576">
            <a:spAutoFit/>
          </a:bodyPr>
          <a:lstStyle/>
          <a:p>
            <a:pPr algn="ctr"/>
            <a:r>
              <a:rPr sz="1000" b="1">
                <a:solidFill>
                  <a:srgbClr val="0F141A"/>
                </a:solidFill>
                <a:latin typeface="Helvetica Neue"/>
              </a:rPr>
              <a:t>In flight</a:t>
            </a:r>
          </a:p>
        </p:txBody>
      </p:sp>
      <p:sp>
        <p:nvSpPr>
          <p:cNvPr id="36" name="TextBox 35"/>
          <p:cNvSpPr txBox="1"/>
          <p:nvPr/>
        </p:nvSpPr>
        <p:spPr>
          <a:xfrm>
            <a:off x="5897880" y="5303520"/>
            <a:ext cx="5760720" cy="548640"/>
          </a:xfrm>
          <a:prstGeom prst="rect">
            <a:avLst/>
          </a:prstGeom>
          <a:noFill/>
        </p:spPr>
        <p:txBody>
          <a:bodyPr wrap="square" lIns="45720" rIns="45720">
            <a:spAutoFit/>
          </a:bodyPr>
          <a:lstStyle/>
          <a:p>
            <a:pPr algn="l"/>
            <a:r>
              <a:rPr sz="1000" b="0">
                <a:solidFill>
                  <a:srgbClr val="8A95A5"/>
                </a:solidFill>
                <a:latin typeface="Helvetica Neue"/>
              </a:rPr>
              <a:t>Tool reliability, streaming UX refinements, more agent tools (chart export, eval drilldown)</a:t>
            </a:r>
          </a:p>
        </p:txBody>
      </p:sp>
      <p:sp>
        <p:nvSpPr>
          <p:cNvPr id="37" name="TextBox 36"/>
          <p:cNvSpPr txBox="1"/>
          <p:nvPr/>
        </p:nvSpPr>
        <p:spPr>
          <a:xfrm>
            <a:off x="640080" y="5815584"/>
            <a:ext cx="3931920" cy="292608"/>
          </a:xfrm>
          <a:prstGeom prst="rect">
            <a:avLst/>
          </a:prstGeom>
          <a:noFill/>
        </p:spPr>
        <p:txBody>
          <a:bodyPr wrap="square" lIns="45720" rIns="45720">
            <a:spAutoFit/>
          </a:bodyPr>
          <a:lstStyle/>
          <a:p>
            <a:pPr algn="l"/>
            <a:r>
              <a:rPr sz="1200" b="1">
                <a:solidFill>
                  <a:srgbClr val="E6EAF0"/>
                </a:solidFill>
                <a:latin typeface="Helvetica Neue"/>
              </a:rPr>
              <a:t>Observability (OTel + Prometheus)</a:t>
            </a:r>
          </a:p>
        </p:txBody>
      </p:sp>
      <p:sp>
        <p:nvSpPr>
          <p:cNvPr id="38" name="Rounded Rectangle 37"/>
          <p:cNvSpPr/>
          <p:nvPr/>
        </p:nvSpPr>
        <p:spPr>
          <a:xfrm>
            <a:off x="4663440" y="5833872"/>
            <a:ext cx="1051560" cy="292608"/>
          </a:xfrm>
          <a:prstGeom prst="roundRect">
            <a:avLst/>
          </a:prstGeom>
          <a:solidFill>
            <a:srgbClr val="E5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5833872"/>
            <a:ext cx="1051560" cy="292608"/>
          </a:xfrm>
          <a:prstGeom prst="rect">
            <a:avLst/>
          </a:prstGeom>
          <a:noFill/>
        </p:spPr>
        <p:txBody>
          <a:bodyPr wrap="none" lIns="0" rIns="0" tIns="36576">
            <a:spAutoFit/>
          </a:bodyPr>
          <a:lstStyle/>
          <a:p>
            <a:pPr algn="ctr"/>
            <a:r>
              <a:rPr sz="1000" b="1">
                <a:solidFill>
                  <a:srgbClr val="0F141A"/>
                </a:solidFill>
                <a:latin typeface="Helvetica Neue"/>
              </a:rPr>
              <a:t>Coming</a:t>
            </a:r>
          </a:p>
        </p:txBody>
      </p:sp>
      <p:sp>
        <p:nvSpPr>
          <p:cNvPr id="40" name="TextBox 39"/>
          <p:cNvSpPr txBox="1"/>
          <p:nvPr/>
        </p:nvSpPr>
        <p:spPr>
          <a:xfrm>
            <a:off x="5897880" y="5833872"/>
            <a:ext cx="5760720" cy="548640"/>
          </a:xfrm>
          <a:prstGeom prst="rect">
            <a:avLst/>
          </a:prstGeom>
          <a:noFill/>
        </p:spPr>
        <p:txBody>
          <a:bodyPr wrap="square" lIns="45720" rIns="45720">
            <a:spAutoFit/>
          </a:bodyPr>
          <a:lstStyle/>
          <a:p>
            <a:pPr algn="l"/>
            <a:r>
              <a:rPr sz="1000" b="0">
                <a:solidFill>
                  <a:srgbClr val="8A95A5"/>
                </a:solidFill>
                <a:latin typeface="Helvetica Neue"/>
              </a:rPr>
              <a:t>Per-stage spans + counters; logging is in place today, traces and metrics are next</a:t>
            </a:r>
          </a:p>
        </p:txBody>
      </p:sp>
      <p:sp>
        <p:nvSpPr>
          <p:cNvPr id="41" name="TextBox 40"/>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Status snapshot</a:t>
            </a:r>
          </a:p>
        </p:txBody>
      </p:sp>
      <p:sp>
        <p:nvSpPr>
          <p:cNvPr id="42" name="TextBox 41"/>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v0.9 release · Fri June 13,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The big picture</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Five layers carry every question from English to answer</a:t>
            </a:r>
          </a:p>
        </p:txBody>
      </p:sp>
      <p:sp>
        <p:nvSpPr>
          <p:cNvPr id="4" name="Rounded Rectangle 3"/>
          <p:cNvSpPr/>
          <p:nvPr/>
        </p:nvSpPr>
        <p:spPr>
          <a:xfrm>
            <a:off x="457200" y="1280160"/>
            <a:ext cx="11247120" cy="795528"/>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2377440" cy="365760"/>
          </a:xfrm>
          <a:prstGeom prst="rect">
            <a:avLst/>
          </a:prstGeom>
          <a:noFill/>
        </p:spPr>
        <p:txBody>
          <a:bodyPr wrap="square" lIns="45720" rIns="45720">
            <a:spAutoFit/>
          </a:bodyPr>
          <a:lstStyle/>
          <a:p>
            <a:pPr algn="l"/>
            <a:r>
              <a:rPr sz="1300" b="1">
                <a:solidFill>
                  <a:srgbClr val="8A95A5"/>
                </a:solidFill>
                <a:latin typeface="Helvetica Neue"/>
              </a:rPr>
              <a:t>Question</a:t>
            </a:r>
          </a:p>
        </p:txBody>
      </p:sp>
      <p:sp>
        <p:nvSpPr>
          <p:cNvPr id="6" name="TextBox 5"/>
          <p:cNvSpPr txBox="1"/>
          <p:nvPr/>
        </p:nvSpPr>
        <p:spPr>
          <a:xfrm>
            <a:off x="3108960" y="1371600"/>
            <a:ext cx="8412480" cy="292608"/>
          </a:xfrm>
          <a:prstGeom prst="rect">
            <a:avLst/>
          </a:prstGeom>
          <a:noFill/>
        </p:spPr>
        <p:txBody>
          <a:bodyPr wrap="square" lIns="45720" rIns="45720">
            <a:spAutoFit/>
          </a:bodyPr>
          <a:lstStyle/>
          <a:p>
            <a:pPr algn="l"/>
            <a:r>
              <a:rPr sz="1100" b="0">
                <a:solidFill>
                  <a:srgbClr val="E6EAF0"/>
                </a:solidFill>
                <a:latin typeface="Helvetica Neue"/>
              </a:rPr>
              <a:t>• Analyst types: 'How many Hispanic students enrolled in Grade 9 last year?'</a:t>
            </a:r>
          </a:p>
        </p:txBody>
      </p:sp>
      <p:sp>
        <p:nvSpPr>
          <p:cNvPr id="7" name="Rounded Rectangle 6"/>
          <p:cNvSpPr/>
          <p:nvPr/>
        </p:nvSpPr>
        <p:spPr>
          <a:xfrm>
            <a:off x="457200" y="2148840"/>
            <a:ext cx="11247120" cy="1673352"/>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40280"/>
            <a:ext cx="2377440" cy="365760"/>
          </a:xfrm>
          <a:prstGeom prst="rect">
            <a:avLst/>
          </a:prstGeom>
          <a:noFill/>
        </p:spPr>
        <p:txBody>
          <a:bodyPr wrap="square" lIns="45720" rIns="45720">
            <a:spAutoFit/>
          </a:bodyPr>
          <a:lstStyle/>
          <a:p>
            <a:pPr algn="l"/>
            <a:r>
              <a:rPr sz="1300" b="1">
                <a:solidFill>
                  <a:srgbClr val="4AD09C"/>
                </a:solidFill>
                <a:latin typeface="Helvetica Neue"/>
              </a:rPr>
              <a:t>Knowledge</a:t>
            </a:r>
          </a:p>
        </p:txBody>
      </p:sp>
      <p:sp>
        <p:nvSpPr>
          <p:cNvPr id="9" name="TextBox 8"/>
          <p:cNvSpPr txBox="1"/>
          <p:nvPr/>
        </p:nvSpPr>
        <p:spPr>
          <a:xfrm>
            <a:off x="3108960" y="2240280"/>
            <a:ext cx="8412480" cy="292608"/>
          </a:xfrm>
          <a:prstGeom prst="rect">
            <a:avLst/>
          </a:prstGeom>
          <a:noFill/>
        </p:spPr>
        <p:txBody>
          <a:bodyPr wrap="square" lIns="45720" rIns="45720">
            <a:spAutoFit/>
          </a:bodyPr>
          <a:lstStyle/>
          <a:p>
            <a:pPr algn="l"/>
            <a:r>
              <a:rPr sz="1100" b="0">
                <a:solidFill>
                  <a:srgbClr val="E6EAF0"/>
                </a:solidFill>
                <a:latin typeface="Helvetica Neue"/>
              </a:rPr>
              <a:t>• Classification routes the question to the right Ed-Fi domains</a:t>
            </a:r>
          </a:p>
        </p:txBody>
      </p:sp>
      <p:sp>
        <p:nvSpPr>
          <p:cNvPr id="10" name="TextBox 9"/>
          <p:cNvSpPr txBox="1"/>
          <p:nvPr/>
        </p:nvSpPr>
        <p:spPr>
          <a:xfrm>
            <a:off x="3108960" y="2514600"/>
            <a:ext cx="8412480" cy="292608"/>
          </a:xfrm>
          <a:prstGeom prst="rect">
            <a:avLst/>
          </a:prstGeom>
          <a:noFill/>
        </p:spPr>
        <p:txBody>
          <a:bodyPr wrap="square" lIns="45720" rIns="45720">
            <a:spAutoFit/>
          </a:bodyPr>
          <a:lstStyle/>
          <a:p>
            <a:pPr algn="l"/>
            <a:r>
              <a:rPr sz="1100" b="0">
                <a:solidFill>
                  <a:srgbClr val="E6EAF0"/>
                </a:solidFill>
                <a:latin typeface="Helvetica Neue"/>
              </a:rPr>
              <a:t>• Hybrid retrieval narrows 1,048 tables to a small relevant set</a:t>
            </a:r>
          </a:p>
        </p:txBody>
      </p:sp>
      <p:sp>
        <p:nvSpPr>
          <p:cNvPr id="11" name="TextBox 10"/>
          <p:cNvSpPr txBox="1"/>
          <p:nvPr/>
        </p:nvSpPr>
        <p:spPr>
          <a:xfrm>
            <a:off x="3108960" y="2788920"/>
            <a:ext cx="8412480" cy="292608"/>
          </a:xfrm>
          <a:prstGeom prst="rect">
            <a:avLst/>
          </a:prstGeom>
          <a:noFill/>
        </p:spPr>
        <p:txBody>
          <a:bodyPr wrap="square" lIns="45720" rIns="45720">
            <a:spAutoFit/>
          </a:bodyPr>
          <a:lstStyle/>
          <a:p>
            <a:pPr algn="l"/>
            <a:r>
              <a:rPr sz="1100" b="0">
                <a:solidFill>
                  <a:srgbClr val="E6EAF0"/>
                </a:solidFill>
                <a:latin typeface="Helvetica Neue"/>
              </a:rPr>
              <a:t>• FK graph + Steiner returns the cheapest JOIN tree connecting them</a:t>
            </a:r>
          </a:p>
        </p:txBody>
      </p:sp>
      <p:sp>
        <p:nvSpPr>
          <p:cNvPr id="12" name="TextBox 11"/>
          <p:cNvSpPr txBox="1"/>
          <p:nvPr/>
        </p:nvSpPr>
        <p:spPr>
          <a:xfrm>
            <a:off x="3108960" y="3063240"/>
            <a:ext cx="8412480" cy="292608"/>
          </a:xfrm>
          <a:prstGeom prst="rect">
            <a:avLst/>
          </a:prstGeom>
          <a:noFill/>
        </p:spPr>
        <p:txBody>
          <a:bodyPr wrap="square" lIns="45720" rIns="45720">
            <a:spAutoFit/>
          </a:bodyPr>
          <a:lstStyle/>
          <a:p>
            <a:pPr algn="l"/>
            <a:r>
              <a:rPr sz="1100" b="0">
                <a:solidFill>
                  <a:srgbClr val="E6EAF0"/>
                </a:solidFill>
                <a:latin typeface="Helvetica Neue"/>
              </a:rPr>
              <a:t>• Entity resolver maps real-world terms (Hispanic, Grade 9) to codes</a:t>
            </a:r>
          </a:p>
        </p:txBody>
      </p:sp>
      <p:sp>
        <p:nvSpPr>
          <p:cNvPr id="13" name="Rounded Rectangle 12"/>
          <p:cNvSpPr/>
          <p:nvPr/>
        </p:nvSpPr>
        <p:spPr>
          <a:xfrm>
            <a:off x="457200" y="3895344"/>
            <a:ext cx="11247120" cy="1088136"/>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86783"/>
            <a:ext cx="2377440" cy="365760"/>
          </a:xfrm>
          <a:prstGeom prst="rect">
            <a:avLst/>
          </a:prstGeom>
          <a:noFill/>
        </p:spPr>
        <p:txBody>
          <a:bodyPr wrap="square" lIns="45720" rIns="45720">
            <a:spAutoFit/>
          </a:bodyPr>
          <a:lstStyle/>
          <a:p>
            <a:pPr algn="l"/>
            <a:r>
              <a:rPr sz="1300" b="1">
                <a:solidFill>
                  <a:srgbClr val="4AD09C"/>
                </a:solidFill>
                <a:latin typeface="Helvetica Neue"/>
              </a:rPr>
              <a:t>Pipeline</a:t>
            </a:r>
          </a:p>
        </p:txBody>
      </p:sp>
      <p:sp>
        <p:nvSpPr>
          <p:cNvPr id="15" name="TextBox 14"/>
          <p:cNvSpPr txBox="1"/>
          <p:nvPr/>
        </p:nvSpPr>
        <p:spPr>
          <a:xfrm>
            <a:off x="3108960" y="3986783"/>
            <a:ext cx="8412480" cy="292608"/>
          </a:xfrm>
          <a:prstGeom prst="rect">
            <a:avLst/>
          </a:prstGeom>
          <a:noFill/>
        </p:spPr>
        <p:txBody>
          <a:bodyPr wrap="square" lIns="45720" rIns="45720">
            <a:spAutoFit/>
          </a:bodyPr>
          <a:lstStyle/>
          <a:p>
            <a:pPr algn="l"/>
            <a:r>
              <a:rPr sz="1100" b="0">
                <a:solidFill>
                  <a:srgbClr val="E6EAF0"/>
                </a:solidFill>
                <a:latin typeface="Helvetica Neue"/>
              </a:rPr>
              <a:t>• LLM writes SQL grounded in real columns; validator parses + plans + dry-runs</a:t>
            </a:r>
          </a:p>
        </p:txBody>
      </p:sp>
      <p:sp>
        <p:nvSpPr>
          <p:cNvPr id="16" name="TextBox 15"/>
          <p:cNvSpPr txBox="1"/>
          <p:nvPr/>
        </p:nvSpPr>
        <p:spPr>
          <a:xfrm>
            <a:off x="3108960" y="4261103"/>
            <a:ext cx="8412480" cy="292608"/>
          </a:xfrm>
          <a:prstGeom prst="rect">
            <a:avLst/>
          </a:prstGeom>
          <a:noFill/>
        </p:spPr>
        <p:txBody>
          <a:bodyPr wrap="square" lIns="45720" rIns="45720">
            <a:spAutoFit/>
          </a:bodyPr>
          <a:lstStyle/>
          <a:p>
            <a:pPr algn="l"/>
            <a:r>
              <a:rPr sz="1100" b="0">
                <a:solidFill>
                  <a:srgbClr val="E6EAF0"/>
                </a:solidFill>
                <a:latin typeface="Helvetica Neue"/>
              </a:rPr>
              <a:t>• Repair loop (3 attempts) auto-fixes the common failure modes</a:t>
            </a:r>
          </a:p>
        </p:txBody>
      </p:sp>
      <p:sp>
        <p:nvSpPr>
          <p:cNvPr id="17" name="Rounded Rectangle 16"/>
          <p:cNvSpPr/>
          <p:nvPr/>
        </p:nvSpPr>
        <p:spPr>
          <a:xfrm>
            <a:off x="457200" y="5056631"/>
            <a:ext cx="11247120" cy="1088136"/>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148071"/>
            <a:ext cx="2377440" cy="365760"/>
          </a:xfrm>
          <a:prstGeom prst="rect">
            <a:avLst/>
          </a:prstGeom>
          <a:noFill/>
        </p:spPr>
        <p:txBody>
          <a:bodyPr wrap="square" lIns="45720" rIns="45720">
            <a:spAutoFit/>
          </a:bodyPr>
          <a:lstStyle/>
          <a:p>
            <a:pPr algn="l"/>
            <a:r>
              <a:rPr sz="1300" b="1">
                <a:solidFill>
                  <a:srgbClr val="4AD09C"/>
                </a:solidFill>
                <a:latin typeface="Helvetica Neue"/>
              </a:rPr>
              <a:t>Agentic</a:t>
            </a:r>
          </a:p>
        </p:txBody>
      </p:sp>
      <p:sp>
        <p:nvSpPr>
          <p:cNvPr id="19" name="TextBox 18"/>
          <p:cNvSpPr txBox="1"/>
          <p:nvPr/>
        </p:nvSpPr>
        <p:spPr>
          <a:xfrm>
            <a:off x="3108960" y="5148071"/>
            <a:ext cx="8412480" cy="292608"/>
          </a:xfrm>
          <a:prstGeom prst="rect">
            <a:avLst/>
          </a:prstGeom>
          <a:noFill/>
        </p:spPr>
        <p:txBody>
          <a:bodyPr wrap="square" lIns="45720" rIns="45720">
            <a:spAutoFit/>
          </a:bodyPr>
          <a:lstStyle/>
          <a:p>
            <a:pPr algn="l"/>
            <a:r>
              <a:rPr sz="1100" b="0">
                <a:solidFill>
                  <a:srgbClr val="E6EAF0"/>
                </a:solidFill>
                <a:latin typeface="Helvetica Neue"/>
              </a:rPr>
              <a:t>• Agent loop calls 8 tools across multi-turn conversations</a:t>
            </a:r>
          </a:p>
        </p:txBody>
      </p:sp>
      <p:sp>
        <p:nvSpPr>
          <p:cNvPr id="20" name="TextBox 19"/>
          <p:cNvSpPr txBox="1"/>
          <p:nvPr/>
        </p:nvSpPr>
        <p:spPr>
          <a:xfrm>
            <a:off x="3108960" y="5422391"/>
            <a:ext cx="8412480" cy="292608"/>
          </a:xfrm>
          <a:prstGeom prst="rect">
            <a:avLst/>
          </a:prstGeom>
          <a:noFill/>
        </p:spPr>
        <p:txBody>
          <a:bodyPr wrap="square" lIns="45720" rIns="45720">
            <a:spAutoFit/>
          </a:bodyPr>
          <a:lstStyle/>
          <a:p>
            <a:pPr algn="l"/>
            <a:r>
              <a:rPr sz="1100" b="0">
                <a:solidFill>
                  <a:srgbClr val="E6EAF0"/>
                </a:solidFill>
                <a:latin typeface="Helvetica Neue"/>
              </a:rPr>
              <a:t>• Server-sent streaming gives token-level feedback in the browser</a:t>
            </a:r>
          </a:p>
        </p:txBody>
      </p:sp>
      <p:sp>
        <p:nvSpPr>
          <p:cNvPr id="21" name="Rounded Rectangle 20"/>
          <p:cNvSpPr/>
          <p:nvPr/>
        </p:nvSpPr>
        <p:spPr>
          <a:xfrm>
            <a:off x="457200" y="6217919"/>
            <a:ext cx="11247120" cy="795528"/>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309359"/>
            <a:ext cx="2377440" cy="365760"/>
          </a:xfrm>
          <a:prstGeom prst="rect">
            <a:avLst/>
          </a:prstGeom>
          <a:noFill/>
        </p:spPr>
        <p:txBody>
          <a:bodyPr wrap="square" lIns="45720" rIns="45720">
            <a:spAutoFit/>
          </a:bodyPr>
          <a:lstStyle/>
          <a:p>
            <a:pPr algn="l"/>
            <a:r>
              <a:rPr sz="1300" b="1">
                <a:solidFill>
                  <a:srgbClr val="4AD09C"/>
                </a:solidFill>
                <a:latin typeface="Helvetica Neue"/>
              </a:rPr>
              <a:t>Answer</a:t>
            </a:r>
          </a:p>
        </p:txBody>
      </p:sp>
      <p:sp>
        <p:nvSpPr>
          <p:cNvPr id="23" name="TextBox 22"/>
          <p:cNvSpPr txBox="1"/>
          <p:nvPr/>
        </p:nvSpPr>
        <p:spPr>
          <a:xfrm>
            <a:off x="3108960" y="6309359"/>
            <a:ext cx="8412480" cy="292608"/>
          </a:xfrm>
          <a:prstGeom prst="rect">
            <a:avLst/>
          </a:prstGeom>
          <a:noFill/>
        </p:spPr>
        <p:txBody>
          <a:bodyPr wrap="square" lIns="45720" rIns="45720">
            <a:spAutoFit/>
          </a:bodyPr>
          <a:lstStyle/>
          <a:p>
            <a:pPr algn="l"/>
            <a:r>
              <a:rPr sz="1100" b="0">
                <a:solidFill>
                  <a:srgbClr val="E6EAF0"/>
                </a:solidFill>
                <a:latin typeface="Helvetica Neue"/>
              </a:rPr>
              <a:t>• SQL · rows · auto-picked chart · plain-English summary · cited tables</a:t>
            </a:r>
          </a:p>
        </p:txBody>
      </p:sp>
      <p:sp>
        <p:nvSpPr>
          <p:cNvPr id="24" name="TextBox 23"/>
          <p:cNvSpPr txBox="1"/>
          <p:nvPr/>
        </p:nvSpPr>
        <p:spPr>
          <a:xfrm>
            <a:off x="457200" y="6446520"/>
            <a:ext cx="11247120" cy="274320"/>
          </a:xfrm>
          <a:prstGeom prst="rect">
            <a:avLst/>
          </a:prstGeom>
          <a:noFill/>
        </p:spPr>
        <p:txBody>
          <a:bodyPr wrap="square" lIns="45720" rIns="45720">
            <a:spAutoFit/>
          </a:bodyPr>
          <a:lstStyle/>
          <a:p>
            <a:pPr algn="ctr"/>
            <a:r>
              <a:rPr sz="1100" b="0">
                <a:solidFill>
                  <a:srgbClr val="8A95A5"/>
                </a:solidFill>
                <a:latin typeface="Helvetica Neue"/>
              </a:rPr>
              <a:t>Every layer is built and tested today; the work to Fri June 13 is polish, hardening, and recorded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By the numbers</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What the platform actually contains today</a:t>
            </a:r>
          </a:p>
        </p:txBody>
      </p:sp>
      <p:sp>
        <p:nvSpPr>
          <p:cNvPr id="4" name="Rounded Rectangle 3"/>
          <p:cNvSpPr/>
          <p:nvPr/>
        </p:nvSpPr>
        <p:spPr>
          <a:xfrm>
            <a:off x="457200" y="1463040"/>
            <a:ext cx="3749039"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3383280" cy="365760"/>
          </a:xfrm>
          <a:prstGeom prst="rect">
            <a:avLst/>
          </a:prstGeom>
          <a:noFill/>
        </p:spPr>
        <p:txBody>
          <a:bodyPr wrap="square" lIns="45720" rIns="45720">
            <a:spAutoFit/>
          </a:bodyPr>
          <a:lstStyle/>
          <a:p>
            <a:pPr algn="l"/>
            <a:r>
              <a:rPr sz="1500" b="1">
                <a:solidFill>
                  <a:srgbClr val="4AD09C"/>
                </a:solidFill>
                <a:latin typeface="Helvetica Neue"/>
              </a:rPr>
              <a:t>Knowledge</a:t>
            </a:r>
          </a:p>
        </p:txBody>
      </p:sp>
      <p:sp>
        <p:nvSpPr>
          <p:cNvPr id="6" name="TextBox 5"/>
          <p:cNvSpPr txBox="1"/>
          <p:nvPr/>
        </p:nvSpPr>
        <p:spPr>
          <a:xfrm>
            <a:off x="640080" y="2011680"/>
            <a:ext cx="2286000" cy="292608"/>
          </a:xfrm>
          <a:prstGeom prst="rect">
            <a:avLst/>
          </a:prstGeom>
          <a:noFill/>
        </p:spPr>
        <p:txBody>
          <a:bodyPr wrap="square" lIns="45720" rIns="45720">
            <a:spAutoFit/>
          </a:bodyPr>
          <a:lstStyle/>
          <a:p>
            <a:pPr algn="l"/>
            <a:r>
              <a:rPr sz="1100" b="0">
                <a:solidFill>
                  <a:srgbClr val="8A95A5"/>
                </a:solidFill>
                <a:latin typeface="Helvetica Neue"/>
              </a:rPr>
              <a:t>Tables modeled</a:t>
            </a:r>
          </a:p>
        </p:txBody>
      </p:sp>
      <p:sp>
        <p:nvSpPr>
          <p:cNvPr id="7" name="TextBox 6"/>
          <p:cNvSpPr txBox="1"/>
          <p:nvPr/>
        </p:nvSpPr>
        <p:spPr>
          <a:xfrm>
            <a:off x="2834640" y="2011680"/>
            <a:ext cx="1280160" cy="292608"/>
          </a:xfrm>
          <a:prstGeom prst="rect">
            <a:avLst/>
          </a:prstGeom>
          <a:noFill/>
        </p:spPr>
        <p:txBody>
          <a:bodyPr wrap="square" lIns="45720" rIns="45720">
            <a:spAutoFit/>
          </a:bodyPr>
          <a:lstStyle/>
          <a:p>
            <a:pPr algn="r"/>
            <a:r>
              <a:rPr sz="1200" b="1">
                <a:solidFill>
                  <a:srgbClr val="E6EAF0"/>
                </a:solidFill>
                <a:latin typeface="Helvetica Neue"/>
              </a:rPr>
              <a:t>1,048</a:t>
            </a:r>
          </a:p>
        </p:txBody>
      </p:sp>
      <p:sp>
        <p:nvSpPr>
          <p:cNvPr id="8" name="TextBox 7"/>
          <p:cNvSpPr txBox="1"/>
          <p:nvPr/>
        </p:nvSpPr>
        <p:spPr>
          <a:xfrm>
            <a:off x="640080" y="2514600"/>
            <a:ext cx="2286000" cy="292608"/>
          </a:xfrm>
          <a:prstGeom prst="rect">
            <a:avLst/>
          </a:prstGeom>
          <a:noFill/>
        </p:spPr>
        <p:txBody>
          <a:bodyPr wrap="square" lIns="45720" rIns="45720">
            <a:spAutoFit/>
          </a:bodyPr>
          <a:lstStyle/>
          <a:p>
            <a:pPr algn="l"/>
            <a:r>
              <a:rPr sz="1100" b="0">
                <a:solidFill>
                  <a:srgbClr val="8A95A5"/>
                </a:solidFill>
                <a:latin typeface="Helvetica Neue"/>
              </a:rPr>
              <a:t>Foreign keys parsed</a:t>
            </a:r>
          </a:p>
        </p:txBody>
      </p:sp>
      <p:sp>
        <p:nvSpPr>
          <p:cNvPr id="9" name="TextBox 8"/>
          <p:cNvSpPr txBox="1"/>
          <p:nvPr/>
        </p:nvSpPr>
        <p:spPr>
          <a:xfrm>
            <a:off x="2834640" y="2514600"/>
            <a:ext cx="1280160" cy="292608"/>
          </a:xfrm>
          <a:prstGeom prst="rect">
            <a:avLst/>
          </a:prstGeom>
          <a:noFill/>
        </p:spPr>
        <p:txBody>
          <a:bodyPr wrap="square" lIns="45720" rIns="45720">
            <a:spAutoFit/>
          </a:bodyPr>
          <a:lstStyle/>
          <a:p>
            <a:pPr algn="r"/>
            <a:r>
              <a:rPr sz="1200" b="1">
                <a:solidFill>
                  <a:srgbClr val="E6EAF0"/>
                </a:solidFill>
                <a:latin typeface="Helvetica Neue"/>
              </a:rPr>
              <a:t>1,663</a:t>
            </a:r>
          </a:p>
        </p:txBody>
      </p:sp>
      <p:sp>
        <p:nvSpPr>
          <p:cNvPr id="10" name="TextBox 9"/>
          <p:cNvSpPr txBox="1"/>
          <p:nvPr/>
        </p:nvSpPr>
        <p:spPr>
          <a:xfrm>
            <a:off x="640080" y="3017520"/>
            <a:ext cx="2286000" cy="292608"/>
          </a:xfrm>
          <a:prstGeom prst="rect">
            <a:avLst/>
          </a:prstGeom>
          <a:noFill/>
        </p:spPr>
        <p:txBody>
          <a:bodyPr wrap="square" lIns="45720" rIns="45720">
            <a:spAutoFit/>
          </a:bodyPr>
          <a:lstStyle/>
          <a:p>
            <a:pPr algn="l"/>
            <a:r>
              <a:rPr sz="1100" b="0">
                <a:solidFill>
                  <a:srgbClr val="8A95A5"/>
                </a:solidFill>
                <a:latin typeface="Helvetica Neue"/>
              </a:rPr>
              <a:t>Domains (Ed-Fi taxonomy)</a:t>
            </a:r>
          </a:p>
        </p:txBody>
      </p:sp>
      <p:sp>
        <p:nvSpPr>
          <p:cNvPr id="11" name="TextBox 10"/>
          <p:cNvSpPr txBox="1"/>
          <p:nvPr/>
        </p:nvSpPr>
        <p:spPr>
          <a:xfrm>
            <a:off x="2834640" y="3017520"/>
            <a:ext cx="1280160" cy="292608"/>
          </a:xfrm>
          <a:prstGeom prst="rect">
            <a:avLst/>
          </a:prstGeom>
          <a:noFill/>
        </p:spPr>
        <p:txBody>
          <a:bodyPr wrap="square" lIns="45720" rIns="45720">
            <a:spAutoFit/>
          </a:bodyPr>
          <a:lstStyle/>
          <a:p>
            <a:pPr algn="r"/>
            <a:r>
              <a:rPr sz="1200" b="1">
                <a:solidFill>
                  <a:srgbClr val="E6EAF0"/>
                </a:solidFill>
                <a:latin typeface="Helvetica Neue"/>
              </a:rPr>
              <a:t>35</a:t>
            </a:r>
          </a:p>
        </p:txBody>
      </p:sp>
      <p:sp>
        <p:nvSpPr>
          <p:cNvPr id="12" name="TextBox 11"/>
          <p:cNvSpPr txBox="1"/>
          <p:nvPr/>
        </p:nvSpPr>
        <p:spPr>
          <a:xfrm>
            <a:off x="640080" y="3520439"/>
            <a:ext cx="2286000" cy="292608"/>
          </a:xfrm>
          <a:prstGeom prst="rect">
            <a:avLst/>
          </a:prstGeom>
          <a:noFill/>
        </p:spPr>
        <p:txBody>
          <a:bodyPr wrap="square" lIns="45720" rIns="45720">
            <a:spAutoFit/>
          </a:bodyPr>
          <a:lstStyle/>
          <a:p>
            <a:pPr algn="l"/>
            <a:r>
              <a:rPr sz="1100" b="0">
                <a:solidFill>
                  <a:srgbClr val="8A95A5"/>
                </a:solidFill>
                <a:latin typeface="Helvetica Neue"/>
              </a:rPr>
              <a:t>Catalog entries</a:t>
            </a:r>
          </a:p>
        </p:txBody>
      </p:sp>
      <p:sp>
        <p:nvSpPr>
          <p:cNvPr id="13" name="TextBox 12"/>
          <p:cNvSpPr txBox="1"/>
          <p:nvPr/>
        </p:nvSpPr>
        <p:spPr>
          <a:xfrm>
            <a:off x="2834640" y="3520439"/>
            <a:ext cx="1280160" cy="292608"/>
          </a:xfrm>
          <a:prstGeom prst="rect">
            <a:avLst/>
          </a:prstGeom>
          <a:noFill/>
        </p:spPr>
        <p:txBody>
          <a:bodyPr wrap="square" lIns="45720" rIns="45720">
            <a:spAutoFit/>
          </a:bodyPr>
          <a:lstStyle/>
          <a:p>
            <a:pPr algn="r"/>
            <a:r>
              <a:rPr sz="1200" b="1">
                <a:solidFill>
                  <a:srgbClr val="E6EAF0"/>
                </a:solidFill>
                <a:latin typeface="Helvetica Neue"/>
              </a:rPr>
              <a:t>829</a:t>
            </a:r>
          </a:p>
        </p:txBody>
      </p:sp>
      <p:sp>
        <p:nvSpPr>
          <p:cNvPr id="14" name="TextBox 13"/>
          <p:cNvSpPr txBox="1"/>
          <p:nvPr/>
        </p:nvSpPr>
        <p:spPr>
          <a:xfrm>
            <a:off x="640080" y="4023359"/>
            <a:ext cx="2286000" cy="292608"/>
          </a:xfrm>
          <a:prstGeom prst="rect">
            <a:avLst/>
          </a:prstGeom>
          <a:noFill/>
        </p:spPr>
        <p:txBody>
          <a:bodyPr wrap="square" lIns="45720" rIns="45720">
            <a:spAutoFit/>
          </a:bodyPr>
          <a:lstStyle/>
          <a:p>
            <a:pPr algn="l"/>
            <a:r>
              <a:rPr sz="1100" b="0">
                <a:solidFill>
                  <a:srgbClr val="8A95A5"/>
                </a:solidFill>
                <a:latin typeface="Helvetica Neue"/>
              </a:rPr>
              <a:t>APSP matrix</a:t>
            </a:r>
          </a:p>
        </p:txBody>
      </p:sp>
      <p:sp>
        <p:nvSpPr>
          <p:cNvPr id="15" name="TextBox 14"/>
          <p:cNvSpPr txBox="1"/>
          <p:nvPr/>
        </p:nvSpPr>
        <p:spPr>
          <a:xfrm>
            <a:off x="2834640" y="4023359"/>
            <a:ext cx="1280160" cy="292608"/>
          </a:xfrm>
          <a:prstGeom prst="rect">
            <a:avLst/>
          </a:prstGeom>
          <a:noFill/>
        </p:spPr>
        <p:txBody>
          <a:bodyPr wrap="square" lIns="45720" rIns="45720">
            <a:spAutoFit/>
          </a:bodyPr>
          <a:lstStyle/>
          <a:p>
            <a:pPr algn="r"/>
            <a:r>
              <a:rPr sz="1200" b="1">
                <a:solidFill>
                  <a:srgbClr val="E6EAF0"/>
                </a:solidFill>
                <a:latin typeface="Helvetica Neue"/>
              </a:rPr>
              <a:t>829 × 829</a:t>
            </a:r>
          </a:p>
        </p:txBody>
      </p:sp>
      <p:sp>
        <p:nvSpPr>
          <p:cNvPr id="16" name="TextBox 15"/>
          <p:cNvSpPr txBox="1"/>
          <p:nvPr/>
        </p:nvSpPr>
        <p:spPr>
          <a:xfrm>
            <a:off x="640080" y="4526279"/>
            <a:ext cx="2286000" cy="292608"/>
          </a:xfrm>
          <a:prstGeom prst="rect">
            <a:avLst/>
          </a:prstGeom>
          <a:noFill/>
        </p:spPr>
        <p:txBody>
          <a:bodyPr wrap="square" lIns="45720" rIns="45720">
            <a:spAutoFit/>
          </a:bodyPr>
          <a:lstStyle/>
          <a:p>
            <a:pPr algn="l"/>
            <a:r>
              <a:rPr sz="1100" b="0">
                <a:solidFill>
                  <a:srgbClr val="8A95A5"/>
                </a:solidFill>
                <a:latin typeface="Helvetica Neue"/>
              </a:rPr>
              <a:t>Steiner p99 latency</a:t>
            </a:r>
          </a:p>
        </p:txBody>
      </p:sp>
      <p:sp>
        <p:nvSpPr>
          <p:cNvPr id="17" name="TextBox 16"/>
          <p:cNvSpPr txBox="1"/>
          <p:nvPr/>
        </p:nvSpPr>
        <p:spPr>
          <a:xfrm>
            <a:off x="2834640" y="4526279"/>
            <a:ext cx="1280160" cy="292608"/>
          </a:xfrm>
          <a:prstGeom prst="rect">
            <a:avLst/>
          </a:prstGeom>
          <a:noFill/>
        </p:spPr>
        <p:txBody>
          <a:bodyPr wrap="square" lIns="45720" rIns="45720">
            <a:spAutoFit/>
          </a:bodyPr>
          <a:lstStyle/>
          <a:p>
            <a:pPr algn="r"/>
            <a:r>
              <a:rPr sz="1200" b="1">
                <a:solidFill>
                  <a:srgbClr val="E6EAF0"/>
                </a:solidFill>
                <a:latin typeface="Helvetica Neue"/>
              </a:rPr>
              <a:t>&lt; 1 ms</a:t>
            </a:r>
          </a:p>
        </p:txBody>
      </p:sp>
      <p:sp>
        <p:nvSpPr>
          <p:cNvPr id="18" name="Rounded Rectangle 17"/>
          <p:cNvSpPr/>
          <p:nvPr/>
        </p:nvSpPr>
        <p:spPr>
          <a:xfrm>
            <a:off x="4343400" y="1463040"/>
            <a:ext cx="3749039"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1554480"/>
            <a:ext cx="3383280" cy="365760"/>
          </a:xfrm>
          <a:prstGeom prst="rect">
            <a:avLst/>
          </a:prstGeom>
          <a:noFill/>
        </p:spPr>
        <p:txBody>
          <a:bodyPr wrap="square" lIns="45720" rIns="45720">
            <a:spAutoFit/>
          </a:bodyPr>
          <a:lstStyle/>
          <a:p>
            <a:pPr algn="l"/>
            <a:r>
              <a:rPr sz="1500" b="1">
                <a:solidFill>
                  <a:srgbClr val="4AD09C"/>
                </a:solidFill>
                <a:latin typeface="Helvetica Neue"/>
              </a:rPr>
              <a:t>Pipeline</a:t>
            </a:r>
          </a:p>
        </p:txBody>
      </p:sp>
      <p:sp>
        <p:nvSpPr>
          <p:cNvPr id="20" name="TextBox 19"/>
          <p:cNvSpPr txBox="1"/>
          <p:nvPr/>
        </p:nvSpPr>
        <p:spPr>
          <a:xfrm>
            <a:off x="4526280" y="2011680"/>
            <a:ext cx="2286000" cy="292608"/>
          </a:xfrm>
          <a:prstGeom prst="rect">
            <a:avLst/>
          </a:prstGeom>
          <a:noFill/>
        </p:spPr>
        <p:txBody>
          <a:bodyPr wrap="square" lIns="45720" rIns="45720">
            <a:spAutoFit/>
          </a:bodyPr>
          <a:lstStyle/>
          <a:p>
            <a:pPr algn="l"/>
            <a:r>
              <a:rPr sz="1100" b="0">
                <a:solidFill>
                  <a:srgbClr val="8A95A5"/>
                </a:solidFill>
                <a:latin typeface="Helvetica Neue"/>
              </a:rPr>
              <a:t>Pipeline stages end-to-end</a:t>
            </a:r>
          </a:p>
        </p:txBody>
      </p:sp>
      <p:sp>
        <p:nvSpPr>
          <p:cNvPr id="21" name="TextBox 20"/>
          <p:cNvSpPr txBox="1"/>
          <p:nvPr/>
        </p:nvSpPr>
        <p:spPr>
          <a:xfrm>
            <a:off x="6720840" y="2011680"/>
            <a:ext cx="1280160" cy="292608"/>
          </a:xfrm>
          <a:prstGeom prst="rect">
            <a:avLst/>
          </a:prstGeom>
          <a:noFill/>
        </p:spPr>
        <p:txBody>
          <a:bodyPr wrap="square" lIns="45720" rIns="45720">
            <a:spAutoFit/>
          </a:bodyPr>
          <a:lstStyle/>
          <a:p>
            <a:pPr algn="r"/>
            <a:r>
              <a:rPr sz="1200" b="1">
                <a:solidFill>
                  <a:srgbClr val="E6EAF0"/>
                </a:solidFill>
                <a:latin typeface="Helvetica Neue"/>
              </a:rPr>
              <a:t>9</a:t>
            </a:r>
          </a:p>
        </p:txBody>
      </p:sp>
      <p:sp>
        <p:nvSpPr>
          <p:cNvPr id="22" name="TextBox 21"/>
          <p:cNvSpPr txBox="1"/>
          <p:nvPr/>
        </p:nvSpPr>
        <p:spPr>
          <a:xfrm>
            <a:off x="4526280" y="2514600"/>
            <a:ext cx="2286000" cy="292608"/>
          </a:xfrm>
          <a:prstGeom prst="rect">
            <a:avLst/>
          </a:prstGeom>
          <a:noFill/>
        </p:spPr>
        <p:txBody>
          <a:bodyPr wrap="square" lIns="45720" rIns="45720">
            <a:spAutoFit/>
          </a:bodyPr>
          <a:lstStyle/>
          <a:p>
            <a:pPr algn="l"/>
            <a:r>
              <a:rPr sz="1100" b="0">
                <a:solidFill>
                  <a:srgbClr val="8A95A5"/>
                </a:solidFill>
                <a:latin typeface="Helvetica Neue"/>
              </a:rPr>
              <a:t>Repair attempts before fail</a:t>
            </a:r>
          </a:p>
        </p:txBody>
      </p:sp>
      <p:sp>
        <p:nvSpPr>
          <p:cNvPr id="23" name="TextBox 22"/>
          <p:cNvSpPr txBox="1"/>
          <p:nvPr/>
        </p:nvSpPr>
        <p:spPr>
          <a:xfrm>
            <a:off x="6720840" y="2514600"/>
            <a:ext cx="1280160" cy="292608"/>
          </a:xfrm>
          <a:prstGeom prst="rect">
            <a:avLst/>
          </a:prstGeom>
          <a:noFill/>
        </p:spPr>
        <p:txBody>
          <a:bodyPr wrap="square" lIns="45720" rIns="45720">
            <a:spAutoFit/>
          </a:bodyPr>
          <a:lstStyle/>
          <a:p>
            <a:pPr algn="r"/>
            <a:r>
              <a:rPr sz="1200" b="1">
                <a:solidFill>
                  <a:srgbClr val="E6EAF0"/>
                </a:solidFill>
                <a:latin typeface="Helvetica Neue"/>
              </a:rPr>
              <a:t>3</a:t>
            </a:r>
          </a:p>
        </p:txBody>
      </p:sp>
      <p:sp>
        <p:nvSpPr>
          <p:cNvPr id="24" name="TextBox 23"/>
          <p:cNvSpPr txBox="1"/>
          <p:nvPr/>
        </p:nvSpPr>
        <p:spPr>
          <a:xfrm>
            <a:off x="4526280" y="3017520"/>
            <a:ext cx="2286000" cy="292608"/>
          </a:xfrm>
          <a:prstGeom prst="rect">
            <a:avLst/>
          </a:prstGeom>
          <a:noFill/>
        </p:spPr>
        <p:txBody>
          <a:bodyPr wrap="square" lIns="45720" rIns="45720">
            <a:spAutoFit/>
          </a:bodyPr>
          <a:lstStyle/>
          <a:p>
            <a:pPr algn="l"/>
            <a:r>
              <a:rPr sz="1100" b="0">
                <a:solidFill>
                  <a:srgbClr val="8A95A5"/>
                </a:solidFill>
                <a:latin typeface="Helvetica Neue"/>
              </a:rPr>
              <a:t>Entity-resolver tiers</a:t>
            </a:r>
          </a:p>
        </p:txBody>
      </p:sp>
      <p:sp>
        <p:nvSpPr>
          <p:cNvPr id="25" name="TextBox 24"/>
          <p:cNvSpPr txBox="1"/>
          <p:nvPr/>
        </p:nvSpPr>
        <p:spPr>
          <a:xfrm>
            <a:off x="6720840" y="3017520"/>
            <a:ext cx="1280160" cy="292608"/>
          </a:xfrm>
          <a:prstGeom prst="rect">
            <a:avLst/>
          </a:prstGeom>
          <a:noFill/>
        </p:spPr>
        <p:txBody>
          <a:bodyPr wrap="square" lIns="45720" rIns="45720">
            <a:spAutoFit/>
          </a:bodyPr>
          <a:lstStyle/>
          <a:p>
            <a:pPr algn="r"/>
            <a:r>
              <a:rPr sz="1200" b="1">
                <a:solidFill>
                  <a:srgbClr val="E6EAF0"/>
                </a:solidFill>
                <a:latin typeface="Helvetica Neue"/>
              </a:rPr>
              <a:t>4</a:t>
            </a:r>
          </a:p>
        </p:txBody>
      </p:sp>
      <p:sp>
        <p:nvSpPr>
          <p:cNvPr id="26" name="TextBox 25"/>
          <p:cNvSpPr txBox="1"/>
          <p:nvPr/>
        </p:nvSpPr>
        <p:spPr>
          <a:xfrm>
            <a:off x="4526280" y="3520439"/>
            <a:ext cx="2286000" cy="292608"/>
          </a:xfrm>
          <a:prstGeom prst="rect">
            <a:avLst/>
          </a:prstGeom>
          <a:noFill/>
        </p:spPr>
        <p:txBody>
          <a:bodyPr wrap="square" lIns="45720" rIns="45720">
            <a:spAutoFit/>
          </a:bodyPr>
          <a:lstStyle/>
          <a:p>
            <a:pPr algn="l"/>
            <a:r>
              <a:rPr sz="1100" b="0">
                <a:solidFill>
                  <a:srgbClr val="8A95A5"/>
                </a:solidFill>
                <a:latin typeface="Helvetica Neue"/>
              </a:rPr>
              <a:t>Hybrid retrieval blend</a:t>
            </a:r>
          </a:p>
        </p:txBody>
      </p:sp>
      <p:sp>
        <p:nvSpPr>
          <p:cNvPr id="27" name="TextBox 26"/>
          <p:cNvSpPr txBox="1"/>
          <p:nvPr/>
        </p:nvSpPr>
        <p:spPr>
          <a:xfrm>
            <a:off x="6720840" y="3520439"/>
            <a:ext cx="1280160" cy="292608"/>
          </a:xfrm>
          <a:prstGeom prst="rect">
            <a:avLst/>
          </a:prstGeom>
          <a:noFill/>
        </p:spPr>
        <p:txBody>
          <a:bodyPr wrap="square" lIns="45720" rIns="45720">
            <a:spAutoFit/>
          </a:bodyPr>
          <a:lstStyle/>
          <a:p>
            <a:pPr algn="r"/>
            <a:r>
              <a:rPr sz="1200" b="1">
                <a:solidFill>
                  <a:srgbClr val="E6EAF0"/>
                </a:solidFill>
                <a:latin typeface="Helvetica Neue"/>
              </a:rPr>
              <a:t>0.6 / 0.4</a:t>
            </a:r>
          </a:p>
        </p:txBody>
      </p:sp>
      <p:sp>
        <p:nvSpPr>
          <p:cNvPr id="28" name="TextBox 27"/>
          <p:cNvSpPr txBox="1"/>
          <p:nvPr/>
        </p:nvSpPr>
        <p:spPr>
          <a:xfrm>
            <a:off x="4526280" y="4023359"/>
            <a:ext cx="2286000" cy="292608"/>
          </a:xfrm>
          <a:prstGeom prst="rect">
            <a:avLst/>
          </a:prstGeom>
          <a:noFill/>
        </p:spPr>
        <p:txBody>
          <a:bodyPr wrap="square" lIns="45720" rIns="45720">
            <a:spAutoFit/>
          </a:bodyPr>
          <a:lstStyle/>
          <a:p>
            <a:pPr algn="l"/>
            <a:r>
              <a:rPr sz="1100" b="0">
                <a:solidFill>
                  <a:srgbClr val="8A95A5"/>
                </a:solidFill>
                <a:latin typeface="Helvetica Neue"/>
              </a:rPr>
              <a:t>Gold-store tests passing</a:t>
            </a:r>
          </a:p>
        </p:txBody>
      </p:sp>
      <p:sp>
        <p:nvSpPr>
          <p:cNvPr id="29" name="TextBox 28"/>
          <p:cNvSpPr txBox="1"/>
          <p:nvPr/>
        </p:nvSpPr>
        <p:spPr>
          <a:xfrm>
            <a:off x="6720840" y="4023359"/>
            <a:ext cx="1280160" cy="292608"/>
          </a:xfrm>
          <a:prstGeom prst="rect">
            <a:avLst/>
          </a:prstGeom>
          <a:noFill/>
        </p:spPr>
        <p:txBody>
          <a:bodyPr wrap="square" lIns="45720" rIns="45720">
            <a:spAutoFit/>
          </a:bodyPr>
          <a:lstStyle/>
          <a:p>
            <a:pPr algn="r"/>
            <a:r>
              <a:rPr sz="1200" b="1">
                <a:solidFill>
                  <a:srgbClr val="E6EAF0"/>
                </a:solidFill>
                <a:latin typeface="Helvetica Neue"/>
              </a:rPr>
              <a:t>7/7</a:t>
            </a:r>
          </a:p>
        </p:txBody>
      </p:sp>
      <p:sp>
        <p:nvSpPr>
          <p:cNvPr id="30" name="TextBox 29"/>
          <p:cNvSpPr txBox="1"/>
          <p:nvPr/>
        </p:nvSpPr>
        <p:spPr>
          <a:xfrm>
            <a:off x="4526280" y="4526279"/>
            <a:ext cx="2286000" cy="292608"/>
          </a:xfrm>
          <a:prstGeom prst="rect">
            <a:avLst/>
          </a:prstGeom>
          <a:noFill/>
        </p:spPr>
        <p:txBody>
          <a:bodyPr wrap="square" lIns="45720" rIns="45720">
            <a:spAutoFit/>
          </a:bodyPr>
          <a:lstStyle/>
          <a:p>
            <a:pPr algn="l"/>
            <a:r>
              <a:rPr sz="1100" b="0">
                <a:solidFill>
                  <a:srgbClr val="8A95A5"/>
                </a:solidFill>
                <a:latin typeface="Helvetica Neue"/>
              </a:rPr>
              <a:t>Pipeline tests passing</a:t>
            </a:r>
          </a:p>
        </p:txBody>
      </p:sp>
      <p:sp>
        <p:nvSpPr>
          <p:cNvPr id="31" name="TextBox 30"/>
          <p:cNvSpPr txBox="1"/>
          <p:nvPr/>
        </p:nvSpPr>
        <p:spPr>
          <a:xfrm>
            <a:off x="6720840" y="4526279"/>
            <a:ext cx="1280160" cy="292608"/>
          </a:xfrm>
          <a:prstGeom prst="rect">
            <a:avLst/>
          </a:prstGeom>
          <a:noFill/>
        </p:spPr>
        <p:txBody>
          <a:bodyPr wrap="square" lIns="45720" rIns="45720">
            <a:spAutoFit/>
          </a:bodyPr>
          <a:lstStyle/>
          <a:p>
            <a:pPr algn="r"/>
            <a:r>
              <a:rPr sz="1200" b="1">
                <a:solidFill>
                  <a:srgbClr val="E6EAF0"/>
                </a:solidFill>
                <a:latin typeface="Helvetica Neue"/>
              </a:rPr>
              <a:t>4/4</a:t>
            </a:r>
          </a:p>
        </p:txBody>
      </p:sp>
      <p:sp>
        <p:nvSpPr>
          <p:cNvPr id="32" name="Rounded Rectangle 31"/>
          <p:cNvSpPr/>
          <p:nvPr/>
        </p:nvSpPr>
        <p:spPr>
          <a:xfrm>
            <a:off x="8229600" y="1463040"/>
            <a:ext cx="3749039"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1554480"/>
            <a:ext cx="3383280" cy="365760"/>
          </a:xfrm>
          <a:prstGeom prst="rect">
            <a:avLst/>
          </a:prstGeom>
          <a:noFill/>
        </p:spPr>
        <p:txBody>
          <a:bodyPr wrap="square" lIns="45720" rIns="45720">
            <a:spAutoFit/>
          </a:bodyPr>
          <a:lstStyle/>
          <a:p>
            <a:pPr algn="l"/>
            <a:r>
              <a:rPr sz="1500" b="1">
                <a:solidFill>
                  <a:srgbClr val="4AD09C"/>
                </a:solidFill>
                <a:latin typeface="Helvetica Neue"/>
              </a:rPr>
              <a:t>Surface</a:t>
            </a:r>
          </a:p>
        </p:txBody>
      </p:sp>
      <p:sp>
        <p:nvSpPr>
          <p:cNvPr id="34" name="TextBox 33"/>
          <p:cNvSpPr txBox="1"/>
          <p:nvPr/>
        </p:nvSpPr>
        <p:spPr>
          <a:xfrm>
            <a:off x="8412480" y="2011680"/>
            <a:ext cx="2286000" cy="292608"/>
          </a:xfrm>
          <a:prstGeom prst="rect">
            <a:avLst/>
          </a:prstGeom>
          <a:noFill/>
        </p:spPr>
        <p:txBody>
          <a:bodyPr wrap="square" lIns="45720" rIns="45720">
            <a:spAutoFit/>
          </a:bodyPr>
          <a:lstStyle/>
          <a:p>
            <a:pPr algn="l"/>
            <a:r>
              <a:rPr sz="1100" b="0">
                <a:solidFill>
                  <a:srgbClr val="8A95A5"/>
                </a:solidFill>
                <a:latin typeface="Helvetica Neue"/>
              </a:rPr>
              <a:t>API endpoints</a:t>
            </a:r>
          </a:p>
        </p:txBody>
      </p:sp>
      <p:sp>
        <p:nvSpPr>
          <p:cNvPr id="35" name="TextBox 34"/>
          <p:cNvSpPr txBox="1"/>
          <p:nvPr/>
        </p:nvSpPr>
        <p:spPr>
          <a:xfrm>
            <a:off x="10607040" y="2011680"/>
            <a:ext cx="1280160" cy="292608"/>
          </a:xfrm>
          <a:prstGeom prst="rect">
            <a:avLst/>
          </a:prstGeom>
          <a:noFill/>
        </p:spPr>
        <p:txBody>
          <a:bodyPr wrap="square" lIns="45720" rIns="45720">
            <a:spAutoFit/>
          </a:bodyPr>
          <a:lstStyle/>
          <a:p>
            <a:pPr algn="r"/>
            <a:r>
              <a:rPr sz="1200" b="1">
                <a:solidFill>
                  <a:srgbClr val="E6EAF0"/>
                </a:solidFill>
                <a:latin typeface="Helvetica Neue"/>
              </a:rPr>
              <a:t>18</a:t>
            </a:r>
          </a:p>
        </p:txBody>
      </p:sp>
      <p:sp>
        <p:nvSpPr>
          <p:cNvPr id="36" name="TextBox 35"/>
          <p:cNvSpPr txBox="1"/>
          <p:nvPr/>
        </p:nvSpPr>
        <p:spPr>
          <a:xfrm>
            <a:off x="8412480" y="2514600"/>
            <a:ext cx="2286000" cy="292608"/>
          </a:xfrm>
          <a:prstGeom prst="rect">
            <a:avLst/>
          </a:prstGeom>
          <a:noFill/>
        </p:spPr>
        <p:txBody>
          <a:bodyPr wrap="square" lIns="45720" rIns="45720">
            <a:spAutoFit/>
          </a:bodyPr>
          <a:lstStyle/>
          <a:p>
            <a:pPr algn="l"/>
            <a:r>
              <a:rPr sz="1100" b="0">
                <a:solidFill>
                  <a:srgbClr val="8A95A5"/>
                </a:solidFill>
                <a:latin typeface="Helvetica Neue"/>
              </a:rPr>
              <a:t>WebSocket streaming routes</a:t>
            </a:r>
          </a:p>
        </p:txBody>
      </p:sp>
      <p:sp>
        <p:nvSpPr>
          <p:cNvPr id="37" name="TextBox 36"/>
          <p:cNvSpPr txBox="1"/>
          <p:nvPr/>
        </p:nvSpPr>
        <p:spPr>
          <a:xfrm>
            <a:off x="10607040" y="2514600"/>
            <a:ext cx="1280160" cy="292608"/>
          </a:xfrm>
          <a:prstGeom prst="rect">
            <a:avLst/>
          </a:prstGeom>
          <a:noFill/>
        </p:spPr>
        <p:txBody>
          <a:bodyPr wrap="square" lIns="45720" rIns="45720">
            <a:spAutoFit/>
          </a:bodyPr>
          <a:lstStyle/>
          <a:p>
            <a:pPr algn="r"/>
            <a:r>
              <a:rPr sz="1200" b="1">
                <a:solidFill>
                  <a:srgbClr val="E6EAF0"/>
                </a:solidFill>
                <a:latin typeface="Helvetica Neue"/>
              </a:rPr>
              <a:t>2</a:t>
            </a:r>
          </a:p>
        </p:txBody>
      </p:sp>
      <p:sp>
        <p:nvSpPr>
          <p:cNvPr id="38" name="TextBox 37"/>
          <p:cNvSpPr txBox="1"/>
          <p:nvPr/>
        </p:nvSpPr>
        <p:spPr>
          <a:xfrm>
            <a:off x="8412480" y="3017520"/>
            <a:ext cx="2286000" cy="292608"/>
          </a:xfrm>
          <a:prstGeom prst="rect">
            <a:avLst/>
          </a:prstGeom>
          <a:noFill/>
        </p:spPr>
        <p:txBody>
          <a:bodyPr wrap="square" lIns="45720" rIns="45720">
            <a:spAutoFit/>
          </a:bodyPr>
          <a:lstStyle/>
          <a:p>
            <a:pPr algn="l"/>
            <a:r>
              <a:rPr sz="1100" b="0">
                <a:solidFill>
                  <a:srgbClr val="8A95A5"/>
                </a:solidFill>
                <a:latin typeface="Helvetica Neue"/>
              </a:rPr>
              <a:t>Frontend pages</a:t>
            </a:r>
          </a:p>
        </p:txBody>
      </p:sp>
      <p:sp>
        <p:nvSpPr>
          <p:cNvPr id="39" name="TextBox 38"/>
          <p:cNvSpPr txBox="1"/>
          <p:nvPr/>
        </p:nvSpPr>
        <p:spPr>
          <a:xfrm>
            <a:off x="10607040" y="3017520"/>
            <a:ext cx="1280160" cy="292608"/>
          </a:xfrm>
          <a:prstGeom prst="rect">
            <a:avLst/>
          </a:prstGeom>
          <a:noFill/>
        </p:spPr>
        <p:txBody>
          <a:bodyPr wrap="square" lIns="45720" rIns="45720">
            <a:spAutoFit/>
          </a:bodyPr>
          <a:lstStyle/>
          <a:p>
            <a:pPr algn="r"/>
            <a:r>
              <a:rPr sz="1200" b="1">
                <a:solidFill>
                  <a:srgbClr val="E6EAF0"/>
                </a:solidFill>
                <a:latin typeface="Helvetica Neue"/>
              </a:rPr>
              <a:t>7</a:t>
            </a:r>
          </a:p>
        </p:txBody>
      </p:sp>
      <p:sp>
        <p:nvSpPr>
          <p:cNvPr id="40" name="TextBox 39"/>
          <p:cNvSpPr txBox="1"/>
          <p:nvPr/>
        </p:nvSpPr>
        <p:spPr>
          <a:xfrm>
            <a:off x="8412480" y="3520439"/>
            <a:ext cx="2286000" cy="292608"/>
          </a:xfrm>
          <a:prstGeom prst="rect">
            <a:avLst/>
          </a:prstGeom>
          <a:noFill/>
        </p:spPr>
        <p:txBody>
          <a:bodyPr wrap="square" lIns="45720" rIns="45720">
            <a:spAutoFit/>
          </a:bodyPr>
          <a:lstStyle/>
          <a:p>
            <a:pPr algn="l"/>
            <a:r>
              <a:rPr sz="1100" b="0">
                <a:solidFill>
                  <a:srgbClr val="8A95A5"/>
                </a:solidFill>
                <a:latin typeface="Helvetica Neue"/>
              </a:rPr>
              <a:t>Agent tools wired</a:t>
            </a:r>
          </a:p>
        </p:txBody>
      </p:sp>
      <p:sp>
        <p:nvSpPr>
          <p:cNvPr id="41" name="TextBox 40"/>
          <p:cNvSpPr txBox="1"/>
          <p:nvPr/>
        </p:nvSpPr>
        <p:spPr>
          <a:xfrm>
            <a:off x="10607040" y="3520439"/>
            <a:ext cx="1280160" cy="292608"/>
          </a:xfrm>
          <a:prstGeom prst="rect">
            <a:avLst/>
          </a:prstGeom>
          <a:noFill/>
        </p:spPr>
        <p:txBody>
          <a:bodyPr wrap="square" lIns="45720" rIns="45720">
            <a:spAutoFit/>
          </a:bodyPr>
          <a:lstStyle/>
          <a:p>
            <a:pPr algn="r"/>
            <a:r>
              <a:rPr sz="1200" b="1">
                <a:solidFill>
                  <a:srgbClr val="E6EAF0"/>
                </a:solidFill>
                <a:latin typeface="Helvetica Neue"/>
              </a:rPr>
              <a:t>8</a:t>
            </a:r>
          </a:p>
        </p:txBody>
      </p:sp>
      <p:sp>
        <p:nvSpPr>
          <p:cNvPr id="42" name="TextBox 41"/>
          <p:cNvSpPr txBox="1"/>
          <p:nvPr/>
        </p:nvSpPr>
        <p:spPr>
          <a:xfrm>
            <a:off x="8412480" y="4023359"/>
            <a:ext cx="2286000" cy="292608"/>
          </a:xfrm>
          <a:prstGeom prst="rect">
            <a:avLst/>
          </a:prstGeom>
          <a:noFill/>
        </p:spPr>
        <p:txBody>
          <a:bodyPr wrap="square" lIns="45720" rIns="45720">
            <a:spAutoFit/>
          </a:bodyPr>
          <a:lstStyle/>
          <a:p>
            <a:pPr algn="l"/>
            <a:r>
              <a:rPr sz="1100" b="0">
                <a:solidFill>
                  <a:srgbClr val="8A95A5"/>
                </a:solidFill>
                <a:latin typeface="Helvetica Neue"/>
              </a:rPr>
              <a:t>LLM providers integrated</a:t>
            </a:r>
          </a:p>
        </p:txBody>
      </p:sp>
      <p:sp>
        <p:nvSpPr>
          <p:cNvPr id="43" name="TextBox 42"/>
          <p:cNvSpPr txBox="1"/>
          <p:nvPr/>
        </p:nvSpPr>
        <p:spPr>
          <a:xfrm>
            <a:off x="10607040" y="4023359"/>
            <a:ext cx="1280160" cy="292608"/>
          </a:xfrm>
          <a:prstGeom prst="rect">
            <a:avLst/>
          </a:prstGeom>
          <a:noFill/>
        </p:spPr>
        <p:txBody>
          <a:bodyPr wrap="square" lIns="45720" rIns="45720">
            <a:spAutoFit/>
          </a:bodyPr>
          <a:lstStyle/>
          <a:p>
            <a:pPr algn="r"/>
            <a:r>
              <a:rPr sz="1200" b="1">
                <a:solidFill>
                  <a:srgbClr val="E6EAF0"/>
                </a:solidFill>
                <a:latin typeface="Helvetica Neue"/>
              </a:rPr>
              <a:t>5</a:t>
            </a:r>
          </a:p>
        </p:txBody>
      </p:sp>
      <p:sp>
        <p:nvSpPr>
          <p:cNvPr id="44" name="TextBox 43"/>
          <p:cNvSpPr txBox="1"/>
          <p:nvPr/>
        </p:nvSpPr>
        <p:spPr>
          <a:xfrm>
            <a:off x="8412480" y="4526279"/>
            <a:ext cx="2286000" cy="292608"/>
          </a:xfrm>
          <a:prstGeom prst="rect">
            <a:avLst/>
          </a:prstGeom>
          <a:noFill/>
        </p:spPr>
        <p:txBody>
          <a:bodyPr wrap="square" lIns="45720" rIns="45720">
            <a:spAutoFit/>
          </a:bodyPr>
          <a:lstStyle/>
          <a:p>
            <a:pPr algn="l"/>
            <a:r>
              <a:rPr sz="1100" b="0">
                <a:solidFill>
                  <a:srgbClr val="8A95A5"/>
                </a:solidFill>
                <a:latin typeface="Helvetica Neue"/>
              </a:rPr>
              <a:t>Database dialects supported</a:t>
            </a:r>
          </a:p>
        </p:txBody>
      </p:sp>
      <p:sp>
        <p:nvSpPr>
          <p:cNvPr id="45" name="TextBox 44"/>
          <p:cNvSpPr txBox="1"/>
          <p:nvPr/>
        </p:nvSpPr>
        <p:spPr>
          <a:xfrm>
            <a:off x="10607040" y="4526279"/>
            <a:ext cx="1280160" cy="292608"/>
          </a:xfrm>
          <a:prstGeom prst="rect">
            <a:avLst/>
          </a:prstGeom>
          <a:noFill/>
        </p:spPr>
        <p:txBody>
          <a:bodyPr wrap="square" lIns="45720" rIns="45720">
            <a:spAutoFit/>
          </a:bodyPr>
          <a:lstStyle/>
          <a:p>
            <a:pPr algn="r"/>
            <a:r>
              <a:rPr sz="1200" b="1">
                <a:solidFill>
                  <a:srgbClr val="E6EAF0"/>
                </a:solidFill>
                <a:latin typeface="Helvetica Neue"/>
              </a:rPr>
              <a:t>3</a:t>
            </a:r>
          </a:p>
        </p:txBody>
      </p:sp>
      <p:sp>
        <p:nvSpPr>
          <p:cNvPr id="46" name="TextBox 45"/>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Numbers are from the latest test run + Ed-Fi DS 6.1.0 build</a:t>
            </a:r>
          </a:p>
        </p:txBody>
      </p:sp>
      <p:sp>
        <p:nvSpPr>
          <p:cNvPr id="47" name="TextBox 46"/>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2286000"/>
            <a:ext cx="10698480" cy="457200"/>
          </a:xfrm>
          <a:prstGeom prst="rect">
            <a:avLst/>
          </a:prstGeom>
          <a:noFill/>
        </p:spPr>
        <p:txBody>
          <a:bodyPr wrap="square" lIns="45720" rIns="45720">
            <a:spAutoFit/>
          </a:bodyPr>
          <a:lstStyle/>
          <a:p>
            <a:pPr algn="l"/>
            <a:r>
              <a:rPr sz="1800" b="0">
                <a:solidFill>
                  <a:srgbClr val="8A95A5"/>
                </a:solidFill>
                <a:latin typeface="Helvetica Neue"/>
              </a:rPr>
              <a:t>Section 2 of 5</a:t>
            </a:r>
          </a:p>
        </p:txBody>
      </p:sp>
      <p:sp>
        <p:nvSpPr>
          <p:cNvPr id="3" name="TextBox 2"/>
          <p:cNvSpPr txBox="1"/>
          <p:nvPr/>
        </p:nvSpPr>
        <p:spPr>
          <a:xfrm>
            <a:off x="731520" y="2788920"/>
            <a:ext cx="10698480" cy="914400"/>
          </a:xfrm>
          <a:prstGeom prst="rect">
            <a:avLst/>
          </a:prstGeom>
          <a:noFill/>
        </p:spPr>
        <p:txBody>
          <a:bodyPr wrap="square" lIns="45720" rIns="45720">
            <a:spAutoFit/>
          </a:bodyPr>
          <a:lstStyle/>
          <a:p>
            <a:pPr algn="l"/>
            <a:r>
              <a:rPr sz="4200" b="1">
                <a:solidFill>
                  <a:srgbClr val="4AD09C"/>
                </a:solidFill>
                <a:latin typeface="Helvetica Neue"/>
              </a:rPr>
              <a:t>The Knowledge Layer</a:t>
            </a:r>
          </a:p>
        </p:txBody>
      </p:sp>
      <p:sp>
        <p:nvSpPr>
          <p:cNvPr id="4" name="TextBox 3"/>
          <p:cNvSpPr txBox="1"/>
          <p:nvPr/>
        </p:nvSpPr>
        <p:spPr>
          <a:xfrm>
            <a:off x="731520" y="3703320"/>
            <a:ext cx="10698480" cy="457200"/>
          </a:xfrm>
          <a:prstGeom prst="rect">
            <a:avLst/>
          </a:prstGeom>
          <a:noFill/>
        </p:spPr>
        <p:txBody>
          <a:bodyPr wrap="square" lIns="45720" rIns="45720">
            <a:spAutoFit/>
          </a:bodyPr>
          <a:lstStyle/>
          <a:p>
            <a:pPr algn="l"/>
            <a:r>
              <a:rPr sz="1800" b="0">
                <a:solidFill>
                  <a:srgbClr val="E6EAF0"/>
                </a:solidFill>
                <a:latin typeface="Helvetica Neue"/>
              </a:rPr>
              <a:t>How the platform turns 1,048 tables into a navigable, queryable index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Cataloging every Ed-Fi table</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Four-stage classifier · 829/829 tables placed · descriptions captured at build time</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Four-stage classifier</a:t>
            </a:r>
          </a:p>
        </p:txBody>
      </p:sp>
      <p:sp>
        <p:nvSpPr>
          <p:cNvPr id="6" name="TextBox 5"/>
          <p:cNvSpPr txBox="1"/>
          <p:nvPr/>
        </p:nvSpPr>
        <p:spPr>
          <a:xfrm>
            <a:off x="640080" y="2011680"/>
            <a:ext cx="3200400" cy="292608"/>
          </a:xfrm>
          <a:prstGeom prst="rect">
            <a:avLst/>
          </a:prstGeom>
          <a:noFill/>
        </p:spPr>
        <p:txBody>
          <a:bodyPr wrap="square" lIns="45720" rIns="45720">
            <a:spAutoFit/>
          </a:bodyPr>
          <a:lstStyle/>
          <a:p>
            <a:pPr algn="l"/>
            <a:r>
              <a:rPr sz="1200" b="0">
                <a:solidFill>
                  <a:srgbClr val="8A95A5"/>
                </a:solidFill>
                <a:latin typeface="Helvetica Neue"/>
              </a:rPr>
              <a:t>Stage 1 · Direct ApiModel domains</a:t>
            </a:r>
          </a:p>
        </p:txBody>
      </p:sp>
      <p:sp>
        <p:nvSpPr>
          <p:cNvPr id="7" name="TextBox 6"/>
          <p:cNvSpPr txBox="1"/>
          <p:nvPr/>
        </p:nvSpPr>
        <p:spPr>
          <a:xfrm>
            <a:off x="3840480" y="2011680"/>
            <a:ext cx="1828800" cy="292608"/>
          </a:xfrm>
          <a:prstGeom prst="rect">
            <a:avLst/>
          </a:prstGeom>
          <a:noFill/>
        </p:spPr>
        <p:txBody>
          <a:bodyPr wrap="square" lIns="45720" rIns="45720">
            <a:spAutoFit/>
          </a:bodyPr>
          <a:lstStyle/>
          <a:p>
            <a:pPr algn="r"/>
            <a:r>
              <a:rPr sz="1200" b="1">
                <a:solidFill>
                  <a:srgbClr val="E6EAF0"/>
                </a:solidFill>
                <a:latin typeface="Helvetica Neue"/>
              </a:rPr>
              <a:t>750 tables</a:t>
            </a:r>
          </a:p>
        </p:txBody>
      </p:sp>
      <p:sp>
        <p:nvSpPr>
          <p:cNvPr id="8" name="TextBox 7"/>
          <p:cNvSpPr txBox="1"/>
          <p:nvPr/>
        </p:nvSpPr>
        <p:spPr>
          <a:xfrm>
            <a:off x="640080" y="2542032"/>
            <a:ext cx="3200400" cy="292608"/>
          </a:xfrm>
          <a:prstGeom prst="rect">
            <a:avLst/>
          </a:prstGeom>
          <a:noFill/>
        </p:spPr>
        <p:txBody>
          <a:bodyPr wrap="square" lIns="45720" rIns="45720">
            <a:spAutoFit/>
          </a:bodyPr>
          <a:lstStyle/>
          <a:p>
            <a:pPr algn="l"/>
            <a:r>
              <a:rPr sz="1200" b="0">
                <a:solidFill>
                  <a:srgbClr val="8A95A5"/>
                </a:solidFill>
                <a:latin typeface="Helvetica Neue"/>
              </a:rPr>
              <a:t>Stage 2 · Aggregate inheritance</a:t>
            </a:r>
          </a:p>
        </p:txBody>
      </p:sp>
      <p:sp>
        <p:nvSpPr>
          <p:cNvPr id="9" name="TextBox 8"/>
          <p:cNvSpPr txBox="1"/>
          <p:nvPr/>
        </p:nvSpPr>
        <p:spPr>
          <a:xfrm>
            <a:off x="3840480" y="2542032"/>
            <a:ext cx="1828800" cy="292608"/>
          </a:xfrm>
          <a:prstGeom prst="rect">
            <a:avLst/>
          </a:prstGeom>
          <a:noFill/>
        </p:spPr>
        <p:txBody>
          <a:bodyPr wrap="square" lIns="45720" rIns="45720">
            <a:spAutoFit/>
          </a:bodyPr>
          <a:lstStyle/>
          <a:p>
            <a:pPr algn="r"/>
            <a:r>
              <a:rPr sz="1200" b="1">
                <a:solidFill>
                  <a:srgbClr val="E6EAF0"/>
                </a:solidFill>
                <a:latin typeface="Helvetica Neue"/>
              </a:rPr>
              <a:t>75 tables</a:t>
            </a:r>
          </a:p>
        </p:txBody>
      </p:sp>
      <p:sp>
        <p:nvSpPr>
          <p:cNvPr id="10" name="TextBox 9"/>
          <p:cNvSpPr txBox="1"/>
          <p:nvPr/>
        </p:nvSpPr>
        <p:spPr>
          <a:xfrm>
            <a:off x="640080" y="3072384"/>
            <a:ext cx="3200400" cy="292608"/>
          </a:xfrm>
          <a:prstGeom prst="rect">
            <a:avLst/>
          </a:prstGeom>
          <a:noFill/>
        </p:spPr>
        <p:txBody>
          <a:bodyPr wrap="square" lIns="45720" rIns="45720">
            <a:spAutoFit/>
          </a:bodyPr>
          <a:lstStyle/>
          <a:p>
            <a:pPr algn="l"/>
            <a:r>
              <a:rPr sz="1200" b="0">
                <a:solidFill>
                  <a:srgbClr val="8A95A5"/>
                </a:solidFill>
                <a:latin typeface="Helvetica Neue"/>
              </a:rPr>
              <a:t>Stage 3 · Descriptor FK voting</a:t>
            </a:r>
          </a:p>
        </p:txBody>
      </p:sp>
      <p:sp>
        <p:nvSpPr>
          <p:cNvPr id="11" name="TextBox 10"/>
          <p:cNvSpPr txBox="1"/>
          <p:nvPr/>
        </p:nvSpPr>
        <p:spPr>
          <a:xfrm>
            <a:off x="3840480" y="3072384"/>
            <a:ext cx="1828800" cy="292608"/>
          </a:xfrm>
          <a:prstGeom prst="rect">
            <a:avLst/>
          </a:prstGeom>
          <a:noFill/>
        </p:spPr>
        <p:txBody>
          <a:bodyPr wrap="square" lIns="45720" rIns="45720">
            <a:spAutoFit/>
          </a:bodyPr>
          <a:lstStyle/>
          <a:p>
            <a:pPr algn="r"/>
            <a:r>
              <a:rPr sz="1200" b="1">
                <a:solidFill>
                  <a:srgbClr val="E6EAF0"/>
                </a:solidFill>
                <a:latin typeface="Helvetica Neue"/>
              </a:rPr>
              <a:t>3 tables</a:t>
            </a:r>
          </a:p>
        </p:txBody>
      </p:sp>
      <p:sp>
        <p:nvSpPr>
          <p:cNvPr id="12" name="TextBox 11"/>
          <p:cNvSpPr txBox="1"/>
          <p:nvPr/>
        </p:nvSpPr>
        <p:spPr>
          <a:xfrm>
            <a:off x="640080" y="3602736"/>
            <a:ext cx="3200400" cy="292608"/>
          </a:xfrm>
          <a:prstGeom prst="rect">
            <a:avLst/>
          </a:prstGeom>
          <a:noFill/>
        </p:spPr>
        <p:txBody>
          <a:bodyPr wrap="square" lIns="45720" rIns="45720">
            <a:spAutoFit/>
          </a:bodyPr>
          <a:lstStyle/>
          <a:p>
            <a:pPr algn="l"/>
            <a:r>
              <a:rPr sz="1200" b="0">
                <a:solidFill>
                  <a:srgbClr val="8A95A5"/>
                </a:solidFill>
                <a:latin typeface="Helvetica Neue"/>
              </a:rPr>
              <a:t>Stage 4 · LLM fallback</a:t>
            </a:r>
          </a:p>
        </p:txBody>
      </p:sp>
      <p:sp>
        <p:nvSpPr>
          <p:cNvPr id="13" name="TextBox 12"/>
          <p:cNvSpPr txBox="1"/>
          <p:nvPr/>
        </p:nvSpPr>
        <p:spPr>
          <a:xfrm>
            <a:off x="3840480" y="3602736"/>
            <a:ext cx="1828800" cy="292608"/>
          </a:xfrm>
          <a:prstGeom prst="rect">
            <a:avLst/>
          </a:prstGeom>
          <a:noFill/>
        </p:spPr>
        <p:txBody>
          <a:bodyPr wrap="square" lIns="45720" rIns="45720">
            <a:spAutoFit/>
          </a:bodyPr>
          <a:lstStyle/>
          <a:p>
            <a:pPr algn="r"/>
            <a:r>
              <a:rPr sz="1200" b="1">
                <a:solidFill>
                  <a:srgbClr val="E6EAF0"/>
                </a:solidFill>
                <a:latin typeface="Helvetica Neue"/>
              </a:rPr>
              <a:t>rare residual</a:t>
            </a:r>
          </a:p>
        </p:txBody>
      </p:sp>
      <p:sp>
        <p:nvSpPr>
          <p:cNvPr id="14" name="TextBox 13"/>
          <p:cNvSpPr txBox="1"/>
          <p:nvPr/>
        </p:nvSpPr>
        <p:spPr>
          <a:xfrm>
            <a:off x="640080" y="4133088"/>
            <a:ext cx="3200400" cy="292608"/>
          </a:xfrm>
          <a:prstGeom prst="rect">
            <a:avLst/>
          </a:prstGeom>
          <a:noFill/>
        </p:spPr>
        <p:txBody>
          <a:bodyPr wrap="square" lIns="45720" rIns="45720">
            <a:spAutoFit/>
          </a:bodyPr>
          <a:lstStyle/>
          <a:p>
            <a:pPr algn="l"/>
            <a:r>
              <a:rPr sz="1200" b="0">
                <a:solidFill>
                  <a:srgbClr val="8A95A5"/>
                </a:solidFill>
                <a:latin typeface="Helvetica Neue"/>
              </a:rPr>
              <a:t>Override layer (operator)</a:t>
            </a:r>
          </a:p>
        </p:txBody>
      </p:sp>
      <p:sp>
        <p:nvSpPr>
          <p:cNvPr id="15" name="TextBox 14"/>
          <p:cNvSpPr txBox="1"/>
          <p:nvPr/>
        </p:nvSpPr>
        <p:spPr>
          <a:xfrm>
            <a:off x="3840480" y="4133088"/>
            <a:ext cx="1828800" cy="292608"/>
          </a:xfrm>
          <a:prstGeom prst="rect">
            <a:avLst/>
          </a:prstGeom>
          <a:noFill/>
        </p:spPr>
        <p:txBody>
          <a:bodyPr wrap="square" lIns="45720" rIns="45720">
            <a:spAutoFit/>
          </a:bodyPr>
          <a:lstStyle/>
          <a:p>
            <a:pPr algn="r"/>
            <a:r>
              <a:rPr sz="1200" b="1">
                <a:solidFill>
                  <a:srgbClr val="E6EAF0"/>
                </a:solidFill>
                <a:latin typeface="Helvetica Neue"/>
              </a:rPr>
              <a:t>human in the loop</a:t>
            </a:r>
          </a:p>
        </p:txBody>
      </p:sp>
      <p:sp>
        <p:nvSpPr>
          <p:cNvPr id="16" name="TextBox 15"/>
          <p:cNvSpPr txBox="1"/>
          <p:nvPr/>
        </p:nvSpPr>
        <p:spPr>
          <a:xfrm>
            <a:off x="640080" y="4663440"/>
            <a:ext cx="3200400" cy="292608"/>
          </a:xfrm>
          <a:prstGeom prst="rect">
            <a:avLst/>
          </a:prstGeom>
          <a:noFill/>
        </p:spPr>
        <p:txBody>
          <a:bodyPr wrap="square" lIns="45720" rIns="45720">
            <a:spAutoFit/>
          </a:bodyPr>
          <a:lstStyle/>
          <a:p>
            <a:pPr algn="l"/>
            <a:r>
              <a:rPr sz="1200" b="0">
                <a:solidFill>
                  <a:srgbClr val="8A95A5"/>
                </a:solidFill>
                <a:latin typeface="Helvetica Neue"/>
              </a:rPr>
              <a:t>Output artifact</a:t>
            </a:r>
          </a:p>
        </p:txBody>
      </p:sp>
      <p:sp>
        <p:nvSpPr>
          <p:cNvPr id="17" name="TextBox 16"/>
          <p:cNvSpPr txBox="1"/>
          <p:nvPr/>
        </p:nvSpPr>
        <p:spPr>
          <a:xfrm>
            <a:off x="3840480" y="4663440"/>
            <a:ext cx="1828800" cy="292608"/>
          </a:xfrm>
          <a:prstGeom prst="rect">
            <a:avLst/>
          </a:prstGeom>
          <a:noFill/>
        </p:spPr>
        <p:txBody>
          <a:bodyPr wrap="square" lIns="45720" rIns="45720">
            <a:spAutoFit/>
          </a:bodyPr>
          <a:lstStyle/>
          <a:p>
            <a:pPr algn="r"/>
            <a:r>
              <a:rPr sz="1200" b="1">
                <a:solidFill>
                  <a:srgbClr val="E6EAF0"/>
                </a:solidFill>
                <a:latin typeface="Helvetica Neue"/>
              </a:rPr>
              <a:t>table_classification.json</a:t>
            </a:r>
          </a:p>
        </p:txBody>
      </p:sp>
      <p:sp>
        <p:nvSpPr>
          <p:cNvPr id="18" name="Rounded Rectangle 17"/>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Per-table catalog entry</a:t>
            </a:r>
          </a:p>
        </p:txBody>
      </p:sp>
      <p:sp>
        <p:nvSpPr>
          <p:cNvPr id="20" name="TextBox 19"/>
          <p:cNvSpPr txBox="1"/>
          <p:nvPr/>
        </p:nvSpPr>
        <p:spPr>
          <a:xfrm>
            <a:off x="6446520" y="1965960"/>
            <a:ext cx="5120640" cy="4114800"/>
          </a:xfrm>
          <a:prstGeom prst="rect">
            <a:avLst/>
          </a:prstGeom>
          <a:noFill/>
        </p:spPr>
        <p:txBody>
          <a:bodyPr wrap="square">
            <a:spAutoFit/>
          </a:bodyPr>
          <a:lstStyle/>
          <a:p>
            <a:pPr algn="l">
              <a:spcAft>
                <a:spcPts val="400"/>
              </a:spcAft>
            </a:pPr>
            <a:r>
              <a:rPr sz="1200">
                <a:solidFill>
                  <a:srgbClr val="E6EAF0"/>
                </a:solidFill>
                <a:latin typeface="Helvetica Neue"/>
              </a:rPr>
              <a:t>• Authoritative description (Ed-Fi prose, no LLM hallucination)</a:t>
            </a:r>
          </a:p>
          <a:p>
            <a:pPr algn="l">
              <a:spcAft>
                <a:spcPts val="400"/>
              </a:spcAft>
            </a:pPr>
            <a:r>
              <a:rPr sz="1200">
                <a:solidFill>
                  <a:srgbClr val="E6EAF0"/>
                </a:solidFill>
                <a:latin typeface="Helvetica Neue"/>
              </a:rPr>
              <a:t>• Domain tags + identifying columns + linked descriptors</a:t>
            </a:r>
          </a:p>
          <a:p>
            <a:pPr algn="l">
              <a:spcAft>
                <a:spcPts val="400"/>
              </a:spcAft>
            </a:pPr>
            <a:r>
              <a:rPr sz="1200">
                <a:solidFill>
                  <a:srgbClr val="E6EAF0"/>
                </a:solidFill>
                <a:latin typeface="Helvetica Neue"/>
              </a:rPr>
              <a:t>• Connected tables (FK neighbors) for join intuition</a:t>
            </a:r>
          </a:p>
          <a:p>
            <a:pPr algn="l">
              <a:spcAft>
                <a:spcPts val="400"/>
              </a:spcAft>
            </a:pPr>
            <a:r>
              <a:rPr sz="1200">
                <a:solidFill>
                  <a:srgbClr val="E6EAF0"/>
                </a:solidFill>
                <a:latin typeface="Helvetica Neue"/>
              </a:rPr>
              <a:t>• Sample column values for entity resolution</a:t>
            </a:r>
          </a:p>
          <a:p>
            <a:pPr algn="l">
              <a:spcAft>
                <a:spcPts val="400"/>
              </a:spcAft>
            </a:pPr>
            <a:r>
              <a:rPr sz="1200">
                <a:solidFill>
                  <a:srgbClr val="E6EAF0"/>
                </a:solidFill>
                <a:latin typeface="Helvetica Neue"/>
              </a:rPr>
              <a:t>• Proven-query count — biases retrieval to tables we've answered before</a:t>
            </a:r>
          </a:p>
          <a:p>
            <a:pPr algn="l">
              <a:spcAft>
                <a:spcPts val="400"/>
              </a:spcAft>
            </a:pPr>
            <a:r>
              <a:rPr sz="1200">
                <a:solidFill>
                  <a:srgbClr val="E6EAF0"/>
                </a:solidFill>
                <a:latin typeface="Helvetica Neue"/>
              </a:rPr>
              <a:t>• Reflects unknown tables on the live DB so non-Ed-Fi columns join cleanly</a:t>
            </a:r>
          </a:p>
        </p:txBody>
      </p:sp>
      <p:sp>
        <p:nvSpPr>
          <p:cNvPr id="21" name="TextBox 20"/>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Knowledge · Classification &amp; Catalog</a:t>
            </a:r>
          </a:p>
        </p:txBody>
      </p:sp>
      <p:sp>
        <p:nvSpPr>
          <p:cNvPr id="22" name="TextBox 21"/>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test_component2 + test_component4 green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Ingesting a non-standard target database</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Five-step flow when the operator's DB has tables Ed-Fi never specified · e.g. 1,084 in DB vs 1,048 in spec</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600200"/>
            <a:ext cx="502920" cy="502920"/>
          </a:xfrm>
          <a:prstGeom prst="ellipse">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502920" cy="502920"/>
          </a:xfrm>
          <a:prstGeom prst="rect">
            <a:avLst/>
          </a:prstGeom>
          <a:noFill/>
        </p:spPr>
        <p:txBody>
          <a:bodyPr wrap="none" lIns="0" rIns="0" tIns="91440">
            <a:spAutoFit/>
          </a:bodyPr>
          <a:lstStyle/>
          <a:p>
            <a:pPr algn="ctr"/>
            <a:r>
              <a:rPr sz="1800" b="1">
                <a:solidFill>
                  <a:srgbClr val="0F141A"/>
                </a:solidFill>
                <a:latin typeface="Helvetica Neue"/>
              </a:rPr>
              <a:t>1</a:t>
            </a:r>
          </a:p>
        </p:txBody>
      </p:sp>
      <p:sp>
        <p:nvSpPr>
          <p:cNvPr id="7" name="TextBox 6"/>
          <p:cNvSpPr txBox="1"/>
          <p:nvPr/>
        </p:nvSpPr>
        <p:spPr>
          <a:xfrm>
            <a:off x="1280160" y="1581912"/>
            <a:ext cx="10424160" cy="292608"/>
          </a:xfrm>
          <a:prstGeom prst="rect">
            <a:avLst/>
          </a:prstGeom>
          <a:noFill/>
        </p:spPr>
        <p:txBody>
          <a:bodyPr wrap="square" lIns="45720" rIns="45720">
            <a:spAutoFit/>
          </a:bodyPr>
          <a:lstStyle/>
          <a:p>
            <a:pPr algn="l"/>
            <a:r>
              <a:rPr sz="1300" b="1">
                <a:solidFill>
                  <a:srgbClr val="E6EAF0"/>
                </a:solidFill>
                <a:latin typeface="Helvetica Neue"/>
              </a:rPr>
              <a:t>Build standard Ed-Fi knowledge (one-time per DS version)</a:t>
            </a:r>
          </a:p>
        </p:txBody>
      </p:sp>
      <p:sp>
        <p:nvSpPr>
          <p:cNvPr id="8" name="TextBox 7"/>
          <p:cNvSpPr txBox="1"/>
          <p:nvPr/>
        </p:nvSpPr>
        <p:spPr>
          <a:xfrm>
            <a:off x="1280160" y="1892807"/>
            <a:ext cx="10424160" cy="594360"/>
          </a:xfrm>
          <a:prstGeom prst="rect">
            <a:avLst/>
          </a:prstGeom>
          <a:noFill/>
        </p:spPr>
        <p:txBody>
          <a:bodyPr wrap="square" lIns="45720" rIns="45720">
            <a:spAutoFit/>
          </a:bodyPr>
          <a:lstStyle/>
          <a:p>
            <a:pPr algn="l"/>
            <a:r>
              <a:rPr sz="1000" b="0">
                <a:solidFill>
                  <a:srgbClr val="8A95A5"/>
                </a:solidFill>
                <a:latin typeface="Helvetica Neue"/>
              </a:rPr>
              <a:t>Fetch ApiModel.json + 0030-ForeignKeys.sql from Ed-Fi GitHub raw · cache under data/edfi/ · 4-stage classifier on the full ApiModel produces 829 catalog entries and 1,663 FK edges</a:t>
            </a:r>
          </a:p>
        </p:txBody>
      </p:sp>
      <p:sp>
        <p:nvSpPr>
          <p:cNvPr id="9" name="Oval 8"/>
          <p:cNvSpPr/>
          <p:nvPr/>
        </p:nvSpPr>
        <p:spPr>
          <a:xfrm>
            <a:off x="640080" y="2551176"/>
            <a:ext cx="502920" cy="502920"/>
          </a:xfrm>
          <a:prstGeom prst="ellipse">
            <a:avLst/>
          </a:prstGeom>
          <a:solidFill>
            <a:srgbClr val="6EC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51176"/>
            <a:ext cx="502920" cy="502920"/>
          </a:xfrm>
          <a:prstGeom prst="rect">
            <a:avLst/>
          </a:prstGeom>
          <a:noFill/>
        </p:spPr>
        <p:txBody>
          <a:bodyPr wrap="none" lIns="0" rIns="0" tIns="91440">
            <a:spAutoFit/>
          </a:bodyPr>
          <a:lstStyle/>
          <a:p>
            <a:pPr algn="ctr"/>
            <a:r>
              <a:rPr sz="1800" b="1">
                <a:solidFill>
                  <a:srgbClr val="0F141A"/>
                </a:solidFill>
                <a:latin typeface="Helvetica Neue"/>
              </a:rPr>
              <a:t>2</a:t>
            </a:r>
          </a:p>
        </p:txBody>
      </p:sp>
      <p:sp>
        <p:nvSpPr>
          <p:cNvPr id="11" name="TextBox 10"/>
          <p:cNvSpPr txBox="1"/>
          <p:nvPr/>
        </p:nvSpPr>
        <p:spPr>
          <a:xfrm>
            <a:off x="1280160" y="2532888"/>
            <a:ext cx="10424160" cy="292608"/>
          </a:xfrm>
          <a:prstGeom prst="rect">
            <a:avLst/>
          </a:prstGeom>
          <a:noFill/>
        </p:spPr>
        <p:txBody>
          <a:bodyPr wrap="square" lIns="45720" rIns="45720">
            <a:spAutoFit/>
          </a:bodyPr>
          <a:lstStyle/>
          <a:p>
            <a:pPr algn="l"/>
            <a:r>
              <a:rPr sz="1300" b="1">
                <a:solidFill>
                  <a:srgbClr val="E6EAF0"/>
                </a:solidFill>
                <a:latin typeface="Helvetica Neue"/>
              </a:rPr>
              <a:t>Connect &amp; activate the operator's database</a:t>
            </a:r>
          </a:p>
        </p:txBody>
      </p:sp>
      <p:sp>
        <p:nvSpPr>
          <p:cNvPr id="12" name="TextBox 11"/>
          <p:cNvSpPr txBox="1"/>
          <p:nvPr/>
        </p:nvSpPr>
        <p:spPr>
          <a:xfrm>
            <a:off x="1280160" y="2843784"/>
            <a:ext cx="10424160" cy="594360"/>
          </a:xfrm>
          <a:prstGeom prst="rect">
            <a:avLst/>
          </a:prstGeom>
          <a:noFill/>
        </p:spPr>
        <p:txBody>
          <a:bodyPr wrap="square" lIns="45720" rIns="45720">
            <a:spAutoFit/>
          </a:bodyPr>
          <a:lstStyle/>
          <a:p>
            <a:pPr algn="l"/>
            <a:r>
              <a:rPr sz="1000" b="0">
                <a:solidFill>
                  <a:srgbClr val="8A95A5"/>
                </a:solidFill>
                <a:latin typeface="Helvetica Neue"/>
              </a:rPr>
              <a:t>Operator opens Settings → Database connector form · picks dialect (Postgres / MSSQL / SQLite) and enters host + credentials (passwords stored in gitignored runtime_secrets.json) · Make active creates a per-provider artifact directory</a:t>
            </a:r>
          </a:p>
        </p:txBody>
      </p:sp>
      <p:sp>
        <p:nvSpPr>
          <p:cNvPr id="13" name="Oval 12"/>
          <p:cNvSpPr/>
          <p:nvPr/>
        </p:nvSpPr>
        <p:spPr>
          <a:xfrm>
            <a:off x="640080" y="3502152"/>
            <a:ext cx="502920" cy="502920"/>
          </a:xfrm>
          <a:prstGeom prst="ellipse">
            <a:avLst/>
          </a:prstGeom>
          <a:solidFill>
            <a:srgbClr val="6EC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02152"/>
            <a:ext cx="502920" cy="502920"/>
          </a:xfrm>
          <a:prstGeom prst="rect">
            <a:avLst/>
          </a:prstGeom>
          <a:noFill/>
        </p:spPr>
        <p:txBody>
          <a:bodyPr wrap="none" lIns="0" rIns="0" tIns="91440">
            <a:spAutoFit/>
          </a:bodyPr>
          <a:lstStyle/>
          <a:p>
            <a:pPr algn="ctr"/>
            <a:r>
              <a:rPr sz="1800" b="1">
                <a:solidFill>
                  <a:srgbClr val="0F141A"/>
                </a:solidFill>
                <a:latin typeface="Helvetica Neue"/>
              </a:rPr>
              <a:t>3</a:t>
            </a:r>
          </a:p>
        </p:txBody>
      </p:sp>
      <p:sp>
        <p:nvSpPr>
          <p:cNvPr id="15" name="TextBox 14"/>
          <p:cNvSpPr txBox="1"/>
          <p:nvPr/>
        </p:nvSpPr>
        <p:spPr>
          <a:xfrm>
            <a:off x="1280160" y="3483864"/>
            <a:ext cx="10424160" cy="292608"/>
          </a:xfrm>
          <a:prstGeom prst="rect">
            <a:avLst/>
          </a:prstGeom>
          <a:noFill/>
        </p:spPr>
        <p:txBody>
          <a:bodyPr wrap="square" lIns="45720" rIns="45720">
            <a:spAutoFit/>
          </a:bodyPr>
          <a:lstStyle/>
          <a:p>
            <a:pPr algn="l"/>
            <a:r>
              <a:rPr sz="1300" b="1">
                <a:solidFill>
                  <a:srgbClr val="E6EAF0"/>
                </a:solidFill>
                <a:latin typeface="Helvetica Neue"/>
              </a:rPr>
              <a:t>Reflect tables Ed-Fi doesn't know about</a:t>
            </a:r>
          </a:p>
        </p:txBody>
      </p:sp>
      <p:sp>
        <p:nvSpPr>
          <p:cNvPr id="16" name="TextBox 15"/>
          <p:cNvSpPr txBox="1"/>
          <p:nvPr/>
        </p:nvSpPr>
        <p:spPr>
          <a:xfrm>
            <a:off x="1280160" y="3794760"/>
            <a:ext cx="10424160" cy="594360"/>
          </a:xfrm>
          <a:prstGeom prst="rect">
            <a:avLst/>
          </a:prstGeom>
          <a:noFill/>
        </p:spPr>
        <p:txBody>
          <a:bodyPr wrap="square" lIns="45720" rIns="45720">
            <a:spAutoFit/>
          </a:bodyPr>
          <a:lstStyle/>
          <a:p>
            <a:pPr algn="l"/>
            <a:r>
              <a:rPr sz="1000" b="0">
                <a:solidFill>
                  <a:srgbClr val="8A95A5"/>
                </a:solidFill>
                <a:latin typeface="Helvetica Neue"/>
              </a:rPr>
              <a:t>SQLAlchemy Inspector walks the live DB · for each table NOT in ApiModel: reflect columns + types + PK + FKs (composite supported) · sample N rows · tag domains=['Other'], is_extension=True · LLM gap-fill writes a description</a:t>
            </a:r>
          </a:p>
        </p:txBody>
      </p:sp>
      <p:sp>
        <p:nvSpPr>
          <p:cNvPr id="17" name="Oval 16"/>
          <p:cNvSpPr/>
          <p:nvPr/>
        </p:nvSpPr>
        <p:spPr>
          <a:xfrm>
            <a:off x="640080" y="4453128"/>
            <a:ext cx="502920" cy="502920"/>
          </a:xfrm>
          <a:prstGeom prst="ellipse">
            <a:avLst/>
          </a:prstGeom>
          <a:solidFill>
            <a:srgbClr val="6EC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53128"/>
            <a:ext cx="502920" cy="502920"/>
          </a:xfrm>
          <a:prstGeom prst="rect">
            <a:avLst/>
          </a:prstGeom>
          <a:noFill/>
        </p:spPr>
        <p:txBody>
          <a:bodyPr wrap="none" lIns="0" rIns="0" tIns="91440">
            <a:spAutoFit/>
          </a:bodyPr>
          <a:lstStyle/>
          <a:p>
            <a:pPr algn="ctr"/>
            <a:r>
              <a:rPr sz="1800" b="1">
                <a:solidFill>
                  <a:srgbClr val="0F141A"/>
                </a:solidFill>
                <a:latin typeface="Helvetica Neue"/>
              </a:rPr>
              <a:t>4</a:t>
            </a:r>
          </a:p>
        </p:txBody>
      </p:sp>
      <p:sp>
        <p:nvSpPr>
          <p:cNvPr id="19" name="TextBox 18"/>
          <p:cNvSpPr txBox="1"/>
          <p:nvPr/>
        </p:nvSpPr>
        <p:spPr>
          <a:xfrm>
            <a:off x="1280160" y="4434840"/>
            <a:ext cx="10424160" cy="292608"/>
          </a:xfrm>
          <a:prstGeom prst="rect">
            <a:avLst/>
          </a:prstGeom>
          <a:noFill/>
        </p:spPr>
        <p:txBody>
          <a:bodyPr wrap="square" lIns="45720" rIns="45720">
            <a:spAutoFit/>
          </a:bodyPr>
          <a:lstStyle/>
          <a:p>
            <a:pPr algn="l"/>
            <a:r>
              <a:rPr sz="1300" b="1">
                <a:solidFill>
                  <a:srgbClr val="E6EAF0"/>
                </a:solidFill>
                <a:latin typeface="Helvetica Neue"/>
              </a:rPr>
              <a:t>Build per-provider artifacts (no cross-pollution)</a:t>
            </a:r>
          </a:p>
        </p:txBody>
      </p:sp>
      <p:sp>
        <p:nvSpPr>
          <p:cNvPr id="20" name="TextBox 19"/>
          <p:cNvSpPr txBox="1"/>
          <p:nvPr/>
        </p:nvSpPr>
        <p:spPr>
          <a:xfrm>
            <a:off x="1280160" y="4745736"/>
            <a:ext cx="10424160" cy="594360"/>
          </a:xfrm>
          <a:prstGeom prst="rect">
            <a:avLst/>
          </a:prstGeom>
          <a:noFill/>
        </p:spPr>
        <p:txBody>
          <a:bodyPr wrap="square" lIns="45720" rIns="45720">
            <a:spAutoFit/>
          </a:bodyPr>
          <a:lstStyle/>
          <a:p>
            <a:pPr algn="l"/>
            <a:r>
              <a:rPr sz="1000" b="0">
                <a:solidFill>
                  <a:srgbClr val="8A95A5"/>
                </a:solidFill>
                <a:latin typeface="Helvetica Neue"/>
              </a:rPr>
              <a:t>Catalog merges 829 Ed-Fi entries + N reflected entries · graph merges 1,663 Ed-Fi edges + reflected FK edges so cross-source joins emerge naturally · embeddings re-indexed · everything stored under data/artifacts/per_provider/&lt;provider_name&gt;/</a:t>
            </a:r>
          </a:p>
        </p:txBody>
      </p:sp>
      <p:sp>
        <p:nvSpPr>
          <p:cNvPr id="21" name="Oval 20"/>
          <p:cNvSpPr/>
          <p:nvPr/>
        </p:nvSpPr>
        <p:spPr>
          <a:xfrm>
            <a:off x="640080" y="5404104"/>
            <a:ext cx="502920" cy="502920"/>
          </a:xfrm>
          <a:prstGeom prst="ellipse">
            <a:avLst/>
          </a:prstGeom>
          <a:solidFill>
            <a:srgbClr val="4AD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404104"/>
            <a:ext cx="502920" cy="502920"/>
          </a:xfrm>
          <a:prstGeom prst="rect">
            <a:avLst/>
          </a:prstGeom>
          <a:noFill/>
        </p:spPr>
        <p:txBody>
          <a:bodyPr wrap="none" lIns="0" rIns="0" tIns="91440">
            <a:spAutoFit/>
          </a:bodyPr>
          <a:lstStyle/>
          <a:p>
            <a:pPr algn="ctr"/>
            <a:r>
              <a:rPr sz="1800" b="1">
                <a:solidFill>
                  <a:srgbClr val="0F141A"/>
                </a:solidFill>
                <a:latin typeface="Helvetica Neue"/>
              </a:rPr>
              <a:t>5</a:t>
            </a:r>
          </a:p>
        </p:txBody>
      </p:sp>
      <p:sp>
        <p:nvSpPr>
          <p:cNvPr id="23" name="TextBox 22"/>
          <p:cNvSpPr txBox="1"/>
          <p:nvPr/>
        </p:nvSpPr>
        <p:spPr>
          <a:xfrm>
            <a:off x="1280160" y="5385816"/>
            <a:ext cx="10424160" cy="292608"/>
          </a:xfrm>
          <a:prstGeom prst="rect">
            <a:avLst/>
          </a:prstGeom>
          <a:noFill/>
        </p:spPr>
        <p:txBody>
          <a:bodyPr wrap="square" lIns="45720" rIns="45720">
            <a:spAutoFit/>
          </a:bodyPr>
          <a:lstStyle/>
          <a:p>
            <a:pPr algn="l"/>
            <a:r>
              <a:rPr sz="1300" b="1">
                <a:solidFill>
                  <a:srgbClr val="E6EAF0"/>
                </a:solidFill>
                <a:latin typeface="Helvetica Neue"/>
              </a:rPr>
              <a:t>Query routes through the unified catalog</a:t>
            </a:r>
          </a:p>
        </p:txBody>
      </p:sp>
      <p:sp>
        <p:nvSpPr>
          <p:cNvPr id="24" name="TextBox 23"/>
          <p:cNvSpPr txBox="1"/>
          <p:nvPr/>
        </p:nvSpPr>
        <p:spPr>
          <a:xfrm>
            <a:off x="1280160" y="5696712"/>
            <a:ext cx="10424160" cy="594360"/>
          </a:xfrm>
          <a:prstGeom prst="rect">
            <a:avLst/>
          </a:prstGeom>
          <a:noFill/>
        </p:spPr>
        <p:txBody>
          <a:bodyPr wrap="square" lIns="45720" rIns="45720">
            <a:spAutoFit/>
          </a:bodyPr>
          <a:lstStyle/>
          <a:p>
            <a:pPr algn="l"/>
            <a:r>
              <a:rPr sz="1000" b="0">
                <a:solidFill>
                  <a:srgbClr val="8A95A5"/>
                </a:solidFill>
                <a:latin typeface="Helvetica Neue"/>
              </a:rPr>
              <a:t>Routing matches Ed-Fi domains OR the 'Other' bucket · hybrid retrieval scores Ed-Fi + reflected tables together · Steiner picks join paths across both sources · LLM grounds SQL in real columns from whichever tables matter</a:t>
            </a:r>
          </a:p>
        </p:txBody>
      </p:sp>
      <p:sp>
        <p:nvSpPr>
          <p:cNvPr id="25" name="TextBox 24"/>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Knowledge · Non-standard ingest flow</a:t>
            </a:r>
          </a:p>
        </p:txBody>
      </p:sp>
      <p:sp>
        <p:nvSpPr>
          <p:cNvPr id="26" name="TextBox 25"/>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test_catalog_reflect_unknown.py · 8 cases green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Foreign-Key Graph + JOIN solver</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1,663 edges · 829×829 APSP precomputed · KMB Steiner approximation</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What the graph contains</a:t>
            </a:r>
          </a:p>
        </p:txBody>
      </p:sp>
      <p:sp>
        <p:nvSpPr>
          <p:cNvPr id="6" name="TextBox 5"/>
          <p:cNvSpPr txBox="1"/>
          <p:nvPr/>
        </p:nvSpPr>
        <p:spPr>
          <a:xfrm>
            <a:off x="640080" y="1965960"/>
            <a:ext cx="3383280" cy="292608"/>
          </a:xfrm>
          <a:prstGeom prst="rect">
            <a:avLst/>
          </a:prstGeom>
          <a:noFill/>
        </p:spPr>
        <p:txBody>
          <a:bodyPr wrap="square" lIns="45720" rIns="45720">
            <a:spAutoFit/>
          </a:bodyPr>
          <a:lstStyle/>
          <a:p>
            <a:pPr algn="l"/>
            <a:r>
              <a:rPr sz="1200" b="0">
                <a:solidFill>
                  <a:srgbClr val="8A95A5"/>
                </a:solidFill>
                <a:latin typeface="Helvetica Neue"/>
              </a:rPr>
              <a:t>Nodes (tables)</a:t>
            </a:r>
          </a:p>
        </p:txBody>
      </p:sp>
      <p:sp>
        <p:nvSpPr>
          <p:cNvPr id="7" name="TextBox 6"/>
          <p:cNvSpPr txBox="1"/>
          <p:nvPr/>
        </p:nvSpPr>
        <p:spPr>
          <a:xfrm>
            <a:off x="4023360" y="1965960"/>
            <a:ext cx="1645920" cy="292608"/>
          </a:xfrm>
          <a:prstGeom prst="rect">
            <a:avLst/>
          </a:prstGeom>
          <a:noFill/>
        </p:spPr>
        <p:txBody>
          <a:bodyPr wrap="square" lIns="45720" rIns="45720">
            <a:spAutoFit/>
          </a:bodyPr>
          <a:lstStyle/>
          <a:p>
            <a:pPr algn="r"/>
            <a:r>
              <a:rPr sz="1200" b="1">
                <a:solidFill>
                  <a:srgbClr val="E6EAF0"/>
                </a:solidFill>
                <a:latin typeface="Helvetica Neue"/>
              </a:rPr>
              <a:t>829</a:t>
            </a:r>
          </a:p>
        </p:txBody>
      </p:sp>
      <p:sp>
        <p:nvSpPr>
          <p:cNvPr id="8" name="TextBox 7"/>
          <p:cNvSpPr txBox="1"/>
          <p:nvPr/>
        </p:nvSpPr>
        <p:spPr>
          <a:xfrm>
            <a:off x="640080" y="2423160"/>
            <a:ext cx="3383280" cy="292608"/>
          </a:xfrm>
          <a:prstGeom prst="rect">
            <a:avLst/>
          </a:prstGeom>
          <a:noFill/>
        </p:spPr>
        <p:txBody>
          <a:bodyPr wrap="square" lIns="45720" rIns="45720">
            <a:spAutoFit/>
          </a:bodyPr>
          <a:lstStyle/>
          <a:p>
            <a:pPr algn="l"/>
            <a:r>
              <a:rPr sz="1200" b="0">
                <a:solidFill>
                  <a:srgbClr val="8A95A5"/>
                </a:solidFill>
                <a:latin typeface="Helvetica Neue"/>
              </a:rPr>
              <a:t>Edges (FK relationships)</a:t>
            </a:r>
          </a:p>
        </p:txBody>
      </p:sp>
      <p:sp>
        <p:nvSpPr>
          <p:cNvPr id="9" name="TextBox 8"/>
          <p:cNvSpPr txBox="1"/>
          <p:nvPr/>
        </p:nvSpPr>
        <p:spPr>
          <a:xfrm>
            <a:off x="4023360" y="2423160"/>
            <a:ext cx="1645920" cy="292608"/>
          </a:xfrm>
          <a:prstGeom prst="rect">
            <a:avLst/>
          </a:prstGeom>
          <a:noFill/>
        </p:spPr>
        <p:txBody>
          <a:bodyPr wrap="square" lIns="45720" rIns="45720">
            <a:spAutoFit/>
          </a:bodyPr>
          <a:lstStyle/>
          <a:p>
            <a:pPr algn="r"/>
            <a:r>
              <a:rPr sz="1200" b="1">
                <a:solidFill>
                  <a:srgbClr val="E6EAF0"/>
                </a:solidFill>
                <a:latin typeface="Helvetica Neue"/>
              </a:rPr>
              <a:t>1,663</a:t>
            </a:r>
          </a:p>
        </p:txBody>
      </p:sp>
      <p:sp>
        <p:nvSpPr>
          <p:cNvPr id="10" name="TextBox 9"/>
          <p:cNvSpPr txBox="1"/>
          <p:nvPr/>
        </p:nvSpPr>
        <p:spPr>
          <a:xfrm>
            <a:off x="640080" y="2880360"/>
            <a:ext cx="3383280" cy="292608"/>
          </a:xfrm>
          <a:prstGeom prst="rect">
            <a:avLst/>
          </a:prstGeom>
          <a:noFill/>
        </p:spPr>
        <p:txBody>
          <a:bodyPr wrap="square" lIns="45720" rIns="45720">
            <a:spAutoFit/>
          </a:bodyPr>
          <a:lstStyle/>
          <a:p>
            <a:pPr algn="l"/>
            <a:r>
              <a:rPr sz="1200" b="0">
                <a:solidFill>
                  <a:srgbClr val="8A95A5"/>
                </a:solidFill>
                <a:latin typeface="Helvetica Neue"/>
              </a:rPr>
              <a:t>APSP storage on disk</a:t>
            </a:r>
          </a:p>
        </p:txBody>
      </p:sp>
      <p:sp>
        <p:nvSpPr>
          <p:cNvPr id="11" name="TextBox 10"/>
          <p:cNvSpPr txBox="1"/>
          <p:nvPr/>
        </p:nvSpPr>
        <p:spPr>
          <a:xfrm>
            <a:off x="4023360" y="2880360"/>
            <a:ext cx="1645920" cy="292608"/>
          </a:xfrm>
          <a:prstGeom prst="rect">
            <a:avLst/>
          </a:prstGeom>
          <a:noFill/>
        </p:spPr>
        <p:txBody>
          <a:bodyPr wrap="square" lIns="45720" rIns="45720">
            <a:spAutoFit/>
          </a:bodyPr>
          <a:lstStyle/>
          <a:p>
            <a:pPr algn="r"/>
            <a:r>
              <a:rPr sz="1200" b="1">
                <a:solidFill>
                  <a:srgbClr val="E6EAF0"/>
                </a:solidFill>
                <a:latin typeface="Helvetica Neue"/>
              </a:rPr>
              <a:t>&lt;10 MB</a:t>
            </a:r>
          </a:p>
        </p:txBody>
      </p:sp>
      <p:sp>
        <p:nvSpPr>
          <p:cNvPr id="12" name="TextBox 11"/>
          <p:cNvSpPr txBox="1"/>
          <p:nvPr/>
        </p:nvSpPr>
        <p:spPr>
          <a:xfrm>
            <a:off x="640080" y="3337560"/>
            <a:ext cx="3383280" cy="292608"/>
          </a:xfrm>
          <a:prstGeom prst="rect">
            <a:avLst/>
          </a:prstGeom>
          <a:noFill/>
        </p:spPr>
        <p:txBody>
          <a:bodyPr wrap="square" lIns="45720" rIns="45720">
            <a:spAutoFit/>
          </a:bodyPr>
          <a:lstStyle/>
          <a:p>
            <a:pPr algn="l"/>
            <a:r>
              <a:rPr sz="1200" b="0">
                <a:solidFill>
                  <a:srgbClr val="8A95A5"/>
                </a:solidFill>
                <a:latin typeface="Helvetica Neue"/>
              </a:rPr>
              <a:t>Load time at startup</a:t>
            </a:r>
          </a:p>
        </p:txBody>
      </p:sp>
      <p:sp>
        <p:nvSpPr>
          <p:cNvPr id="13" name="TextBox 12"/>
          <p:cNvSpPr txBox="1"/>
          <p:nvPr/>
        </p:nvSpPr>
        <p:spPr>
          <a:xfrm>
            <a:off x="4023360" y="3337560"/>
            <a:ext cx="1645920" cy="292608"/>
          </a:xfrm>
          <a:prstGeom prst="rect">
            <a:avLst/>
          </a:prstGeom>
          <a:noFill/>
        </p:spPr>
        <p:txBody>
          <a:bodyPr wrap="square" lIns="45720" rIns="45720">
            <a:spAutoFit/>
          </a:bodyPr>
          <a:lstStyle/>
          <a:p>
            <a:pPr algn="r"/>
            <a:r>
              <a:rPr sz="1200" b="1">
                <a:solidFill>
                  <a:srgbClr val="E6EAF0"/>
                </a:solidFill>
                <a:latin typeface="Helvetica Neue"/>
              </a:rPr>
              <a:t>&lt;100 ms</a:t>
            </a:r>
          </a:p>
        </p:txBody>
      </p:sp>
      <p:sp>
        <p:nvSpPr>
          <p:cNvPr id="14" name="TextBox 13"/>
          <p:cNvSpPr txBox="1"/>
          <p:nvPr/>
        </p:nvSpPr>
        <p:spPr>
          <a:xfrm>
            <a:off x="640080" y="3794760"/>
            <a:ext cx="3383280" cy="292608"/>
          </a:xfrm>
          <a:prstGeom prst="rect">
            <a:avLst/>
          </a:prstGeom>
          <a:noFill/>
        </p:spPr>
        <p:txBody>
          <a:bodyPr wrap="square" lIns="45720" rIns="45720">
            <a:spAutoFit/>
          </a:bodyPr>
          <a:lstStyle/>
          <a:p>
            <a:pPr algn="l"/>
            <a:r>
              <a:rPr sz="1200" b="0">
                <a:solidFill>
                  <a:srgbClr val="8A95A5"/>
                </a:solidFill>
                <a:latin typeface="Helvetica Neue"/>
              </a:rPr>
              <a:t>Same-aggregate join weight</a:t>
            </a:r>
          </a:p>
        </p:txBody>
      </p:sp>
      <p:sp>
        <p:nvSpPr>
          <p:cNvPr id="15" name="TextBox 14"/>
          <p:cNvSpPr txBox="1"/>
          <p:nvPr/>
        </p:nvSpPr>
        <p:spPr>
          <a:xfrm>
            <a:off x="4023360" y="3794760"/>
            <a:ext cx="1645920" cy="292608"/>
          </a:xfrm>
          <a:prstGeom prst="rect">
            <a:avLst/>
          </a:prstGeom>
          <a:noFill/>
        </p:spPr>
        <p:txBody>
          <a:bodyPr wrap="square" lIns="45720" rIns="45720">
            <a:spAutoFit/>
          </a:bodyPr>
          <a:lstStyle/>
          <a:p>
            <a:pPr algn="r"/>
            <a:r>
              <a:rPr sz="1200" b="1">
                <a:solidFill>
                  <a:srgbClr val="E6EAF0"/>
                </a:solidFill>
                <a:latin typeface="Helvetica Neue"/>
              </a:rPr>
              <a:t>1.0</a:t>
            </a:r>
          </a:p>
        </p:txBody>
      </p:sp>
      <p:sp>
        <p:nvSpPr>
          <p:cNvPr id="16" name="TextBox 15"/>
          <p:cNvSpPr txBox="1"/>
          <p:nvPr/>
        </p:nvSpPr>
        <p:spPr>
          <a:xfrm>
            <a:off x="640080" y="4251960"/>
            <a:ext cx="3383280" cy="292608"/>
          </a:xfrm>
          <a:prstGeom prst="rect">
            <a:avLst/>
          </a:prstGeom>
          <a:noFill/>
        </p:spPr>
        <p:txBody>
          <a:bodyPr wrap="square" lIns="45720" rIns="45720">
            <a:spAutoFit/>
          </a:bodyPr>
          <a:lstStyle/>
          <a:p>
            <a:pPr algn="l"/>
            <a:r>
              <a:rPr sz="1200" b="0">
                <a:solidFill>
                  <a:srgbClr val="8A95A5"/>
                </a:solidFill>
                <a:latin typeface="Helvetica Neue"/>
              </a:rPr>
              <a:t>Cross-aggregate join weight</a:t>
            </a:r>
          </a:p>
        </p:txBody>
      </p:sp>
      <p:sp>
        <p:nvSpPr>
          <p:cNvPr id="17" name="TextBox 16"/>
          <p:cNvSpPr txBox="1"/>
          <p:nvPr/>
        </p:nvSpPr>
        <p:spPr>
          <a:xfrm>
            <a:off x="4023360" y="4251960"/>
            <a:ext cx="1645920" cy="292608"/>
          </a:xfrm>
          <a:prstGeom prst="rect">
            <a:avLst/>
          </a:prstGeom>
          <a:noFill/>
        </p:spPr>
        <p:txBody>
          <a:bodyPr wrap="square" lIns="45720" rIns="45720">
            <a:spAutoFit/>
          </a:bodyPr>
          <a:lstStyle/>
          <a:p>
            <a:pPr algn="r"/>
            <a:r>
              <a:rPr sz="1200" b="1">
                <a:solidFill>
                  <a:srgbClr val="E6EAF0"/>
                </a:solidFill>
                <a:latin typeface="Helvetica Neue"/>
              </a:rPr>
              <a:t>2.0</a:t>
            </a:r>
          </a:p>
        </p:txBody>
      </p:sp>
      <p:sp>
        <p:nvSpPr>
          <p:cNvPr id="18" name="TextBox 17"/>
          <p:cNvSpPr txBox="1"/>
          <p:nvPr/>
        </p:nvSpPr>
        <p:spPr>
          <a:xfrm>
            <a:off x="640080" y="4709160"/>
            <a:ext cx="3383280" cy="292608"/>
          </a:xfrm>
          <a:prstGeom prst="rect">
            <a:avLst/>
          </a:prstGeom>
          <a:noFill/>
        </p:spPr>
        <p:txBody>
          <a:bodyPr wrap="square" lIns="45720" rIns="45720">
            <a:spAutoFit/>
          </a:bodyPr>
          <a:lstStyle/>
          <a:p>
            <a:pPr algn="l"/>
            <a:r>
              <a:rPr sz="1200" b="0">
                <a:solidFill>
                  <a:srgbClr val="8A95A5"/>
                </a:solidFill>
                <a:latin typeface="Helvetica Neue"/>
              </a:rPr>
              <a:t>Cross-domain join weight</a:t>
            </a:r>
          </a:p>
        </p:txBody>
      </p:sp>
      <p:sp>
        <p:nvSpPr>
          <p:cNvPr id="19" name="TextBox 18"/>
          <p:cNvSpPr txBox="1"/>
          <p:nvPr/>
        </p:nvSpPr>
        <p:spPr>
          <a:xfrm>
            <a:off x="4023360" y="4709160"/>
            <a:ext cx="1645920" cy="292608"/>
          </a:xfrm>
          <a:prstGeom prst="rect">
            <a:avLst/>
          </a:prstGeom>
          <a:noFill/>
        </p:spPr>
        <p:txBody>
          <a:bodyPr wrap="square" lIns="45720" rIns="45720">
            <a:spAutoFit/>
          </a:bodyPr>
          <a:lstStyle/>
          <a:p>
            <a:pPr algn="r"/>
            <a:r>
              <a:rPr sz="1200" b="1">
                <a:solidFill>
                  <a:srgbClr val="E6EAF0"/>
                </a:solidFill>
                <a:latin typeface="Helvetica Neue"/>
              </a:rPr>
              <a:t>4.0</a:t>
            </a:r>
          </a:p>
        </p:txBody>
      </p:sp>
      <p:sp>
        <p:nvSpPr>
          <p:cNvPr id="20" name="TextBox 19"/>
          <p:cNvSpPr txBox="1"/>
          <p:nvPr/>
        </p:nvSpPr>
        <p:spPr>
          <a:xfrm>
            <a:off x="640080" y="5166360"/>
            <a:ext cx="3383280" cy="292608"/>
          </a:xfrm>
          <a:prstGeom prst="rect">
            <a:avLst/>
          </a:prstGeom>
          <a:noFill/>
        </p:spPr>
        <p:txBody>
          <a:bodyPr wrap="square" lIns="45720" rIns="45720">
            <a:spAutoFit/>
          </a:bodyPr>
          <a:lstStyle/>
          <a:p>
            <a:pPr algn="l"/>
            <a:r>
              <a:rPr sz="1200" b="0">
                <a:solidFill>
                  <a:srgbClr val="8A95A5"/>
                </a:solidFill>
                <a:latin typeface="Helvetica Neue"/>
              </a:rPr>
              <a:t>Composite-FK bonus multiplier</a:t>
            </a:r>
          </a:p>
        </p:txBody>
      </p:sp>
      <p:sp>
        <p:nvSpPr>
          <p:cNvPr id="21" name="TextBox 20"/>
          <p:cNvSpPr txBox="1"/>
          <p:nvPr/>
        </p:nvSpPr>
        <p:spPr>
          <a:xfrm>
            <a:off x="4023360" y="5166360"/>
            <a:ext cx="1645920" cy="292608"/>
          </a:xfrm>
          <a:prstGeom prst="rect">
            <a:avLst/>
          </a:prstGeom>
          <a:noFill/>
        </p:spPr>
        <p:txBody>
          <a:bodyPr wrap="square" lIns="45720" rIns="45720">
            <a:spAutoFit/>
          </a:bodyPr>
          <a:lstStyle/>
          <a:p>
            <a:pPr algn="r"/>
            <a:r>
              <a:rPr sz="1200" b="1">
                <a:solidFill>
                  <a:srgbClr val="E6EAF0"/>
                </a:solidFill>
                <a:latin typeface="Helvetica Neue"/>
              </a:rPr>
              <a:t>0.9</a:t>
            </a:r>
          </a:p>
        </p:txBody>
      </p:sp>
      <p:sp>
        <p:nvSpPr>
          <p:cNvPr id="22" name="Rounded Rectangle 21"/>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Steiner solver — three paths</a:t>
            </a:r>
          </a:p>
        </p:txBody>
      </p:sp>
      <p:sp>
        <p:nvSpPr>
          <p:cNvPr id="24" name="TextBox 23"/>
          <p:cNvSpPr txBox="1"/>
          <p:nvPr/>
        </p:nvSpPr>
        <p:spPr>
          <a:xfrm>
            <a:off x="6446520" y="1965960"/>
            <a:ext cx="5120640" cy="292608"/>
          </a:xfrm>
          <a:prstGeom prst="rect">
            <a:avLst/>
          </a:prstGeom>
          <a:noFill/>
        </p:spPr>
        <p:txBody>
          <a:bodyPr wrap="square" lIns="45720" rIns="45720">
            <a:spAutoFit/>
          </a:bodyPr>
          <a:lstStyle/>
          <a:p>
            <a:pPr algn="l"/>
            <a:r>
              <a:rPr sz="1200" b="1">
                <a:solidFill>
                  <a:srgbClr val="E6EAF0"/>
                </a:solidFill>
                <a:latin typeface="Helvetica Neue"/>
              </a:rPr>
              <a:t>k = 2 tables</a:t>
            </a:r>
          </a:p>
        </p:txBody>
      </p:sp>
      <p:sp>
        <p:nvSpPr>
          <p:cNvPr id="25" name="TextBox 24"/>
          <p:cNvSpPr txBox="1"/>
          <p:nvPr/>
        </p:nvSpPr>
        <p:spPr>
          <a:xfrm>
            <a:off x="6446520" y="2240279"/>
            <a:ext cx="5120640" cy="640080"/>
          </a:xfrm>
          <a:prstGeom prst="rect">
            <a:avLst/>
          </a:prstGeom>
          <a:noFill/>
        </p:spPr>
        <p:txBody>
          <a:bodyPr wrap="square" lIns="45720" rIns="45720">
            <a:spAutoFit/>
          </a:bodyPr>
          <a:lstStyle/>
          <a:p>
            <a:pPr algn="l"/>
            <a:r>
              <a:rPr sz="1100" b="0">
                <a:solidFill>
                  <a:srgbClr val="8A95A5"/>
                </a:solidFill>
                <a:latin typeface="Helvetica Neue"/>
              </a:rPr>
              <a:t>Bidirectional Dijkstra; returns top-3 alternatives so the model picks the most readable</a:t>
            </a:r>
          </a:p>
        </p:txBody>
      </p:sp>
      <p:sp>
        <p:nvSpPr>
          <p:cNvPr id="26" name="TextBox 25"/>
          <p:cNvSpPr txBox="1"/>
          <p:nvPr/>
        </p:nvSpPr>
        <p:spPr>
          <a:xfrm>
            <a:off x="10058400" y="1965960"/>
            <a:ext cx="1554480" cy="292608"/>
          </a:xfrm>
          <a:prstGeom prst="rect">
            <a:avLst/>
          </a:prstGeom>
          <a:noFill/>
        </p:spPr>
        <p:txBody>
          <a:bodyPr wrap="square" lIns="45720" rIns="45720">
            <a:spAutoFit/>
          </a:bodyPr>
          <a:lstStyle/>
          <a:p>
            <a:pPr algn="r"/>
            <a:r>
              <a:rPr sz="1100" b="1">
                <a:solidFill>
                  <a:srgbClr val="4AD09C"/>
                </a:solidFill>
                <a:latin typeface="Helvetica Neue"/>
              </a:rPr>
              <a:t>&lt;5 ms</a:t>
            </a:r>
          </a:p>
        </p:txBody>
      </p:sp>
      <p:sp>
        <p:nvSpPr>
          <p:cNvPr id="27" name="TextBox 26"/>
          <p:cNvSpPr txBox="1"/>
          <p:nvPr/>
        </p:nvSpPr>
        <p:spPr>
          <a:xfrm>
            <a:off x="6446520" y="3154680"/>
            <a:ext cx="5120640" cy="292608"/>
          </a:xfrm>
          <a:prstGeom prst="rect">
            <a:avLst/>
          </a:prstGeom>
          <a:noFill/>
        </p:spPr>
        <p:txBody>
          <a:bodyPr wrap="square" lIns="45720" rIns="45720">
            <a:spAutoFit/>
          </a:bodyPr>
          <a:lstStyle/>
          <a:p>
            <a:pPr algn="l"/>
            <a:r>
              <a:rPr sz="1200" b="1">
                <a:solidFill>
                  <a:srgbClr val="E6EAF0"/>
                </a:solidFill>
                <a:latin typeface="Helvetica Neue"/>
              </a:rPr>
              <a:t>k = 3–8 tables</a:t>
            </a:r>
          </a:p>
        </p:txBody>
      </p:sp>
      <p:sp>
        <p:nvSpPr>
          <p:cNvPr id="28" name="TextBox 27"/>
          <p:cNvSpPr txBox="1"/>
          <p:nvPr/>
        </p:nvSpPr>
        <p:spPr>
          <a:xfrm>
            <a:off x="6446520" y="3429000"/>
            <a:ext cx="5120640" cy="640080"/>
          </a:xfrm>
          <a:prstGeom prst="rect">
            <a:avLst/>
          </a:prstGeom>
          <a:noFill/>
        </p:spPr>
        <p:txBody>
          <a:bodyPr wrap="square" lIns="45720" rIns="45720">
            <a:spAutoFit/>
          </a:bodyPr>
          <a:lstStyle/>
          <a:p>
            <a:pPr algn="l"/>
            <a:r>
              <a:rPr sz="1100" b="0">
                <a:solidFill>
                  <a:srgbClr val="8A95A5"/>
                </a:solidFill>
                <a:latin typeface="Helvetica Neue"/>
              </a:rPr>
              <a:t>KMB Steiner-tree approximation — provably within 2× of optimal</a:t>
            </a:r>
          </a:p>
        </p:txBody>
      </p:sp>
      <p:sp>
        <p:nvSpPr>
          <p:cNvPr id="29" name="TextBox 28"/>
          <p:cNvSpPr txBox="1"/>
          <p:nvPr/>
        </p:nvSpPr>
        <p:spPr>
          <a:xfrm>
            <a:off x="10058400" y="3154680"/>
            <a:ext cx="1554480" cy="292608"/>
          </a:xfrm>
          <a:prstGeom prst="rect">
            <a:avLst/>
          </a:prstGeom>
          <a:noFill/>
        </p:spPr>
        <p:txBody>
          <a:bodyPr wrap="square" lIns="45720" rIns="45720">
            <a:spAutoFit/>
          </a:bodyPr>
          <a:lstStyle/>
          <a:p>
            <a:pPr algn="r"/>
            <a:r>
              <a:rPr sz="1100" b="1">
                <a:solidFill>
                  <a:srgbClr val="4AD09C"/>
                </a:solidFill>
                <a:latin typeface="Helvetica Neue"/>
              </a:rPr>
              <a:t>&lt;50 ms</a:t>
            </a:r>
          </a:p>
        </p:txBody>
      </p:sp>
      <p:sp>
        <p:nvSpPr>
          <p:cNvPr id="30" name="TextBox 29"/>
          <p:cNvSpPr txBox="1"/>
          <p:nvPr/>
        </p:nvSpPr>
        <p:spPr>
          <a:xfrm>
            <a:off x="6446520" y="4343400"/>
            <a:ext cx="5120640" cy="292608"/>
          </a:xfrm>
          <a:prstGeom prst="rect">
            <a:avLst/>
          </a:prstGeom>
          <a:noFill/>
        </p:spPr>
        <p:txBody>
          <a:bodyPr wrap="square" lIns="45720" rIns="45720">
            <a:spAutoFit/>
          </a:bodyPr>
          <a:lstStyle/>
          <a:p>
            <a:pPr algn="l"/>
            <a:r>
              <a:rPr sz="1200" b="1">
                <a:solidFill>
                  <a:srgbClr val="E6EAF0"/>
                </a:solidFill>
                <a:latin typeface="Helvetica Neue"/>
              </a:rPr>
              <a:t>k &gt; 8 (edge case)</a:t>
            </a:r>
          </a:p>
        </p:txBody>
      </p:sp>
      <p:sp>
        <p:nvSpPr>
          <p:cNvPr id="31" name="TextBox 30"/>
          <p:cNvSpPr txBox="1"/>
          <p:nvPr/>
        </p:nvSpPr>
        <p:spPr>
          <a:xfrm>
            <a:off x="6446520" y="4617720"/>
            <a:ext cx="5120640" cy="640080"/>
          </a:xfrm>
          <a:prstGeom prst="rect">
            <a:avLst/>
          </a:prstGeom>
          <a:noFill/>
        </p:spPr>
        <p:txBody>
          <a:bodyPr wrap="square" lIns="45720" rIns="45720">
            <a:spAutoFit/>
          </a:bodyPr>
          <a:lstStyle/>
          <a:p>
            <a:pPr algn="l"/>
            <a:r>
              <a:rPr sz="1100" b="0">
                <a:solidFill>
                  <a:srgbClr val="8A95A5"/>
                </a:solidFill>
                <a:latin typeface="Helvetica Neue"/>
              </a:rPr>
              <a:t>Greedy fallback; rare on real Ed-Fi questions</a:t>
            </a:r>
          </a:p>
        </p:txBody>
      </p:sp>
      <p:sp>
        <p:nvSpPr>
          <p:cNvPr id="32" name="TextBox 31"/>
          <p:cNvSpPr txBox="1"/>
          <p:nvPr/>
        </p:nvSpPr>
        <p:spPr>
          <a:xfrm>
            <a:off x="10058400" y="4343400"/>
            <a:ext cx="1554480" cy="292608"/>
          </a:xfrm>
          <a:prstGeom prst="rect">
            <a:avLst/>
          </a:prstGeom>
          <a:noFill/>
        </p:spPr>
        <p:txBody>
          <a:bodyPr wrap="square" lIns="45720" rIns="45720">
            <a:spAutoFit/>
          </a:bodyPr>
          <a:lstStyle/>
          <a:p>
            <a:pPr algn="r"/>
            <a:r>
              <a:rPr sz="1100" b="1">
                <a:solidFill>
                  <a:srgbClr val="4AD09C"/>
                </a:solidFill>
                <a:latin typeface="Helvetica Neue"/>
              </a:rPr>
              <a:t>&lt;200 ms</a:t>
            </a:r>
          </a:p>
        </p:txBody>
      </p:sp>
      <p:sp>
        <p:nvSpPr>
          <p:cNvPr id="33" name="TextBox 32"/>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Knowledge · FK Graph &amp; Steiner</a:t>
            </a:r>
          </a:p>
        </p:txBody>
      </p:sp>
      <p:sp>
        <p:nvSpPr>
          <p:cNvPr id="34" name="TextBox 33"/>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test_component3 + test_component3_benchmark green · p99 &lt; 1 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Finding the right tables, resolving real-world terms</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Hybrid retrieval shortlists tables · 4-tier resolver maps user words to codes</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Hybrid retrieval (semantic + keyword)</a:t>
            </a:r>
          </a:p>
        </p:txBody>
      </p:sp>
      <p:sp>
        <p:nvSpPr>
          <p:cNvPr id="6" name="TextBox 5"/>
          <p:cNvSpPr txBox="1"/>
          <p:nvPr/>
        </p:nvSpPr>
        <p:spPr>
          <a:xfrm>
            <a:off x="640080" y="1965960"/>
            <a:ext cx="5120640" cy="4114800"/>
          </a:xfrm>
          <a:prstGeom prst="rect">
            <a:avLst/>
          </a:prstGeom>
          <a:noFill/>
        </p:spPr>
        <p:txBody>
          <a:bodyPr wrap="square">
            <a:spAutoFit/>
          </a:bodyPr>
          <a:lstStyle/>
          <a:p>
            <a:pPr algn="l">
              <a:spcAft>
                <a:spcPts val="400"/>
              </a:spcAft>
            </a:pPr>
            <a:r>
              <a:rPr sz="1200">
                <a:solidFill>
                  <a:srgbClr val="E6EAF0"/>
                </a:solidFill>
                <a:latin typeface="Helvetica Neue"/>
              </a:rPr>
              <a:t>• Per-table semantic blob: description, key columns, neighbors, linked descriptors</a:t>
            </a:r>
          </a:p>
          <a:p>
            <a:pPr algn="l">
              <a:spcAft>
                <a:spcPts val="400"/>
              </a:spcAft>
            </a:pPr>
            <a:r>
              <a:rPr sz="1200">
                <a:solidFill>
                  <a:srgbClr val="E6EAF0"/>
                </a:solidFill>
                <a:latin typeface="Helvetica Neue"/>
              </a:rPr>
              <a:t>• Embedded once at build time; queried millions of times after</a:t>
            </a:r>
          </a:p>
          <a:p>
            <a:pPr algn="l">
              <a:spcAft>
                <a:spcPts val="400"/>
              </a:spcAft>
            </a:pPr>
            <a:r>
              <a:rPr sz="1200">
                <a:solidFill>
                  <a:srgbClr val="E6EAF0"/>
                </a:solidFill>
                <a:latin typeface="Helvetica Neue"/>
              </a:rPr>
              <a:t>• Domain pre-filter narrows the candidate pool before scoring</a:t>
            </a:r>
          </a:p>
          <a:p>
            <a:pPr algn="l">
              <a:spcAft>
                <a:spcPts val="400"/>
              </a:spcAft>
            </a:pPr>
            <a:r>
              <a:rPr sz="1200">
                <a:solidFill>
                  <a:srgbClr val="E6EAF0"/>
                </a:solidFill>
                <a:latin typeface="Helvetica Neue"/>
              </a:rPr>
              <a:t>• Cosine similarity (0.6) + BM25 keyword score (0.4) — best of both</a:t>
            </a:r>
          </a:p>
          <a:p>
            <a:pPr algn="l">
              <a:spcAft>
                <a:spcPts val="400"/>
              </a:spcAft>
            </a:pPr>
            <a:r>
              <a:rPr sz="1200">
                <a:solidFill>
                  <a:srgbClr val="E6EAF0"/>
                </a:solidFill>
                <a:latin typeface="Helvetica Neue"/>
              </a:rPr>
              <a:t>• Returns the small set (typically 3–8 tables) that best matches the question</a:t>
            </a:r>
          </a:p>
        </p:txBody>
      </p:sp>
      <p:sp>
        <p:nvSpPr>
          <p:cNvPr id="7" name="Rounded Rectangle 6"/>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Four-tier entity resolver</a:t>
            </a:r>
          </a:p>
        </p:txBody>
      </p:sp>
      <p:sp>
        <p:nvSpPr>
          <p:cNvPr id="9" name="TextBox 8"/>
          <p:cNvSpPr txBox="1"/>
          <p:nvPr/>
        </p:nvSpPr>
        <p:spPr>
          <a:xfrm>
            <a:off x="6446520" y="2011680"/>
            <a:ext cx="3291840" cy="292608"/>
          </a:xfrm>
          <a:prstGeom prst="rect">
            <a:avLst/>
          </a:prstGeom>
          <a:noFill/>
        </p:spPr>
        <p:txBody>
          <a:bodyPr wrap="square" lIns="45720" rIns="45720">
            <a:spAutoFit/>
          </a:bodyPr>
          <a:lstStyle/>
          <a:p>
            <a:pPr algn="l"/>
            <a:r>
              <a:rPr sz="1200" b="1">
                <a:solidFill>
                  <a:srgbClr val="E6EAF0"/>
                </a:solidFill>
                <a:latin typeface="Helvetica Neue"/>
              </a:rPr>
              <a:t>Tier 1 · Exact lookup</a:t>
            </a:r>
          </a:p>
        </p:txBody>
      </p:sp>
      <p:sp>
        <p:nvSpPr>
          <p:cNvPr id="10" name="TextBox 9"/>
          <p:cNvSpPr txBox="1"/>
          <p:nvPr/>
        </p:nvSpPr>
        <p:spPr>
          <a:xfrm>
            <a:off x="6446520" y="2286000"/>
            <a:ext cx="4023360" cy="292608"/>
          </a:xfrm>
          <a:prstGeom prst="rect">
            <a:avLst/>
          </a:prstGeom>
          <a:noFill/>
        </p:spPr>
        <p:txBody>
          <a:bodyPr wrap="square" lIns="45720" rIns="45720">
            <a:spAutoFit/>
          </a:bodyPr>
          <a:lstStyle/>
          <a:p>
            <a:pPr algn="l"/>
            <a:r>
              <a:rPr sz="1100" b="0">
                <a:solidFill>
                  <a:srgbClr val="8A95A5"/>
                </a:solidFill>
                <a:latin typeface="Helvetica Neue"/>
              </a:rPr>
              <a:t>Hash hit on the value index</a:t>
            </a:r>
          </a:p>
        </p:txBody>
      </p:sp>
      <p:sp>
        <p:nvSpPr>
          <p:cNvPr id="11" name="TextBox 10"/>
          <p:cNvSpPr txBox="1"/>
          <p:nvPr/>
        </p:nvSpPr>
        <p:spPr>
          <a:xfrm>
            <a:off x="10424160" y="2011680"/>
            <a:ext cx="1188720" cy="292608"/>
          </a:xfrm>
          <a:prstGeom prst="rect">
            <a:avLst/>
          </a:prstGeom>
          <a:noFill/>
        </p:spPr>
        <p:txBody>
          <a:bodyPr wrap="square" lIns="45720" rIns="45720">
            <a:spAutoFit/>
          </a:bodyPr>
          <a:lstStyle/>
          <a:p>
            <a:pPr algn="r"/>
            <a:r>
              <a:rPr sz="1100" b="0">
                <a:solidFill>
                  <a:srgbClr val="4AD09C"/>
                </a:solidFill>
                <a:latin typeface="Helvetica Neue"/>
              </a:rPr>
              <a:t>&lt;1 ms</a:t>
            </a:r>
          </a:p>
        </p:txBody>
      </p:sp>
      <p:sp>
        <p:nvSpPr>
          <p:cNvPr id="12" name="TextBox 11"/>
          <p:cNvSpPr txBox="1"/>
          <p:nvPr/>
        </p:nvSpPr>
        <p:spPr>
          <a:xfrm>
            <a:off x="6446520" y="2788920"/>
            <a:ext cx="3291840" cy="292608"/>
          </a:xfrm>
          <a:prstGeom prst="rect">
            <a:avLst/>
          </a:prstGeom>
          <a:noFill/>
        </p:spPr>
        <p:txBody>
          <a:bodyPr wrap="square" lIns="45720" rIns="45720">
            <a:spAutoFit/>
          </a:bodyPr>
          <a:lstStyle/>
          <a:p>
            <a:pPr algn="l"/>
            <a:r>
              <a:rPr sz="1200" b="1">
                <a:solidFill>
                  <a:srgbClr val="E6EAF0"/>
                </a:solidFill>
                <a:latin typeface="Helvetica Neue"/>
              </a:rPr>
              <a:t>Tier 2 · Fuzzy match</a:t>
            </a:r>
          </a:p>
        </p:txBody>
      </p:sp>
      <p:sp>
        <p:nvSpPr>
          <p:cNvPr id="13" name="TextBox 12"/>
          <p:cNvSpPr txBox="1"/>
          <p:nvPr/>
        </p:nvSpPr>
        <p:spPr>
          <a:xfrm>
            <a:off x="6446520" y="3063240"/>
            <a:ext cx="4023360" cy="292608"/>
          </a:xfrm>
          <a:prstGeom prst="rect">
            <a:avLst/>
          </a:prstGeom>
          <a:noFill/>
        </p:spPr>
        <p:txBody>
          <a:bodyPr wrap="square" lIns="45720" rIns="45720">
            <a:spAutoFit/>
          </a:bodyPr>
          <a:lstStyle/>
          <a:p>
            <a:pPr algn="l"/>
            <a:r>
              <a:rPr sz="1100" b="0">
                <a:solidFill>
                  <a:srgbClr val="8A95A5"/>
                </a:solidFill>
                <a:latin typeface="Helvetica Neue"/>
              </a:rPr>
              <a:t>Typos: 'Hispanc' → 'Hispanic'</a:t>
            </a:r>
          </a:p>
        </p:txBody>
      </p:sp>
      <p:sp>
        <p:nvSpPr>
          <p:cNvPr id="14" name="TextBox 13"/>
          <p:cNvSpPr txBox="1"/>
          <p:nvPr/>
        </p:nvSpPr>
        <p:spPr>
          <a:xfrm>
            <a:off x="10424160" y="2788920"/>
            <a:ext cx="1188720" cy="292608"/>
          </a:xfrm>
          <a:prstGeom prst="rect">
            <a:avLst/>
          </a:prstGeom>
          <a:noFill/>
        </p:spPr>
        <p:txBody>
          <a:bodyPr wrap="square" lIns="45720" rIns="45720">
            <a:spAutoFit/>
          </a:bodyPr>
          <a:lstStyle/>
          <a:p>
            <a:pPr algn="r"/>
            <a:r>
              <a:rPr sz="1100" b="0">
                <a:solidFill>
                  <a:srgbClr val="4AD09C"/>
                </a:solidFill>
                <a:latin typeface="Helvetica Neue"/>
              </a:rPr>
              <a:t>5 ms</a:t>
            </a:r>
          </a:p>
        </p:txBody>
      </p:sp>
      <p:sp>
        <p:nvSpPr>
          <p:cNvPr id="15" name="TextBox 14"/>
          <p:cNvSpPr txBox="1"/>
          <p:nvPr/>
        </p:nvSpPr>
        <p:spPr>
          <a:xfrm>
            <a:off x="6446520" y="3566160"/>
            <a:ext cx="3291840" cy="292608"/>
          </a:xfrm>
          <a:prstGeom prst="rect">
            <a:avLst/>
          </a:prstGeom>
          <a:noFill/>
        </p:spPr>
        <p:txBody>
          <a:bodyPr wrap="square" lIns="45720" rIns="45720">
            <a:spAutoFit/>
          </a:bodyPr>
          <a:lstStyle/>
          <a:p>
            <a:pPr algn="l"/>
            <a:r>
              <a:rPr sz="1200" b="1">
                <a:solidFill>
                  <a:srgbClr val="E6EAF0"/>
                </a:solidFill>
                <a:latin typeface="Helvetica Neue"/>
              </a:rPr>
              <a:t>Tier 3 · Semantic ANN</a:t>
            </a:r>
          </a:p>
        </p:txBody>
      </p:sp>
      <p:sp>
        <p:nvSpPr>
          <p:cNvPr id="16" name="TextBox 15"/>
          <p:cNvSpPr txBox="1"/>
          <p:nvPr/>
        </p:nvSpPr>
        <p:spPr>
          <a:xfrm>
            <a:off x="6446520" y="3840480"/>
            <a:ext cx="4023360" cy="292608"/>
          </a:xfrm>
          <a:prstGeom prst="rect">
            <a:avLst/>
          </a:prstGeom>
          <a:noFill/>
        </p:spPr>
        <p:txBody>
          <a:bodyPr wrap="square" lIns="45720" rIns="45720">
            <a:spAutoFit/>
          </a:bodyPr>
          <a:lstStyle/>
          <a:p>
            <a:pPr algn="l"/>
            <a:r>
              <a:rPr sz="1100" b="0">
                <a:solidFill>
                  <a:srgbClr val="8A95A5"/>
                </a:solidFill>
                <a:latin typeface="Helvetica Neue"/>
              </a:rPr>
              <a:t>Match meaning when spelling differs</a:t>
            </a:r>
          </a:p>
        </p:txBody>
      </p:sp>
      <p:sp>
        <p:nvSpPr>
          <p:cNvPr id="17" name="TextBox 16"/>
          <p:cNvSpPr txBox="1"/>
          <p:nvPr/>
        </p:nvSpPr>
        <p:spPr>
          <a:xfrm>
            <a:off x="10424160" y="3566160"/>
            <a:ext cx="1188720" cy="292608"/>
          </a:xfrm>
          <a:prstGeom prst="rect">
            <a:avLst/>
          </a:prstGeom>
          <a:noFill/>
        </p:spPr>
        <p:txBody>
          <a:bodyPr wrap="square" lIns="45720" rIns="45720">
            <a:spAutoFit/>
          </a:bodyPr>
          <a:lstStyle/>
          <a:p>
            <a:pPr algn="r"/>
            <a:r>
              <a:rPr sz="1100" b="0">
                <a:solidFill>
                  <a:srgbClr val="4AD09C"/>
                </a:solidFill>
                <a:latin typeface="Helvetica Neue"/>
              </a:rPr>
              <a:t>20 ms</a:t>
            </a:r>
          </a:p>
        </p:txBody>
      </p:sp>
      <p:sp>
        <p:nvSpPr>
          <p:cNvPr id="18" name="TextBox 17"/>
          <p:cNvSpPr txBox="1"/>
          <p:nvPr/>
        </p:nvSpPr>
        <p:spPr>
          <a:xfrm>
            <a:off x="6446520" y="4343400"/>
            <a:ext cx="3291840" cy="292608"/>
          </a:xfrm>
          <a:prstGeom prst="rect">
            <a:avLst/>
          </a:prstGeom>
          <a:noFill/>
        </p:spPr>
        <p:txBody>
          <a:bodyPr wrap="square" lIns="45720" rIns="45720">
            <a:spAutoFit/>
          </a:bodyPr>
          <a:lstStyle/>
          <a:p>
            <a:pPr algn="l"/>
            <a:r>
              <a:rPr sz="1200" b="1">
                <a:solidFill>
                  <a:srgbClr val="E6EAF0"/>
                </a:solidFill>
                <a:latin typeface="Helvetica Neue"/>
              </a:rPr>
              <a:t>Tier 4 · LLM disambiguate</a:t>
            </a:r>
          </a:p>
        </p:txBody>
      </p:sp>
      <p:sp>
        <p:nvSpPr>
          <p:cNvPr id="19" name="TextBox 18"/>
          <p:cNvSpPr txBox="1"/>
          <p:nvPr/>
        </p:nvSpPr>
        <p:spPr>
          <a:xfrm>
            <a:off x="6446520" y="4617720"/>
            <a:ext cx="4023360" cy="292608"/>
          </a:xfrm>
          <a:prstGeom prst="rect">
            <a:avLst/>
          </a:prstGeom>
          <a:noFill/>
        </p:spPr>
        <p:txBody>
          <a:bodyPr wrap="square" lIns="45720" rIns="45720">
            <a:spAutoFit/>
          </a:bodyPr>
          <a:lstStyle/>
          <a:p>
            <a:pPr algn="l"/>
            <a:r>
              <a:rPr sz="1100" b="0">
                <a:solidFill>
                  <a:srgbClr val="8A95A5"/>
                </a:solidFill>
                <a:latin typeface="Helvetica Neue"/>
              </a:rPr>
              <a:t>Resolve when one term means two things</a:t>
            </a:r>
          </a:p>
        </p:txBody>
      </p:sp>
      <p:sp>
        <p:nvSpPr>
          <p:cNvPr id="20" name="TextBox 19"/>
          <p:cNvSpPr txBox="1"/>
          <p:nvPr/>
        </p:nvSpPr>
        <p:spPr>
          <a:xfrm>
            <a:off x="10424160" y="4343400"/>
            <a:ext cx="1188720" cy="292608"/>
          </a:xfrm>
          <a:prstGeom prst="rect">
            <a:avLst/>
          </a:prstGeom>
          <a:noFill/>
        </p:spPr>
        <p:txBody>
          <a:bodyPr wrap="square" lIns="45720" rIns="45720">
            <a:spAutoFit/>
          </a:bodyPr>
          <a:lstStyle/>
          <a:p>
            <a:pPr algn="r"/>
            <a:r>
              <a:rPr sz="1100" b="0">
                <a:solidFill>
                  <a:srgbClr val="4AD09C"/>
                </a:solidFill>
                <a:latin typeface="Helvetica Neue"/>
              </a:rPr>
              <a:t>200 ms</a:t>
            </a:r>
          </a:p>
        </p:txBody>
      </p:sp>
      <p:sp>
        <p:nvSpPr>
          <p:cNvPr id="21" name="TextBox 20"/>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Knowledge · Retrieval &amp; Entity Resolution</a:t>
            </a:r>
          </a:p>
        </p:txBody>
      </p:sp>
      <p:sp>
        <p:nvSpPr>
          <p:cNvPr id="22" name="TextBox 21"/>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test_component5 + test_component6 green · Tier 1+2 handle ~95% of cases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2286000"/>
            <a:ext cx="10698480" cy="457200"/>
          </a:xfrm>
          <a:prstGeom prst="rect">
            <a:avLst/>
          </a:prstGeom>
          <a:noFill/>
        </p:spPr>
        <p:txBody>
          <a:bodyPr wrap="square" lIns="45720" rIns="45720">
            <a:spAutoFit/>
          </a:bodyPr>
          <a:lstStyle/>
          <a:p>
            <a:pPr algn="l"/>
            <a:r>
              <a:rPr sz="1800" b="0">
                <a:solidFill>
                  <a:srgbClr val="8A95A5"/>
                </a:solidFill>
                <a:latin typeface="Helvetica Neue"/>
              </a:rPr>
              <a:t>Section 3 of 5</a:t>
            </a:r>
          </a:p>
        </p:txBody>
      </p:sp>
      <p:sp>
        <p:nvSpPr>
          <p:cNvPr id="3" name="TextBox 2"/>
          <p:cNvSpPr txBox="1"/>
          <p:nvPr/>
        </p:nvSpPr>
        <p:spPr>
          <a:xfrm>
            <a:off x="731520" y="2788920"/>
            <a:ext cx="10698480" cy="914400"/>
          </a:xfrm>
          <a:prstGeom prst="rect">
            <a:avLst/>
          </a:prstGeom>
          <a:noFill/>
        </p:spPr>
        <p:txBody>
          <a:bodyPr wrap="square" lIns="45720" rIns="45720">
            <a:spAutoFit/>
          </a:bodyPr>
          <a:lstStyle/>
          <a:p>
            <a:pPr algn="l"/>
            <a:r>
              <a:rPr sz="4200" b="1">
                <a:solidFill>
                  <a:srgbClr val="4AD09C"/>
                </a:solidFill>
                <a:latin typeface="Helvetica Neue"/>
              </a:rPr>
              <a:t>The NL → SQL Pipeline</a:t>
            </a:r>
          </a:p>
        </p:txBody>
      </p:sp>
      <p:sp>
        <p:nvSpPr>
          <p:cNvPr id="4" name="TextBox 3"/>
          <p:cNvSpPr txBox="1"/>
          <p:nvPr/>
        </p:nvSpPr>
        <p:spPr>
          <a:xfrm>
            <a:off x="731520" y="3703320"/>
            <a:ext cx="10698480" cy="457200"/>
          </a:xfrm>
          <a:prstGeom prst="rect">
            <a:avLst/>
          </a:prstGeom>
          <a:noFill/>
        </p:spPr>
        <p:txBody>
          <a:bodyPr wrap="square" lIns="45720" rIns="45720">
            <a:spAutoFit/>
          </a:bodyPr>
          <a:lstStyle/>
          <a:p>
            <a:pPr algn="l"/>
            <a:r>
              <a:rPr sz="1800" b="0">
                <a:solidFill>
                  <a:srgbClr val="E6EAF0"/>
                </a:solidFill>
                <a:latin typeface="Helvetica Neue"/>
              </a:rPr>
              <a:t>Nine stages, end-to-end · validation + 3-attempt repair · charts and descriptions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The nine pipeline stages</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answer(nl) → SQL + rows + chart + summary · all wired and tested today</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27632"/>
            <a:ext cx="3383280" cy="292608"/>
          </a:xfrm>
          <a:prstGeom prst="rect">
            <a:avLst/>
          </a:prstGeom>
          <a:noFill/>
        </p:spPr>
        <p:txBody>
          <a:bodyPr wrap="square" lIns="45720" rIns="45720">
            <a:spAutoFit/>
          </a:bodyPr>
          <a:lstStyle/>
          <a:p>
            <a:pPr algn="l"/>
            <a:r>
              <a:rPr sz="1300" b="1">
                <a:solidFill>
                  <a:srgbClr val="6EC1FF"/>
                </a:solidFill>
                <a:latin typeface="Helvetica Neue"/>
              </a:rPr>
              <a:t>1. Classify</a:t>
            </a:r>
          </a:p>
        </p:txBody>
      </p:sp>
      <p:sp>
        <p:nvSpPr>
          <p:cNvPr id="6" name="TextBox 5"/>
          <p:cNvSpPr txBox="1"/>
          <p:nvPr/>
        </p:nvSpPr>
        <p:spPr>
          <a:xfrm>
            <a:off x="4114800" y="1627632"/>
            <a:ext cx="7498079" cy="292608"/>
          </a:xfrm>
          <a:prstGeom prst="rect">
            <a:avLst/>
          </a:prstGeom>
          <a:noFill/>
        </p:spPr>
        <p:txBody>
          <a:bodyPr wrap="square" lIns="45720" rIns="45720">
            <a:spAutoFit/>
          </a:bodyPr>
          <a:lstStyle/>
          <a:p>
            <a:pPr algn="l"/>
            <a:r>
              <a:rPr sz="1200" b="0">
                <a:solidFill>
                  <a:srgbClr val="E6EAF0"/>
                </a:solidFill>
                <a:latin typeface="Helvetica Neue"/>
              </a:rPr>
              <a:t>Route question → primary + secondary + tertiary domains</a:t>
            </a:r>
          </a:p>
        </p:txBody>
      </p:sp>
      <p:sp>
        <p:nvSpPr>
          <p:cNvPr id="7" name="TextBox 6"/>
          <p:cNvSpPr txBox="1"/>
          <p:nvPr/>
        </p:nvSpPr>
        <p:spPr>
          <a:xfrm>
            <a:off x="640080" y="2139696"/>
            <a:ext cx="3383280" cy="292608"/>
          </a:xfrm>
          <a:prstGeom prst="rect">
            <a:avLst/>
          </a:prstGeom>
          <a:noFill/>
        </p:spPr>
        <p:txBody>
          <a:bodyPr wrap="square" lIns="45720" rIns="45720">
            <a:spAutoFit/>
          </a:bodyPr>
          <a:lstStyle/>
          <a:p>
            <a:pPr algn="l"/>
            <a:r>
              <a:rPr sz="1300" b="1">
                <a:solidFill>
                  <a:srgbClr val="6EC1FF"/>
                </a:solidFill>
                <a:latin typeface="Helvetica Neue"/>
              </a:rPr>
              <a:t>2. Retrieve</a:t>
            </a:r>
          </a:p>
        </p:txBody>
      </p:sp>
      <p:sp>
        <p:nvSpPr>
          <p:cNvPr id="8" name="TextBox 7"/>
          <p:cNvSpPr txBox="1"/>
          <p:nvPr/>
        </p:nvSpPr>
        <p:spPr>
          <a:xfrm>
            <a:off x="4114800" y="2139696"/>
            <a:ext cx="7498079" cy="292608"/>
          </a:xfrm>
          <a:prstGeom prst="rect">
            <a:avLst/>
          </a:prstGeom>
          <a:noFill/>
        </p:spPr>
        <p:txBody>
          <a:bodyPr wrap="square" lIns="45720" rIns="45720">
            <a:spAutoFit/>
          </a:bodyPr>
          <a:lstStyle/>
          <a:p>
            <a:pPr algn="l"/>
            <a:r>
              <a:rPr sz="1200" b="0">
                <a:solidFill>
                  <a:srgbClr val="E6EAF0"/>
                </a:solidFill>
                <a:latin typeface="Helvetica Neue"/>
              </a:rPr>
              <a:t>Hybrid search inside routed domains → 3–8 candidate tables</a:t>
            </a:r>
          </a:p>
        </p:txBody>
      </p:sp>
      <p:sp>
        <p:nvSpPr>
          <p:cNvPr id="9" name="TextBox 8"/>
          <p:cNvSpPr txBox="1"/>
          <p:nvPr/>
        </p:nvSpPr>
        <p:spPr>
          <a:xfrm>
            <a:off x="640080" y="2651760"/>
            <a:ext cx="3383280" cy="292608"/>
          </a:xfrm>
          <a:prstGeom prst="rect">
            <a:avLst/>
          </a:prstGeom>
          <a:noFill/>
        </p:spPr>
        <p:txBody>
          <a:bodyPr wrap="square" lIns="45720" rIns="45720">
            <a:spAutoFit/>
          </a:bodyPr>
          <a:lstStyle/>
          <a:p>
            <a:pPr algn="l"/>
            <a:r>
              <a:rPr sz="1300" b="1">
                <a:solidFill>
                  <a:srgbClr val="6EC1FF"/>
                </a:solidFill>
                <a:latin typeface="Helvetica Neue"/>
              </a:rPr>
              <a:t>3. Resolve</a:t>
            </a:r>
          </a:p>
        </p:txBody>
      </p:sp>
      <p:sp>
        <p:nvSpPr>
          <p:cNvPr id="10" name="TextBox 9"/>
          <p:cNvSpPr txBox="1"/>
          <p:nvPr/>
        </p:nvSpPr>
        <p:spPr>
          <a:xfrm>
            <a:off x="4114800" y="2651760"/>
            <a:ext cx="7498079" cy="292608"/>
          </a:xfrm>
          <a:prstGeom prst="rect">
            <a:avLst/>
          </a:prstGeom>
          <a:noFill/>
        </p:spPr>
        <p:txBody>
          <a:bodyPr wrap="square" lIns="45720" rIns="45720">
            <a:spAutoFit/>
          </a:bodyPr>
          <a:lstStyle/>
          <a:p>
            <a:pPr algn="l"/>
            <a:r>
              <a:rPr sz="1200" b="0">
                <a:solidFill>
                  <a:srgbClr val="E6EAF0"/>
                </a:solidFill>
                <a:latin typeface="Helvetica Neue"/>
              </a:rPr>
              <a:t>Map user terms to descriptor codes (4-tier funnel)</a:t>
            </a:r>
          </a:p>
        </p:txBody>
      </p:sp>
      <p:sp>
        <p:nvSpPr>
          <p:cNvPr id="11" name="TextBox 10"/>
          <p:cNvSpPr txBox="1"/>
          <p:nvPr/>
        </p:nvSpPr>
        <p:spPr>
          <a:xfrm>
            <a:off x="640080" y="3163824"/>
            <a:ext cx="3383280" cy="292608"/>
          </a:xfrm>
          <a:prstGeom prst="rect">
            <a:avLst/>
          </a:prstGeom>
          <a:noFill/>
        </p:spPr>
        <p:txBody>
          <a:bodyPr wrap="square" lIns="45720" rIns="45720">
            <a:spAutoFit/>
          </a:bodyPr>
          <a:lstStyle/>
          <a:p>
            <a:pPr algn="l"/>
            <a:r>
              <a:rPr sz="1300" b="1">
                <a:solidFill>
                  <a:srgbClr val="6EC1FF"/>
                </a:solidFill>
                <a:latin typeface="Helvetica Neue"/>
              </a:rPr>
              <a:t>4. Recall gold</a:t>
            </a:r>
          </a:p>
        </p:txBody>
      </p:sp>
      <p:sp>
        <p:nvSpPr>
          <p:cNvPr id="12" name="TextBox 11"/>
          <p:cNvSpPr txBox="1"/>
          <p:nvPr/>
        </p:nvSpPr>
        <p:spPr>
          <a:xfrm>
            <a:off x="4114800" y="3163824"/>
            <a:ext cx="7498079" cy="292608"/>
          </a:xfrm>
          <a:prstGeom prst="rect">
            <a:avLst/>
          </a:prstGeom>
          <a:noFill/>
        </p:spPr>
        <p:txBody>
          <a:bodyPr wrap="square" lIns="45720" rIns="45720">
            <a:spAutoFit/>
          </a:bodyPr>
          <a:lstStyle/>
          <a:p>
            <a:pPr algn="l"/>
            <a:r>
              <a:rPr sz="1200" b="0">
                <a:solidFill>
                  <a:srgbClr val="E6EAF0"/>
                </a:solidFill>
                <a:latin typeface="Helvetica Neue"/>
              </a:rPr>
              <a:t>Top-3 proven NL/SQL pairs by AST + NL similarity</a:t>
            </a:r>
          </a:p>
        </p:txBody>
      </p:sp>
      <p:sp>
        <p:nvSpPr>
          <p:cNvPr id="13" name="TextBox 12"/>
          <p:cNvSpPr txBox="1"/>
          <p:nvPr/>
        </p:nvSpPr>
        <p:spPr>
          <a:xfrm>
            <a:off x="640080" y="3675887"/>
            <a:ext cx="3383280" cy="292608"/>
          </a:xfrm>
          <a:prstGeom prst="rect">
            <a:avLst/>
          </a:prstGeom>
          <a:noFill/>
        </p:spPr>
        <p:txBody>
          <a:bodyPr wrap="square" lIns="45720" rIns="45720">
            <a:spAutoFit/>
          </a:bodyPr>
          <a:lstStyle/>
          <a:p>
            <a:pPr algn="l"/>
            <a:r>
              <a:rPr sz="1300" b="1">
                <a:solidFill>
                  <a:srgbClr val="6EC1FF"/>
                </a:solidFill>
                <a:latin typeface="Helvetica Neue"/>
              </a:rPr>
              <a:t>5. Generate</a:t>
            </a:r>
          </a:p>
        </p:txBody>
      </p:sp>
      <p:sp>
        <p:nvSpPr>
          <p:cNvPr id="14" name="TextBox 13"/>
          <p:cNvSpPr txBox="1"/>
          <p:nvPr/>
        </p:nvSpPr>
        <p:spPr>
          <a:xfrm>
            <a:off x="4114800" y="3675887"/>
            <a:ext cx="7498079" cy="292608"/>
          </a:xfrm>
          <a:prstGeom prst="rect">
            <a:avLst/>
          </a:prstGeom>
          <a:noFill/>
        </p:spPr>
        <p:txBody>
          <a:bodyPr wrap="square" lIns="45720" rIns="45720">
            <a:spAutoFit/>
          </a:bodyPr>
          <a:lstStyle/>
          <a:p>
            <a:pPr algn="l"/>
            <a:r>
              <a:rPr sz="1200" b="0">
                <a:solidFill>
                  <a:srgbClr val="E6EAF0"/>
                </a:solidFill>
                <a:latin typeface="Helvetica Neue"/>
              </a:rPr>
              <a:t>LLM writes SQL grounded in real columns + JOINs</a:t>
            </a:r>
          </a:p>
        </p:txBody>
      </p:sp>
      <p:sp>
        <p:nvSpPr>
          <p:cNvPr id="15" name="TextBox 14"/>
          <p:cNvSpPr txBox="1"/>
          <p:nvPr/>
        </p:nvSpPr>
        <p:spPr>
          <a:xfrm>
            <a:off x="640080" y="4187952"/>
            <a:ext cx="3383280" cy="292608"/>
          </a:xfrm>
          <a:prstGeom prst="rect">
            <a:avLst/>
          </a:prstGeom>
          <a:noFill/>
        </p:spPr>
        <p:txBody>
          <a:bodyPr wrap="square" lIns="45720" rIns="45720">
            <a:spAutoFit/>
          </a:bodyPr>
          <a:lstStyle/>
          <a:p>
            <a:pPr algn="l"/>
            <a:r>
              <a:rPr sz="1300" b="1">
                <a:solidFill>
                  <a:srgbClr val="6EC1FF"/>
                </a:solidFill>
                <a:latin typeface="Helvetica Neue"/>
              </a:rPr>
              <a:t>6. Validate</a:t>
            </a:r>
          </a:p>
        </p:txBody>
      </p:sp>
      <p:sp>
        <p:nvSpPr>
          <p:cNvPr id="16" name="TextBox 15"/>
          <p:cNvSpPr txBox="1"/>
          <p:nvPr/>
        </p:nvSpPr>
        <p:spPr>
          <a:xfrm>
            <a:off x="4114800" y="4187952"/>
            <a:ext cx="7498079" cy="292608"/>
          </a:xfrm>
          <a:prstGeom prst="rect">
            <a:avLst/>
          </a:prstGeom>
          <a:noFill/>
        </p:spPr>
        <p:txBody>
          <a:bodyPr wrap="square" lIns="45720" rIns="45720">
            <a:spAutoFit/>
          </a:bodyPr>
          <a:lstStyle/>
          <a:p>
            <a:pPr algn="l"/>
            <a:r>
              <a:rPr sz="1200" b="0">
                <a:solidFill>
                  <a:srgbClr val="E6EAF0"/>
                </a:solidFill>
                <a:latin typeface="Helvetica Neue"/>
              </a:rPr>
              <a:t>sqlglot parse + EXPLAIN + LIMIT 0 dry-run</a:t>
            </a:r>
          </a:p>
        </p:txBody>
      </p:sp>
      <p:sp>
        <p:nvSpPr>
          <p:cNvPr id="17" name="TextBox 16"/>
          <p:cNvSpPr txBox="1"/>
          <p:nvPr/>
        </p:nvSpPr>
        <p:spPr>
          <a:xfrm>
            <a:off x="640080" y="4700016"/>
            <a:ext cx="3383280" cy="292608"/>
          </a:xfrm>
          <a:prstGeom prst="rect">
            <a:avLst/>
          </a:prstGeom>
          <a:noFill/>
        </p:spPr>
        <p:txBody>
          <a:bodyPr wrap="square" lIns="45720" rIns="45720">
            <a:spAutoFit/>
          </a:bodyPr>
          <a:lstStyle/>
          <a:p>
            <a:pPr algn="l"/>
            <a:r>
              <a:rPr sz="1300" b="1">
                <a:solidFill>
                  <a:srgbClr val="6EC1FF"/>
                </a:solidFill>
                <a:latin typeface="Helvetica Neue"/>
              </a:rPr>
              <a:t>7. Repair</a:t>
            </a:r>
          </a:p>
        </p:txBody>
      </p:sp>
      <p:sp>
        <p:nvSpPr>
          <p:cNvPr id="18" name="TextBox 17"/>
          <p:cNvSpPr txBox="1"/>
          <p:nvPr/>
        </p:nvSpPr>
        <p:spPr>
          <a:xfrm>
            <a:off x="4114800" y="4700016"/>
            <a:ext cx="7498079" cy="292608"/>
          </a:xfrm>
          <a:prstGeom prst="rect">
            <a:avLst/>
          </a:prstGeom>
          <a:noFill/>
        </p:spPr>
        <p:txBody>
          <a:bodyPr wrap="square" lIns="45720" rIns="45720">
            <a:spAutoFit/>
          </a:bodyPr>
          <a:lstStyle/>
          <a:p>
            <a:pPr algn="l"/>
            <a:r>
              <a:rPr sz="1200" b="0">
                <a:solidFill>
                  <a:srgbClr val="E6EAF0"/>
                </a:solidFill>
                <a:latin typeface="Helvetica Neue"/>
              </a:rPr>
              <a:t>3-attempt loop fixes typos / missing joins / wrong columns</a:t>
            </a:r>
          </a:p>
        </p:txBody>
      </p:sp>
      <p:sp>
        <p:nvSpPr>
          <p:cNvPr id="19" name="TextBox 18"/>
          <p:cNvSpPr txBox="1"/>
          <p:nvPr/>
        </p:nvSpPr>
        <p:spPr>
          <a:xfrm>
            <a:off x="640080" y="5212080"/>
            <a:ext cx="3383280" cy="292608"/>
          </a:xfrm>
          <a:prstGeom prst="rect">
            <a:avLst/>
          </a:prstGeom>
          <a:noFill/>
        </p:spPr>
        <p:txBody>
          <a:bodyPr wrap="square" lIns="45720" rIns="45720">
            <a:spAutoFit/>
          </a:bodyPr>
          <a:lstStyle/>
          <a:p>
            <a:pPr algn="l"/>
            <a:r>
              <a:rPr sz="1300" b="1">
                <a:solidFill>
                  <a:srgbClr val="6EC1FF"/>
                </a:solidFill>
                <a:latin typeface="Helvetica Neue"/>
              </a:rPr>
              <a:t>8. Execute</a:t>
            </a:r>
          </a:p>
        </p:txBody>
      </p:sp>
      <p:sp>
        <p:nvSpPr>
          <p:cNvPr id="20" name="TextBox 19"/>
          <p:cNvSpPr txBox="1"/>
          <p:nvPr/>
        </p:nvSpPr>
        <p:spPr>
          <a:xfrm>
            <a:off x="4114800" y="5212080"/>
            <a:ext cx="7498079" cy="292608"/>
          </a:xfrm>
          <a:prstGeom prst="rect">
            <a:avLst/>
          </a:prstGeom>
          <a:noFill/>
        </p:spPr>
        <p:txBody>
          <a:bodyPr wrap="square" lIns="45720" rIns="45720">
            <a:spAutoFit/>
          </a:bodyPr>
          <a:lstStyle/>
          <a:p>
            <a:pPr algn="l"/>
            <a:r>
              <a:rPr sz="1200" b="0">
                <a:solidFill>
                  <a:srgbClr val="E6EAF0"/>
                </a:solidFill>
                <a:latin typeface="Helvetica Neue"/>
              </a:rPr>
              <a:t>Run against the active target DB engine</a:t>
            </a:r>
          </a:p>
        </p:txBody>
      </p:sp>
      <p:sp>
        <p:nvSpPr>
          <p:cNvPr id="21" name="TextBox 20"/>
          <p:cNvSpPr txBox="1"/>
          <p:nvPr/>
        </p:nvSpPr>
        <p:spPr>
          <a:xfrm>
            <a:off x="640080" y="5724144"/>
            <a:ext cx="3383280" cy="292608"/>
          </a:xfrm>
          <a:prstGeom prst="rect">
            <a:avLst/>
          </a:prstGeom>
          <a:noFill/>
        </p:spPr>
        <p:txBody>
          <a:bodyPr wrap="square" lIns="45720" rIns="45720">
            <a:spAutoFit/>
          </a:bodyPr>
          <a:lstStyle/>
          <a:p>
            <a:pPr algn="l"/>
            <a:r>
              <a:rPr sz="1300" b="1">
                <a:solidFill>
                  <a:srgbClr val="6EC1FF"/>
                </a:solidFill>
                <a:latin typeface="Helvetica Neue"/>
              </a:rPr>
              <a:t>9. Visualize + describe</a:t>
            </a:r>
          </a:p>
        </p:txBody>
      </p:sp>
      <p:sp>
        <p:nvSpPr>
          <p:cNvPr id="22" name="TextBox 21"/>
          <p:cNvSpPr txBox="1"/>
          <p:nvPr/>
        </p:nvSpPr>
        <p:spPr>
          <a:xfrm>
            <a:off x="4114800" y="5724144"/>
            <a:ext cx="7498079" cy="292608"/>
          </a:xfrm>
          <a:prstGeom prst="rect">
            <a:avLst/>
          </a:prstGeom>
          <a:noFill/>
        </p:spPr>
        <p:txBody>
          <a:bodyPr wrap="square" lIns="45720" rIns="45720">
            <a:spAutoFit/>
          </a:bodyPr>
          <a:lstStyle/>
          <a:p>
            <a:pPr algn="l"/>
            <a:r>
              <a:rPr sz="1200" b="0">
                <a:solidFill>
                  <a:srgbClr val="E6EAF0"/>
                </a:solidFill>
                <a:latin typeface="Helvetica Neue"/>
              </a:rPr>
              <a:t>Vega-Lite chart + plain-English summary in parallel</a:t>
            </a:r>
          </a:p>
        </p:txBody>
      </p:sp>
      <p:sp>
        <p:nvSpPr>
          <p:cNvPr id="23" name="TextBox 22"/>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Pipeline · 9 stages · test_component8 green</a:t>
            </a:r>
          </a:p>
        </p:txBody>
      </p:sp>
      <p:sp>
        <p:nvSpPr>
          <p:cNvPr id="24" name="TextBox 23"/>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Postgres / MSSQL / SQLite all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Self-correcting and self-explaining</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Bad SQL never reaches production · charts and summaries land in parallel</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Validation + repair loop</a:t>
            </a:r>
          </a:p>
        </p:txBody>
      </p:sp>
      <p:sp>
        <p:nvSpPr>
          <p:cNvPr id="6" name="TextBox 5"/>
          <p:cNvSpPr txBox="1"/>
          <p:nvPr/>
        </p:nvSpPr>
        <p:spPr>
          <a:xfrm>
            <a:off x="640080" y="1965960"/>
            <a:ext cx="5120640" cy="4114800"/>
          </a:xfrm>
          <a:prstGeom prst="rect">
            <a:avLst/>
          </a:prstGeom>
          <a:noFill/>
        </p:spPr>
        <p:txBody>
          <a:bodyPr wrap="square">
            <a:spAutoFit/>
          </a:bodyPr>
          <a:lstStyle/>
          <a:p>
            <a:pPr algn="l">
              <a:spcAft>
                <a:spcPts val="400"/>
              </a:spcAft>
            </a:pPr>
            <a:r>
              <a:rPr sz="1200">
                <a:solidFill>
                  <a:srgbClr val="E6EAF0"/>
                </a:solidFill>
                <a:latin typeface="Helvetica Neue"/>
              </a:rPr>
              <a:t>• Parse-check — catches syntax errors (sqlglot)</a:t>
            </a:r>
          </a:p>
          <a:p>
            <a:pPr algn="l">
              <a:spcAft>
                <a:spcPts val="400"/>
              </a:spcAft>
            </a:pPr>
            <a:r>
              <a:rPr sz="1200">
                <a:solidFill>
                  <a:srgbClr val="E6EAF0"/>
                </a:solidFill>
                <a:latin typeface="Helvetica Neue"/>
              </a:rPr>
              <a:t>• Plan-check — catches semantic errors (EXPLAIN)</a:t>
            </a:r>
          </a:p>
          <a:p>
            <a:pPr algn="l">
              <a:spcAft>
                <a:spcPts val="400"/>
              </a:spcAft>
            </a:pPr>
            <a:r>
              <a:rPr sz="1200">
                <a:solidFill>
                  <a:srgbClr val="E6EAF0"/>
                </a:solidFill>
                <a:latin typeface="Helvetica Neue"/>
              </a:rPr>
              <a:t>• Dry-execute — catches runtime errors (LIMIT 0)</a:t>
            </a:r>
          </a:p>
          <a:p>
            <a:pPr algn="l">
              <a:spcAft>
                <a:spcPts val="400"/>
              </a:spcAft>
            </a:pPr>
            <a:r>
              <a:rPr sz="1200">
                <a:solidFill>
                  <a:srgbClr val="E6EAF0"/>
                </a:solidFill>
                <a:latin typeface="Helvetica Neue"/>
              </a:rPr>
              <a:t>• Up to three repair attempts with fresh context</a:t>
            </a:r>
          </a:p>
          <a:p>
            <a:pPr algn="l">
              <a:spcAft>
                <a:spcPts val="400"/>
              </a:spcAft>
            </a:pPr>
            <a:r>
              <a:rPr sz="1200">
                <a:solidFill>
                  <a:srgbClr val="E6EAF0"/>
                </a:solidFill>
                <a:latin typeface="Helvetica Neue"/>
              </a:rPr>
              <a:t>• Live-fix verified end-to-end (test_repair_fixes_real_explain_error)</a:t>
            </a:r>
          </a:p>
          <a:p>
            <a:pPr algn="l">
              <a:spcAft>
                <a:spcPts val="400"/>
              </a:spcAft>
            </a:pPr>
            <a:r>
              <a:rPr sz="1200">
                <a:solidFill>
                  <a:srgbClr val="E6EAF0"/>
                </a:solidFill>
                <a:latin typeface="Helvetica Neue"/>
              </a:rPr>
              <a:t>• Short-circuits on clean first SQL — no overhead in the common case</a:t>
            </a:r>
          </a:p>
        </p:txBody>
      </p:sp>
      <p:sp>
        <p:nvSpPr>
          <p:cNvPr id="7" name="Rounded Rectangle 6"/>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Charts + descriptions (parallel)</a:t>
            </a:r>
          </a:p>
        </p:txBody>
      </p:sp>
      <p:sp>
        <p:nvSpPr>
          <p:cNvPr id="9" name="TextBox 8"/>
          <p:cNvSpPr txBox="1"/>
          <p:nvPr/>
        </p:nvSpPr>
        <p:spPr>
          <a:xfrm>
            <a:off x="6446520" y="1965960"/>
            <a:ext cx="5120640" cy="4114800"/>
          </a:xfrm>
          <a:prstGeom prst="rect">
            <a:avLst/>
          </a:prstGeom>
          <a:noFill/>
        </p:spPr>
        <p:txBody>
          <a:bodyPr wrap="square">
            <a:spAutoFit/>
          </a:bodyPr>
          <a:lstStyle/>
          <a:p>
            <a:pPr algn="l">
              <a:spcAft>
                <a:spcPts val="400"/>
              </a:spcAft>
            </a:pPr>
            <a:r>
              <a:rPr sz="1200">
                <a:solidFill>
                  <a:srgbClr val="E6EAF0"/>
                </a:solidFill>
                <a:latin typeface="Helvetica Neue"/>
              </a:rPr>
              <a:t>• Result-shape inference: row count, column types, aggregates, temporal axes</a:t>
            </a:r>
          </a:p>
          <a:p>
            <a:pPr algn="l">
              <a:spcAft>
                <a:spcPts val="400"/>
              </a:spcAft>
            </a:pPr>
            <a:r>
              <a:rPr sz="1200">
                <a:solidFill>
                  <a:srgbClr val="E6EAF0"/>
                </a:solidFill>
                <a:latin typeface="Helvetica Neue"/>
              </a:rPr>
              <a:t>• Vega-Lite spec generated via LLM with strict JSON schema</a:t>
            </a:r>
          </a:p>
          <a:p>
            <a:pPr algn="l">
              <a:spcAft>
                <a:spcPts val="400"/>
              </a:spcAft>
            </a:pPr>
            <a:r>
              <a:rPr sz="1200">
                <a:solidFill>
                  <a:srgbClr val="E6EAF0"/>
                </a:solidFill>
                <a:latin typeface="Helvetica Neue"/>
              </a:rPr>
              <a:t>• Plain-English summary generated in parallel via ThreadPoolExecutor</a:t>
            </a:r>
          </a:p>
          <a:p>
            <a:pPr algn="l">
              <a:spcAft>
                <a:spcPts val="400"/>
              </a:spcAft>
            </a:pPr>
            <a:r>
              <a:rPr sz="1200">
                <a:solidFill>
                  <a:srgbClr val="E6EAF0"/>
                </a:solidFill>
                <a:latin typeface="Helvetica Neue"/>
              </a:rPr>
              <a:t>• Browser receives chart spec + summary the moment they're ready</a:t>
            </a:r>
          </a:p>
          <a:p>
            <a:pPr algn="l">
              <a:spcAft>
                <a:spcPts val="400"/>
              </a:spcAft>
            </a:pPr>
            <a:r>
              <a:rPr sz="1200">
                <a:solidFill>
                  <a:srgbClr val="E6EAF0"/>
                </a:solidFill>
                <a:latin typeface="Helvetica Neue"/>
              </a:rPr>
              <a:t>• Single-row, multi-row, time-series, and aggregate cases all handled</a:t>
            </a:r>
          </a:p>
        </p:txBody>
      </p:sp>
      <p:sp>
        <p:nvSpPr>
          <p:cNvPr id="10" name="TextBox 9"/>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Pipeline · Validation &amp; Output</a:t>
            </a:r>
          </a:p>
        </p:txBody>
      </p:sp>
      <p:sp>
        <p:nvSpPr>
          <p:cNvPr id="11" name="TextBox 10"/>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test_component9 + test_component10 green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2286000"/>
            <a:ext cx="10698480" cy="457200"/>
          </a:xfrm>
          <a:prstGeom prst="rect">
            <a:avLst/>
          </a:prstGeom>
          <a:noFill/>
        </p:spPr>
        <p:txBody>
          <a:bodyPr wrap="square" lIns="45720" rIns="45720">
            <a:spAutoFit/>
          </a:bodyPr>
          <a:lstStyle/>
          <a:p>
            <a:pPr algn="l"/>
            <a:r>
              <a:rPr sz="1800" b="0">
                <a:solidFill>
                  <a:srgbClr val="8A95A5"/>
                </a:solidFill>
                <a:latin typeface="Helvetica Neue"/>
              </a:rPr>
              <a:t>Section 4 of 5</a:t>
            </a:r>
          </a:p>
        </p:txBody>
      </p:sp>
      <p:sp>
        <p:nvSpPr>
          <p:cNvPr id="3" name="TextBox 2"/>
          <p:cNvSpPr txBox="1"/>
          <p:nvPr/>
        </p:nvSpPr>
        <p:spPr>
          <a:xfrm>
            <a:off x="731520" y="2788920"/>
            <a:ext cx="10698480" cy="914400"/>
          </a:xfrm>
          <a:prstGeom prst="rect">
            <a:avLst/>
          </a:prstGeom>
          <a:noFill/>
        </p:spPr>
        <p:txBody>
          <a:bodyPr wrap="square" lIns="45720" rIns="45720">
            <a:spAutoFit/>
          </a:bodyPr>
          <a:lstStyle/>
          <a:p>
            <a:pPr algn="l"/>
            <a:r>
              <a:rPr sz="4200" b="1">
                <a:solidFill>
                  <a:srgbClr val="4AD09C"/>
                </a:solidFill>
                <a:latin typeface="Helvetica Neue"/>
              </a:rPr>
              <a:t>The Agentic Layer</a:t>
            </a:r>
          </a:p>
        </p:txBody>
      </p:sp>
      <p:sp>
        <p:nvSpPr>
          <p:cNvPr id="4" name="TextBox 3"/>
          <p:cNvSpPr txBox="1"/>
          <p:nvPr/>
        </p:nvSpPr>
        <p:spPr>
          <a:xfrm>
            <a:off x="731520" y="3703320"/>
            <a:ext cx="10698480" cy="457200"/>
          </a:xfrm>
          <a:prstGeom prst="rect">
            <a:avLst/>
          </a:prstGeom>
          <a:noFill/>
        </p:spPr>
        <p:txBody>
          <a:bodyPr wrap="square" lIns="45720" rIns="45720">
            <a:spAutoFit/>
          </a:bodyPr>
          <a:lstStyle/>
          <a:p>
            <a:pPr algn="l"/>
            <a:r>
              <a:rPr sz="1800" b="0">
                <a:solidFill>
                  <a:srgbClr val="E6EAF0"/>
                </a:solidFill>
                <a:latin typeface="Helvetica Neue"/>
              </a:rPr>
              <a:t>8 tools · multi-turn conversations · server-sent streaming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Eight tools the agent can call</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Each tool is the same primitive an engineer would reach for — exposed to the LLM</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3657600" cy="292608"/>
          </a:xfrm>
          <a:prstGeom prst="rect">
            <a:avLst/>
          </a:prstGeom>
          <a:noFill/>
        </p:spPr>
        <p:txBody>
          <a:bodyPr wrap="square" lIns="45720" rIns="45720">
            <a:spAutoFit/>
          </a:bodyPr>
          <a:lstStyle/>
          <a:p>
            <a:pPr algn="l"/>
            <a:r>
              <a:rPr sz="1200" b="1">
                <a:solidFill>
                  <a:srgbClr val="6EC1FF"/>
                </a:solidFill>
                <a:latin typeface="Helvetica Neue"/>
              </a:rPr>
              <a:t>CLASSIFY_DOMAINS</a:t>
            </a:r>
          </a:p>
        </p:txBody>
      </p:sp>
      <p:sp>
        <p:nvSpPr>
          <p:cNvPr id="6" name="TextBox 5"/>
          <p:cNvSpPr txBox="1"/>
          <p:nvPr/>
        </p:nvSpPr>
        <p:spPr>
          <a:xfrm>
            <a:off x="4389120" y="1645920"/>
            <a:ext cx="7315200" cy="292608"/>
          </a:xfrm>
          <a:prstGeom prst="rect">
            <a:avLst/>
          </a:prstGeom>
          <a:noFill/>
        </p:spPr>
        <p:txBody>
          <a:bodyPr wrap="square" lIns="45720" rIns="45720">
            <a:spAutoFit/>
          </a:bodyPr>
          <a:lstStyle/>
          <a:p>
            <a:pPr algn="l"/>
            <a:r>
              <a:rPr sz="1200" b="0">
                <a:solidFill>
                  <a:srgbClr val="E6EAF0"/>
                </a:solidFill>
                <a:latin typeface="Helvetica Neue"/>
              </a:rPr>
              <a:t>Find the Ed-Fi domains relevant to a question</a:t>
            </a:r>
          </a:p>
        </p:txBody>
      </p:sp>
      <p:sp>
        <p:nvSpPr>
          <p:cNvPr id="7" name="TextBox 6"/>
          <p:cNvSpPr txBox="1"/>
          <p:nvPr/>
        </p:nvSpPr>
        <p:spPr>
          <a:xfrm>
            <a:off x="640080" y="2212848"/>
            <a:ext cx="3657600" cy="292608"/>
          </a:xfrm>
          <a:prstGeom prst="rect">
            <a:avLst/>
          </a:prstGeom>
          <a:noFill/>
        </p:spPr>
        <p:txBody>
          <a:bodyPr wrap="square" lIns="45720" rIns="45720">
            <a:spAutoFit/>
          </a:bodyPr>
          <a:lstStyle/>
          <a:p>
            <a:pPr algn="l"/>
            <a:r>
              <a:rPr sz="1200" b="1">
                <a:solidFill>
                  <a:srgbClr val="6EC1FF"/>
                </a:solidFill>
                <a:latin typeface="Helvetica Neue"/>
              </a:rPr>
              <a:t>SEARCH_TABLES</a:t>
            </a:r>
          </a:p>
        </p:txBody>
      </p:sp>
      <p:sp>
        <p:nvSpPr>
          <p:cNvPr id="8" name="TextBox 7"/>
          <p:cNvSpPr txBox="1"/>
          <p:nvPr/>
        </p:nvSpPr>
        <p:spPr>
          <a:xfrm>
            <a:off x="4389120" y="2212848"/>
            <a:ext cx="7315200" cy="292608"/>
          </a:xfrm>
          <a:prstGeom prst="rect">
            <a:avLst/>
          </a:prstGeom>
          <a:noFill/>
        </p:spPr>
        <p:txBody>
          <a:bodyPr wrap="square" lIns="45720" rIns="45720">
            <a:spAutoFit/>
          </a:bodyPr>
          <a:lstStyle/>
          <a:p>
            <a:pPr algn="l"/>
            <a:r>
              <a:rPr sz="1200" b="0">
                <a:solidFill>
                  <a:srgbClr val="E6EAF0"/>
                </a:solidFill>
                <a:latin typeface="Helvetica Neue"/>
              </a:rPr>
              <a:t>Hybrid search inside the catalog · top-K tables</a:t>
            </a:r>
          </a:p>
        </p:txBody>
      </p:sp>
      <p:sp>
        <p:nvSpPr>
          <p:cNvPr id="9" name="TextBox 8"/>
          <p:cNvSpPr txBox="1"/>
          <p:nvPr/>
        </p:nvSpPr>
        <p:spPr>
          <a:xfrm>
            <a:off x="640080" y="2779776"/>
            <a:ext cx="3657600" cy="292608"/>
          </a:xfrm>
          <a:prstGeom prst="rect">
            <a:avLst/>
          </a:prstGeom>
          <a:noFill/>
        </p:spPr>
        <p:txBody>
          <a:bodyPr wrap="square" lIns="45720" rIns="45720">
            <a:spAutoFit/>
          </a:bodyPr>
          <a:lstStyle/>
          <a:p>
            <a:pPr algn="l"/>
            <a:r>
              <a:rPr sz="1200" b="1">
                <a:solidFill>
                  <a:srgbClr val="6EC1FF"/>
                </a:solidFill>
                <a:latin typeface="Helvetica Neue"/>
              </a:rPr>
              <a:t>INSPECT_TABLE</a:t>
            </a:r>
          </a:p>
        </p:txBody>
      </p:sp>
      <p:sp>
        <p:nvSpPr>
          <p:cNvPr id="10" name="TextBox 9"/>
          <p:cNvSpPr txBox="1"/>
          <p:nvPr/>
        </p:nvSpPr>
        <p:spPr>
          <a:xfrm>
            <a:off x="4389120" y="2779776"/>
            <a:ext cx="7315200" cy="292608"/>
          </a:xfrm>
          <a:prstGeom prst="rect">
            <a:avLst/>
          </a:prstGeom>
          <a:noFill/>
        </p:spPr>
        <p:txBody>
          <a:bodyPr wrap="square" lIns="45720" rIns="45720">
            <a:spAutoFit/>
          </a:bodyPr>
          <a:lstStyle/>
          <a:p>
            <a:pPr algn="l"/>
            <a:r>
              <a:rPr sz="1200" b="0">
                <a:solidFill>
                  <a:srgbClr val="E6EAF0"/>
                </a:solidFill>
                <a:latin typeface="Helvetica Neue"/>
              </a:rPr>
              <a:t>Full schema + sample rows for one table</a:t>
            </a:r>
          </a:p>
        </p:txBody>
      </p:sp>
      <p:sp>
        <p:nvSpPr>
          <p:cNvPr id="11" name="TextBox 10"/>
          <p:cNvSpPr txBox="1"/>
          <p:nvPr/>
        </p:nvSpPr>
        <p:spPr>
          <a:xfrm>
            <a:off x="640080" y="3346704"/>
            <a:ext cx="3657600" cy="292608"/>
          </a:xfrm>
          <a:prstGeom prst="rect">
            <a:avLst/>
          </a:prstGeom>
          <a:noFill/>
        </p:spPr>
        <p:txBody>
          <a:bodyPr wrap="square" lIns="45720" rIns="45720">
            <a:spAutoFit/>
          </a:bodyPr>
          <a:lstStyle/>
          <a:p>
            <a:pPr algn="l"/>
            <a:r>
              <a:rPr sz="1200" b="1">
                <a:solidFill>
                  <a:srgbClr val="6EC1FF"/>
                </a:solidFill>
                <a:latin typeface="Helvetica Neue"/>
              </a:rPr>
              <a:t>RESOLVE_ENTITY</a:t>
            </a:r>
          </a:p>
        </p:txBody>
      </p:sp>
      <p:sp>
        <p:nvSpPr>
          <p:cNvPr id="12" name="TextBox 11"/>
          <p:cNvSpPr txBox="1"/>
          <p:nvPr/>
        </p:nvSpPr>
        <p:spPr>
          <a:xfrm>
            <a:off x="4389120" y="3346704"/>
            <a:ext cx="7315200" cy="292608"/>
          </a:xfrm>
          <a:prstGeom prst="rect">
            <a:avLst/>
          </a:prstGeom>
          <a:noFill/>
        </p:spPr>
        <p:txBody>
          <a:bodyPr wrap="square" lIns="45720" rIns="45720">
            <a:spAutoFit/>
          </a:bodyPr>
          <a:lstStyle/>
          <a:p>
            <a:pPr algn="l"/>
            <a:r>
              <a:rPr sz="1200" b="0">
                <a:solidFill>
                  <a:srgbClr val="E6EAF0"/>
                </a:solidFill>
                <a:latin typeface="Helvetica Neue"/>
              </a:rPr>
              <a:t>Map a user term ('Hispanic') to (table, column, code)</a:t>
            </a:r>
          </a:p>
        </p:txBody>
      </p:sp>
      <p:sp>
        <p:nvSpPr>
          <p:cNvPr id="13" name="TextBox 12"/>
          <p:cNvSpPr txBox="1"/>
          <p:nvPr/>
        </p:nvSpPr>
        <p:spPr>
          <a:xfrm>
            <a:off x="640080" y="3913632"/>
            <a:ext cx="3657600" cy="292608"/>
          </a:xfrm>
          <a:prstGeom prst="rect">
            <a:avLst/>
          </a:prstGeom>
          <a:noFill/>
        </p:spPr>
        <p:txBody>
          <a:bodyPr wrap="square" lIns="45720" rIns="45720">
            <a:spAutoFit/>
          </a:bodyPr>
          <a:lstStyle/>
          <a:p>
            <a:pPr algn="l"/>
            <a:r>
              <a:rPr sz="1200" b="1">
                <a:solidFill>
                  <a:srgbClr val="6EC1FF"/>
                </a:solidFill>
                <a:latin typeface="Helvetica Neue"/>
              </a:rPr>
              <a:t>FIND_JOIN_PATH</a:t>
            </a:r>
          </a:p>
        </p:txBody>
      </p:sp>
      <p:sp>
        <p:nvSpPr>
          <p:cNvPr id="14" name="TextBox 13"/>
          <p:cNvSpPr txBox="1"/>
          <p:nvPr/>
        </p:nvSpPr>
        <p:spPr>
          <a:xfrm>
            <a:off x="4389120" y="3913632"/>
            <a:ext cx="7315200" cy="292608"/>
          </a:xfrm>
          <a:prstGeom prst="rect">
            <a:avLst/>
          </a:prstGeom>
          <a:noFill/>
        </p:spPr>
        <p:txBody>
          <a:bodyPr wrap="square" lIns="45720" rIns="45720">
            <a:spAutoFit/>
          </a:bodyPr>
          <a:lstStyle/>
          <a:p>
            <a:pPr algn="l"/>
            <a:r>
              <a:rPr sz="1200" b="0">
                <a:solidFill>
                  <a:srgbClr val="E6EAF0"/>
                </a:solidFill>
                <a:latin typeface="Helvetica Neue"/>
              </a:rPr>
              <a:t>Steiner solver between two or more tables</a:t>
            </a:r>
          </a:p>
        </p:txBody>
      </p:sp>
      <p:sp>
        <p:nvSpPr>
          <p:cNvPr id="15" name="TextBox 14"/>
          <p:cNvSpPr txBox="1"/>
          <p:nvPr/>
        </p:nvSpPr>
        <p:spPr>
          <a:xfrm>
            <a:off x="640080" y="4480560"/>
            <a:ext cx="3657600" cy="292608"/>
          </a:xfrm>
          <a:prstGeom prst="rect">
            <a:avLst/>
          </a:prstGeom>
          <a:noFill/>
        </p:spPr>
        <p:txBody>
          <a:bodyPr wrap="square" lIns="45720" rIns="45720">
            <a:spAutoFit/>
          </a:bodyPr>
          <a:lstStyle/>
          <a:p>
            <a:pPr algn="l"/>
            <a:r>
              <a:rPr sz="1200" b="1">
                <a:solidFill>
                  <a:srgbClr val="6EC1FF"/>
                </a:solidFill>
                <a:latin typeface="Helvetica Neue"/>
              </a:rPr>
              <a:t>FIND_SIMILAR_QUERIES</a:t>
            </a:r>
          </a:p>
        </p:txBody>
      </p:sp>
      <p:sp>
        <p:nvSpPr>
          <p:cNvPr id="16" name="TextBox 15"/>
          <p:cNvSpPr txBox="1"/>
          <p:nvPr/>
        </p:nvSpPr>
        <p:spPr>
          <a:xfrm>
            <a:off x="4389120" y="4480560"/>
            <a:ext cx="7315200" cy="292608"/>
          </a:xfrm>
          <a:prstGeom prst="rect">
            <a:avLst/>
          </a:prstGeom>
          <a:noFill/>
        </p:spPr>
        <p:txBody>
          <a:bodyPr wrap="square" lIns="45720" rIns="45720">
            <a:spAutoFit/>
          </a:bodyPr>
          <a:lstStyle/>
          <a:p>
            <a:pPr algn="l"/>
            <a:r>
              <a:rPr sz="1200" b="0">
                <a:solidFill>
                  <a:srgbClr val="E6EAF0"/>
                </a:solidFill>
                <a:latin typeface="Helvetica Neue"/>
              </a:rPr>
              <a:t>Top-3 proven NL/SQL pairs from the gold store</a:t>
            </a:r>
          </a:p>
        </p:txBody>
      </p:sp>
      <p:sp>
        <p:nvSpPr>
          <p:cNvPr id="17" name="TextBox 16"/>
          <p:cNvSpPr txBox="1"/>
          <p:nvPr/>
        </p:nvSpPr>
        <p:spPr>
          <a:xfrm>
            <a:off x="640080" y="5047488"/>
            <a:ext cx="3657600" cy="292608"/>
          </a:xfrm>
          <a:prstGeom prst="rect">
            <a:avLst/>
          </a:prstGeom>
          <a:noFill/>
        </p:spPr>
        <p:txBody>
          <a:bodyPr wrap="square" lIns="45720" rIns="45720">
            <a:spAutoFit/>
          </a:bodyPr>
          <a:lstStyle/>
          <a:p>
            <a:pPr algn="l"/>
            <a:r>
              <a:rPr sz="1200" b="1">
                <a:solidFill>
                  <a:srgbClr val="6EC1FF"/>
                </a:solidFill>
                <a:latin typeface="Helvetica Neue"/>
              </a:rPr>
              <a:t>RUN_SQL</a:t>
            </a:r>
          </a:p>
        </p:txBody>
      </p:sp>
      <p:sp>
        <p:nvSpPr>
          <p:cNvPr id="18" name="TextBox 17"/>
          <p:cNvSpPr txBox="1"/>
          <p:nvPr/>
        </p:nvSpPr>
        <p:spPr>
          <a:xfrm>
            <a:off x="4389120" y="5047488"/>
            <a:ext cx="7315200" cy="292608"/>
          </a:xfrm>
          <a:prstGeom prst="rect">
            <a:avLst/>
          </a:prstGeom>
          <a:noFill/>
        </p:spPr>
        <p:txBody>
          <a:bodyPr wrap="square" lIns="45720" rIns="45720">
            <a:spAutoFit/>
          </a:bodyPr>
          <a:lstStyle/>
          <a:p>
            <a:pPr algn="l"/>
            <a:r>
              <a:rPr sz="1200" b="0">
                <a:solidFill>
                  <a:srgbClr val="E6EAF0"/>
                </a:solidFill>
                <a:latin typeface="Helvetica Neue"/>
              </a:rPr>
              <a:t>Execute SQL against the active target DB · returns rows</a:t>
            </a:r>
          </a:p>
        </p:txBody>
      </p:sp>
      <p:sp>
        <p:nvSpPr>
          <p:cNvPr id="19" name="TextBox 18"/>
          <p:cNvSpPr txBox="1"/>
          <p:nvPr/>
        </p:nvSpPr>
        <p:spPr>
          <a:xfrm>
            <a:off x="640080" y="5614416"/>
            <a:ext cx="3657600" cy="292608"/>
          </a:xfrm>
          <a:prstGeom prst="rect">
            <a:avLst/>
          </a:prstGeom>
          <a:noFill/>
        </p:spPr>
        <p:txBody>
          <a:bodyPr wrap="square" lIns="45720" rIns="45720">
            <a:spAutoFit/>
          </a:bodyPr>
          <a:lstStyle/>
          <a:p>
            <a:pPr algn="l"/>
            <a:r>
              <a:rPr sz="1200" b="1">
                <a:solidFill>
                  <a:srgbClr val="6EC1FF"/>
                </a:solidFill>
                <a:latin typeface="Helvetica Neue"/>
              </a:rPr>
              <a:t>FINAL_ANSWER</a:t>
            </a:r>
          </a:p>
        </p:txBody>
      </p:sp>
      <p:sp>
        <p:nvSpPr>
          <p:cNvPr id="20" name="TextBox 19"/>
          <p:cNvSpPr txBox="1"/>
          <p:nvPr/>
        </p:nvSpPr>
        <p:spPr>
          <a:xfrm>
            <a:off x="4389120" y="5614416"/>
            <a:ext cx="7315200" cy="292608"/>
          </a:xfrm>
          <a:prstGeom prst="rect">
            <a:avLst/>
          </a:prstGeom>
          <a:noFill/>
        </p:spPr>
        <p:txBody>
          <a:bodyPr wrap="square" lIns="45720" rIns="45720">
            <a:spAutoFit/>
          </a:bodyPr>
          <a:lstStyle/>
          <a:p>
            <a:pPr algn="l"/>
            <a:r>
              <a:rPr sz="1200" b="0">
                <a:solidFill>
                  <a:srgbClr val="E6EAF0"/>
                </a:solidFill>
                <a:latin typeface="Helvetica Neue"/>
              </a:rPr>
              <a:t>Terminate the turn with a structured answer</a:t>
            </a:r>
          </a:p>
        </p:txBody>
      </p:sp>
      <p:sp>
        <p:nvSpPr>
          <p:cNvPr id="21" name="TextBox 20"/>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Agentic · 8 tools wired · max 20 steps per turn</a:t>
            </a:r>
          </a:p>
        </p:txBody>
      </p:sp>
      <p:sp>
        <p:nvSpPr>
          <p:cNvPr id="22" name="TextBox 21"/>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test_agent_loop · streaming events verified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Conversations, streaming, and provider portability</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The agent works the same on Anthropic, Bedrock, Azure, OpenAI, OpenRouter</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Multi-turn conversations</a:t>
            </a:r>
          </a:p>
        </p:txBody>
      </p:sp>
      <p:sp>
        <p:nvSpPr>
          <p:cNvPr id="6" name="TextBox 5"/>
          <p:cNvSpPr txBox="1"/>
          <p:nvPr/>
        </p:nvSpPr>
        <p:spPr>
          <a:xfrm>
            <a:off x="640080" y="1965960"/>
            <a:ext cx="5120640" cy="4114800"/>
          </a:xfrm>
          <a:prstGeom prst="rect">
            <a:avLst/>
          </a:prstGeom>
          <a:noFill/>
        </p:spPr>
        <p:txBody>
          <a:bodyPr wrap="square">
            <a:spAutoFit/>
          </a:bodyPr>
          <a:lstStyle/>
          <a:p>
            <a:pPr algn="l">
              <a:spcAft>
                <a:spcPts val="400"/>
              </a:spcAft>
            </a:pPr>
            <a:r>
              <a:rPr sz="1200">
                <a:solidFill>
                  <a:srgbClr val="E6EAF0"/>
                </a:solidFill>
                <a:latin typeface="Helvetica Neue"/>
              </a:rPr>
              <a:t>• SQLAlchemy-backed conversation store — Postgres, MSSQL, SQLite</a:t>
            </a:r>
          </a:p>
          <a:p>
            <a:pPr algn="l">
              <a:spcAft>
                <a:spcPts val="400"/>
              </a:spcAft>
            </a:pPr>
            <a:r>
              <a:rPr sz="1200">
                <a:solidFill>
                  <a:srgbClr val="E6EAF0"/>
                </a:solidFill>
                <a:latin typeface="Helvetica Neue"/>
              </a:rPr>
              <a:t>• Each conversation tagged with the dialect it was authored in</a:t>
            </a:r>
          </a:p>
          <a:p>
            <a:pPr algn="l">
              <a:spcAft>
                <a:spcPts val="400"/>
              </a:spcAft>
            </a:pPr>
            <a:r>
              <a:rPr sz="1200">
                <a:solidFill>
                  <a:srgbClr val="E6EAF0"/>
                </a:solidFill>
                <a:latin typeface="Helvetica Neue"/>
              </a:rPr>
              <a:t>• Cross-dialect history visible (badge in the chat UI)</a:t>
            </a:r>
          </a:p>
          <a:p>
            <a:pPr algn="l">
              <a:spcAft>
                <a:spcPts val="400"/>
              </a:spcAft>
            </a:pPr>
            <a:r>
              <a:rPr sz="1200">
                <a:solidFill>
                  <a:srgbClr val="E6EAF0"/>
                </a:solidFill>
                <a:latin typeface="Helvetica Neue"/>
              </a:rPr>
              <a:t>• Server-sent events stream tokens, tool calls, and final answers</a:t>
            </a:r>
          </a:p>
          <a:p>
            <a:pPr algn="l">
              <a:spcAft>
                <a:spcPts val="400"/>
              </a:spcAft>
            </a:pPr>
            <a:r>
              <a:rPr sz="1200">
                <a:solidFill>
                  <a:srgbClr val="E6EAF0"/>
                </a:solidFill>
                <a:latin typeface="Helvetica Neue"/>
              </a:rPr>
              <a:t>• Frontend reducer renders updates without page reloads</a:t>
            </a:r>
          </a:p>
        </p:txBody>
      </p:sp>
      <p:sp>
        <p:nvSpPr>
          <p:cNvPr id="7" name="Rounded Rectangle 6"/>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LLM providers integrated</a:t>
            </a:r>
          </a:p>
        </p:txBody>
      </p:sp>
      <p:sp>
        <p:nvSpPr>
          <p:cNvPr id="9" name="TextBox 8"/>
          <p:cNvSpPr txBox="1"/>
          <p:nvPr/>
        </p:nvSpPr>
        <p:spPr>
          <a:xfrm>
            <a:off x="6446520" y="2011680"/>
            <a:ext cx="3108960" cy="292608"/>
          </a:xfrm>
          <a:prstGeom prst="rect">
            <a:avLst/>
          </a:prstGeom>
          <a:noFill/>
        </p:spPr>
        <p:txBody>
          <a:bodyPr wrap="square" lIns="45720" rIns="45720">
            <a:spAutoFit/>
          </a:bodyPr>
          <a:lstStyle/>
          <a:p>
            <a:pPr algn="l"/>
            <a:r>
              <a:rPr sz="1200" b="1">
                <a:solidFill>
                  <a:srgbClr val="E6EAF0"/>
                </a:solidFill>
                <a:latin typeface="Helvetica Neue"/>
              </a:rPr>
              <a:t>Anthropic Claude (direct)</a:t>
            </a:r>
          </a:p>
        </p:txBody>
      </p:sp>
      <p:sp>
        <p:nvSpPr>
          <p:cNvPr id="10" name="TextBox 9"/>
          <p:cNvSpPr txBox="1"/>
          <p:nvPr/>
        </p:nvSpPr>
        <p:spPr>
          <a:xfrm>
            <a:off x="9509760" y="2011680"/>
            <a:ext cx="2194560" cy="292608"/>
          </a:xfrm>
          <a:prstGeom prst="rect">
            <a:avLst/>
          </a:prstGeom>
          <a:noFill/>
        </p:spPr>
        <p:txBody>
          <a:bodyPr wrap="square" lIns="45720" rIns="45720">
            <a:spAutoFit/>
          </a:bodyPr>
          <a:lstStyle/>
          <a:p>
            <a:pPr algn="r"/>
            <a:r>
              <a:rPr sz="1100" b="0">
                <a:solidFill>
                  <a:srgbClr val="8A95A5"/>
                </a:solidFill>
                <a:latin typeface="Helvetica Neue"/>
              </a:rPr>
              <a:t>tool_use · strict schemas</a:t>
            </a:r>
          </a:p>
        </p:txBody>
      </p:sp>
      <p:sp>
        <p:nvSpPr>
          <p:cNvPr id="11" name="TextBox 10"/>
          <p:cNvSpPr txBox="1"/>
          <p:nvPr/>
        </p:nvSpPr>
        <p:spPr>
          <a:xfrm>
            <a:off x="6446520" y="2514600"/>
            <a:ext cx="3108960" cy="292608"/>
          </a:xfrm>
          <a:prstGeom prst="rect">
            <a:avLst/>
          </a:prstGeom>
          <a:noFill/>
        </p:spPr>
        <p:txBody>
          <a:bodyPr wrap="square" lIns="45720" rIns="45720">
            <a:spAutoFit/>
          </a:bodyPr>
          <a:lstStyle/>
          <a:p>
            <a:pPr algn="l"/>
            <a:r>
              <a:rPr sz="1200" b="1">
                <a:solidFill>
                  <a:srgbClr val="E6EAF0"/>
                </a:solidFill>
                <a:latin typeface="Helvetica Neue"/>
              </a:rPr>
              <a:t>AWS Bedrock</a:t>
            </a:r>
          </a:p>
        </p:txBody>
      </p:sp>
      <p:sp>
        <p:nvSpPr>
          <p:cNvPr id="12" name="TextBox 11"/>
          <p:cNvSpPr txBox="1"/>
          <p:nvPr/>
        </p:nvSpPr>
        <p:spPr>
          <a:xfrm>
            <a:off x="9509760" y="2514600"/>
            <a:ext cx="2194560" cy="292608"/>
          </a:xfrm>
          <a:prstGeom prst="rect">
            <a:avLst/>
          </a:prstGeom>
          <a:noFill/>
        </p:spPr>
        <p:txBody>
          <a:bodyPr wrap="square" lIns="45720" rIns="45720">
            <a:spAutoFit/>
          </a:bodyPr>
          <a:lstStyle/>
          <a:p>
            <a:pPr algn="r"/>
            <a:r>
              <a:rPr sz="1100" b="0">
                <a:solidFill>
                  <a:srgbClr val="8A95A5"/>
                </a:solidFill>
                <a:latin typeface="Helvetica Neue"/>
              </a:rPr>
              <a:t>Converse API · same Claude family</a:t>
            </a:r>
          </a:p>
        </p:txBody>
      </p:sp>
      <p:sp>
        <p:nvSpPr>
          <p:cNvPr id="13" name="TextBox 12"/>
          <p:cNvSpPr txBox="1"/>
          <p:nvPr/>
        </p:nvSpPr>
        <p:spPr>
          <a:xfrm>
            <a:off x="6446520" y="3017520"/>
            <a:ext cx="3108960" cy="292608"/>
          </a:xfrm>
          <a:prstGeom prst="rect">
            <a:avLst/>
          </a:prstGeom>
          <a:noFill/>
        </p:spPr>
        <p:txBody>
          <a:bodyPr wrap="square" lIns="45720" rIns="45720">
            <a:spAutoFit/>
          </a:bodyPr>
          <a:lstStyle/>
          <a:p>
            <a:pPr algn="l"/>
            <a:r>
              <a:rPr sz="1200" b="1">
                <a:solidFill>
                  <a:srgbClr val="E6EAF0"/>
                </a:solidFill>
                <a:latin typeface="Helvetica Neue"/>
              </a:rPr>
              <a:t>Azure OpenAI</a:t>
            </a:r>
          </a:p>
        </p:txBody>
      </p:sp>
      <p:sp>
        <p:nvSpPr>
          <p:cNvPr id="14" name="TextBox 13"/>
          <p:cNvSpPr txBox="1"/>
          <p:nvPr/>
        </p:nvSpPr>
        <p:spPr>
          <a:xfrm>
            <a:off x="9509760" y="3017520"/>
            <a:ext cx="2194560" cy="292608"/>
          </a:xfrm>
          <a:prstGeom prst="rect">
            <a:avLst/>
          </a:prstGeom>
          <a:noFill/>
        </p:spPr>
        <p:txBody>
          <a:bodyPr wrap="square" lIns="45720" rIns="45720">
            <a:spAutoFit/>
          </a:bodyPr>
          <a:lstStyle/>
          <a:p>
            <a:pPr algn="r"/>
            <a:r>
              <a:rPr sz="1100" b="0">
                <a:solidFill>
                  <a:srgbClr val="8A95A5"/>
                </a:solidFill>
                <a:latin typeface="Helvetica Neue"/>
              </a:rPr>
              <a:t>tool_calls · deployments</a:t>
            </a:r>
          </a:p>
        </p:txBody>
      </p:sp>
      <p:sp>
        <p:nvSpPr>
          <p:cNvPr id="15" name="TextBox 14"/>
          <p:cNvSpPr txBox="1"/>
          <p:nvPr/>
        </p:nvSpPr>
        <p:spPr>
          <a:xfrm>
            <a:off x="6446520" y="3520439"/>
            <a:ext cx="3108960" cy="292608"/>
          </a:xfrm>
          <a:prstGeom prst="rect">
            <a:avLst/>
          </a:prstGeom>
          <a:noFill/>
        </p:spPr>
        <p:txBody>
          <a:bodyPr wrap="square" lIns="45720" rIns="45720">
            <a:spAutoFit/>
          </a:bodyPr>
          <a:lstStyle/>
          <a:p>
            <a:pPr algn="l"/>
            <a:r>
              <a:rPr sz="1200" b="1">
                <a:solidFill>
                  <a:srgbClr val="E6EAF0"/>
                </a:solidFill>
                <a:latin typeface="Helvetica Neue"/>
              </a:rPr>
              <a:t>OpenAI</a:t>
            </a:r>
          </a:p>
        </p:txBody>
      </p:sp>
      <p:sp>
        <p:nvSpPr>
          <p:cNvPr id="16" name="TextBox 15"/>
          <p:cNvSpPr txBox="1"/>
          <p:nvPr/>
        </p:nvSpPr>
        <p:spPr>
          <a:xfrm>
            <a:off x="9509760" y="3520439"/>
            <a:ext cx="2194560" cy="292608"/>
          </a:xfrm>
          <a:prstGeom prst="rect">
            <a:avLst/>
          </a:prstGeom>
          <a:noFill/>
        </p:spPr>
        <p:txBody>
          <a:bodyPr wrap="square" lIns="45720" rIns="45720">
            <a:spAutoFit/>
          </a:bodyPr>
          <a:lstStyle/>
          <a:p>
            <a:pPr algn="r"/>
            <a:r>
              <a:rPr sz="1100" b="0">
                <a:solidFill>
                  <a:srgbClr val="8A95A5"/>
                </a:solidFill>
                <a:latin typeface="Helvetica Neue"/>
              </a:rPr>
              <a:t>tool_calls · function schemas</a:t>
            </a:r>
          </a:p>
        </p:txBody>
      </p:sp>
      <p:sp>
        <p:nvSpPr>
          <p:cNvPr id="17" name="TextBox 16"/>
          <p:cNvSpPr txBox="1"/>
          <p:nvPr/>
        </p:nvSpPr>
        <p:spPr>
          <a:xfrm>
            <a:off x="6446520" y="4023359"/>
            <a:ext cx="3108960" cy="292608"/>
          </a:xfrm>
          <a:prstGeom prst="rect">
            <a:avLst/>
          </a:prstGeom>
          <a:noFill/>
        </p:spPr>
        <p:txBody>
          <a:bodyPr wrap="square" lIns="45720" rIns="45720">
            <a:spAutoFit/>
          </a:bodyPr>
          <a:lstStyle/>
          <a:p>
            <a:pPr algn="l"/>
            <a:r>
              <a:rPr sz="1200" b="1">
                <a:solidFill>
                  <a:srgbClr val="E6EAF0"/>
                </a:solidFill>
                <a:latin typeface="Helvetica Neue"/>
              </a:rPr>
              <a:t>OpenRouter</a:t>
            </a:r>
          </a:p>
        </p:txBody>
      </p:sp>
      <p:sp>
        <p:nvSpPr>
          <p:cNvPr id="18" name="TextBox 17"/>
          <p:cNvSpPr txBox="1"/>
          <p:nvPr/>
        </p:nvSpPr>
        <p:spPr>
          <a:xfrm>
            <a:off x="9509760" y="4023359"/>
            <a:ext cx="2194560" cy="292608"/>
          </a:xfrm>
          <a:prstGeom prst="rect">
            <a:avLst/>
          </a:prstGeom>
          <a:noFill/>
        </p:spPr>
        <p:txBody>
          <a:bodyPr wrap="square" lIns="45720" rIns="45720">
            <a:spAutoFit/>
          </a:bodyPr>
          <a:lstStyle/>
          <a:p>
            <a:pPr algn="r"/>
            <a:r>
              <a:rPr sz="1100" b="0">
                <a:solidFill>
                  <a:srgbClr val="8A95A5"/>
                </a:solidFill>
                <a:latin typeface="Helvetica Neue"/>
              </a:rPr>
              <a:t>runtime schema probe + cache</a:t>
            </a:r>
          </a:p>
        </p:txBody>
      </p:sp>
      <p:sp>
        <p:nvSpPr>
          <p:cNvPr id="19" name="TextBox 18"/>
          <p:cNvSpPr txBox="1"/>
          <p:nvPr/>
        </p:nvSpPr>
        <p:spPr>
          <a:xfrm>
            <a:off x="6446520" y="4937760"/>
            <a:ext cx="5120640" cy="292608"/>
          </a:xfrm>
          <a:prstGeom prst="rect">
            <a:avLst/>
          </a:prstGeom>
          <a:noFill/>
        </p:spPr>
        <p:txBody>
          <a:bodyPr wrap="square" lIns="45720" rIns="45720">
            <a:spAutoFit/>
          </a:bodyPr>
          <a:lstStyle/>
          <a:p>
            <a:pPr algn="l"/>
            <a:r>
              <a:rPr sz="1100" b="0">
                <a:solidFill>
                  <a:srgbClr val="F2B857"/>
                </a:solidFill>
                <a:latin typeface="Helvetica Neue"/>
              </a:rPr>
              <a:t>Cross-product regression matrix lands by June 13</a:t>
            </a:r>
          </a:p>
        </p:txBody>
      </p:sp>
      <p:sp>
        <p:nvSpPr>
          <p:cNvPr id="20" name="TextBox 19"/>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Agentic · Conversations &amp; Providers</a:t>
            </a:r>
          </a:p>
        </p:txBody>
      </p:sp>
      <p:sp>
        <p:nvSpPr>
          <p:cNvPr id="21" name="TextBox 20"/>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All 5 providers wired · matrix tests in progress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2286000"/>
            <a:ext cx="10698480" cy="457200"/>
          </a:xfrm>
          <a:prstGeom prst="rect">
            <a:avLst/>
          </a:prstGeom>
          <a:noFill/>
        </p:spPr>
        <p:txBody>
          <a:bodyPr wrap="square" lIns="45720" rIns="45720">
            <a:spAutoFit/>
          </a:bodyPr>
          <a:lstStyle/>
          <a:p>
            <a:pPr algn="l"/>
            <a:r>
              <a:rPr sz="1800" b="0">
                <a:solidFill>
                  <a:srgbClr val="8A95A5"/>
                </a:solidFill>
                <a:latin typeface="Helvetica Neue"/>
              </a:rPr>
              <a:t>Section 5 of 5</a:t>
            </a:r>
          </a:p>
        </p:txBody>
      </p:sp>
      <p:sp>
        <p:nvSpPr>
          <p:cNvPr id="3" name="TextBox 2"/>
          <p:cNvSpPr txBox="1"/>
          <p:nvPr/>
        </p:nvSpPr>
        <p:spPr>
          <a:xfrm>
            <a:off x="731520" y="2788920"/>
            <a:ext cx="10698480" cy="914400"/>
          </a:xfrm>
          <a:prstGeom prst="rect">
            <a:avLst/>
          </a:prstGeom>
          <a:noFill/>
        </p:spPr>
        <p:txBody>
          <a:bodyPr wrap="square" lIns="45720" rIns="45720">
            <a:spAutoFit/>
          </a:bodyPr>
          <a:lstStyle/>
          <a:p>
            <a:pPr algn="l"/>
            <a:r>
              <a:rPr sz="4200" b="1">
                <a:solidFill>
                  <a:srgbClr val="4AD09C"/>
                </a:solidFill>
                <a:latin typeface="Helvetica Neue"/>
              </a:rPr>
              <a:t>Surface &amp; Operations</a:t>
            </a:r>
          </a:p>
        </p:txBody>
      </p:sp>
      <p:sp>
        <p:nvSpPr>
          <p:cNvPr id="4" name="TextBox 3"/>
          <p:cNvSpPr txBox="1"/>
          <p:nvPr/>
        </p:nvSpPr>
        <p:spPr>
          <a:xfrm>
            <a:off x="731520" y="3703320"/>
            <a:ext cx="10698480" cy="457200"/>
          </a:xfrm>
          <a:prstGeom prst="rect">
            <a:avLst/>
          </a:prstGeom>
          <a:noFill/>
        </p:spPr>
        <p:txBody>
          <a:bodyPr wrap="square" lIns="45720" rIns="45720">
            <a:spAutoFit/>
          </a:bodyPr>
          <a:lstStyle/>
          <a:p>
            <a:pPr algn="l"/>
            <a:r>
              <a:rPr sz="1800" b="0">
                <a:solidFill>
                  <a:srgbClr val="E6EAF0"/>
                </a:solidFill>
                <a:latin typeface="Helvetica Neue"/>
              </a:rPr>
              <a:t>API, frontend, settings, multi-dialect metadata, eval harness — the parts an operator touches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API surface + browser experience</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18 endpoints · WebSocket + SSE streaming · 7 browser pages</a:t>
            </a:r>
          </a:p>
        </p:txBody>
      </p:sp>
      <p:sp>
        <p:nvSpPr>
          <p:cNvPr id="4" name="Rounded Rectangle 3"/>
          <p:cNvSpPr/>
          <p:nvPr/>
        </p:nvSpPr>
        <p:spPr>
          <a:xfrm>
            <a:off x="45720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120640" cy="365760"/>
          </a:xfrm>
          <a:prstGeom prst="rect">
            <a:avLst/>
          </a:prstGeom>
          <a:noFill/>
        </p:spPr>
        <p:txBody>
          <a:bodyPr wrap="square" lIns="45720" rIns="45720">
            <a:spAutoFit/>
          </a:bodyPr>
          <a:lstStyle/>
          <a:p>
            <a:pPr algn="l"/>
            <a:r>
              <a:rPr sz="1500" b="1">
                <a:solidFill>
                  <a:srgbClr val="6EC1FF"/>
                </a:solidFill>
                <a:latin typeface="Helvetica Neue"/>
              </a:rPr>
              <a:t>REST + streaming endpoints</a:t>
            </a:r>
          </a:p>
        </p:txBody>
      </p:sp>
      <p:sp>
        <p:nvSpPr>
          <p:cNvPr id="6" name="TextBox 5"/>
          <p:cNvSpPr txBox="1"/>
          <p:nvPr/>
        </p:nvSpPr>
        <p:spPr>
          <a:xfrm>
            <a:off x="640080" y="1965960"/>
            <a:ext cx="5120640" cy="4114800"/>
          </a:xfrm>
          <a:prstGeom prst="rect">
            <a:avLst/>
          </a:prstGeom>
          <a:noFill/>
        </p:spPr>
        <p:txBody>
          <a:bodyPr wrap="square">
            <a:spAutoFit/>
          </a:bodyPr>
          <a:lstStyle/>
          <a:p>
            <a:pPr algn="l">
              <a:spcAft>
                <a:spcPts val="400"/>
              </a:spcAft>
            </a:pPr>
            <a:r>
              <a:rPr sz="1100">
                <a:solidFill>
                  <a:srgbClr val="E6EAF0"/>
                </a:solidFill>
                <a:latin typeface="Helvetica Neue"/>
              </a:rPr>
              <a:t>• /health · status, active provider, dialect, catalog readiness</a:t>
            </a:r>
          </a:p>
          <a:p>
            <a:pPr algn="l">
              <a:spcAft>
                <a:spcPts val="400"/>
              </a:spcAft>
            </a:pPr>
            <a:r>
              <a:rPr sz="1100">
                <a:solidFill>
                  <a:srgbClr val="E6EAF0"/>
                </a:solidFill>
                <a:latin typeface="Helvetica Neue"/>
              </a:rPr>
              <a:t>• /query, /query/stream — synchronous + WebSocket pipeline</a:t>
            </a:r>
          </a:p>
          <a:p>
            <a:pPr algn="l">
              <a:spcAft>
                <a:spcPts val="400"/>
              </a:spcAft>
            </a:pPr>
            <a:r>
              <a:rPr sz="1100">
                <a:solidFill>
                  <a:srgbClr val="E6EAF0"/>
                </a:solidFill>
                <a:latin typeface="Helvetica Neue"/>
              </a:rPr>
              <a:t>• /chat, /chat/stream — agent loop sync + SSE streaming</a:t>
            </a:r>
          </a:p>
          <a:p>
            <a:pPr algn="l">
              <a:spcAft>
                <a:spcPts val="400"/>
              </a:spcAft>
            </a:pPr>
            <a:r>
              <a:rPr sz="1100">
                <a:solidFill>
                  <a:srgbClr val="E6EAF0"/>
                </a:solidFill>
                <a:latin typeface="Helvetica Neue"/>
              </a:rPr>
              <a:t>• /conversations — multi-turn lifecycle (CRUD + dialect badges)</a:t>
            </a:r>
          </a:p>
          <a:p>
            <a:pPr algn="l">
              <a:spcAft>
                <a:spcPts val="400"/>
              </a:spcAft>
            </a:pPr>
            <a:r>
              <a:rPr sz="1100">
                <a:solidFill>
                  <a:srgbClr val="E6EAF0"/>
                </a:solidFill>
                <a:latin typeface="Helvetica Neue"/>
              </a:rPr>
              <a:t>• /tables, /tables/{fqn}, /domains — catalog browse</a:t>
            </a:r>
          </a:p>
          <a:p>
            <a:pPr algn="l">
              <a:spcAft>
                <a:spcPts val="400"/>
              </a:spcAft>
            </a:pPr>
            <a:r>
              <a:rPr sz="1100">
                <a:solidFill>
                  <a:srgbClr val="E6EAF0"/>
                </a:solidFill>
                <a:latin typeface="Helvetica Neue"/>
              </a:rPr>
              <a:t>• /gold — CRUD + approve/reject + retrieval refresh</a:t>
            </a:r>
          </a:p>
          <a:p>
            <a:pPr algn="l">
              <a:spcAft>
                <a:spcPts val="400"/>
              </a:spcAft>
            </a:pPr>
            <a:r>
              <a:rPr sz="1100">
                <a:solidFill>
                  <a:srgbClr val="E6EAF0"/>
                </a:solidFill>
                <a:latin typeface="Helvetica Neue"/>
              </a:rPr>
              <a:t>• /admin — config, jobs/rebuild SSE, test_metadata_db</a:t>
            </a:r>
          </a:p>
        </p:txBody>
      </p:sp>
      <p:sp>
        <p:nvSpPr>
          <p:cNvPr id="7" name="Rounded Rectangle 6"/>
          <p:cNvSpPr/>
          <p:nvPr/>
        </p:nvSpPr>
        <p:spPr>
          <a:xfrm>
            <a:off x="6263640" y="1463040"/>
            <a:ext cx="5486400" cy="484632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5120640" cy="365760"/>
          </a:xfrm>
          <a:prstGeom prst="rect">
            <a:avLst/>
          </a:prstGeom>
          <a:noFill/>
        </p:spPr>
        <p:txBody>
          <a:bodyPr wrap="square" lIns="45720" rIns="45720">
            <a:spAutoFit/>
          </a:bodyPr>
          <a:lstStyle/>
          <a:p>
            <a:pPr algn="l"/>
            <a:r>
              <a:rPr sz="1500" b="1">
                <a:solidFill>
                  <a:srgbClr val="F2B857"/>
                </a:solidFill>
                <a:latin typeface="Helvetica Neue"/>
              </a:rPr>
              <a:t>Browser pages (Next.js)</a:t>
            </a:r>
          </a:p>
        </p:txBody>
      </p:sp>
      <p:sp>
        <p:nvSpPr>
          <p:cNvPr id="9" name="TextBox 8"/>
          <p:cNvSpPr txBox="1"/>
          <p:nvPr/>
        </p:nvSpPr>
        <p:spPr>
          <a:xfrm>
            <a:off x="6446520" y="1965960"/>
            <a:ext cx="5120640" cy="4114800"/>
          </a:xfrm>
          <a:prstGeom prst="rect">
            <a:avLst/>
          </a:prstGeom>
          <a:noFill/>
        </p:spPr>
        <p:txBody>
          <a:bodyPr wrap="square">
            <a:spAutoFit/>
          </a:bodyPr>
          <a:lstStyle/>
          <a:p>
            <a:pPr algn="l">
              <a:spcAft>
                <a:spcPts val="400"/>
              </a:spcAft>
            </a:pPr>
            <a:r>
              <a:rPr sz="1100">
                <a:solidFill>
                  <a:srgbClr val="E6EAF0"/>
                </a:solidFill>
                <a:latin typeface="Helvetica Neue"/>
              </a:rPr>
              <a:t>• Query — single-shot NL → SQL with chart &amp; summary</a:t>
            </a:r>
          </a:p>
          <a:p>
            <a:pPr algn="l">
              <a:spcAft>
                <a:spcPts val="400"/>
              </a:spcAft>
            </a:pPr>
            <a:r>
              <a:rPr sz="1100">
                <a:solidFill>
                  <a:srgbClr val="E6EAF0"/>
                </a:solidFill>
                <a:latin typeface="Helvetica Neue"/>
              </a:rPr>
              <a:t>• Chat — multi-turn agent loop with conversation list</a:t>
            </a:r>
          </a:p>
          <a:p>
            <a:pPr algn="l">
              <a:spcAft>
                <a:spcPts val="400"/>
              </a:spcAft>
            </a:pPr>
            <a:r>
              <a:rPr sz="1100">
                <a:solidFill>
                  <a:srgbClr val="E6EAF0"/>
                </a:solidFill>
                <a:latin typeface="Helvetica Neue"/>
              </a:rPr>
              <a:t>• Tables — schema browser, FQN detail, sample rows</a:t>
            </a:r>
          </a:p>
          <a:p>
            <a:pPr algn="l">
              <a:spcAft>
                <a:spcPts val="400"/>
              </a:spcAft>
            </a:pPr>
            <a:r>
              <a:rPr sz="1100">
                <a:solidFill>
                  <a:srgbClr val="E6EAF0"/>
                </a:solidFill>
                <a:latin typeface="Helvetica Neue"/>
              </a:rPr>
              <a:t>• Domains — domain list with table counts</a:t>
            </a:r>
          </a:p>
          <a:p>
            <a:pPr algn="l">
              <a:spcAft>
                <a:spcPts val="400"/>
              </a:spcAft>
            </a:pPr>
            <a:r>
              <a:rPr sz="1100">
                <a:solidFill>
                  <a:srgbClr val="E6EAF0"/>
                </a:solidFill>
                <a:latin typeface="Helvetica Neue"/>
              </a:rPr>
              <a:t>• Gold — gold-query CRUD, approve workflow, eval drilldown</a:t>
            </a:r>
          </a:p>
          <a:p>
            <a:pPr algn="l">
              <a:spcAft>
                <a:spcPts val="400"/>
              </a:spcAft>
            </a:pPr>
            <a:r>
              <a:rPr sz="1100">
                <a:solidFill>
                  <a:srgbClr val="E6EAF0"/>
                </a:solidFill>
                <a:latin typeface="Helvetica Neue"/>
              </a:rPr>
              <a:t>• Settings — DB / LLM / embedding connector forms (editable)</a:t>
            </a:r>
          </a:p>
          <a:p>
            <a:pPr algn="l">
              <a:spcAft>
                <a:spcPts val="400"/>
              </a:spcAft>
            </a:pPr>
            <a:r>
              <a:rPr sz="1100">
                <a:solidFill>
                  <a:srgbClr val="E6EAF0"/>
                </a:solidFill>
                <a:latin typeface="Helvetica Neue"/>
              </a:rPr>
              <a:t>• Onboarding — sitewide banner when artifacts not yet built</a:t>
            </a:r>
          </a:p>
        </p:txBody>
      </p:sp>
      <p:sp>
        <p:nvSpPr>
          <p:cNvPr id="10" name="TextBox 9"/>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Surface · API + Frontend</a:t>
            </a:r>
          </a:p>
        </p:txBody>
      </p:sp>
      <p:sp>
        <p:nvSpPr>
          <p:cNvPr id="11" name="TextBox 10"/>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test_component11 + test_component12 green · provider-aware refresh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Operator-grade plumbing</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Settings UI · multi-dialect metadata · eval harness · zero-infra demo target</a:t>
            </a:r>
          </a:p>
        </p:txBody>
      </p:sp>
      <p:sp>
        <p:nvSpPr>
          <p:cNvPr id="4" name="Rounded Rectangle 3"/>
          <p:cNvSpPr/>
          <p:nvPr/>
        </p:nvSpPr>
        <p:spPr>
          <a:xfrm>
            <a:off x="457200" y="1463040"/>
            <a:ext cx="5623560" cy="23774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5257800" cy="365760"/>
          </a:xfrm>
          <a:prstGeom prst="rect">
            <a:avLst/>
          </a:prstGeom>
          <a:noFill/>
        </p:spPr>
        <p:txBody>
          <a:bodyPr wrap="square" lIns="45720" rIns="45720">
            <a:spAutoFit/>
          </a:bodyPr>
          <a:lstStyle/>
          <a:p>
            <a:pPr algn="l"/>
            <a:r>
              <a:rPr sz="1400" b="1">
                <a:solidFill>
                  <a:srgbClr val="6EC1FF"/>
                </a:solidFill>
                <a:latin typeface="Helvetica Neue"/>
              </a:rPr>
              <a:t>Settings UI</a:t>
            </a:r>
          </a:p>
        </p:txBody>
      </p:sp>
      <p:sp>
        <p:nvSpPr>
          <p:cNvPr id="6" name="TextBox 5"/>
          <p:cNvSpPr txBox="1"/>
          <p:nvPr/>
        </p:nvSpPr>
        <p:spPr>
          <a:xfrm>
            <a:off x="640080" y="1920240"/>
            <a:ext cx="5257800" cy="1828800"/>
          </a:xfrm>
          <a:prstGeom prst="rect">
            <a:avLst/>
          </a:prstGeom>
          <a:noFill/>
        </p:spPr>
        <p:txBody>
          <a:bodyPr wrap="square">
            <a:spAutoFit/>
          </a:bodyPr>
          <a:lstStyle/>
          <a:p>
            <a:pPr algn="l">
              <a:spcAft>
                <a:spcPts val="400"/>
              </a:spcAft>
            </a:pPr>
            <a:r>
              <a:rPr sz="1000">
                <a:solidFill>
                  <a:srgbClr val="E6EAF0"/>
                </a:solidFill>
                <a:latin typeface="Helvetica Neue"/>
              </a:rPr>
              <a:t>• DB / LLM / embedding connector forms with inline test buttons</a:t>
            </a:r>
          </a:p>
          <a:p>
            <a:pPr algn="l">
              <a:spcAft>
                <a:spcPts val="400"/>
              </a:spcAft>
            </a:pPr>
            <a:r>
              <a:rPr sz="1000">
                <a:solidFill>
                  <a:srgbClr val="E6EAF0"/>
                </a:solidFill>
                <a:latin typeface="Helvetica Neue"/>
              </a:rPr>
              <a:t>• Secrets stored in gitignored runtime_secrets.json (not in body)</a:t>
            </a:r>
          </a:p>
          <a:p>
            <a:pPr algn="l">
              <a:spcAft>
                <a:spcPts val="400"/>
              </a:spcAft>
            </a:pPr>
            <a:r>
              <a:rPr sz="1000">
                <a:solidFill>
                  <a:srgbClr val="E6EAF0"/>
                </a:solidFill>
                <a:latin typeface="Helvetica Neue"/>
              </a:rPr>
              <a:t>• Runtime overlay merged on top of default.yaml at boot</a:t>
            </a:r>
          </a:p>
          <a:p>
            <a:pPr algn="l">
              <a:spcAft>
                <a:spcPts val="400"/>
              </a:spcAft>
            </a:pPr>
            <a:r>
              <a:rPr sz="1000">
                <a:solidFill>
                  <a:srgbClr val="E6EAF0"/>
                </a:solidFill>
                <a:latin typeface="Helvetica Neue"/>
              </a:rPr>
              <a:t>• Rebuild orchestrator: queue stages, watch live log via SSE</a:t>
            </a:r>
          </a:p>
        </p:txBody>
      </p:sp>
      <p:sp>
        <p:nvSpPr>
          <p:cNvPr id="7" name="Rounded Rectangle 6"/>
          <p:cNvSpPr/>
          <p:nvPr/>
        </p:nvSpPr>
        <p:spPr>
          <a:xfrm>
            <a:off x="6126480" y="1463040"/>
            <a:ext cx="5623560" cy="23774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54480"/>
            <a:ext cx="5257800" cy="365760"/>
          </a:xfrm>
          <a:prstGeom prst="rect">
            <a:avLst/>
          </a:prstGeom>
          <a:noFill/>
        </p:spPr>
        <p:txBody>
          <a:bodyPr wrap="square" lIns="45720" rIns="45720">
            <a:spAutoFit/>
          </a:bodyPr>
          <a:lstStyle/>
          <a:p>
            <a:pPr algn="l"/>
            <a:r>
              <a:rPr sz="1400" b="1">
                <a:solidFill>
                  <a:srgbClr val="6EC1FF"/>
                </a:solidFill>
                <a:latin typeface="Helvetica Neue"/>
              </a:rPr>
              <a:t>Multi-dialect metadata DB</a:t>
            </a:r>
          </a:p>
        </p:txBody>
      </p:sp>
      <p:sp>
        <p:nvSpPr>
          <p:cNvPr id="9" name="TextBox 8"/>
          <p:cNvSpPr txBox="1"/>
          <p:nvPr/>
        </p:nvSpPr>
        <p:spPr>
          <a:xfrm>
            <a:off x="6309360" y="1920240"/>
            <a:ext cx="5257800" cy="1828800"/>
          </a:xfrm>
          <a:prstGeom prst="rect">
            <a:avLst/>
          </a:prstGeom>
          <a:noFill/>
        </p:spPr>
        <p:txBody>
          <a:bodyPr wrap="square">
            <a:spAutoFit/>
          </a:bodyPr>
          <a:lstStyle/>
          <a:p>
            <a:pPr algn="l">
              <a:spcAft>
                <a:spcPts val="400"/>
              </a:spcAft>
            </a:pPr>
            <a:r>
              <a:rPr sz="1000">
                <a:solidFill>
                  <a:srgbClr val="E6EAF0"/>
                </a:solidFill>
                <a:latin typeface="Helvetica Neue"/>
              </a:rPr>
              <a:t>• SQLite (default zero-infra), Postgres, MSSQL all supported</a:t>
            </a:r>
          </a:p>
          <a:p>
            <a:pPr algn="l">
              <a:spcAft>
                <a:spcPts val="400"/>
              </a:spcAft>
            </a:pPr>
            <a:r>
              <a:rPr sz="1000">
                <a:solidFill>
                  <a:srgbClr val="E6EAF0"/>
                </a:solidFill>
                <a:latin typeface="Helvetica Neue"/>
              </a:rPr>
              <a:t>• URL.create() escaping handles passwords with @ : / ?</a:t>
            </a:r>
          </a:p>
          <a:p>
            <a:pPr algn="l">
              <a:spcAft>
                <a:spcPts val="400"/>
              </a:spcAft>
            </a:pPr>
            <a:r>
              <a:rPr sz="1000">
                <a:solidFill>
                  <a:srgbClr val="E6EAF0"/>
                </a:solidFill>
                <a:latin typeface="Helvetica Neue"/>
              </a:rPr>
              <a:t>• Forward-only ALTER TABLE migrations for legacy installs</a:t>
            </a:r>
          </a:p>
          <a:p>
            <a:pPr algn="l">
              <a:spcAft>
                <a:spcPts val="400"/>
              </a:spcAft>
            </a:pPr>
            <a:r>
              <a:rPr sz="1000">
                <a:solidFill>
                  <a:srgbClr val="E6EAF0"/>
                </a:solidFill>
                <a:latin typeface="Helvetica Neue"/>
              </a:rPr>
              <a:t>• Password redacted from driver error responses</a:t>
            </a:r>
          </a:p>
        </p:txBody>
      </p:sp>
      <p:sp>
        <p:nvSpPr>
          <p:cNvPr id="10" name="Rounded Rectangle 9"/>
          <p:cNvSpPr/>
          <p:nvPr/>
        </p:nvSpPr>
        <p:spPr>
          <a:xfrm>
            <a:off x="457200" y="3931920"/>
            <a:ext cx="5623560" cy="23774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023360"/>
            <a:ext cx="5257800" cy="365760"/>
          </a:xfrm>
          <a:prstGeom prst="rect">
            <a:avLst/>
          </a:prstGeom>
          <a:noFill/>
        </p:spPr>
        <p:txBody>
          <a:bodyPr wrap="square" lIns="45720" rIns="45720">
            <a:spAutoFit/>
          </a:bodyPr>
          <a:lstStyle/>
          <a:p>
            <a:pPr algn="l"/>
            <a:r>
              <a:rPr sz="1400" b="1">
                <a:solidFill>
                  <a:srgbClr val="6EC1FF"/>
                </a:solidFill>
                <a:latin typeface="Helvetica Neue"/>
              </a:rPr>
              <a:t>Eval harness</a:t>
            </a:r>
          </a:p>
        </p:txBody>
      </p:sp>
      <p:sp>
        <p:nvSpPr>
          <p:cNvPr id="12" name="TextBox 11"/>
          <p:cNvSpPr txBox="1"/>
          <p:nvPr/>
        </p:nvSpPr>
        <p:spPr>
          <a:xfrm>
            <a:off x="640080" y="4389120"/>
            <a:ext cx="5257800" cy="1828800"/>
          </a:xfrm>
          <a:prstGeom prst="rect">
            <a:avLst/>
          </a:prstGeom>
          <a:noFill/>
        </p:spPr>
        <p:txBody>
          <a:bodyPr wrap="square">
            <a:spAutoFit/>
          </a:bodyPr>
          <a:lstStyle/>
          <a:p>
            <a:pPr algn="l">
              <a:spcAft>
                <a:spcPts val="400"/>
              </a:spcAft>
            </a:pPr>
            <a:r>
              <a:rPr sz="1000">
                <a:solidFill>
                  <a:srgbClr val="E6EAF0"/>
                </a:solidFill>
                <a:latin typeface="Helvetica Neue"/>
              </a:rPr>
              <a:t>• Gold-question suite with JSON + Markdown reports</a:t>
            </a:r>
          </a:p>
          <a:p>
            <a:pPr algn="l">
              <a:spcAft>
                <a:spcPts val="400"/>
              </a:spcAft>
            </a:pPr>
            <a:r>
              <a:rPr sz="1000">
                <a:solidFill>
                  <a:srgbClr val="E6EAF0"/>
                </a:solidFill>
                <a:latin typeface="Helvetica Neue"/>
              </a:rPr>
              <a:t>• Schema-hit, join-hit, descriptor-leakage, BLEU, exact-match metrics</a:t>
            </a:r>
          </a:p>
          <a:p>
            <a:pPr algn="l">
              <a:spcAft>
                <a:spcPts val="400"/>
              </a:spcAft>
            </a:pPr>
            <a:r>
              <a:rPr sz="1000">
                <a:solidFill>
                  <a:srgbClr val="E6EAF0"/>
                </a:solidFill>
                <a:latin typeface="Helvetica Neue"/>
              </a:rPr>
              <a:t>• Per-build comparison so regressions surface immediately</a:t>
            </a:r>
          </a:p>
          <a:p>
            <a:pPr algn="l">
              <a:spcAft>
                <a:spcPts val="400"/>
              </a:spcAft>
            </a:pPr>
            <a:r>
              <a:rPr sz="1000">
                <a:solidFill>
                  <a:srgbClr val="E6EAF0"/>
                </a:solidFill>
                <a:latin typeface="Helvetica Neue"/>
              </a:rPr>
              <a:t>• CI gate hook in place; expanding to 100 questions for v0.9</a:t>
            </a:r>
          </a:p>
        </p:txBody>
      </p:sp>
      <p:sp>
        <p:nvSpPr>
          <p:cNvPr id="13" name="Rounded Rectangle 12"/>
          <p:cNvSpPr/>
          <p:nvPr/>
        </p:nvSpPr>
        <p:spPr>
          <a:xfrm>
            <a:off x="6126480" y="3931920"/>
            <a:ext cx="5623560" cy="23774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023360"/>
            <a:ext cx="5257800" cy="365760"/>
          </a:xfrm>
          <a:prstGeom prst="rect">
            <a:avLst/>
          </a:prstGeom>
          <a:noFill/>
        </p:spPr>
        <p:txBody>
          <a:bodyPr wrap="square" lIns="45720" rIns="45720">
            <a:spAutoFit/>
          </a:bodyPr>
          <a:lstStyle/>
          <a:p>
            <a:pPr algn="l"/>
            <a:r>
              <a:rPr sz="1400" b="1">
                <a:solidFill>
                  <a:srgbClr val="6EC1FF"/>
                </a:solidFill>
                <a:latin typeface="Helvetica Neue"/>
              </a:rPr>
              <a:t>Zero-infra demo target</a:t>
            </a:r>
          </a:p>
        </p:txBody>
      </p:sp>
      <p:sp>
        <p:nvSpPr>
          <p:cNvPr id="15" name="TextBox 14"/>
          <p:cNvSpPr txBox="1"/>
          <p:nvPr/>
        </p:nvSpPr>
        <p:spPr>
          <a:xfrm>
            <a:off x="6309360" y="4389120"/>
            <a:ext cx="5257800" cy="1828800"/>
          </a:xfrm>
          <a:prstGeom prst="rect">
            <a:avLst/>
          </a:prstGeom>
          <a:noFill/>
        </p:spPr>
        <p:txBody>
          <a:bodyPr wrap="square">
            <a:spAutoFit/>
          </a:bodyPr>
          <a:lstStyle/>
          <a:p>
            <a:pPr algn="l">
              <a:spcAft>
                <a:spcPts val="400"/>
              </a:spcAft>
            </a:pPr>
            <a:r>
              <a:rPr sz="1000">
                <a:solidFill>
                  <a:srgbClr val="E6EAF0"/>
                </a:solidFill>
                <a:latin typeface="Helvetica Neue"/>
              </a:rPr>
              <a:t>• sample_demo.sqlite shipped with the repo (Ed-Fi-shaped, ~70 rows)</a:t>
            </a:r>
          </a:p>
          <a:p>
            <a:pPr algn="l">
              <a:spcAft>
                <a:spcPts val="400"/>
              </a:spcAft>
            </a:pPr>
            <a:r>
              <a:rPr sz="1000">
                <a:solidFill>
                  <a:srgbClr val="E6EAF0"/>
                </a:solidFill>
                <a:latin typeface="Helvetica Neue"/>
              </a:rPr>
              <a:t>• git clone + text2sql serve works without an operator-supplied DB</a:t>
            </a:r>
          </a:p>
          <a:p>
            <a:pPr algn="l">
              <a:spcAft>
                <a:spcPts val="400"/>
              </a:spcAft>
            </a:pPr>
            <a:r>
              <a:rPr sz="1000">
                <a:solidFill>
                  <a:srgbClr val="E6EAF0"/>
                </a:solidFill>
                <a:latin typeface="Helvetica Neue"/>
              </a:rPr>
              <a:t>• Reflection picks up unknown tables on operator-supplied DBs</a:t>
            </a:r>
          </a:p>
          <a:p>
            <a:pPr algn="l">
              <a:spcAft>
                <a:spcPts val="400"/>
              </a:spcAft>
            </a:pPr>
            <a:r>
              <a:rPr sz="1000">
                <a:solidFill>
                  <a:srgbClr val="E6EAF0"/>
                </a:solidFill>
                <a:latin typeface="Helvetica Neue"/>
              </a:rPr>
              <a:t>• Onboarding banner walks new users to first query</a:t>
            </a:r>
          </a:p>
        </p:txBody>
      </p:sp>
      <p:sp>
        <p:nvSpPr>
          <p:cNvPr id="16" name="TextBox 15"/>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Operations · Settings + Multi-dialect + Eval + Demo target</a:t>
            </a:r>
          </a:p>
        </p:txBody>
      </p:sp>
      <p:sp>
        <p:nvSpPr>
          <p:cNvPr id="17" name="TextBox 16"/>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All four committed and tested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What ships in the v0.9 release</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6 working weeks of focused polish · then tag and announce</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274320" cy="274320"/>
          </a:xfrm>
          <a:prstGeom prst="rect">
            <a:avLst/>
          </a:prstGeom>
          <a:noFill/>
        </p:spPr>
        <p:txBody>
          <a:bodyPr wrap="square" lIns="45720" rIns="45720">
            <a:spAutoFit/>
          </a:bodyPr>
          <a:lstStyle/>
          <a:p>
            <a:pPr algn="l"/>
            <a:r>
              <a:rPr sz="1800" b="1">
                <a:solidFill>
                  <a:srgbClr val="F2B857"/>
                </a:solidFill>
                <a:latin typeface="Helvetica Neue"/>
              </a:rPr>
              <a:t>●</a:t>
            </a:r>
          </a:p>
        </p:txBody>
      </p:sp>
      <p:sp>
        <p:nvSpPr>
          <p:cNvPr id="6" name="TextBox 5"/>
          <p:cNvSpPr txBox="1"/>
          <p:nvPr/>
        </p:nvSpPr>
        <p:spPr>
          <a:xfrm>
            <a:off x="960120" y="1600200"/>
            <a:ext cx="10698480" cy="274320"/>
          </a:xfrm>
          <a:prstGeom prst="rect">
            <a:avLst/>
          </a:prstGeom>
          <a:noFill/>
        </p:spPr>
        <p:txBody>
          <a:bodyPr wrap="square" lIns="45720" rIns="45720">
            <a:spAutoFit/>
          </a:bodyPr>
          <a:lstStyle/>
          <a:p>
            <a:pPr algn="l"/>
            <a:r>
              <a:rPr sz="1300" b="1">
                <a:solidFill>
                  <a:srgbClr val="E6EAF0"/>
                </a:solidFill>
                <a:latin typeface="Helvetica Neue"/>
              </a:rPr>
              <a:t>Auto sub-clustering (Leiden)</a:t>
            </a:r>
          </a:p>
        </p:txBody>
      </p:sp>
      <p:sp>
        <p:nvSpPr>
          <p:cNvPr id="7" name="TextBox 6"/>
          <p:cNvSpPr txBox="1"/>
          <p:nvPr/>
        </p:nvSpPr>
        <p:spPr>
          <a:xfrm>
            <a:off x="960120" y="1892807"/>
            <a:ext cx="10698480" cy="640080"/>
          </a:xfrm>
          <a:prstGeom prst="rect">
            <a:avLst/>
          </a:prstGeom>
          <a:noFill/>
        </p:spPr>
        <p:txBody>
          <a:bodyPr wrap="square" lIns="45720" rIns="45720">
            <a:spAutoFit/>
          </a:bodyPr>
          <a:lstStyle/>
          <a:p>
            <a:pPr algn="l"/>
            <a:r>
              <a:rPr sz="1100" b="0">
                <a:solidFill>
                  <a:srgbClr val="8A95A5"/>
                </a:solidFill>
                <a:latin typeface="Helvetica Neue"/>
              </a:rPr>
              <a:t>Refines oversize Ed-Fi domains (Student, Assessment, Discipline) into 8–20-table sub-clusters. Today: static taxonomy works. Next: sharper retrieval inside the heaviest domains.</a:t>
            </a:r>
          </a:p>
        </p:txBody>
      </p:sp>
      <p:sp>
        <p:nvSpPr>
          <p:cNvPr id="8" name="TextBox 7"/>
          <p:cNvSpPr txBox="1"/>
          <p:nvPr/>
        </p:nvSpPr>
        <p:spPr>
          <a:xfrm>
            <a:off x="640080" y="2560320"/>
            <a:ext cx="274320" cy="274320"/>
          </a:xfrm>
          <a:prstGeom prst="rect">
            <a:avLst/>
          </a:prstGeom>
          <a:noFill/>
        </p:spPr>
        <p:txBody>
          <a:bodyPr wrap="square" lIns="45720" rIns="45720">
            <a:spAutoFit/>
          </a:bodyPr>
          <a:lstStyle/>
          <a:p>
            <a:pPr algn="l"/>
            <a:r>
              <a:rPr sz="1800" b="1">
                <a:solidFill>
                  <a:srgbClr val="F2B857"/>
                </a:solidFill>
                <a:latin typeface="Helvetica Neue"/>
              </a:rPr>
              <a:t>●</a:t>
            </a:r>
          </a:p>
        </p:txBody>
      </p:sp>
      <p:sp>
        <p:nvSpPr>
          <p:cNvPr id="9" name="TextBox 8"/>
          <p:cNvSpPr txBox="1"/>
          <p:nvPr/>
        </p:nvSpPr>
        <p:spPr>
          <a:xfrm>
            <a:off x="960120" y="2560320"/>
            <a:ext cx="10698480" cy="274320"/>
          </a:xfrm>
          <a:prstGeom prst="rect">
            <a:avLst/>
          </a:prstGeom>
          <a:noFill/>
        </p:spPr>
        <p:txBody>
          <a:bodyPr wrap="square" lIns="45720" rIns="45720">
            <a:spAutoFit/>
          </a:bodyPr>
          <a:lstStyle/>
          <a:p>
            <a:pPr algn="l"/>
            <a:r>
              <a:rPr sz="1300" b="1">
                <a:solidFill>
                  <a:srgbClr val="E6EAF0"/>
                </a:solidFill>
                <a:latin typeface="Helvetica Neue"/>
              </a:rPr>
              <a:t>Multi-provider regression matrix</a:t>
            </a:r>
          </a:p>
        </p:txBody>
      </p:sp>
      <p:sp>
        <p:nvSpPr>
          <p:cNvPr id="10" name="TextBox 9"/>
          <p:cNvSpPr txBox="1"/>
          <p:nvPr/>
        </p:nvSpPr>
        <p:spPr>
          <a:xfrm>
            <a:off x="960120" y="2852927"/>
            <a:ext cx="10698480" cy="640080"/>
          </a:xfrm>
          <a:prstGeom prst="rect">
            <a:avLst/>
          </a:prstGeom>
          <a:noFill/>
        </p:spPr>
        <p:txBody>
          <a:bodyPr wrap="square" lIns="45720" rIns="45720">
            <a:spAutoFit/>
          </a:bodyPr>
          <a:lstStyle/>
          <a:p>
            <a:pPr algn="l"/>
            <a:r>
              <a:rPr sz="1100" b="0">
                <a:solidFill>
                  <a:srgbClr val="8A95A5"/>
                </a:solidFill>
                <a:latin typeface="Helvetica Neue"/>
              </a:rPr>
              <a:t>All 5 LLM providers + 4 embedding providers wired. Matrix expands to test every consumer (chat, query, eval, agent) against every provider on every supported dialect.</a:t>
            </a:r>
          </a:p>
        </p:txBody>
      </p:sp>
      <p:sp>
        <p:nvSpPr>
          <p:cNvPr id="11" name="TextBox 10"/>
          <p:cNvSpPr txBox="1"/>
          <p:nvPr/>
        </p:nvSpPr>
        <p:spPr>
          <a:xfrm>
            <a:off x="640080" y="3520439"/>
            <a:ext cx="274320" cy="274320"/>
          </a:xfrm>
          <a:prstGeom prst="rect">
            <a:avLst/>
          </a:prstGeom>
          <a:noFill/>
        </p:spPr>
        <p:txBody>
          <a:bodyPr wrap="square" lIns="45720" rIns="45720">
            <a:spAutoFit/>
          </a:bodyPr>
          <a:lstStyle/>
          <a:p>
            <a:pPr algn="l"/>
            <a:r>
              <a:rPr sz="1800" b="1">
                <a:solidFill>
                  <a:srgbClr val="F2B857"/>
                </a:solidFill>
                <a:latin typeface="Helvetica Neue"/>
              </a:rPr>
              <a:t>●</a:t>
            </a:r>
          </a:p>
        </p:txBody>
      </p:sp>
      <p:sp>
        <p:nvSpPr>
          <p:cNvPr id="12" name="TextBox 11"/>
          <p:cNvSpPr txBox="1"/>
          <p:nvPr/>
        </p:nvSpPr>
        <p:spPr>
          <a:xfrm>
            <a:off x="960120" y="3520439"/>
            <a:ext cx="10698480" cy="274320"/>
          </a:xfrm>
          <a:prstGeom prst="rect">
            <a:avLst/>
          </a:prstGeom>
          <a:noFill/>
        </p:spPr>
        <p:txBody>
          <a:bodyPr wrap="square" lIns="45720" rIns="45720">
            <a:spAutoFit/>
          </a:bodyPr>
          <a:lstStyle/>
          <a:p>
            <a:pPr algn="l"/>
            <a:r>
              <a:rPr sz="1300" b="1">
                <a:solidFill>
                  <a:srgbClr val="E6EAF0"/>
                </a:solidFill>
                <a:latin typeface="Helvetica Neue"/>
              </a:rPr>
              <a:t>Agentic polish</a:t>
            </a:r>
          </a:p>
        </p:txBody>
      </p:sp>
      <p:sp>
        <p:nvSpPr>
          <p:cNvPr id="13" name="TextBox 12"/>
          <p:cNvSpPr txBox="1"/>
          <p:nvPr/>
        </p:nvSpPr>
        <p:spPr>
          <a:xfrm>
            <a:off x="960120" y="3813048"/>
            <a:ext cx="10698480" cy="640080"/>
          </a:xfrm>
          <a:prstGeom prst="rect">
            <a:avLst/>
          </a:prstGeom>
          <a:noFill/>
        </p:spPr>
        <p:txBody>
          <a:bodyPr wrap="square" lIns="45720" rIns="45720">
            <a:spAutoFit/>
          </a:bodyPr>
          <a:lstStyle/>
          <a:p>
            <a:pPr algn="l"/>
            <a:r>
              <a:rPr sz="1100" b="0">
                <a:solidFill>
                  <a:srgbClr val="8A95A5"/>
                </a:solidFill>
                <a:latin typeface="Helvetica Neue"/>
              </a:rPr>
              <a:t>Tool-call reliability under streaming, richer agent tools (chart export, eval drilldown), smoother conversation list UX, retry on transient provider errors.</a:t>
            </a:r>
          </a:p>
        </p:txBody>
      </p:sp>
      <p:sp>
        <p:nvSpPr>
          <p:cNvPr id="14" name="TextBox 13"/>
          <p:cNvSpPr txBox="1"/>
          <p:nvPr/>
        </p:nvSpPr>
        <p:spPr>
          <a:xfrm>
            <a:off x="640080" y="4480559"/>
            <a:ext cx="274320" cy="274320"/>
          </a:xfrm>
          <a:prstGeom prst="rect">
            <a:avLst/>
          </a:prstGeom>
          <a:noFill/>
        </p:spPr>
        <p:txBody>
          <a:bodyPr wrap="square" lIns="45720" rIns="45720">
            <a:spAutoFit/>
          </a:bodyPr>
          <a:lstStyle/>
          <a:p>
            <a:pPr algn="l"/>
            <a:r>
              <a:rPr sz="1800" b="1">
                <a:solidFill>
                  <a:srgbClr val="E56B6B"/>
                </a:solidFill>
                <a:latin typeface="Helvetica Neue"/>
              </a:rPr>
              <a:t>●</a:t>
            </a:r>
          </a:p>
        </p:txBody>
      </p:sp>
      <p:sp>
        <p:nvSpPr>
          <p:cNvPr id="15" name="TextBox 14"/>
          <p:cNvSpPr txBox="1"/>
          <p:nvPr/>
        </p:nvSpPr>
        <p:spPr>
          <a:xfrm>
            <a:off x="960120" y="4480559"/>
            <a:ext cx="10698480" cy="274320"/>
          </a:xfrm>
          <a:prstGeom prst="rect">
            <a:avLst/>
          </a:prstGeom>
          <a:noFill/>
        </p:spPr>
        <p:txBody>
          <a:bodyPr wrap="square" lIns="45720" rIns="45720">
            <a:spAutoFit/>
          </a:bodyPr>
          <a:lstStyle/>
          <a:p>
            <a:pPr algn="l"/>
            <a:r>
              <a:rPr sz="1300" b="1">
                <a:solidFill>
                  <a:srgbClr val="E6EAF0"/>
                </a:solidFill>
                <a:latin typeface="Helvetica Neue"/>
              </a:rPr>
              <a:t>Observability (OTel + Prometheus)</a:t>
            </a:r>
          </a:p>
        </p:txBody>
      </p:sp>
      <p:sp>
        <p:nvSpPr>
          <p:cNvPr id="16" name="TextBox 15"/>
          <p:cNvSpPr txBox="1"/>
          <p:nvPr/>
        </p:nvSpPr>
        <p:spPr>
          <a:xfrm>
            <a:off x="960120" y="4773168"/>
            <a:ext cx="10698480" cy="640080"/>
          </a:xfrm>
          <a:prstGeom prst="rect">
            <a:avLst/>
          </a:prstGeom>
          <a:noFill/>
        </p:spPr>
        <p:txBody>
          <a:bodyPr wrap="square" lIns="45720" rIns="45720">
            <a:spAutoFit/>
          </a:bodyPr>
          <a:lstStyle/>
          <a:p>
            <a:pPr algn="l"/>
            <a:r>
              <a:rPr sz="1100" b="0">
                <a:solidFill>
                  <a:srgbClr val="8A95A5"/>
                </a:solidFill>
                <a:latin typeface="Helvetica Neue"/>
              </a:rPr>
              <a:t>Per-stage tracing spans + counters + Grafana dashboards. Logging is in place today; spans and metrics are next. May slip to v0.10 if matrix work runs long.</a:t>
            </a:r>
          </a:p>
        </p:txBody>
      </p:sp>
      <p:sp>
        <p:nvSpPr>
          <p:cNvPr id="17" name="TextBox 16"/>
          <p:cNvSpPr txBox="1"/>
          <p:nvPr/>
        </p:nvSpPr>
        <p:spPr>
          <a:xfrm>
            <a:off x="640080" y="5440679"/>
            <a:ext cx="274320" cy="274320"/>
          </a:xfrm>
          <a:prstGeom prst="rect">
            <a:avLst/>
          </a:prstGeom>
          <a:noFill/>
        </p:spPr>
        <p:txBody>
          <a:bodyPr wrap="square" lIns="45720" rIns="45720">
            <a:spAutoFit/>
          </a:bodyPr>
          <a:lstStyle/>
          <a:p>
            <a:pPr algn="l"/>
            <a:r>
              <a:rPr sz="1800" b="1">
                <a:solidFill>
                  <a:srgbClr val="F2B857"/>
                </a:solidFill>
                <a:latin typeface="Helvetica Neue"/>
              </a:rPr>
              <a:t>●</a:t>
            </a:r>
          </a:p>
        </p:txBody>
      </p:sp>
      <p:sp>
        <p:nvSpPr>
          <p:cNvPr id="18" name="TextBox 17"/>
          <p:cNvSpPr txBox="1"/>
          <p:nvPr/>
        </p:nvSpPr>
        <p:spPr>
          <a:xfrm>
            <a:off x="960120" y="5440679"/>
            <a:ext cx="10698480" cy="274320"/>
          </a:xfrm>
          <a:prstGeom prst="rect">
            <a:avLst/>
          </a:prstGeom>
          <a:noFill/>
        </p:spPr>
        <p:txBody>
          <a:bodyPr wrap="square" lIns="45720" rIns="45720">
            <a:spAutoFit/>
          </a:bodyPr>
          <a:lstStyle/>
          <a:p>
            <a:pPr algn="l"/>
            <a:r>
              <a:rPr sz="1300" b="1">
                <a:solidFill>
                  <a:srgbClr val="E6EAF0"/>
                </a:solidFill>
                <a:latin typeface="Helvetica Neue"/>
              </a:rPr>
              <a:t>Recorded demo + release cut</a:t>
            </a:r>
          </a:p>
        </p:txBody>
      </p:sp>
      <p:sp>
        <p:nvSpPr>
          <p:cNvPr id="19" name="TextBox 18"/>
          <p:cNvSpPr txBox="1"/>
          <p:nvPr/>
        </p:nvSpPr>
        <p:spPr>
          <a:xfrm>
            <a:off x="960120" y="5733288"/>
            <a:ext cx="10698480" cy="640080"/>
          </a:xfrm>
          <a:prstGeom prst="rect">
            <a:avLst/>
          </a:prstGeom>
          <a:noFill/>
        </p:spPr>
        <p:txBody>
          <a:bodyPr wrap="square" lIns="45720" rIns="45720">
            <a:spAutoFit/>
          </a:bodyPr>
          <a:lstStyle/>
          <a:p>
            <a:pPr algn="l"/>
            <a:r>
              <a:rPr sz="1100" b="0">
                <a:solidFill>
                  <a:srgbClr val="8A95A5"/>
                </a:solidFill>
                <a:latin typeface="Helvetica Neue"/>
              </a:rPr>
              <a:t>End-to-end recording on a clean Mac and Windows machine; v0.9 tag pushed Fri June 13; release notes + operator runbook + provider-swap guide finalized.</a:t>
            </a:r>
          </a:p>
        </p:txBody>
      </p:sp>
      <p:sp>
        <p:nvSpPr>
          <p:cNvPr id="20" name="TextBox 19"/>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Plan · Section 6</a:t>
            </a:r>
          </a:p>
        </p:txBody>
      </p:sp>
      <p:sp>
        <p:nvSpPr>
          <p:cNvPr id="21" name="TextBox 20"/>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Phased plan to v0.9</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Six working weeks · Apr 30 → Fri June 12 · release tag Fri June 13</a:t>
            </a:r>
          </a:p>
        </p:txBody>
      </p:sp>
      <p:sp>
        <p:nvSpPr>
          <p:cNvPr id="4" name="Rounded Rectangle 3"/>
          <p:cNvSpPr/>
          <p:nvPr/>
        </p:nvSpPr>
        <p:spPr>
          <a:xfrm>
            <a:off x="457200" y="1417320"/>
            <a:ext cx="11247120" cy="502920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1097280" cy="237744"/>
          </a:xfrm>
          <a:prstGeom prst="rect">
            <a:avLst/>
          </a:prstGeom>
          <a:noFill/>
        </p:spPr>
        <p:txBody>
          <a:bodyPr wrap="square" lIns="45720" rIns="45720">
            <a:spAutoFit/>
          </a:bodyPr>
          <a:lstStyle/>
          <a:p>
            <a:pPr algn="l"/>
            <a:r>
              <a:rPr sz="1100" b="1">
                <a:solidFill>
                  <a:srgbClr val="4AD09C"/>
                </a:solidFill>
                <a:latin typeface="Helvetica Neue"/>
              </a:rPr>
              <a:t>Week 1</a:t>
            </a:r>
          </a:p>
        </p:txBody>
      </p:sp>
      <p:sp>
        <p:nvSpPr>
          <p:cNvPr id="6" name="TextBox 5"/>
          <p:cNvSpPr txBox="1"/>
          <p:nvPr/>
        </p:nvSpPr>
        <p:spPr>
          <a:xfrm>
            <a:off x="1783080" y="1508760"/>
            <a:ext cx="1463040" cy="237744"/>
          </a:xfrm>
          <a:prstGeom prst="rect">
            <a:avLst/>
          </a:prstGeom>
          <a:noFill/>
        </p:spPr>
        <p:txBody>
          <a:bodyPr wrap="square" lIns="45720" rIns="45720">
            <a:spAutoFit/>
          </a:bodyPr>
          <a:lstStyle/>
          <a:p>
            <a:pPr algn="l"/>
            <a:r>
              <a:rPr sz="1000" b="0">
                <a:solidFill>
                  <a:srgbClr val="8A95A5"/>
                </a:solidFill>
                <a:latin typeface="Helvetica Neue"/>
              </a:rPr>
              <a:t>Apr 30 + May 4–8</a:t>
            </a:r>
          </a:p>
        </p:txBody>
      </p:sp>
      <p:sp>
        <p:nvSpPr>
          <p:cNvPr id="7" name="TextBox 6"/>
          <p:cNvSpPr txBox="1"/>
          <p:nvPr/>
        </p:nvSpPr>
        <p:spPr>
          <a:xfrm>
            <a:off x="3291840" y="1508760"/>
            <a:ext cx="8412480" cy="237744"/>
          </a:xfrm>
          <a:prstGeom prst="rect">
            <a:avLst/>
          </a:prstGeom>
          <a:noFill/>
        </p:spPr>
        <p:txBody>
          <a:bodyPr wrap="square" lIns="45720" rIns="45720">
            <a:spAutoFit/>
          </a:bodyPr>
          <a:lstStyle/>
          <a:p>
            <a:pPr algn="l"/>
            <a:r>
              <a:rPr sz="1100" b="1">
                <a:solidFill>
                  <a:srgbClr val="E6EAF0"/>
                </a:solidFill>
                <a:latin typeface="Helvetica Neue"/>
              </a:rPr>
              <a:t>Provider matrix + Leiden — kickoff</a:t>
            </a:r>
          </a:p>
        </p:txBody>
      </p:sp>
      <p:sp>
        <p:nvSpPr>
          <p:cNvPr id="8" name="TextBox 7"/>
          <p:cNvSpPr txBox="1"/>
          <p:nvPr/>
        </p:nvSpPr>
        <p:spPr>
          <a:xfrm>
            <a:off x="3291840" y="1682495"/>
            <a:ext cx="8412480" cy="201168"/>
          </a:xfrm>
          <a:prstGeom prst="rect">
            <a:avLst/>
          </a:prstGeom>
          <a:noFill/>
        </p:spPr>
        <p:txBody>
          <a:bodyPr wrap="square" lIns="45720" rIns="45720">
            <a:spAutoFit/>
          </a:bodyPr>
          <a:lstStyle/>
          <a:p>
            <a:pPr algn="l"/>
            <a:r>
              <a:rPr sz="900" b="0">
                <a:solidFill>
                  <a:srgbClr val="8A95A5"/>
                </a:solidFill>
                <a:latin typeface="Helvetica Neue"/>
              </a:rPr>
              <a:t>•  Lock matrix shape: 5 LLMs × 4 embeddings × 3 dialects × 4 consumers; CI fixtures</a:t>
            </a:r>
          </a:p>
        </p:txBody>
      </p:sp>
      <p:sp>
        <p:nvSpPr>
          <p:cNvPr id="9" name="TextBox 8"/>
          <p:cNvSpPr txBox="1"/>
          <p:nvPr/>
        </p:nvSpPr>
        <p:spPr>
          <a:xfrm>
            <a:off x="3291840" y="1856231"/>
            <a:ext cx="8412480" cy="201168"/>
          </a:xfrm>
          <a:prstGeom prst="rect">
            <a:avLst/>
          </a:prstGeom>
          <a:noFill/>
        </p:spPr>
        <p:txBody>
          <a:bodyPr wrap="square" lIns="45720" rIns="45720">
            <a:spAutoFit/>
          </a:bodyPr>
          <a:lstStyle/>
          <a:p>
            <a:pPr algn="l"/>
            <a:r>
              <a:rPr sz="900" b="0">
                <a:solidFill>
                  <a:srgbClr val="8A95A5"/>
                </a:solidFill>
                <a:latin typeface="Helvetica Neue"/>
              </a:rPr>
              <a:t>•  Run agent + chat against Anthropic, Bedrock first; patch translator gaps</a:t>
            </a:r>
          </a:p>
        </p:txBody>
      </p:sp>
      <p:sp>
        <p:nvSpPr>
          <p:cNvPr id="10" name="TextBox 9"/>
          <p:cNvSpPr txBox="1"/>
          <p:nvPr/>
        </p:nvSpPr>
        <p:spPr>
          <a:xfrm>
            <a:off x="3291840" y="2029967"/>
            <a:ext cx="8412480" cy="201168"/>
          </a:xfrm>
          <a:prstGeom prst="rect">
            <a:avLst/>
          </a:prstGeom>
          <a:noFill/>
        </p:spPr>
        <p:txBody>
          <a:bodyPr wrap="square" lIns="45720" rIns="45720">
            <a:spAutoFit/>
          </a:bodyPr>
          <a:lstStyle/>
          <a:p>
            <a:pPr algn="l"/>
            <a:r>
              <a:rPr sz="900" b="0">
                <a:solidFill>
                  <a:srgbClr val="8A95A5"/>
                </a:solidFill>
                <a:latin typeface="Helvetica Neue"/>
              </a:rPr>
              <a:t>•  Spike Leiden auto-clustering on oversize domains (Student / Assessment / Discipline)</a:t>
            </a:r>
          </a:p>
        </p:txBody>
      </p:sp>
      <p:sp>
        <p:nvSpPr>
          <p:cNvPr id="11" name="TextBox 10"/>
          <p:cNvSpPr txBox="1"/>
          <p:nvPr/>
        </p:nvSpPr>
        <p:spPr>
          <a:xfrm>
            <a:off x="3291840" y="2203703"/>
            <a:ext cx="8412480" cy="201168"/>
          </a:xfrm>
          <a:prstGeom prst="rect">
            <a:avLst/>
          </a:prstGeom>
          <a:noFill/>
        </p:spPr>
        <p:txBody>
          <a:bodyPr wrap="square" lIns="45720" rIns="45720">
            <a:spAutoFit/>
          </a:bodyPr>
          <a:lstStyle/>
          <a:p>
            <a:pPr algn="l"/>
            <a:r>
              <a:rPr sz="900" b="0">
                <a:solidFill>
                  <a:srgbClr val="8A95A5"/>
                </a:solidFill>
                <a:latin typeface="Helvetica Neue"/>
              </a:rPr>
              <a:t>•  Cluster-ID stability via Hungarian assignment across rebuilds</a:t>
            </a:r>
          </a:p>
        </p:txBody>
      </p:sp>
      <p:sp>
        <p:nvSpPr>
          <p:cNvPr id="12" name="TextBox 11"/>
          <p:cNvSpPr txBox="1"/>
          <p:nvPr/>
        </p:nvSpPr>
        <p:spPr>
          <a:xfrm>
            <a:off x="640080" y="2350008"/>
            <a:ext cx="1097280" cy="237744"/>
          </a:xfrm>
          <a:prstGeom prst="rect">
            <a:avLst/>
          </a:prstGeom>
          <a:noFill/>
        </p:spPr>
        <p:txBody>
          <a:bodyPr wrap="square" lIns="45720" rIns="45720">
            <a:spAutoFit/>
          </a:bodyPr>
          <a:lstStyle/>
          <a:p>
            <a:pPr algn="l"/>
            <a:r>
              <a:rPr sz="1100" b="1">
                <a:solidFill>
                  <a:srgbClr val="4AD09C"/>
                </a:solidFill>
                <a:latin typeface="Helvetica Neue"/>
              </a:rPr>
              <a:t>Week 2</a:t>
            </a:r>
          </a:p>
        </p:txBody>
      </p:sp>
      <p:sp>
        <p:nvSpPr>
          <p:cNvPr id="13" name="TextBox 12"/>
          <p:cNvSpPr txBox="1"/>
          <p:nvPr/>
        </p:nvSpPr>
        <p:spPr>
          <a:xfrm>
            <a:off x="1783080" y="2350008"/>
            <a:ext cx="1463040" cy="237744"/>
          </a:xfrm>
          <a:prstGeom prst="rect">
            <a:avLst/>
          </a:prstGeom>
          <a:noFill/>
        </p:spPr>
        <p:txBody>
          <a:bodyPr wrap="square" lIns="45720" rIns="45720">
            <a:spAutoFit/>
          </a:bodyPr>
          <a:lstStyle/>
          <a:p>
            <a:pPr algn="l"/>
            <a:r>
              <a:rPr sz="1000" b="0">
                <a:solidFill>
                  <a:srgbClr val="8A95A5"/>
                </a:solidFill>
                <a:latin typeface="Helvetica Neue"/>
              </a:rPr>
              <a:t>May 11–15</a:t>
            </a:r>
          </a:p>
        </p:txBody>
      </p:sp>
      <p:sp>
        <p:nvSpPr>
          <p:cNvPr id="14" name="TextBox 13"/>
          <p:cNvSpPr txBox="1"/>
          <p:nvPr/>
        </p:nvSpPr>
        <p:spPr>
          <a:xfrm>
            <a:off x="3291840" y="2350008"/>
            <a:ext cx="8412480" cy="237744"/>
          </a:xfrm>
          <a:prstGeom prst="rect">
            <a:avLst/>
          </a:prstGeom>
          <a:noFill/>
        </p:spPr>
        <p:txBody>
          <a:bodyPr wrap="square" lIns="45720" rIns="45720">
            <a:spAutoFit/>
          </a:bodyPr>
          <a:lstStyle/>
          <a:p>
            <a:pPr algn="l"/>
            <a:r>
              <a:rPr sz="1100" b="1">
                <a:solidFill>
                  <a:srgbClr val="E6EAF0"/>
                </a:solidFill>
                <a:latin typeface="Helvetica Neue"/>
              </a:rPr>
              <a:t>Provider matrix coverage + agentic polish</a:t>
            </a:r>
          </a:p>
        </p:txBody>
      </p:sp>
      <p:sp>
        <p:nvSpPr>
          <p:cNvPr id="15" name="TextBox 14"/>
          <p:cNvSpPr txBox="1"/>
          <p:nvPr/>
        </p:nvSpPr>
        <p:spPr>
          <a:xfrm>
            <a:off x="3291840" y="2523744"/>
            <a:ext cx="8412480" cy="201168"/>
          </a:xfrm>
          <a:prstGeom prst="rect">
            <a:avLst/>
          </a:prstGeom>
          <a:noFill/>
        </p:spPr>
        <p:txBody>
          <a:bodyPr wrap="square" lIns="45720" rIns="45720">
            <a:spAutoFit/>
          </a:bodyPr>
          <a:lstStyle/>
          <a:p>
            <a:pPr algn="l"/>
            <a:r>
              <a:rPr sz="900" b="0">
                <a:solidFill>
                  <a:srgbClr val="8A95A5"/>
                </a:solidFill>
                <a:latin typeface="Helvetica Neue"/>
              </a:rPr>
              <a:t>•  Add Azure OpenAI, OpenAI, OpenRouter to the matrix; capture per-provider regressions</a:t>
            </a:r>
          </a:p>
        </p:txBody>
      </p:sp>
      <p:sp>
        <p:nvSpPr>
          <p:cNvPr id="16" name="TextBox 15"/>
          <p:cNvSpPr txBox="1"/>
          <p:nvPr/>
        </p:nvSpPr>
        <p:spPr>
          <a:xfrm>
            <a:off x="3291840" y="2697479"/>
            <a:ext cx="8412480" cy="201168"/>
          </a:xfrm>
          <a:prstGeom prst="rect">
            <a:avLst/>
          </a:prstGeom>
          <a:noFill/>
        </p:spPr>
        <p:txBody>
          <a:bodyPr wrap="square" lIns="45720" rIns="45720">
            <a:spAutoFit/>
          </a:bodyPr>
          <a:lstStyle/>
          <a:p>
            <a:pPr algn="l"/>
            <a:r>
              <a:rPr sz="900" b="0">
                <a:solidFill>
                  <a:srgbClr val="8A95A5"/>
                </a:solidFill>
                <a:latin typeface="Helvetica Neue"/>
              </a:rPr>
              <a:t>•  Tool-call retries + structured failure surfaces in the agent loop</a:t>
            </a:r>
          </a:p>
        </p:txBody>
      </p:sp>
      <p:sp>
        <p:nvSpPr>
          <p:cNvPr id="17" name="TextBox 16"/>
          <p:cNvSpPr txBox="1"/>
          <p:nvPr/>
        </p:nvSpPr>
        <p:spPr>
          <a:xfrm>
            <a:off x="3291840" y="2871215"/>
            <a:ext cx="8412480" cy="201168"/>
          </a:xfrm>
          <a:prstGeom prst="rect">
            <a:avLst/>
          </a:prstGeom>
          <a:noFill/>
        </p:spPr>
        <p:txBody>
          <a:bodyPr wrap="square" lIns="45720" rIns="45720">
            <a:spAutoFit/>
          </a:bodyPr>
          <a:lstStyle/>
          <a:p>
            <a:pPr algn="l"/>
            <a:r>
              <a:rPr sz="900" b="0">
                <a:solidFill>
                  <a:srgbClr val="8A95A5"/>
                </a:solidFill>
                <a:latin typeface="Helvetica Neue"/>
              </a:rPr>
              <a:t>•  New agent tools: chart export, eval drilldown, conversation rename / archive</a:t>
            </a:r>
          </a:p>
        </p:txBody>
      </p:sp>
      <p:sp>
        <p:nvSpPr>
          <p:cNvPr id="18" name="TextBox 17"/>
          <p:cNvSpPr txBox="1"/>
          <p:nvPr/>
        </p:nvSpPr>
        <p:spPr>
          <a:xfrm>
            <a:off x="3291840" y="3044951"/>
            <a:ext cx="8412480" cy="201168"/>
          </a:xfrm>
          <a:prstGeom prst="rect">
            <a:avLst/>
          </a:prstGeom>
          <a:noFill/>
        </p:spPr>
        <p:txBody>
          <a:bodyPr wrap="square" lIns="45720" rIns="45720">
            <a:spAutoFit/>
          </a:bodyPr>
          <a:lstStyle/>
          <a:p>
            <a:pPr algn="l"/>
            <a:r>
              <a:rPr sz="900" b="0">
                <a:solidFill>
                  <a:srgbClr val="8A95A5"/>
                </a:solidFill>
                <a:latin typeface="Helvetica Neue"/>
              </a:rPr>
              <a:t>•  Streaming UX polish — token-level feedback under flaky network conditions</a:t>
            </a:r>
          </a:p>
        </p:txBody>
      </p:sp>
      <p:sp>
        <p:nvSpPr>
          <p:cNvPr id="19" name="TextBox 18"/>
          <p:cNvSpPr txBox="1"/>
          <p:nvPr/>
        </p:nvSpPr>
        <p:spPr>
          <a:xfrm>
            <a:off x="640080" y="3191256"/>
            <a:ext cx="1097280" cy="237744"/>
          </a:xfrm>
          <a:prstGeom prst="rect">
            <a:avLst/>
          </a:prstGeom>
          <a:noFill/>
        </p:spPr>
        <p:txBody>
          <a:bodyPr wrap="square" lIns="45720" rIns="45720">
            <a:spAutoFit/>
          </a:bodyPr>
          <a:lstStyle/>
          <a:p>
            <a:pPr algn="l"/>
            <a:r>
              <a:rPr sz="1100" b="1">
                <a:solidFill>
                  <a:srgbClr val="F2B857"/>
                </a:solidFill>
                <a:latin typeface="Helvetica Neue"/>
              </a:rPr>
              <a:t>Week 3</a:t>
            </a:r>
          </a:p>
        </p:txBody>
      </p:sp>
      <p:sp>
        <p:nvSpPr>
          <p:cNvPr id="20" name="TextBox 19"/>
          <p:cNvSpPr txBox="1"/>
          <p:nvPr/>
        </p:nvSpPr>
        <p:spPr>
          <a:xfrm>
            <a:off x="1783080" y="3191256"/>
            <a:ext cx="1463040" cy="237744"/>
          </a:xfrm>
          <a:prstGeom prst="rect">
            <a:avLst/>
          </a:prstGeom>
          <a:noFill/>
        </p:spPr>
        <p:txBody>
          <a:bodyPr wrap="square" lIns="45720" rIns="45720">
            <a:spAutoFit/>
          </a:bodyPr>
          <a:lstStyle/>
          <a:p>
            <a:pPr algn="l"/>
            <a:r>
              <a:rPr sz="1000" b="0">
                <a:solidFill>
                  <a:srgbClr val="8A95A5"/>
                </a:solidFill>
                <a:latin typeface="Helvetica Neue"/>
              </a:rPr>
              <a:t>May 18–22</a:t>
            </a:r>
          </a:p>
        </p:txBody>
      </p:sp>
      <p:sp>
        <p:nvSpPr>
          <p:cNvPr id="21" name="TextBox 20"/>
          <p:cNvSpPr txBox="1"/>
          <p:nvPr/>
        </p:nvSpPr>
        <p:spPr>
          <a:xfrm>
            <a:off x="3291840" y="3191256"/>
            <a:ext cx="8412480" cy="237744"/>
          </a:xfrm>
          <a:prstGeom prst="rect">
            <a:avLst/>
          </a:prstGeom>
          <a:noFill/>
        </p:spPr>
        <p:txBody>
          <a:bodyPr wrap="square" lIns="45720" rIns="45720">
            <a:spAutoFit/>
          </a:bodyPr>
          <a:lstStyle/>
          <a:p>
            <a:pPr algn="l"/>
            <a:r>
              <a:rPr sz="1100" b="1">
                <a:solidFill>
                  <a:srgbClr val="E6EAF0"/>
                </a:solidFill>
                <a:latin typeface="Helvetica Neue"/>
              </a:rPr>
              <a:t>Observability scaffolding</a:t>
            </a:r>
          </a:p>
        </p:txBody>
      </p:sp>
      <p:sp>
        <p:nvSpPr>
          <p:cNvPr id="22" name="TextBox 21"/>
          <p:cNvSpPr txBox="1"/>
          <p:nvPr/>
        </p:nvSpPr>
        <p:spPr>
          <a:xfrm>
            <a:off x="3291840" y="3364991"/>
            <a:ext cx="8412480" cy="201168"/>
          </a:xfrm>
          <a:prstGeom prst="rect">
            <a:avLst/>
          </a:prstGeom>
          <a:noFill/>
        </p:spPr>
        <p:txBody>
          <a:bodyPr wrap="square" lIns="45720" rIns="45720">
            <a:spAutoFit/>
          </a:bodyPr>
          <a:lstStyle/>
          <a:p>
            <a:pPr algn="l"/>
            <a:r>
              <a:rPr sz="900" b="0">
                <a:solidFill>
                  <a:srgbClr val="8A95A5"/>
                </a:solidFill>
                <a:latin typeface="Helvetica Neue"/>
              </a:rPr>
              <a:t>•  OpenTelemetry spans on every pipeline + agent stage; correlation IDs across services</a:t>
            </a:r>
          </a:p>
        </p:txBody>
      </p:sp>
      <p:sp>
        <p:nvSpPr>
          <p:cNvPr id="23" name="TextBox 22"/>
          <p:cNvSpPr txBox="1"/>
          <p:nvPr/>
        </p:nvSpPr>
        <p:spPr>
          <a:xfrm>
            <a:off x="3291840" y="3538727"/>
            <a:ext cx="8412480" cy="201168"/>
          </a:xfrm>
          <a:prstGeom prst="rect">
            <a:avLst/>
          </a:prstGeom>
          <a:noFill/>
        </p:spPr>
        <p:txBody>
          <a:bodyPr wrap="square" lIns="45720" rIns="45720">
            <a:spAutoFit/>
          </a:bodyPr>
          <a:lstStyle/>
          <a:p>
            <a:pPr algn="l"/>
            <a:r>
              <a:rPr sz="900" b="0">
                <a:solidFill>
                  <a:srgbClr val="8A95A5"/>
                </a:solidFill>
                <a:latin typeface="Helvetica Neue"/>
              </a:rPr>
              <a:t>•  Prometheus counters / histograms; Grafana dashboards in infra/grafana/</a:t>
            </a:r>
          </a:p>
        </p:txBody>
      </p:sp>
      <p:sp>
        <p:nvSpPr>
          <p:cNvPr id="24" name="TextBox 23"/>
          <p:cNvSpPr txBox="1"/>
          <p:nvPr/>
        </p:nvSpPr>
        <p:spPr>
          <a:xfrm>
            <a:off x="3291840" y="3712463"/>
            <a:ext cx="8412480" cy="201168"/>
          </a:xfrm>
          <a:prstGeom prst="rect">
            <a:avLst/>
          </a:prstGeom>
          <a:noFill/>
        </p:spPr>
        <p:txBody>
          <a:bodyPr wrap="square" lIns="45720" rIns="45720">
            <a:spAutoFit/>
          </a:bodyPr>
          <a:lstStyle/>
          <a:p>
            <a:pPr algn="l"/>
            <a:r>
              <a:rPr sz="900" b="0">
                <a:solidFill>
                  <a:srgbClr val="8A95A5"/>
                </a:solidFill>
                <a:latin typeface="Helvetica Neue"/>
              </a:rPr>
              <a:t>•  Structured logging context: request_id, provider, dialect, conversation_id</a:t>
            </a:r>
          </a:p>
        </p:txBody>
      </p:sp>
      <p:sp>
        <p:nvSpPr>
          <p:cNvPr id="25" name="TextBox 24"/>
          <p:cNvSpPr txBox="1"/>
          <p:nvPr/>
        </p:nvSpPr>
        <p:spPr>
          <a:xfrm>
            <a:off x="3291840" y="3886200"/>
            <a:ext cx="8412480" cy="201168"/>
          </a:xfrm>
          <a:prstGeom prst="rect">
            <a:avLst/>
          </a:prstGeom>
          <a:noFill/>
        </p:spPr>
        <p:txBody>
          <a:bodyPr wrap="square" lIns="45720" rIns="45720">
            <a:spAutoFit/>
          </a:bodyPr>
          <a:lstStyle/>
          <a:p>
            <a:pPr algn="l"/>
            <a:r>
              <a:rPr sz="900" b="0">
                <a:solidFill>
                  <a:srgbClr val="8A95A5"/>
                </a:solidFill>
                <a:latin typeface="Helvetica Neue"/>
              </a:rPr>
              <a:t>•  Stretch — slips to v0.10 without affecting the demo if the matrix runs long</a:t>
            </a:r>
          </a:p>
        </p:txBody>
      </p:sp>
      <p:sp>
        <p:nvSpPr>
          <p:cNvPr id="26" name="TextBox 25"/>
          <p:cNvSpPr txBox="1"/>
          <p:nvPr/>
        </p:nvSpPr>
        <p:spPr>
          <a:xfrm>
            <a:off x="640080" y="4032504"/>
            <a:ext cx="1097280" cy="237744"/>
          </a:xfrm>
          <a:prstGeom prst="rect">
            <a:avLst/>
          </a:prstGeom>
          <a:noFill/>
        </p:spPr>
        <p:txBody>
          <a:bodyPr wrap="square" lIns="45720" rIns="45720">
            <a:spAutoFit/>
          </a:bodyPr>
          <a:lstStyle/>
          <a:p>
            <a:pPr algn="l"/>
            <a:r>
              <a:rPr sz="1100" b="1">
                <a:solidFill>
                  <a:srgbClr val="4AD09C"/>
                </a:solidFill>
                <a:latin typeface="Helvetica Neue"/>
              </a:rPr>
              <a:t>Week 4</a:t>
            </a:r>
          </a:p>
        </p:txBody>
      </p:sp>
      <p:sp>
        <p:nvSpPr>
          <p:cNvPr id="27" name="TextBox 26"/>
          <p:cNvSpPr txBox="1"/>
          <p:nvPr/>
        </p:nvSpPr>
        <p:spPr>
          <a:xfrm>
            <a:off x="1783080" y="4032504"/>
            <a:ext cx="1463040" cy="237744"/>
          </a:xfrm>
          <a:prstGeom prst="rect">
            <a:avLst/>
          </a:prstGeom>
          <a:noFill/>
        </p:spPr>
        <p:txBody>
          <a:bodyPr wrap="square" lIns="45720" rIns="45720">
            <a:spAutoFit/>
          </a:bodyPr>
          <a:lstStyle/>
          <a:p>
            <a:pPr algn="l"/>
            <a:r>
              <a:rPr sz="1000" b="0">
                <a:solidFill>
                  <a:srgbClr val="8A95A5"/>
                </a:solidFill>
                <a:latin typeface="Helvetica Neue"/>
              </a:rPr>
              <a:t>May 25–29</a:t>
            </a:r>
          </a:p>
        </p:txBody>
      </p:sp>
      <p:sp>
        <p:nvSpPr>
          <p:cNvPr id="28" name="TextBox 27"/>
          <p:cNvSpPr txBox="1"/>
          <p:nvPr/>
        </p:nvSpPr>
        <p:spPr>
          <a:xfrm>
            <a:off x="3291840" y="4032504"/>
            <a:ext cx="8412480" cy="237744"/>
          </a:xfrm>
          <a:prstGeom prst="rect">
            <a:avLst/>
          </a:prstGeom>
          <a:noFill/>
        </p:spPr>
        <p:txBody>
          <a:bodyPr wrap="square" lIns="45720" rIns="45720">
            <a:spAutoFit/>
          </a:bodyPr>
          <a:lstStyle/>
          <a:p>
            <a:pPr algn="l"/>
            <a:r>
              <a:rPr sz="1100" b="1">
                <a:solidFill>
                  <a:srgbClr val="E6EAF0"/>
                </a:solidFill>
                <a:latin typeface="Helvetica Neue"/>
              </a:rPr>
              <a:t>Performance pass + eval suite expansion</a:t>
            </a:r>
          </a:p>
        </p:txBody>
      </p:sp>
      <p:sp>
        <p:nvSpPr>
          <p:cNvPr id="29" name="TextBox 28"/>
          <p:cNvSpPr txBox="1"/>
          <p:nvPr/>
        </p:nvSpPr>
        <p:spPr>
          <a:xfrm>
            <a:off x="3291840" y="4206240"/>
            <a:ext cx="8412480" cy="201168"/>
          </a:xfrm>
          <a:prstGeom prst="rect">
            <a:avLst/>
          </a:prstGeom>
          <a:noFill/>
        </p:spPr>
        <p:txBody>
          <a:bodyPr wrap="square" lIns="45720" rIns="45720">
            <a:spAutoFit/>
          </a:bodyPr>
          <a:lstStyle/>
          <a:p>
            <a:pPr algn="l"/>
            <a:r>
              <a:rPr sz="900" b="0">
                <a:solidFill>
                  <a:srgbClr val="8A95A5"/>
                </a:solidFill>
                <a:latin typeface="Helvetica Neue"/>
              </a:rPr>
              <a:t>•  Cache hot paths: APSP load, retrieval, gold-store ANN; meet p50/p95 budget</a:t>
            </a:r>
          </a:p>
        </p:txBody>
      </p:sp>
      <p:sp>
        <p:nvSpPr>
          <p:cNvPr id="30" name="TextBox 29"/>
          <p:cNvSpPr txBox="1"/>
          <p:nvPr/>
        </p:nvSpPr>
        <p:spPr>
          <a:xfrm>
            <a:off x="3291840" y="4379976"/>
            <a:ext cx="8412480" cy="201168"/>
          </a:xfrm>
          <a:prstGeom prst="rect">
            <a:avLst/>
          </a:prstGeom>
          <a:noFill/>
        </p:spPr>
        <p:txBody>
          <a:bodyPr wrap="square" lIns="45720" rIns="45720">
            <a:spAutoFit/>
          </a:bodyPr>
          <a:lstStyle/>
          <a:p>
            <a:pPr algn="l"/>
            <a:r>
              <a:rPr sz="900" b="0">
                <a:solidFill>
                  <a:srgbClr val="8A95A5"/>
                </a:solidFill>
                <a:latin typeface="Helvetica Neue"/>
              </a:rPr>
              <a:t>•  Per-user quota + rate limits; secret-leak scrubber on every error path</a:t>
            </a:r>
          </a:p>
        </p:txBody>
      </p:sp>
      <p:sp>
        <p:nvSpPr>
          <p:cNvPr id="31" name="TextBox 30"/>
          <p:cNvSpPr txBox="1"/>
          <p:nvPr/>
        </p:nvSpPr>
        <p:spPr>
          <a:xfrm>
            <a:off x="3291840" y="4553712"/>
            <a:ext cx="8412480" cy="201168"/>
          </a:xfrm>
          <a:prstGeom prst="rect">
            <a:avLst/>
          </a:prstGeom>
          <a:noFill/>
        </p:spPr>
        <p:txBody>
          <a:bodyPr wrap="square" lIns="45720" rIns="45720">
            <a:spAutoFit/>
          </a:bodyPr>
          <a:lstStyle/>
          <a:p>
            <a:pPr algn="l"/>
            <a:r>
              <a:rPr sz="900" b="0">
                <a:solidFill>
                  <a:srgbClr val="8A95A5"/>
                </a:solidFill>
                <a:latin typeface="Helvetica Neue"/>
              </a:rPr>
              <a:t>•  Expand gold-query suite from 50 → 100 questions; wire nightly CI gate</a:t>
            </a:r>
          </a:p>
        </p:txBody>
      </p:sp>
      <p:sp>
        <p:nvSpPr>
          <p:cNvPr id="32" name="TextBox 31"/>
          <p:cNvSpPr txBox="1"/>
          <p:nvPr/>
        </p:nvSpPr>
        <p:spPr>
          <a:xfrm>
            <a:off x="3291840" y="4727448"/>
            <a:ext cx="8412480" cy="201168"/>
          </a:xfrm>
          <a:prstGeom prst="rect">
            <a:avLst/>
          </a:prstGeom>
          <a:noFill/>
        </p:spPr>
        <p:txBody>
          <a:bodyPr wrap="square" lIns="45720" rIns="45720">
            <a:spAutoFit/>
          </a:bodyPr>
          <a:lstStyle/>
          <a:p>
            <a:pPr algn="l"/>
            <a:r>
              <a:rPr sz="900" b="0">
                <a:solidFill>
                  <a:srgbClr val="8A95A5"/>
                </a:solidFill>
                <a:latin typeface="Helvetica Neue"/>
              </a:rPr>
              <a:t>•  Eval Dashboard polish — per-build deltas, regression alerts, drilldown</a:t>
            </a:r>
          </a:p>
        </p:txBody>
      </p:sp>
      <p:sp>
        <p:nvSpPr>
          <p:cNvPr id="33" name="TextBox 32"/>
          <p:cNvSpPr txBox="1"/>
          <p:nvPr/>
        </p:nvSpPr>
        <p:spPr>
          <a:xfrm>
            <a:off x="640080" y="4873752"/>
            <a:ext cx="1097280" cy="237744"/>
          </a:xfrm>
          <a:prstGeom prst="rect">
            <a:avLst/>
          </a:prstGeom>
          <a:noFill/>
        </p:spPr>
        <p:txBody>
          <a:bodyPr wrap="square" lIns="45720" rIns="45720">
            <a:spAutoFit/>
          </a:bodyPr>
          <a:lstStyle/>
          <a:p>
            <a:pPr algn="l"/>
            <a:r>
              <a:rPr sz="1100" b="1">
                <a:solidFill>
                  <a:srgbClr val="4AD09C"/>
                </a:solidFill>
                <a:latin typeface="Helvetica Neue"/>
              </a:rPr>
              <a:t>Week 5</a:t>
            </a:r>
          </a:p>
        </p:txBody>
      </p:sp>
      <p:sp>
        <p:nvSpPr>
          <p:cNvPr id="34" name="TextBox 33"/>
          <p:cNvSpPr txBox="1"/>
          <p:nvPr/>
        </p:nvSpPr>
        <p:spPr>
          <a:xfrm>
            <a:off x="1783080" y="4873752"/>
            <a:ext cx="1463040" cy="237744"/>
          </a:xfrm>
          <a:prstGeom prst="rect">
            <a:avLst/>
          </a:prstGeom>
          <a:noFill/>
        </p:spPr>
        <p:txBody>
          <a:bodyPr wrap="square" lIns="45720" rIns="45720">
            <a:spAutoFit/>
          </a:bodyPr>
          <a:lstStyle/>
          <a:p>
            <a:pPr algn="l"/>
            <a:r>
              <a:rPr sz="1000" b="0">
                <a:solidFill>
                  <a:srgbClr val="8A95A5"/>
                </a:solidFill>
                <a:latin typeface="Helvetica Neue"/>
              </a:rPr>
              <a:t>Jun 1–5</a:t>
            </a:r>
          </a:p>
        </p:txBody>
      </p:sp>
      <p:sp>
        <p:nvSpPr>
          <p:cNvPr id="35" name="TextBox 34"/>
          <p:cNvSpPr txBox="1"/>
          <p:nvPr/>
        </p:nvSpPr>
        <p:spPr>
          <a:xfrm>
            <a:off x="3291840" y="4873752"/>
            <a:ext cx="8412480" cy="237744"/>
          </a:xfrm>
          <a:prstGeom prst="rect">
            <a:avLst/>
          </a:prstGeom>
          <a:noFill/>
        </p:spPr>
        <p:txBody>
          <a:bodyPr wrap="square" lIns="45720" rIns="45720">
            <a:spAutoFit/>
          </a:bodyPr>
          <a:lstStyle/>
          <a:p>
            <a:pPr algn="l"/>
            <a:r>
              <a:rPr sz="1100" b="1">
                <a:solidFill>
                  <a:srgbClr val="E6EAF0"/>
                </a:solidFill>
                <a:latin typeface="Helvetica Neue"/>
              </a:rPr>
              <a:t>Cross-platform smoke + documentation</a:t>
            </a:r>
          </a:p>
        </p:txBody>
      </p:sp>
      <p:sp>
        <p:nvSpPr>
          <p:cNvPr id="36" name="TextBox 35"/>
          <p:cNvSpPr txBox="1"/>
          <p:nvPr/>
        </p:nvSpPr>
        <p:spPr>
          <a:xfrm>
            <a:off x="3291840" y="5047488"/>
            <a:ext cx="8412480" cy="201168"/>
          </a:xfrm>
          <a:prstGeom prst="rect">
            <a:avLst/>
          </a:prstGeom>
          <a:noFill/>
        </p:spPr>
        <p:txBody>
          <a:bodyPr wrap="square" lIns="45720" rIns="45720">
            <a:spAutoFit/>
          </a:bodyPr>
          <a:lstStyle/>
          <a:p>
            <a:pPr algn="l"/>
            <a:r>
              <a:rPr sz="900" b="0">
                <a:solidFill>
                  <a:srgbClr val="8A95A5"/>
                </a:solidFill>
                <a:latin typeface="Helvetica Neue"/>
              </a:rPr>
              <a:t>•  Clean Windows 11 + macOS dry runs from git clone; capture install-time issues</a:t>
            </a:r>
          </a:p>
        </p:txBody>
      </p:sp>
      <p:sp>
        <p:nvSpPr>
          <p:cNvPr id="37" name="TextBox 36"/>
          <p:cNvSpPr txBox="1"/>
          <p:nvPr/>
        </p:nvSpPr>
        <p:spPr>
          <a:xfrm>
            <a:off x="3291840" y="5221224"/>
            <a:ext cx="8412480" cy="201168"/>
          </a:xfrm>
          <a:prstGeom prst="rect">
            <a:avLst/>
          </a:prstGeom>
          <a:noFill/>
        </p:spPr>
        <p:txBody>
          <a:bodyPr wrap="square" lIns="45720" rIns="45720">
            <a:spAutoFit/>
          </a:bodyPr>
          <a:lstStyle/>
          <a:p>
            <a:pPr algn="l"/>
            <a:r>
              <a:rPr sz="900" b="0">
                <a:solidFill>
                  <a:srgbClr val="8A95A5"/>
                </a:solidFill>
                <a:latin typeface="Helvetica Neue"/>
              </a:rPr>
              <a:t>•  Provider-swap drill: Anthropic → Bedrock → Azure mid-session without restart</a:t>
            </a:r>
          </a:p>
        </p:txBody>
      </p:sp>
      <p:sp>
        <p:nvSpPr>
          <p:cNvPr id="38" name="TextBox 37"/>
          <p:cNvSpPr txBox="1"/>
          <p:nvPr/>
        </p:nvSpPr>
        <p:spPr>
          <a:xfrm>
            <a:off x="3291840" y="5394960"/>
            <a:ext cx="8412480" cy="201168"/>
          </a:xfrm>
          <a:prstGeom prst="rect">
            <a:avLst/>
          </a:prstGeom>
          <a:noFill/>
        </p:spPr>
        <p:txBody>
          <a:bodyPr wrap="square" lIns="45720" rIns="45720">
            <a:spAutoFit/>
          </a:bodyPr>
          <a:lstStyle/>
          <a:p>
            <a:pPr algn="l"/>
            <a:r>
              <a:rPr sz="900" b="0">
                <a:solidFill>
                  <a:srgbClr val="8A95A5"/>
                </a:solidFill>
                <a:latin typeface="Helvetica Neue"/>
              </a:rPr>
              <a:t>•  Operator runbook, provider-swap guide, gold-curation guide — all finalized</a:t>
            </a:r>
          </a:p>
        </p:txBody>
      </p:sp>
      <p:sp>
        <p:nvSpPr>
          <p:cNvPr id="39" name="TextBox 38"/>
          <p:cNvSpPr txBox="1"/>
          <p:nvPr/>
        </p:nvSpPr>
        <p:spPr>
          <a:xfrm>
            <a:off x="3291840" y="5568696"/>
            <a:ext cx="8412480" cy="201168"/>
          </a:xfrm>
          <a:prstGeom prst="rect">
            <a:avLst/>
          </a:prstGeom>
          <a:noFill/>
        </p:spPr>
        <p:txBody>
          <a:bodyPr wrap="square" lIns="45720" rIns="45720">
            <a:spAutoFit/>
          </a:bodyPr>
          <a:lstStyle/>
          <a:p>
            <a:pPr algn="l"/>
            <a:r>
              <a:rPr sz="900" b="0">
                <a:solidFill>
                  <a:srgbClr val="8A95A5"/>
                </a:solidFill>
                <a:latin typeface="Helvetica Neue"/>
              </a:rPr>
              <a:t>•  Release notes draft against the v0.9 candidate</a:t>
            </a:r>
          </a:p>
        </p:txBody>
      </p:sp>
      <p:sp>
        <p:nvSpPr>
          <p:cNvPr id="40" name="TextBox 39"/>
          <p:cNvSpPr txBox="1"/>
          <p:nvPr/>
        </p:nvSpPr>
        <p:spPr>
          <a:xfrm>
            <a:off x="640080" y="5715000"/>
            <a:ext cx="1097280" cy="237744"/>
          </a:xfrm>
          <a:prstGeom prst="rect">
            <a:avLst/>
          </a:prstGeom>
          <a:noFill/>
        </p:spPr>
        <p:txBody>
          <a:bodyPr wrap="square" lIns="45720" rIns="45720">
            <a:spAutoFit/>
          </a:bodyPr>
          <a:lstStyle/>
          <a:p>
            <a:pPr algn="l"/>
            <a:r>
              <a:rPr sz="1100" b="1">
                <a:solidFill>
                  <a:srgbClr val="4AD09C"/>
                </a:solidFill>
                <a:latin typeface="Helvetica Neue"/>
              </a:rPr>
              <a:t>Week 6</a:t>
            </a:r>
          </a:p>
        </p:txBody>
      </p:sp>
      <p:sp>
        <p:nvSpPr>
          <p:cNvPr id="41" name="TextBox 40"/>
          <p:cNvSpPr txBox="1"/>
          <p:nvPr/>
        </p:nvSpPr>
        <p:spPr>
          <a:xfrm>
            <a:off x="1783080" y="5715000"/>
            <a:ext cx="1463040" cy="237744"/>
          </a:xfrm>
          <a:prstGeom prst="rect">
            <a:avLst/>
          </a:prstGeom>
          <a:noFill/>
        </p:spPr>
        <p:txBody>
          <a:bodyPr wrap="square" lIns="45720" rIns="45720">
            <a:spAutoFit/>
          </a:bodyPr>
          <a:lstStyle/>
          <a:p>
            <a:pPr algn="l"/>
            <a:r>
              <a:rPr sz="1000" b="0">
                <a:solidFill>
                  <a:srgbClr val="8A95A5"/>
                </a:solidFill>
                <a:latin typeface="Helvetica Neue"/>
              </a:rPr>
              <a:t>Jun 8–12</a:t>
            </a:r>
          </a:p>
        </p:txBody>
      </p:sp>
      <p:sp>
        <p:nvSpPr>
          <p:cNvPr id="42" name="TextBox 41"/>
          <p:cNvSpPr txBox="1"/>
          <p:nvPr/>
        </p:nvSpPr>
        <p:spPr>
          <a:xfrm>
            <a:off x="3291840" y="5715000"/>
            <a:ext cx="8412480" cy="237744"/>
          </a:xfrm>
          <a:prstGeom prst="rect">
            <a:avLst/>
          </a:prstGeom>
          <a:noFill/>
        </p:spPr>
        <p:txBody>
          <a:bodyPr wrap="square" lIns="45720" rIns="45720">
            <a:spAutoFit/>
          </a:bodyPr>
          <a:lstStyle/>
          <a:p>
            <a:pPr algn="l"/>
            <a:r>
              <a:rPr sz="1100" b="1">
                <a:solidFill>
                  <a:srgbClr val="E6EAF0"/>
                </a:solidFill>
                <a:latin typeface="Helvetica Neue"/>
              </a:rPr>
              <a:t>Recorded demo + release prep</a:t>
            </a:r>
          </a:p>
        </p:txBody>
      </p:sp>
      <p:sp>
        <p:nvSpPr>
          <p:cNvPr id="43" name="TextBox 42"/>
          <p:cNvSpPr txBox="1"/>
          <p:nvPr/>
        </p:nvSpPr>
        <p:spPr>
          <a:xfrm>
            <a:off x="3291840" y="5888736"/>
            <a:ext cx="8412480" cy="201168"/>
          </a:xfrm>
          <a:prstGeom prst="rect">
            <a:avLst/>
          </a:prstGeom>
          <a:noFill/>
        </p:spPr>
        <p:txBody>
          <a:bodyPr wrap="square" lIns="45720" rIns="45720">
            <a:spAutoFit/>
          </a:bodyPr>
          <a:lstStyle/>
          <a:p>
            <a:pPr algn="l"/>
            <a:r>
              <a:rPr sz="900" b="0">
                <a:solidFill>
                  <a:srgbClr val="8A95A5"/>
                </a:solidFill>
                <a:latin typeface="Helvetica Neue"/>
              </a:rPr>
              <a:t>•  Demo script: connect demo SQLite → ask question → chart + summary → switch DB</a:t>
            </a:r>
          </a:p>
        </p:txBody>
      </p:sp>
      <p:sp>
        <p:nvSpPr>
          <p:cNvPr id="44" name="TextBox 43"/>
          <p:cNvSpPr txBox="1"/>
          <p:nvPr/>
        </p:nvSpPr>
        <p:spPr>
          <a:xfrm>
            <a:off x="3291840" y="6062472"/>
            <a:ext cx="8412480" cy="201168"/>
          </a:xfrm>
          <a:prstGeom prst="rect">
            <a:avLst/>
          </a:prstGeom>
          <a:noFill/>
        </p:spPr>
        <p:txBody>
          <a:bodyPr wrap="square" lIns="45720" rIns="45720">
            <a:spAutoFit/>
          </a:bodyPr>
          <a:lstStyle/>
          <a:p>
            <a:pPr algn="l"/>
            <a:r>
              <a:rPr sz="900" b="0">
                <a:solidFill>
                  <a:srgbClr val="8A95A5"/>
                </a:solidFill>
                <a:latin typeface="Helvetica Neue"/>
              </a:rPr>
              <a:t>•  Re-record any segments where the live system stutters; caption + edit pass</a:t>
            </a:r>
          </a:p>
        </p:txBody>
      </p:sp>
      <p:sp>
        <p:nvSpPr>
          <p:cNvPr id="45" name="TextBox 44"/>
          <p:cNvSpPr txBox="1"/>
          <p:nvPr/>
        </p:nvSpPr>
        <p:spPr>
          <a:xfrm>
            <a:off x="3291840" y="6236208"/>
            <a:ext cx="8412480" cy="201168"/>
          </a:xfrm>
          <a:prstGeom prst="rect">
            <a:avLst/>
          </a:prstGeom>
          <a:noFill/>
        </p:spPr>
        <p:txBody>
          <a:bodyPr wrap="square" lIns="45720" rIns="45720">
            <a:spAutoFit/>
          </a:bodyPr>
          <a:lstStyle/>
          <a:p>
            <a:pPr algn="l"/>
            <a:r>
              <a:rPr sz="900" b="0">
                <a:solidFill>
                  <a:srgbClr val="8A95A5"/>
                </a:solidFill>
                <a:latin typeface="Helvetica Neue"/>
              </a:rPr>
              <a:t>•  Final eval gate against v0.9 RC; capture metrics for release notes</a:t>
            </a:r>
          </a:p>
        </p:txBody>
      </p:sp>
      <p:sp>
        <p:nvSpPr>
          <p:cNvPr id="46" name="TextBox 45"/>
          <p:cNvSpPr txBox="1"/>
          <p:nvPr/>
        </p:nvSpPr>
        <p:spPr>
          <a:xfrm>
            <a:off x="3291840" y="6409944"/>
            <a:ext cx="8412480" cy="201168"/>
          </a:xfrm>
          <a:prstGeom prst="rect">
            <a:avLst/>
          </a:prstGeom>
          <a:noFill/>
        </p:spPr>
        <p:txBody>
          <a:bodyPr wrap="square" lIns="45720" rIns="45720">
            <a:spAutoFit/>
          </a:bodyPr>
          <a:lstStyle/>
          <a:p>
            <a:pPr algn="l"/>
            <a:r>
              <a:rPr sz="900" b="0">
                <a:solidFill>
                  <a:srgbClr val="8A95A5"/>
                </a:solidFill>
                <a:latin typeface="Helvetica Neue"/>
              </a:rPr>
              <a:t>•  v0.9 release-candidate tagged + smoke-tested on clean machines</a:t>
            </a:r>
          </a:p>
        </p:txBody>
      </p:sp>
      <p:sp>
        <p:nvSpPr>
          <p:cNvPr id="47" name="TextBox 46"/>
          <p:cNvSpPr txBox="1"/>
          <p:nvPr/>
        </p:nvSpPr>
        <p:spPr>
          <a:xfrm>
            <a:off x="640080" y="6556248"/>
            <a:ext cx="1097280" cy="237744"/>
          </a:xfrm>
          <a:prstGeom prst="rect">
            <a:avLst/>
          </a:prstGeom>
          <a:noFill/>
        </p:spPr>
        <p:txBody>
          <a:bodyPr wrap="square" lIns="45720" rIns="45720">
            <a:spAutoFit/>
          </a:bodyPr>
          <a:lstStyle/>
          <a:p>
            <a:pPr algn="l"/>
            <a:r>
              <a:rPr sz="1100" b="1">
                <a:solidFill>
                  <a:srgbClr val="6EC1FF"/>
                </a:solidFill>
                <a:latin typeface="Helvetica Neue"/>
              </a:rPr>
              <a:t>Fri Jun 13</a:t>
            </a:r>
          </a:p>
        </p:txBody>
      </p:sp>
      <p:sp>
        <p:nvSpPr>
          <p:cNvPr id="48" name="TextBox 47"/>
          <p:cNvSpPr txBox="1"/>
          <p:nvPr/>
        </p:nvSpPr>
        <p:spPr>
          <a:xfrm>
            <a:off x="1783080" y="6556248"/>
            <a:ext cx="1463040" cy="237744"/>
          </a:xfrm>
          <a:prstGeom prst="rect">
            <a:avLst/>
          </a:prstGeom>
          <a:noFill/>
        </p:spPr>
        <p:txBody>
          <a:bodyPr wrap="square" lIns="45720" rIns="45720">
            <a:spAutoFit/>
          </a:bodyPr>
          <a:lstStyle/>
          <a:p>
            <a:pPr algn="l"/>
            <a:r>
              <a:rPr sz="1000" b="0">
                <a:solidFill>
                  <a:srgbClr val="8A95A5"/>
                </a:solidFill>
                <a:latin typeface="Helvetica Neue"/>
              </a:rPr>
              <a:t>Release day</a:t>
            </a:r>
          </a:p>
        </p:txBody>
      </p:sp>
      <p:sp>
        <p:nvSpPr>
          <p:cNvPr id="49" name="TextBox 48"/>
          <p:cNvSpPr txBox="1"/>
          <p:nvPr/>
        </p:nvSpPr>
        <p:spPr>
          <a:xfrm>
            <a:off x="3291840" y="6556248"/>
            <a:ext cx="8412480" cy="237744"/>
          </a:xfrm>
          <a:prstGeom prst="rect">
            <a:avLst/>
          </a:prstGeom>
          <a:noFill/>
        </p:spPr>
        <p:txBody>
          <a:bodyPr wrap="square" lIns="45720" rIns="45720">
            <a:spAutoFit/>
          </a:bodyPr>
          <a:lstStyle/>
          <a:p>
            <a:pPr algn="l"/>
            <a:r>
              <a:rPr sz="1100" b="1">
                <a:solidFill>
                  <a:srgbClr val="4AD09C"/>
                </a:solidFill>
                <a:latin typeface="Helvetica Neue"/>
              </a:rPr>
              <a:t>v0.9 RELEASE</a:t>
            </a:r>
          </a:p>
        </p:txBody>
      </p:sp>
      <p:sp>
        <p:nvSpPr>
          <p:cNvPr id="50" name="TextBox 49"/>
          <p:cNvSpPr txBox="1"/>
          <p:nvPr/>
        </p:nvSpPr>
        <p:spPr>
          <a:xfrm>
            <a:off x="3291840" y="6729984"/>
            <a:ext cx="8412480" cy="201168"/>
          </a:xfrm>
          <a:prstGeom prst="rect">
            <a:avLst/>
          </a:prstGeom>
          <a:noFill/>
        </p:spPr>
        <p:txBody>
          <a:bodyPr wrap="square" lIns="45720" rIns="45720">
            <a:spAutoFit/>
          </a:bodyPr>
          <a:lstStyle/>
          <a:p>
            <a:pPr algn="l"/>
            <a:r>
              <a:rPr sz="900" b="0">
                <a:solidFill>
                  <a:srgbClr val="8A95A5"/>
                </a:solidFill>
                <a:latin typeface="Helvetica Neue"/>
              </a:rPr>
              <a:t>•  Tag v0.9 on main; push to GitHub Releases with the recorded demo attached</a:t>
            </a:r>
          </a:p>
        </p:txBody>
      </p:sp>
      <p:sp>
        <p:nvSpPr>
          <p:cNvPr id="51" name="TextBox 50"/>
          <p:cNvSpPr txBox="1"/>
          <p:nvPr/>
        </p:nvSpPr>
        <p:spPr>
          <a:xfrm>
            <a:off x="3291840" y="6903720"/>
            <a:ext cx="8412480" cy="201168"/>
          </a:xfrm>
          <a:prstGeom prst="rect">
            <a:avLst/>
          </a:prstGeom>
          <a:noFill/>
        </p:spPr>
        <p:txBody>
          <a:bodyPr wrap="square" lIns="45720" rIns="45720">
            <a:spAutoFit/>
          </a:bodyPr>
          <a:lstStyle/>
          <a:p>
            <a:pPr algn="l"/>
            <a:r>
              <a:rPr sz="900" b="0">
                <a:solidFill>
                  <a:srgbClr val="8A95A5"/>
                </a:solidFill>
                <a:latin typeface="Helvetica Neue"/>
              </a:rPr>
              <a:t>•  Distribute client-facing release summary + recorded walkthrough</a:t>
            </a:r>
          </a:p>
        </p:txBody>
      </p:sp>
      <p:sp>
        <p:nvSpPr>
          <p:cNvPr id="52" name="TextBox 51"/>
          <p:cNvSpPr txBox="1"/>
          <p:nvPr/>
        </p:nvSpPr>
        <p:spPr>
          <a:xfrm>
            <a:off x="3291840" y="7077456"/>
            <a:ext cx="8412480" cy="201168"/>
          </a:xfrm>
          <a:prstGeom prst="rect">
            <a:avLst/>
          </a:prstGeom>
          <a:noFill/>
        </p:spPr>
        <p:txBody>
          <a:bodyPr wrap="square" lIns="45720" rIns="45720">
            <a:spAutoFit/>
          </a:bodyPr>
          <a:lstStyle/>
          <a:p>
            <a:pPr algn="l"/>
            <a:r>
              <a:rPr sz="900" b="0">
                <a:solidFill>
                  <a:srgbClr val="8A95A5"/>
                </a:solidFill>
                <a:latin typeface="Helvetica Neue"/>
              </a:rPr>
              <a:t>•  Internal announcement; v0.10 backlog opened (observability stretch + extras)</a:t>
            </a:r>
          </a:p>
        </p:txBody>
      </p:sp>
      <p:sp>
        <p:nvSpPr>
          <p:cNvPr id="53" name="TextBox 52"/>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Plan · 6 working weeks + release day</a:t>
            </a:r>
          </a:p>
        </p:txBody>
      </p:sp>
      <p:sp>
        <p:nvSpPr>
          <p:cNvPr id="54" name="TextBox 53"/>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May 1 holiday + weekends excluded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457200" y="320040"/>
            <a:ext cx="11247120" cy="640080"/>
          </a:xfrm>
          <a:prstGeom prst="rect">
            <a:avLst/>
          </a:prstGeom>
          <a:noFill/>
        </p:spPr>
        <p:txBody>
          <a:bodyPr wrap="square" lIns="45720" rIns="45720">
            <a:spAutoFit/>
          </a:bodyPr>
          <a:lstStyle/>
          <a:p>
            <a:pPr algn="l"/>
            <a:r>
              <a:rPr sz="3000" b="1">
                <a:solidFill>
                  <a:srgbClr val="6EC1FF"/>
                </a:solidFill>
                <a:latin typeface="Helvetica Neue"/>
              </a:rPr>
              <a:t>Risks &amp; how we'll handle them</a:t>
            </a:r>
          </a:p>
        </p:txBody>
      </p:sp>
      <p:sp>
        <p:nvSpPr>
          <p:cNvPr id="3" name="TextBox 2"/>
          <p:cNvSpPr txBox="1"/>
          <p:nvPr/>
        </p:nvSpPr>
        <p:spPr>
          <a:xfrm>
            <a:off x="457200" y="960120"/>
            <a:ext cx="11247120" cy="411480"/>
          </a:xfrm>
          <a:prstGeom prst="rect">
            <a:avLst/>
          </a:prstGeom>
          <a:noFill/>
        </p:spPr>
        <p:txBody>
          <a:bodyPr wrap="square" lIns="45720" rIns="45720">
            <a:spAutoFit/>
          </a:bodyPr>
          <a:lstStyle/>
          <a:p>
            <a:pPr algn="l"/>
            <a:r>
              <a:rPr sz="1400" b="0">
                <a:solidFill>
                  <a:srgbClr val="8A95A5"/>
                </a:solidFill>
                <a:latin typeface="Helvetica Neue"/>
              </a:rPr>
              <a:t>Known unknowns flagged early; fallbacks scoped into the plan</a:t>
            </a:r>
          </a:p>
        </p:txBody>
      </p:sp>
      <p:sp>
        <p:nvSpPr>
          <p:cNvPr id="4" name="Rounded Rectangle 3"/>
          <p:cNvSpPr/>
          <p:nvPr/>
        </p:nvSpPr>
        <p:spPr>
          <a:xfrm>
            <a:off x="457200" y="1463040"/>
            <a:ext cx="11247120" cy="493776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274320" cy="274320"/>
          </a:xfrm>
          <a:prstGeom prst="rect">
            <a:avLst/>
          </a:prstGeom>
          <a:noFill/>
        </p:spPr>
        <p:txBody>
          <a:bodyPr wrap="square" lIns="45720" rIns="45720">
            <a:spAutoFit/>
          </a:bodyPr>
          <a:lstStyle/>
          <a:p>
            <a:pPr algn="l"/>
            <a:r>
              <a:rPr sz="2000" b="1">
                <a:solidFill>
                  <a:srgbClr val="F2B857"/>
                </a:solidFill>
                <a:latin typeface="Helvetica Neue"/>
              </a:rPr>
              <a:t>●</a:t>
            </a:r>
          </a:p>
        </p:txBody>
      </p:sp>
      <p:sp>
        <p:nvSpPr>
          <p:cNvPr id="6" name="TextBox 5"/>
          <p:cNvSpPr txBox="1"/>
          <p:nvPr/>
        </p:nvSpPr>
        <p:spPr>
          <a:xfrm>
            <a:off x="1005840" y="1645920"/>
            <a:ext cx="10698480" cy="274320"/>
          </a:xfrm>
          <a:prstGeom prst="rect">
            <a:avLst/>
          </a:prstGeom>
          <a:noFill/>
        </p:spPr>
        <p:txBody>
          <a:bodyPr wrap="square" lIns="45720" rIns="45720">
            <a:spAutoFit/>
          </a:bodyPr>
          <a:lstStyle/>
          <a:p>
            <a:pPr algn="l"/>
            <a:r>
              <a:rPr sz="1400" b="1">
                <a:solidFill>
                  <a:srgbClr val="E6EAF0"/>
                </a:solidFill>
                <a:latin typeface="Helvetica Neue"/>
              </a:rPr>
              <a:t>Provider matrix surprises</a:t>
            </a:r>
          </a:p>
        </p:txBody>
      </p:sp>
      <p:sp>
        <p:nvSpPr>
          <p:cNvPr id="7" name="TextBox 6"/>
          <p:cNvSpPr txBox="1"/>
          <p:nvPr/>
        </p:nvSpPr>
        <p:spPr>
          <a:xfrm>
            <a:off x="1005840" y="1938528"/>
            <a:ext cx="10698480" cy="292608"/>
          </a:xfrm>
          <a:prstGeom prst="rect">
            <a:avLst/>
          </a:prstGeom>
          <a:noFill/>
        </p:spPr>
        <p:txBody>
          <a:bodyPr wrap="square" lIns="45720" rIns="45720">
            <a:spAutoFit/>
          </a:bodyPr>
          <a:lstStyle/>
          <a:p>
            <a:pPr algn="l"/>
            <a:r>
              <a:rPr sz="1100" b="0">
                <a:solidFill>
                  <a:srgbClr val="8A95A5"/>
                </a:solidFill>
                <a:latin typeface="Helvetica Neue"/>
              </a:rPr>
              <a:t>Risk: A new provider/consumer combination may need translator-layer fixes that take longer than a half-day.</a:t>
            </a:r>
          </a:p>
        </p:txBody>
      </p:sp>
      <p:sp>
        <p:nvSpPr>
          <p:cNvPr id="8" name="TextBox 7"/>
          <p:cNvSpPr txBox="1"/>
          <p:nvPr/>
        </p:nvSpPr>
        <p:spPr>
          <a:xfrm>
            <a:off x="1005840" y="2212848"/>
            <a:ext cx="10698480" cy="292608"/>
          </a:xfrm>
          <a:prstGeom prst="rect">
            <a:avLst/>
          </a:prstGeom>
          <a:noFill/>
        </p:spPr>
        <p:txBody>
          <a:bodyPr wrap="square" lIns="45720" rIns="45720">
            <a:spAutoFit/>
          </a:bodyPr>
          <a:lstStyle/>
          <a:p>
            <a:pPr algn="l"/>
            <a:r>
              <a:rPr sz="1100" b="0">
                <a:solidFill>
                  <a:srgbClr val="6EC1FF"/>
                </a:solidFill>
                <a:latin typeface="Helvetica Neue"/>
              </a:rPr>
              <a:t>Plan: Two-day budget covers worst case; OpenRouter's runtime probe absorbs edge cases automatically.</a:t>
            </a:r>
          </a:p>
        </p:txBody>
      </p:sp>
      <p:sp>
        <p:nvSpPr>
          <p:cNvPr id="9" name="TextBox 8"/>
          <p:cNvSpPr txBox="1"/>
          <p:nvPr/>
        </p:nvSpPr>
        <p:spPr>
          <a:xfrm>
            <a:off x="640080" y="2807208"/>
            <a:ext cx="274320" cy="274320"/>
          </a:xfrm>
          <a:prstGeom prst="rect">
            <a:avLst/>
          </a:prstGeom>
          <a:noFill/>
        </p:spPr>
        <p:txBody>
          <a:bodyPr wrap="square" lIns="45720" rIns="45720">
            <a:spAutoFit/>
          </a:bodyPr>
          <a:lstStyle/>
          <a:p>
            <a:pPr algn="l"/>
            <a:r>
              <a:rPr sz="2000" b="1">
                <a:solidFill>
                  <a:srgbClr val="F2B857"/>
                </a:solidFill>
                <a:latin typeface="Helvetica Neue"/>
              </a:rPr>
              <a:t>●</a:t>
            </a:r>
          </a:p>
        </p:txBody>
      </p:sp>
      <p:sp>
        <p:nvSpPr>
          <p:cNvPr id="10" name="TextBox 9"/>
          <p:cNvSpPr txBox="1"/>
          <p:nvPr/>
        </p:nvSpPr>
        <p:spPr>
          <a:xfrm>
            <a:off x="1005840" y="2807208"/>
            <a:ext cx="10698480" cy="274320"/>
          </a:xfrm>
          <a:prstGeom prst="rect">
            <a:avLst/>
          </a:prstGeom>
          <a:noFill/>
        </p:spPr>
        <p:txBody>
          <a:bodyPr wrap="square" lIns="45720" rIns="45720">
            <a:spAutoFit/>
          </a:bodyPr>
          <a:lstStyle/>
          <a:p>
            <a:pPr algn="l"/>
            <a:r>
              <a:rPr sz="1400" b="1">
                <a:solidFill>
                  <a:srgbClr val="E6EAF0"/>
                </a:solidFill>
                <a:latin typeface="Helvetica Neue"/>
              </a:rPr>
              <a:t>Leiden tuning quality</a:t>
            </a:r>
          </a:p>
        </p:txBody>
      </p:sp>
      <p:sp>
        <p:nvSpPr>
          <p:cNvPr id="11" name="TextBox 10"/>
          <p:cNvSpPr txBox="1"/>
          <p:nvPr/>
        </p:nvSpPr>
        <p:spPr>
          <a:xfrm>
            <a:off x="1005840" y="3099816"/>
            <a:ext cx="10698480" cy="292608"/>
          </a:xfrm>
          <a:prstGeom prst="rect">
            <a:avLst/>
          </a:prstGeom>
          <a:noFill/>
        </p:spPr>
        <p:txBody>
          <a:bodyPr wrap="square" lIns="45720" rIns="45720">
            <a:spAutoFit/>
          </a:bodyPr>
          <a:lstStyle/>
          <a:p>
            <a:pPr algn="l"/>
            <a:r>
              <a:rPr sz="1100" b="0">
                <a:solidFill>
                  <a:srgbClr val="8A95A5"/>
                </a:solidFill>
                <a:latin typeface="Helvetica Neue"/>
              </a:rPr>
              <a:t>Risk: Sub-cluster quality varies with affinity-matrix weights; may not converge cleanly on Day 3.</a:t>
            </a:r>
          </a:p>
        </p:txBody>
      </p:sp>
      <p:sp>
        <p:nvSpPr>
          <p:cNvPr id="12" name="TextBox 11"/>
          <p:cNvSpPr txBox="1"/>
          <p:nvPr/>
        </p:nvSpPr>
        <p:spPr>
          <a:xfrm>
            <a:off x="1005840" y="3374136"/>
            <a:ext cx="10698480" cy="292608"/>
          </a:xfrm>
          <a:prstGeom prst="rect">
            <a:avLst/>
          </a:prstGeom>
          <a:noFill/>
        </p:spPr>
        <p:txBody>
          <a:bodyPr wrap="square" lIns="45720" rIns="45720">
            <a:spAutoFit/>
          </a:bodyPr>
          <a:lstStyle/>
          <a:p>
            <a:pPr algn="l"/>
            <a:r>
              <a:rPr sz="1100" b="0">
                <a:solidFill>
                  <a:srgbClr val="6EC1FF"/>
                </a:solidFill>
                <a:latin typeface="Helvetica Neue"/>
              </a:rPr>
              <a:t>Plan: Static taxonomy stays as the v0.9 default; Leiden ships behind a feature flag if needed.</a:t>
            </a:r>
          </a:p>
        </p:txBody>
      </p:sp>
      <p:sp>
        <p:nvSpPr>
          <p:cNvPr id="13" name="TextBox 12"/>
          <p:cNvSpPr txBox="1"/>
          <p:nvPr/>
        </p:nvSpPr>
        <p:spPr>
          <a:xfrm>
            <a:off x="640080" y="3968496"/>
            <a:ext cx="274320" cy="274320"/>
          </a:xfrm>
          <a:prstGeom prst="rect">
            <a:avLst/>
          </a:prstGeom>
          <a:noFill/>
        </p:spPr>
        <p:txBody>
          <a:bodyPr wrap="square" lIns="45720" rIns="45720">
            <a:spAutoFit/>
          </a:bodyPr>
          <a:lstStyle/>
          <a:p>
            <a:pPr algn="l"/>
            <a:r>
              <a:rPr sz="2000" b="1">
                <a:solidFill>
                  <a:srgbClr val="E56B6B"/>
                </a:solidFill>
                <a:latin typeface="Helvetica Neue"/>
              </a:rPr>
              <a:t>●</a:t>
            </a:r>
          </a:p>
        </p:txBody>
      </p:sp>
      <p:sp>
        <p:nvSpPr>
          <p:cNvPr id="14" name="TextBox 13"/>
          <p:cNvSpPr txBox="1"/>
          <p:nvPr/>
        </p:nvSpPr>
        <p:spPr>
          <a:xfrm>
            <a:off x="1005840" y="3968496"/>
            <a:ext cx="10698480" cy="274320"/>
          </a:xfrm>
          <a:prstGeom prst="rect">
            <a:avLst/>
          </a:prstGeom>
          <a:noFill/>
        </p:spPr>
        <p:txBody>
          <a:bodyPr wrap="square" lIns="45720" rIns="45720">
            <a:spAutoFit/>
          </a:bodyPr>
          <a:lstStyle/>
          <a:p>
            <a:pPr algn="l"/>
            <a:r>
              <a:rPr sz="1400" b="1">
                <a:solidFill>
                  <a:srgbClr val="E6EAF0"/>
                </a:solidFill>
                <a:latin typeface="Helvetica Neue"/>
              </a:rPr>
              <a:t>Observability slippage</a:t>
            </a:r>
          </a:p>
        </p:txBody>
      </p:sp>
      <p:sp>
        <p:nvSpPr>
          <p:cNvPr id="15" name="TextBox 14"/>
          <p:cNvSpPr txBox="1"/>
          <p:nvPr/>
        </p:nvSpPr>
        <p:spPr>
          <a:xfrm>
            <a:off x="1005840" y="4261104"/>
            <a:ext cx="10698480" cy="292608"/>
          </a:xfrm>
          <a:prstGeom prst="rect">
            <a:avLst/>
          </a:prstGeom>
          <a:noFill/>
        </p:spPr>
        <p:txBody>
          <a:bodyPr wrap="square" lIns="45720" rIns="45720">
            <a:spAutoFit/>
          </a:bodyPr>
          <a:lstStyle/>
          <a:p>
            <a:pPr algn="l"/>
            <a:r>
              <a:rPr sz="1100" b="0">
                <a:solidFill>
                  <a:srgbClr val="8A95A5"/>
                </a:solidFill>
                <a:latin typeface="Helvetica Neue"/>
              </a:rPr>
              <a:t>Risk: OTel + Prometheus spans across 9 pipeline stages + 8 agent tools is non-trivial.</a:t>
            </a:r>
          </a:p>
        </p:txBody>
      </p:sp>
      <p:sp>
        <p:nvSpPr>
          <p:cNvPr id="16" name="TextBox 15"/>
          <p:cNvSpPr txBox="1"/>
          <p:nvPr/>
        </p:nvSpPr>
        <p:spPr>
          <a:xfrm>
            <a:off x="1005840" y="4535424"/>
            <a:ext cx="10698480" cy="292608"/>
          </a:xfrm>
          <a:prstGeom prst="rect">
            <a:avLst/>
          </a:prstGeom>
          <a:noFill/>
        </p:spPr>
        <p:txBody>
          <a:bodyPr wrap="square" lIns="45720" rIns="45720">
            <a:spAutoFit/>
          </a:bodyPr>
          <a:lstStyle/>
          <a:p>
            <a:pPr algn="l"/>
            <a:r>
              <a:rPr sz="1100" b="0">
                <a:solidFill>
                  <a:srgbClr val="6EC1FF"/>
                </a:solidFill>
                <a:latin typeface="Helvetica Neue"/>
              </a:rPr>
              <a:t>Plan: Stretch goal — slips to v0.10 cleanly. Logging is comprehensive today, so debug-ability holds.</a:t>
            </a:r>
          </a:p>
        </p:txBody>
      </p:sp>
      <p:sp>
        <p:nvSpPr>
          <p:cNvPr id="17" name="TextBox 16"/>
          <p:cNvSpPr txBox="1"/>
          <p:nvPr/>
        </p:nvSpPr>
        <p:spPr>
          <a:xfrm>
            <a:off x="640080" y="5129783"/>
            <a:ext cx="274320" cy="274320"/>
          </a:xfrm>
          <a:prstGeom prst="rect">
            <a:avLst/>
          </a:prstGeom>
          <a:noFill/>
        </p:spPr>
        <p:txBody>
          <a:bodyPr wrap="square" lIns="45720" rIns="45720">
            <a:spAutoFit/>
          </a:bodyPr>
          <a:lstStyle/>
          <a:p>
            <a:pPr algn="l"/>
            <a:r>
              <a:rPr sz="2000" b="1">
                <a:solidFill>
                  <a:srgbClr val="4AD09C"/>
                </a:solidFill>
                <a:latin typeface="Helvetica Neue"/>
              </a:rPr>
              <a:t>●</a:t>
            </a:r>
          </a:p>
        </p:txBody>
      </p:sp>
      <p:sp>
        <p:nvSpPr>
          <p:cNvPr id="18" name="TextBox 17"/>
          <p:cNvSpPr txBox="1"/>
          <p:nvPr/>
        </p:nvSpPr>
        <p:spPr>
          <a:xfrm>
            <a:off x="1005840" y="5129783"/>
            <a:ext cx="10698480" cy="274320"/>
          </a:xfrm>
          <a:prstGeom prst="rect">
            <a:avLst/>
          </a:prstGeom>
          <a:noFill/>
        </p:spPr>
        <p:txBody>
          <a:bodyPr wrap="square" lIns="45720" rIns="45720">
            <a:spAutoFit/>
          </a:bodyPr>
          <a:lstStyle/>
          <a:p>
            <a:pPr algn="l"/>
            <a:r>
              <a:rPr sz="1400" b="1">
                <a:solidFill>
                  <a:srgbClr val="E6EAF0"/>
                </a:solidFill>
                <a:latin typeface="Helvetica Neue"/>
              </a:rPr>
              <a:t>Live demo connectivity</a:t>
            </a:r>
          </a:p>
        </p:txBody>
      </p:sp>
      <p:sp>
        <p:nvSpPr>
          <p:cNvPr id="19" name="TextBox 18"/>
          <p:cNvSpPr txBox="1"/>
          <p:nvPr/>
        </p:nvSpPr>
        <p:spPr>
          <a:xfrm>
            <a:off x="1005840" y="5422392"/>
            <a:ext cx="10698480" cy="292608"/>
          </a:xfrm>
          <a:prstGeom prst="rect">
            <a:avLst/>
          </a:prstGeom>
          <a:noFill/>
        </p:spPr>
        <p:txBody>
          <a:bodyPr wrap="square" lIns="45720" rIns="45720">
            <a:spAutoFit/>
          </a:bodyPr>
          <a:lstStyle/>
          <a:p>
            <a:pPr algn="l"/>
            <a:r>
              <a:rPr sz="1100" b="0">
                <a:solidFill>
                  <a:srgbClr val="8A95A5"/>
                </a:solidFill>
                <a:latin typeface="Helvetica Neue"/>
              </a:rPr>
              <a:t>Risk: Live demos can stutter on conference Wi-Fi or provider rate limits.</a:t>
            </a:r>
          </a:p>
        </p:txBody>
      </p:sp>
      <p:sp>
        <p:nvSpPr>
          <p:cNvPr id="20" name="TextBox 19"/>
          <p:cNvSpPr txBox="1"/>
          <p:nvPr/>
        </p:nvSpPr>
        <p:spPr>
          <a:xfrm>
            <a:off x="1005840" y="5696712"/>
            <a:ext cx="10698480" cy="292608"/>
          </a:xfrm>
          <a:prstGeom prst="rect">
            <a:avLst/>
          </a:prstGeom>
          <a:noFill/>
        </p:spPr>
        <p:txBody>
          <a:bodyPr wrap="square" lIns="45720" rIns="45720">
            <a:spAutoFit/>
          </a:bodyPr>
          <a:lstStyle/>
          <a:p>
            <a:pPr algn="l"/>
            <a:r>
              <a:rPr sz="1100" b="0">
                <a:solidFill>
                  <a:srgbClr val="6EC1FF"/>
                </a:solidFill>
                <a:latin typeface="Helvetica Neue"/>
              </a:rPr>
              <a:t>Plan: Pre-record the full flow in Week 6 + polish before release-day; live Q&amp;A only.</a:t>
            </a:r>
          </a:p>
        </p:txBody>
      </p:sp>
      <p:sp>
        <p:nvSpPr>
          <p:cNvPr id="21" name="TextBox 20"/>
          <p:cNvSpPr txBox="1"/>
          <p:nvPr/>
        </p:nvSpPr>
        <p:spPr>
          <a:xfrm>
            <a:off x="457200" y="6446520"/>
            <a:ext cx="7315200" cy="274320"/>
          </a:xfrm>
          <a:prstGeom prst="rect">
            <a:avLst/>
          </a:prstGeom>
          <a:noFill/>
        </p:spPr>
        <p:txBody>
          <a:bodyPr wrap="square" lIns="45720" rIns="45720">
            <a:spAutoFit/>
          </a:bodyPr>
          <a:lstStyle/>
          <a:p>
            <a:pPr algn="l"/>
            <a:r>
              <a:rPr sz="1000" b="0">
                <a:solidFill>
                  <a:srgbClr val="8A95A5"/>
                </a:solidFill>
                <a:latin typeface="Helvetica Neue"/>
              </a:rPr>
              <a:t>Risk register</a:t>
            </a:r>
          </a:p>
        </p:txBody>
      </p:sp>
      <p:sp>
        <p:nvSpPr>
          <p:cNvPr id="22" name="TextBox 21"/>
          <p:cNvSpPr txBox="1"/>
          <p:nvPr/>
        </p:nvSpPr>
        <p:spPr>
          <a:xfrm>
            <a:off x="7772400" y="6446520"/>
            <a:ext cx="3931920" cy="274320"/>
          </a:xfrm>
          <a:prstGeom prst="rect">
            <a:avLst/>
          </a:prstGeom>
          <a:noFill/>
        </p:spPr>
        <p:txBody>
          <a:bodyPr wrap="square" lIns="45720" rIns="45720">
            <a:spAutoFit/>
          </a:bodyPr>
          <a:lstStyle/>
          <a:p>
            <a:pPr algn="r"/>
            <a:r>
              <a:rPr sz="1000" b="0">
                <a:solidFill>
                  <a:srgbClr val="8A95A5"/>
                </a:solidFill>
                <a:latin typeface="Helvetica Neue"/>
              </a:rPr>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TextBox 1"/>
          <p:cNvSpPr txBox="1"/>
          <p:nvPr/>
        </p:nvSpPr>
        <p:spPr>
          <a:xfrm>
            <a:off x="731520" y="1280160"/>
            <a:ext cx="10698480" cy="548640"/>
          </a:xfrm>
          <a:prstGeom prst="rect">
            <a:avLst/>
          </a:prstGeom>
          <a:noFill/>
        </p:spPr>
        <p:txBody>
          <a:bodyPr wrap="square" lIns="45720" rIns="45720">
            <a:spAutoFit/>
          </a:bodyPr>
          <a:lstStyle/>
          <a:p>
            <a:pPr algn="l"/>
            <a:r>
              <a:rPr sz="2400" b="1">
                <a:solidFill>
                  <a:srgbClr val="6EC1FF"/>
                </a:solidFill>
                <a:latin typeface="Helvetica Neue"/>
              </a:rPr>
              <a:t>What you'll see at the v0.9 demo (June 13)</a:t>
            </a:r>
          </a:p>
        </p:txBody>
      </p:sp>
      <p:sp>
        <p:nvSpPr>
          <p:cNvPr id="3" name="Rounded Rectangle 2"/>
          <p:cNvSpPr/>
          <p:nvPr/>
        </p:nvSpPr>
        <p:spPr>
          <a:xfrm>
            <a:off x="457200" y="1920240"/>
            <a:ext cx="11247120" cy="4206240"/>
          </a:xfrm>
          <a:prstGeom prst="roundRect">
            <a:avLst/>
          </a:prstGeom>
          <a:solidFill>
            <a:srgbClr val="1A212A"/>
          </a:solidFill>
          <a:ln w="9525">
            <a:solidFill>
              <a:srgbClr val="2A33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57400"/>
            <a:ext cx="10881360" cy="4023360"/>
          </a:xfrm>
          <a:prstGeom prst="rect">
            <a:avLst/>
          </a:prstGeom>
          <a:noFill/>
        </p:spPr>
        <p:txBody>
          <a:bodyPr wrap="square">
            <a:spAutoFit/>
          </a:bodyPr>
          <a:lstStyle/>
          <a:p>
            <a:pPr algn="l">
              <a:spcAft>
                <a:spcPts val="400"/>
              </a:spcAft>
            </a:pPr>
            <a:r>
              <a:rPr sz="1300">
                <a:solidFill>
                  <a:srgbClr val="E6EAF0"/>
                </a:solidFill>
                <a:latin typeface="Helvetica Neue"/>
              </a:rPr>
              <a:t>• Connect any Ed-Fi-shaped database from a browser — no code, no config files</a:t>
            </a:r>
          </a:p>
          <a:p>
            <a:pPr algn="l">
              <a:spcAft>
                <a:spcPts val="400"/>
              </a:spcAft>
            </a:pPr>
            <a:r>
              <a:rPr sz="1300">
                <a:solidFill>
                  <a:srgbClr val="E6EAF0"/>
                </a:solidFill>
                <a:latin typeface="Helvetica Neue"/>
              </a:rPr>
              <a:t>• Ask plain-English questions and watch SQL + rows + chart + summary land in seconds</a:t>
            </a:r>
          </a:p>
          <a:p>
            <a:pPr algn="l">
              <a:spcAft>
                <a:spcPts val="400"/>
              </a:spcAft>
            </a:pPr>
            <a:r>
              <a:rPr sz="1300">
                <a:solidFill>
                  <a:srgbClr val="E6EAF0"/>
                </a:solidFill>
                <a:latin typeface="Helvetica Neue"/>
              </a:rPr>
              <a:t>• Hold a multi-turn conversation — follow-up questions reuse earlier context</a:t>
            </a:r>
          </a:p>
          <a:p>
            <a:pPr algn="l">
              <a:spcAft>
                <a:spcPts val="400"/>
              </a:spcAft>
            </a:pPr>
            <a:r>
              <a:rPr sz="1300">
                <a:solidFill>
                  <a:srgbClr val="E6EAF0"/>
                </a:solidFill>
                <a:latin typeface="Helvetica Neue"/>
              </a:rPr>
              <a:t>• Watch the agent stream tool calls live: classify → retrieve → resolve → run</a:t>
            </a:r>
          </a:p>
          <a:p>
            <a:pPr algn="l">
              <a:spcAft>
                <a:spcPts val="400"/>
              </a:spcAft>
            </a:pPr>
            <a:r>
              <a:rPr sz="1300">
                <a:solidFill>
                  <a:srgbClr val="E6EAF0"/>
                </a:solidFill>
                <a:latin typeface="Helvetica Neue"/>
              </a:rPr>
              <a:t>• See the SQL color-coded against the catalog with cited tables</a:t>
            </a:r>
          </a:p>
          <a:p>
            <a:pPr algn="l">
              <a:spcAft>
                <a:spcPts val="400"/>
              </a:spcAft>
            </a:pPr>
            <a:r>
              <a:rPr sz="1300">
                <a:solidFill>
                  <a:srgbClr val="E6EAF0"/>
                </a:solidFill>
                <a:latin typeface="Helvetica Neue"/>
              </a:rPr>
              <a:t>• Approve a query — and watch the platform get smarter for the next question like it</a:t>
            </a:r>
          </a:p>
          <a:p>
            <a:pPr algn="l">
              <a:spcAft>
                <a:spcPts val="400"/>
              </a:spcAft>
            </a:pPr>
            <a:r>
              <a:rPr sz="1300">
                <a:solidFill>
                  <a:srgbClr val="E6EAF0"/>
                </a:solidFill>
                <a:latin typeface="Helvetica Neue"/>
              </a:rPr>
              <a:t>• Switch from one database (or LLM provider) to another mid-session and see results refresh automatically</a:t>
            </a:r>
          </a:p>
          <a:p>
            <a:pPr algn="l">
              <a:spcAft>
                <a:spcPts val="400"/>
              </a:spcAft>
            </a:pPr>
            <a:r>
              <a:rPr sz="1300">
                <a:solidFill>
                  <a:srgbClr val="E6EAF0"/>
                </a:solidFill>
                <a:latin typeface="Helvetica Neue"/>
              </a:rPr>
              <a:t>• Open the Eval Dashboard to see how accuracy is trending across builds</a:t>
            </a:r>
          </a:p>
        </p:txBody>
      </p:sp>
      <p:sp>
        <p:nvSpPr>
          <p:cNvPr id="5" name="TextBox 4"/>
          <p:cNvSpPr txBox="1"/>
          <p:nvPr/>
        </p:nvSpPr>
        <p:spPr>
          <a:xfrm>
            <a:off x="457200" y="6263640"/>
            <a:ext cx="11247120" cy="365760"/>
          </a:xfrm>
          <a:prstGeom prst="rect">
            <a:avLst/>
          </a:prstGeom>
          <a:noFill/>
        </p:spPr>
        <p:txBody>
          <a:bodyPr wrap="square" lIns="45720" rIns="45720">
            <a:spAutoFit/>
          </a:bodyPr>
          <a:lstStyle/>
          <a:p>
            <a:pPr algn="ctr"/>
            <a:r>
              <a:rPr sz="1200" b="0">
                <a:solidFill>
                  <a:srgbClr val="8A95A5"/>
                </a:solidFill>
                <a:latin typeface="Helvetica Neue"/>
              </a:rPr>
              <a:t>Demo machine: clean Windows install · no prior setup · v0.9 tagged Fri June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