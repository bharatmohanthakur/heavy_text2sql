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room: this is an architecture-and-status review. The platform's foundation is built — knowledge layer, NL→SQL pipeline, agent loop, API, frontend, and ops tooling are all functionally complete and tested. The next 11 working days (Apr 30 through Fri May 15, weekends + May 1 holiday excluded) close the loop on agentic polish, multi-provider hardening, observability, and a recorded demo. v0.9 release is tagged Sat May 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 the user pain. Most Ed-Fi work today goes through a small handful of people who can write SQL against the model. We're widening that bottleneck — not by training more SQL writers but by automating the translation from English. Mention the conversation bullet — that's the agent-loop work that closes in this release.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Five rows green = foundation done; three amber = active work the team finishes by May 16; one red = stretch item that may slip into v0.10. The shift from May 8 to May 16 buys time for the multi-provider matrix and the agentic polish — the agent loop core is working today, but we want demo-grade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top-to-bottom. Each row corresponds to a tested module set in the repo. Spend the most time on Pipeline + Agentic — those are the parts the demo audience actually sees in motion.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numbers from the repo audit. Use them to anchor any 'is this actually working?' question — every figure has a corresponding test or artifact.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Without this layer the LLM would be guessing across 1,048 tables.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handles 90% of tables deterministically. The LLM tier is the safety net for residual stragglers. Reflection of unknown DB tables (P7) handles the case where the operator's database has 36 extra tables that aren't in the Ed-Fi spec.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leave the room with: graph is small (10 MB) and fast (sub-millisecond responses), and weights bias joins to stay inside the natural Ed-Fi entity boundaries — which is what a senior analyst would do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'plain English' becomes 'database-correct'. Without it, questions like 'last year', 'Grade 9', or 'free-and-reduced lunch' would never land on the right rows.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orchestrator that knits the knowledge layer into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heart of the demo. Walk through each stage with the audience imagining their own question — by the end they should feel like they've watched the platform think.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Repair is the magic that lets the platform be honest with the user. If the LLM writes a wrong column, EXPLAIN catches it; the system asks the LLM to fix it with the actual error message; we get the right answer most of the time. This is what makes the platform safe for non-engineers.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is what makes this feel like a partner, not a one-shot translator.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never invents tables or values — it must call SEARCH_TABLES and RESOLVE_ENTITY first. RUN_SQL is the only side-effecting tool, and it executes validated SQL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Provider portability is what makes this safe to deploy in different agencies — Bedrock for AWS-native, Azure for Microsoft-native, Anthropic direct for everyone else. The agent code never branches on provider; the translator layer absorbs the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an operator or user actually interacts with day-to-day.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Provider-aware refresh (P1/P2) is the secret sauce: switch the active database in Settings, the Tables and Domains pages refresh automatically — no stale state.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pieces that make the platform actually usable on day one — and the reason a fresh git clone can demo without a populated database.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most of the platform is already built. The May 16 date buys headroom to land the things that matter for a confident demo — provider matrix, agent reliability, and a recorded walkthrough. Observability is the stretch item; if multi-provider work runs long, OTel slips to v0.10 without affecting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Days 1-2 lead with the matrix because that work is the gate for everything else — provider regressions cascade. Days 3-4 are the agentic + sub-clustering polish. Day 5 is observability (the riskiest item — may compress). Days 6-9 are eval, perf, smoke, and the recorded demo. Days 10-11 are the release-day choreography.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not promising perfection by Saturday May 16. We are promising a tested platform with a recorded demo, the multi-provider matrix passing, and stretch items called out before they slip silently.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demo. The 8 specific things on this slide are what you'll watch. Each bullet is gated on a workstream above. We sequence them so even if observability slips, the first 7 are still demo-ready.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920240"/>
            <a:ext cx="10698480" cy="914400"/>
          </a:xfrm>
          <a:prstGeom prst="rect">
            <a:avLst/>
          </a:prstGeom>
          <a:noFill/>
        </p:spPr>
        <p:txBody>
          <a:bodyPr wrap="square" lIns="45720" rIns="45720">
            <a:spAutoFit/>
          </a:bodyPr>
          <a:lstStyle/>
          <a:p>
            <a:pPr algn="l"/>
            <a:r>
              <a:rPr sz="4600" b="1">
                <a:solidFill>
                  <a:srgbClr val="6EC1FF"/>
                </a:solidFill>
                <a:latin typeface="Helvetica Neue"/>
              </a:rPr>
              <a:t>Ed-Fi Text-to-SQL</a:t>
            </a:r>
          </a:p>
        </p:txBody>
      </p:sp>
      <p:sp>
        <p:nvSpPr>
          <p:cNvPr id="3" name="TextBox 2"/>
          <p:cNvSpPr txBox="1"/>
          <p:nvPr/>
        </p:nvSpPr>
        <p:spPr>
          <a:xfrm>
            <a:off x="731520" y="2880360"/>
            <a:ext cx="10698480" cy="548640"/>
          </a:xfrm>
          <a:prstGeom prst="rect">
            <a:avLst/>
          </a:prstGeom>
          <a:noFill/>
        </p:spPr>
        <p:txBody>
          <a:bodyPr wrap="square" lIns="45720" rIns="45720">
            <a:spAutoFit/>
          </a:bodyPr>
          <a:lstStyle/>
          <a:p>
            <a:pPr algn="l"/>
            <a:r>
              <a:rPr sz="2200" b="0">
                <a:solidFill>
                  <a:srgbClr val="E6EAF0"/>
                </a:solidFill>
                <a:latin typeface="Helvetica Neue"/>
              </a:rPr>
              <a:t>Ask questions of your school data in plain English</a:t>
            </a:r>
          </a:p>
        </p:txBody>
      </p:sp>
      <p:sp>
        <p:nvSpPr>
          <p:cNvPr id="4" name="TextBox 3"/>
          <p:cNvSpPr txBox="1"/>
          <p:nvPr/>
        </p:nvSpPr>
        <p:spPr>
          <a:xfrm>
            <a:off x="731520" y="3520440"/>
            <a:ext cx="10698480" cy="457200"/>
          </a:xfrm>
          <a:prstGeom prst="rect">
            <a:avLst/>
          </a:prstGeom>
          <a:noFill/>
        </p:spPr>
        <p:txBody>
          <a:bodyPr wrap="square" lIns="45720" rIns="45720">
            <a:spAutoFit/>
          </a:bodyPr>
          <a:lstStyle/>
          <a:p>
            <a:pPr algn="l"/>
            <a:r>
              <a:rPr sz="1600" b="0">
                <a:solidFill>
                  <a:srgbClr val="8A95A5"/>
                </a:solidFill>
                <a:latin typeface="Helvetica Neue"/>
              </a:rPr>
              <a:t>Architecture review · platform built · 11 working days to v0.9 release</a:t>
            </a:r>
          </a:p>
        </p:txBody>
      </p:sp>
      <p:sp>
        <p:nvSpPr>
          <p:cNvPr id="5" name="TextBox 4"/>
          <p:cNvSpPr txBox="1"/>
          <p:nvPr/>
        </p:nvSpPr>
        <p:spPr>
          <a:xfrm>
            <a:off x="731520" y="6035040"/>
            <a:ext cx="10698480" cy="365760"/>
          </a:xfrm>
          <a:prstGeom prst="rect">
            <a:avLst/>
          </a:prstGeom>
          <a:noFill/>
        </p:spPr>
        <p:txBody>
          <a:bodyPr wrap="square" lIns="45720" rIns="45720">
            <a:spAutoFit/>
          </a:bodyPr>
          <a:lstStyle/>
          <a:p>
            <a:pPr algn="l"/>
            <a:r>
              <a:rPr sz="1300" b="0">
                <a:solidFill>
                  <a:srgbClr val="8A95A5"/>
                </a:solidFill>
                <a:latin typeface="Helvetica Neue"/>
              </a:rPr>
              <a:t>Apr 30, 2026  ·  client review  ·  v0.9 release Sat May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problem we're solving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 analyst asks a question. The platform answers with data.</a:t>
            </a:r>
          </a:p>
        </p:txBody>
      </p:sp>
      <p:sp>
        <p:nvSpPr>
          <p:cNvPr id="4" name="Rounded Rectangle 3"/>
          <p:cNvSpPr/>
          <p:nvPr/>
        </p:nvSpPr>
        <p:spPr>
          <a:xfrm>
            <a:off x="457200" y="1463040"/>
            <a:ext cx="11247120" cy="1920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881360" cy="365760"/>
          </a:xfrm>
          <a:prstGeom prst="rect">
            <a:avLst/>
          </a:prstGeom>
          <a:noFill/>
        </p:spPr>
        <p:txBody>
          <a:bodyPr wrap="square" lIns="45720" rIns="45720">
            <a:spAutoFit/>
          </a:bodyPr>
          <a:lstStyle/>
          <a:p>
            <a:pPr algn="l"/>
            <a:r>
              <a:rPr sz="1400" b="1">
                <a:solidFill>
                  <a:srgbClr val="F2B857"/>
                </a:solidFill>
                <a:latin typeface="Helvetica Neue"/>
              </a:rPr>
              <a:t>Today, in any Ed-Fi-shaped database</a:t>
            </a:r>
          </a:p>
        </p:txBody>
      </p:sp>
      <p:sp>
        <p:nvSpPr>
          <p:cNvPr id="6" name="TextBox 5"/>
          <p:cNvSpPr txBox="1"/>
          <p:nvPr/>
        </p:nvSpPr>
        <p:spPr>
          <a:xfrm>
            <a:off x="640080" y="1920240"/>
            <a:ext cx="10881360" cy="1463040"/>
          </a:xfrm>
          <a:prstGeom prst="rect">
            <a:avLst/>
          </a:prstGeom>
          <a:noFill/>
        </p:spPr>
        <p:txBody>
          <a:bodyPr wrap="square">
            <a:spAutoFit/>
          </a:bodyPr>
          <a:lstStyle/>
          <a:p>
            <a:pPr algn="l">
              <a:spcAft>
                <a:spcPts val="400"/>
              </a:spcAft>
            </a:pPr>
            <a:r>
              <a:rPr sz="1300">
                <a:solidFill>
                  <a:srgbClr val="E6EAF0"/>
                </a:solidFill>
                <a:latin typeface="Helvetica Neue"/>
              </a:rPr>
              <a:t>• 1,048 tables · ~10,000 columns · 1,663 foreign keys (Ed-Fi DS 6.1.0)</a:t>
            </a:r>
          </a:p>
          <a:p>
            <a:pPr algn="l">
              <a:spcAft>
                <a:spcPts val="400"/>
              </a:spcAft>
            </a:pPr>
            <a:r>
              <a:rPr sz="1300">
                <a:solidFill>
                  <a:srgbClr val="E6EAF0"/>
                </a:solidFill>
                <a:latin typeface="Helvetica Neue"/>
              </a:rPr>
              <a:t>• An analyst with a question must (a) know which tables to join, (b) write the SQL, (c) execute it, (d) read it</a:t>
            </a:r>
          </a:p>
          <a:p>
            <a:pPr algn="l">
              <a:spcAft>
                <a:spcPts val="400"/>
              </a:spcAft>
            </a:pPr>
            <a:r>
              <a:rPr sz="1300">
                <a:solidFill>
                  <a:srgbClr val="E6EAF0"/>
                </a:solidFill>
                <a:latin typeface="Helvetica Neue"/>
              </a:rPr>
              <a:t>• End-to-end this is hours of work for a senior engineer — and impossible for a non-engineer</a:t>
            </a:r>
          </a:p>
        </p:txBody>
      </p:sp>
      <p:sp>
        <p:nvSpPr>
          <p:cNvPr id="7" name="Rounded Rectangle 6"/>
          <p:cNvSpPr/>
          <p:nvPr/>
        </p:nvSpPr>
        <p:spPr>
          <a:xfrm>
            <a:off x="457200" y="3566160"/>
            <a:ext cx="11247120" cy="2651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10881360" cy="365760"/>
          </a:xfrm>
          <a:prstGeom prst="rect">
            <a:avLst/>
          </a:prstGeom>
          <a:noFill/>
        </p:spPr>
        <p:txBody>
          <a:bodyPr wrap="square" lIns="45720" rIns="45720">
            <a:spAutoFit/>
          </a:bodyPr>
          <a:lstStyle/>
          <a:p>
            <a:pPr algn="l"/>
            <a:r>
              <a:rPr sz="1400" b="1">
                <a:solidFill>
                  <a:srgbClr val="4AD09C"/>
                </a:solidFill>
                <a:latin typeface="Helvetica Neue"/>
              </a:rPr>
              <a:t>What we're delivering by Sat May 16</a:t>
            </a:r>
          </a:p>
        </p:txBody>
      </p:sp>
      <p:sp>
        <p:nvSpPr>
          <p:cNvPr id="9" name="TextBox 8"/>
          <p:cNvSpPr txBox="1"/>
          <p:nvPr/>
        </p:nvSpPr>
        <p:spPr>
          <a:xfrm>
            <a:off x="640080" y="4023360"/>
            <a:ext cx="10881360" cy="2194560"/>
          </a:xfrm>
          <a:prstGeom prst="rect">
            <a:avLst/>
          </a:prstGeom>
          <a:noFill/>
        </p:spPr>
        <p:txBody>
          <a:bodyPr wrap="square">
            <a:spAutoFit/>
          </a:bodyPr>
          <a:lstStyle/>
          <a:p>
            <a:pPr algn="l">
              <a:spcAft>
                <a:spcPts val="400"/>
              </a:spcAft>
            </a:pPr>
            <a:r>
              <a:rPr sz="1300">
                <a:solidFill>
                  <a:srgbClr val="E6EAF0"/>
                </a:solidFill>
                <a:latin typeface="Helvetica Neue"/>
              </a:rPr>
              <a:t>• Type a question in English  →  receive correct SQL, the rows it returns, a chart, and a written summary</a:t>
            </a:r>
          </a:p>
          <a:p>
            <a:pPr algn="l">
              <a:spcAft>
                <a:spcPts val="400"/>
              </a:spcAft>
            </a:pPr>
            <a:r>
              <a:rPr sz="1300">
                <a:solidFill>
                  <a:srgbClr val="E6EAF0"/>
                </a:solidFill>
                <a:latin typeface="Helvetica Neue"/>
              </a:rPr>
              <a:t>• Have a multi-turn conversation with the platform — it remembers what you asked before</a:t>
            </a:r>
          </a:p>
          <a:p>
            <a:pPr algn="l">
              <a:spcAft>
                <a:spcPts val="400"/>
              </a:spcAft>
            </a:pPr>
            <a:r>
              <a:rPr sz="1300">
                <a:solidFill>
                  <a:srgbClr val="E6EAF0"/>
                </a:solidFill>
                <a:latin typeface="Helvetica Neue"/>
              </a:rPr>
              <a:t>• Works on any Ed-Fi database (Postgres / MSSQL / SQLite) without changing the database itself</a:t>
            </a:r>
          </a:p>
          <a:p>
            <a:pPr algn="l">
              <a:spcAft>
                <a:spcPts val="400"/>
              </a:spcAft>
            </a:pPr>
            <a:r>
              <a:rPr sz="1300">
                <a:solidFill>
                  <a:srgbClr val="E6EAF0"/>
                </a:solidFill>
                <a:latin typeface="Helvetica Neue"/>
              </a:rPr>
              <a:t>• Cites the tables it used so an engineer can verify the answer in seconds</a:t>
            </a:r>
          </a:p>
          <a:p>
            <a:pPr algn="l">
              <a:spcAft>
                <a:spcPts val="400"/>
              </a:spcAft>
            </a:pPr>
            <a:r>
              <a:rPr sz="1300">
                <a:solidFill>
                  <a:srgbClr val="E6EAF0"/>
                </a:solidFill>
                <a:latin typeface="Helvetica Neue"/>
              </a:rPr>
              <a:t>• Learns from approved queries — the more it's used, the better it gets</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Why this project · Section 1</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Status: foundation built, polish ahead</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13 core components green and tested · 4 workstreams remaining for v0.9 on May 16</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3931920" cy="292608"/>
          </a:xfrm>
          <a:prstGeom prst="rect">
            <a:avLst/>
          </a:prstGeom>
          <a:noFill/>
        </p:spPr>
        <p:txBody>
          <a:bodyPr wrap="square" lIns="45720" rIns="45720">
            <a:spAutoFit/>
          </a:bodyPr>
          <a:lstStyle/>
          <a:p>
            <a:pPr algn="l"/>
            <a:r>
              <a:rPr sz="1200" b="1">
                <a:solidFill>
                  <a:srgbClr val="E6EAF0"/>
                </a:solidFill>
                <a:latin typeface="Helvetica Neue"/>
              </a:rPr>
              <a:t>Knowledge layer</a:t>
            </a:r>
          </a:p>
        </p:txBody>
      </p:sp>
      <p:sp>
        <p:nvSpPr>
          <p:cNvPr id="6" name="Rounded Rectangle 5"/>
          <p:cNvSpPr/>
          <p:nvPr/>
        </p:nvSpPr>
        <p:spPr>
          <a:xfrm>
            <a:off x="4663440" y="1591056"/>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591056"/>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8" name="TextBox 7"/>
          <p:cNvSpPr txBox="1"/>
          <p:nvPr/>
        </p:nvSpPr>
        <p:spPr>
          <a:xfrm>
            <a:off x="5897880" y="1591056"/>
            <a:ext cx="5760720" cy="548640"/>
          </a:xfrm>
          <a:prstGeom prst="rect">
            <a:avLst/>
          </a:prstGeom>
          <a:noFill/>
        </p:spPr>
        <p:txBody>
          <a:bodyPr wrap="square" lIns="45720" rIns="45720">
            <a:spAutoFit/>
          </a:bodyPr>
          <a:lstStyle/>
          <a:p>
            <a:pPr algn="l"/>
            <a:r>
              <a:rPr sz="1000" b="0">
                <a:solidFill>
                  <a:srgbClr val="8A95A5"/>
                </a:solidFill>
                <a:latin typeface="Helvetica Neue"/>
              </a:rPr>
              <a:t>Domain classification (829/829 tables), FK graph (1,663 edges), APSP, Steiner solver, table catalog, hybrid retrieval, 4-tier entity resolver</a:t>
            </a:r>
          </a:p>
        </p:txBody>
      </p:sp>
      <p:sp>
        <p:nvSpPr>
          <p:cNvPr id="9" name="TextBox 8"/>
          <p:cNvSpPr txBox="1"/>
          <p:nvPr/>
        </p:nvSpPr>
        <p:spPr>
          <a:xfrm>
            <a:off x="640080" y="2103120"/>
            <a:ext cx="3931920" cy="292608"/>
          </a:xfrm>
          <a:prstGeom prst="rect">
            <a:avLst/>
          </a:prstGeom>
          <a:noFill/>
        </p:spPr>
        <p:txBody>
          <a:bodyPr wrap="square" lIns="45720" rIns="45720">
            <a:spAutoFit/>
          </a:bodyPr>
          <a:lstStyle/>
          <a:p>
            <a:pPr algn="l"/>
            <a:r>
              <a:rPr sz="1200" b="1">
                <a:solidFill>
                  <a:srgbClr val="E6EAF0"/>
                </a:solidFill>
                <a:latin typeface="Helvetica Neue"/>
              </a:rPr>
              <a:t>NL → SQL pipeline</a:t>
            </a:r>
          </a:p>
        </p:txBody>
      </p:sp>
      <p:sp>
        <p:nvSpPr>
          <p:cNvPr id="10" name="Rounded Rectangle 9"/>
          <p:cNvSpPr/>
          <p:nvPr/>
        </p:nvSpPr>
        <p:spPr>
          <a:xfrm>
            <a:off x="4663440" y="2121408"/>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21408"/>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12" name="TextBox 11"/>
          <p:cNvSpPr txBox="1"/>
          <p:nvPr/>
        </p:nvSpPr>
        <p:spPr>
          <a:xfrm>
            <a:off x="5897880" y="2121408"/>
            <a:ext cx="5760720" cy="548640"/>
          </a:xfrm>
          <a:prstGeom prst="rect">
            <a:avLst/>
          </a:prstGeom>
          <a:noFill/>
        </p:spPr>
        <p:txBody>
          <a:bodyPr wrap="square" lIns="45720" rIns="45720">
            <a:spAutoFit/>
          </a:bodyPr>
          <a:lstStyle/>
          <a:p>
            <a:pPr algn="l"/>
            <a:r>
              <a:rPr sz="1000" b="0">
                <a:solidFill>
                  <a:srgbClr val="8A95A5"/>
                </a:solidFill>
                <a:latin typeface="Helvetica Neue"/>
              </a:rPr>
              <a:t>Routed orchestrator: classify → retrieve → resolve → generate → validate → repair → execute → chart + summary</a:t>
            </a:r>
          </a:p>
        </p:txBody>
      </p:sp>
      <p:sp>
        <p:nvSpPr>
          <p:cNvPr id="13" name="TextBox 12"/>
          <p:cNvSpPr txBox="1"/>
          <p:nvPr/>
        </p:nvSpPr>
        <p:spPr>
          <a:xfrm>
            <a:off x="640080" y="2633472"/>
            <a:ext cx="3931920" cy="292608"/>
          </a:xfrm>
          <a:prstGeom prst="rect">
            <a:avLst/>
          </a:prstGeom>
          <a:noFill/>
        </p:spPr>
        <p:txBody>
          <a:bodyPr wrap="square" lIns="45720" rIns="45720">
            <a:spAutoFit/>
          </a:bodyPr>
          <a:lstStyle/>
          <a:p>
            <a:pPr algn="l"/>
            <a:r>
              <a:rPr sz="1200" b="1">
                <a:solidFill>
                  <a:srgbClr val="E6EAF0"/>
                </a:solidFill>
                <a:latin typeface="Helvetica Neue"/>
              </a:rPr>
              <a:t>Agentic layer</a:t>
            </a:r>
          </a:p>
        </p:txBody>
      </p:sp>
      <p:sp>
        <p:nvSpPr>
          <p:cNvPr id="14" name="Rounded Rectangle 13"/>
          <p:cNvSpPr/>
          <p:nvPr/>
        </p:nvSpPr>
        <p:spPr>
          <a:xfrm>
            <a:off x="4663440" y="2651760"/>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2651760"/>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16" name="TextBox 15"/>
          <p:cNvSpPr txBox="1"/>
          <p:nvPr/>
        </p:nvSpPr>
        <p:spPr>
          <a:xfrm>
            <a:off x="5897880" y="2651760"/>
            <a:ext cx="5760720" cy="548640"/>
          </a:xfrm>
          <a:prstGeom prst="rect">
            <a:avLst/>
          </a:prstGeom>
          <a:noFill/>
        </p:spPr>
        <p:txBody>
          <a:bodyPr wrap="square" lIns="45720" rIns="45720">
            <a:spAutoFit/>
          </a:bodyPr>
          <a:lstStyle/>
          <a:p>
            <a:pPr algn="l"/>
            <a:r>
              <a:rPr sz="1000" b="0">
                <a:solidFill>
                  <a:srgbClr val="8A95A5"/>
                </a:solidFill>
                <a:latin typeface="Helvetica Neue"/>
              </a:rPr>
              <a:t>8-tool agent loop, multi-turn conversations with cross-dialect history, server-sent streaming</a:t>
            </a:r>
          </a:p>
        </p:txBody>
      </p:sp>
      <p:sp>
        <p:nvSpPr>
          <p:cNvPr id="17" name="TextBox 16"/>
          <p:cNvSpPr txBox="1"/>
          <p:nvPr/>
        </p:nvSpPr>
        <p:spPr>
          <a:xfrm>
            <a:off x="640080" y="3163824"/>
            <a:ext cx="3931920" cy="292608"/>
          </a:xfrm>
          <a:prstGeom prst="rect">
            <a:avLst/>
          </a:prstGeom>
          <a:noFill/>
        </p:spPr>
        <p:txBody>
          <a:bodyPr wrap="square" lIns="45720" rIns="45720">
            <a:spAutoFit/>
          </a:bodyPr>
          <a:lstStyle/>
          <a:p>
            <a:pPr algn="l"/>
            <a:r>
              <a:rPr sz="1200" b="1">
                <a:solidFill>
                  <a:srgbClr val="E6EAF0"/>
                </a:solidFill>
                <a:latin typeface="Helvetica Neue"/>
              </a:rPr>
              <a:t>API + Web UI</a:t>
            </a:r>
          </a:p>
        </p:txBody>
      </p:sp>
      <p:sp>
        <p:nvSpPr>
          <p:cNvPr id="18" name="Rounded Rectangle 17"/>
          <p:cNvSpPr/>
          <p:nvPr/>
        </p:nvSpPr>
        <p:spPr>
          <a:xfrm>
            <a:off x="4663440" y="3182112"/>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3182112"/>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20" name="TextBox 19"/>
          <p:cNvSpPr txBox="1"/>
          <p:nvPr/>
        </p:nvSpPr>
        <p:spPr>
          <a:xfrm>
            <a:off x="5897880" y="3182112"/>
            <a:ext cx="5760720" cy="548640"/>
          </a:xfrm>
          <a:prstGeom prst="rect">
            <a:avLst/>
          </a:prstGeom>
          <a:noFill/>
        </p:spPr>
        <p:txBody>
          <a:bodyPr wrap="square" lIns="45720" rIns="45720">
            <a:spAutoFit/>
          </a:bodyPr>
          <a:lstStyle/>
          <a:p>
            <a:pPr algn="l"/>
            <a:r>
              <a:rPr sz="1000" b="0">
                <a:solidFill>
                  <a:srgbClr val="8A95A5"/>
                </a:solidFill>
                <a:latin typeface="Helvetica Neue"/>
              </a:rPr>
              <a:t>18 endpoints (REST + WebSocket); 7 pages — Query, Chat, Tables, Domains, Gold, Settings, browser; provider-aware refresh</a:t>
            </a:r>
          </a:p>
        </p:txBody>
      </p:sp>
      <p:sp>
        <p:nvSpPr>
          <p:cNvPr id="21" name="TextBox 20"/>
          <p:cNvSpPr txBox="1"/>
          <p:nvPr/>
        </p:nvSpPr>
        <p:spPr>
          <a:xfrm>
            <a:off x="640080" y="3694176"/>
            <a:ext cx="3931920" cy="292608"/>
          </a:xfrm>
          <a:prstGeom prst="rect">
            <a:avLst/>
          </a:prstGeom>
          <a:noFill/>
        </p:spPr>
        <p:txBody>
          <a:bodyPr wrap="square" lIns="45720" rIns="45720">
            <a:spAutoFit/>
          </a:bodyPr>
          <a:lstStyle/>
          <a:p>
            <a:pPr algn="l"/>
            <a:r>
              <a:rPr sz="1200" b="1">
                <a:solidFill>
                  <a:srgbClr val="E6EAF0"/>
                </a:solidFill>
                <a:latin typeface="Helvetica Neue"/>
              </a:rPr>
              <a:t>Operations</a:t>
            </a:r>
          </a:p>
        </p:txBody>
      </p:sp>
      <p:sp>
        <p:nvSpPr>
          <p:cNvPr id="22" name="Rounded Rectangle 21"/>
          <p:cNvSpPr/>
          <p:nvPr/>
        </p:nvSpPr>
        <p:spPr>
          <a:xfrm>
            <a:off x="4663440" y="3712463"/>
            <a:ext cx="1051560" cy="292608"/>
          </a:xfrm>
          <a:prstGeom prst="roundRect">
            <a:avLst/>
          </a:prstGeom>
          <a:solidFill>
            <a:srgbClr val="4AD0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3712463"/>
            <a:ext cx="1051560" cy="292608"/>
          </a:xfrm>
          <a:prstGeom prst="rect">
            <a:avLst/>
          </a:prstGeom>
          <a:noFill/>
        </p:spPr>
        <p:txBody>
          <a:bodyPr wrap="none" lIns="0" rIns="0" tIns="36576">
            <a:spAutoFit/>
          </a:bodyPr>
          <a:lstStyle/>
          <a:p>
            <a:pPr algn="ctr"/>
            <a:r>
              <a:rPr sz="1000" b="1">
                <a:solidFill>
                  <a:srgbClr val="0F141A"/>
                </a:solidFill>
                <a:latin typeface="Helvetica Neue"/>
              </a:rPr>
              <a:t>Done</a:t>
            </a:r>
          </a:p>
        </p:txBody>
      </p:sp>
      <p:sp>
        <p:nvSpPr>
          <p:cNvPr id="24" name="TextBox 23"/>
          <p:cNvSpPr txBox="1"/>
          <p:nvPr/>
        </p:nvSpPr>
        <p:spPr>
          <a:xfrm>
            <a:off x="5897880" y="3712463"/>
            <a:ext cx="5760720" cy="548640"/>
          </a:xfrm>
          <a:prstGeom prst="rect">
            <a:avLst/>
          </a:prstGeom>
          <a:noFill/>
        </p:spPr>
        <p:txBody>
          <a:bodyPr wrap="square" lIns="45720" rIns="45720">
            <a:spAutoFit/>
          </a:bodyPr>
          <a:lstStyle/>
          <a:p>
            <a:pPr algn="l"/>
            <a:r>
              <a:rPr sz="1000" b="0">
                <a:solidFill>
                  <a:srgbClr val="8A95A5"/>
                </a:solidFill>
                <a:latin typeface="Helvetica Neue"/>
              </a:rPr>
              <a:t>Multi-dialect metadata DB, runtime Settings UI, eval harness with JSON+Markdown reports, ships zero-infra demo SQLite</a:t>
            </a:r>
          </a:p>
        </p:txBody>
      </p:sp>
      <p:sp>
        <p:nvSpPr>
          <p:cNvPr id="25" name="TextBox 24"/>
          <p:cNvSpPr txBox="1"/>
          <p:nvPr/>
        </p:nvSpPr>
        <p:spPr>
          <a:xfrm>
            <a:off x="640080" y="4224528"/>
            <a:ext cx="3931920" cy="292608"/>
          </a:xfrm>
          <a:prstGeom prst="rect">
            <a:avLst/>
          </a:prstGeom>
          <a:noFill/>
        </p:spPr>
        <p:txBody>
          <a:bodyPr wrap="square" lIns="45720" rIns="45720">
            <a:spAutoFit/>
          </a:bodyPr>
          <a:lstStyle/>
          <a:p>
            <a:pPr algn="l"/>
            <a:r>
              <a:rPr sz="1200" b="1">
                <a:solidFill>
                  <a:srgbClr val="E6EAF0"/>
                </a:solidFill>
                <a:latin typeface="Helvetica Neue"/>
              </a:rPr>
              <a:t>Auto sub-clustering (Leiden)</a:t>
            </a:r>
          </a:p>
        </p:txBody>
      </p:sp>
      <p:sp>
        <p:nvSpPr>
          <p:cNvPr id="26" name="Rounded Rectangle 25"/>
          <p:cNvSpPr/>
          <p:nvPr/>
        </p:nvSpPr>
        <p:spPr>
          <a:xfrm>
            <a:off x="4663440" y="4242816"/>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4242816"/>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28" name="TextBox 27"/>
          <p:cNvSpPr txBox="1"/>
          <p:nvPr/>
        </p:nvSpPr>
        <p:spPr>
          <a:xfrm>
            <a:off x="5897880" y="4242816"/>
            <a:ext cx="5760720" cy="548640"/>
          </a:xfrm>
          <a:prstGeom prst="rect">
            <a:avLst/>
          </a:prstGeom>
          <a:noFill/>
        </p:spPr>
        <p:txBody>
          <a:bodyPr wrap="square" lIns="45720" rIns="45720">
            <a:spAutoFit/>
          </a:bodyPr>
          <a:lstStyle/>
          <a:p>
            <a:pPr algn="l"/>
            <a:r>
              <a:rPr sz="1000" b="0">
                <a:solidFill>
                  <a:srgbClr val="8A95A5"/>
                </a:solidFill>
                <a:latin typeface="Helvetica Neue"/>
              </a:rPr>
              <a:t>Refines oversize Ed-Fi domains into 8–20-table clusters for sharper routing; static taxonomy works today</a:t>
            </a:r>
          </a:p>
        </p:txBody>
      </p:sp>
      <p:sp>
        <p:nvSpPr>
          <p:cNvPr id="29" name="TextBox 28"/>
          <p:cNvSpPr txBox="1"/>
          <p:nvPr/>
        </p:nvSpPr>
        <p:spPr>
          <a:xfrm>
            <a:off x="640080" y="4754880"/>
            <a:ext cx="3931920" cy="292608"/>
          </a:xfrm>
          <a:prstGeom prst="rect">
            <a:avLst/>
          </a:prstGeom>
          <a:noFill/>
        </p:spPr>
        <p:txBody>
          <a:bodyPr wrap="square" lIns="45720" rIns="45720">
            <a:spAutoFit/>
          </a:bodyPr>
          <a:lstStyle/>
          <a:p>
            <a:pPr algn="l"/>
            <a:r>
              <a:rPr sz="1200" b="1">
                <a:solidFill>
                  <a:srgbClr val="E6EAF0"/>
                </a:solidFill>
                <a:latin typeface="Helvetica Neue"/>
              </a:rPr>
              <a:t>Multi-provider matrix tests</a:t>
            </a:r>
          </a:p>
        </p:txBody>
      </p:sp>
      <p:sp>
        <p:nvSpPr>
          <p:cNvPr id="30" name="Rounded Rectangle 29"/>
          <p:cNvSpPr/>
          <p:nvPr/>
        </p:nvSpPr>
        <p:spPr>
          <a:xfrm>
            <a:off x="4663440" y="4773168"/>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773168"/>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32" name="TextBox 31"/>
          <p:cNvSpPr txBox="1"/>
          <p:nvPr/>
        </p:nvSpPr>
        <p:spPr>
          <a:xfrm>
            <a:off x="5897880" y="4773168"/>
            <a:ext cx="5760720" cy="548640"/>
          </a:xfrm>
          <a:prstGeom prst="rect">
            <a:avLst/>
          </a:prstGeom>
          <a:noFill/>
        </p:spPr>
        <p:txBody>
          <a:bodyPr wrap="square" lIns="45720" rIns="45720">
            <a:spAutoFit/>
          </a:bodyPr>
          <a:lstStyle/>
          <a:p>
            <a:pPr algn="l"/>
            <a:r>
              <a:rPr sz="1000" b="0">
                <a:solidFill>
                  <a:srgbClr val="8A95A5"/>
                </a:solidFill>
                <a:latin typeface="Helvetica Neue"/>
              </a:rPr>
              <a:t>5 LLM providers + 4 embedding providers wired; cross-product regression matrix lands by May 16</a:t>
            </a:r>
          </a:p>
        </p:txBody>
      </p:sp>
      <p:sp>
        <p:nvSpPr>
          <p:cNvPr id="33" name="TextBox 32"/>
          <p:cNvSpPr txBox="1"/>
          <p:nvPr/>
        </p:nvSpPr>
        <p:spPr>
          <a:xfrm>
            <a:off x="640080" y="5285232"/>
            <a:ext cx="3931920" cy="292608"/>
          </a:xfrm>
          <a:prstGeom prst="rect">
            <a:avLst/>
          </a:prstGeom>
          <a:noFill/>
        </p:spPr>
        <p:txBody>
          <a:bodyPr wrap="square" lIns="45720" rIns="45720">
            <a:spAutoFit/>
          </a:bodyPr>
          <a:lstStyle/>
          <a:p>
            <a:pPr algn="l"/>
            <a:r>
              <a:rPr sz="1200" b="1">
                <a:solidFill>
                  <a:srgbClr val="E6EAF0"/>
                </a:solidFill>
                <a:latin typeface="Helvetica Neue"/>
              </a:rPr>
              <a:t>Agentic polish</a:t>
            </a:r>
          </a:p>
        </p:txBody>
      </p:sp>
      <p:sp>
        <p:nvSpPr>
          <p:cNvPr id="34" name="Rounded Rectangle 33"/>
          <p:cNvSpPr/>
          <p:nvPr/>
        </p:nvSpPr>
        <p:spPr>
          <a:xfrm>
            <a:off x="4663440" y="5303520"/>
            <a:ext cx="1051560" cy="292608"/>
          </a:xfrm>
          <a:prstGeom prst="roundRect">
            <a:avLst/>
          </a:prstGeom>
          <a:solidFill>
            <a:srgbClr val="F2B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5303520"/>
            <a:ext cx="1051560" cy="292608"/>
          </a:xfrm>
          <a:prstGeom prst="rect">
            <a:avLst/>
          </a:prstGeom>
          <a:noFill/>
        </p:spPr>
        <p:txBody>
          <a:bodyPr wrap="none" lIns="0" rIns="0" tIns="36576">
            <a:spAutoFit/>
          </a:bodyPr>
          <a:lstStyle/>
          <a:p>
            <a:pPr algn="ctr"/>
            <a:r>
              <a:rPr sz="1000" b="1">
                <a:solidFill>
                  <a:srgbClr val="0F141A"/>
                </a:solidFill>
                <a:latin typeface="Helvetica Neue"/>
              </a:rPr>
              <a:t>In flight</a:t>
            </a:r>
          </a:p>
        </p:txBody>
      </p:sp>
      <p:sp>
        <p:nvSpPr>
          <p:cNvPr id="36" name="TextBox 35"/>
          <p:cNvSpPr txBox="1"/>
          <p:nvPr/>
        </p:nvSpPr>
        <p:spPr>
          <a:xfrm>
            <a:off x="5897880" y="5303520"/>
            <a:ext cx="5760720" cy="548640"/>
          </a:xfrm>
          <a:prstGeom prst="rect">
            <a:avLst/>
          </a:prstGeom>
          <a:noFill/>
        </p:spPr>
        <p:txBody>
          <a:bodyPr wrap="square" lIns="45720" rIns="45720">
            <a:spAutoFit/>
          </a:bodyPr>
          <a:lstStyle/>
          <a:p>
            <a:pPr algn="l"/>
            <a:r>
              <a:rPr sz="1000" b="0">
                <a:solidFill>
                  <a:srgbClr val="8A95A5"/>
                </a:solidFill>
                <a:latin typeface="Helvetica Neue"/>
              </a:rPr>
              <a:t>Tool reliability, streaming UX refinements, more agent tools (chart export, eval drilldown)</a:t>
            </a:r>
          </a:p>
        </p:txBody>
      </p:sp>
      <p:sp>
        <p:nvSpPr>
          <p:cNvPr id="37" name="TextBox 36"/>
          <p:cNvSpPr txBox="1"/>
          <p:nvPr/>
        </p:nvSpPr>
        <p:spPr>
          <a:xfrm>
            <a:off x="640080" y="5815584"/>
            <a:ext cx="3931920" cy="292608"/>
          </a:xfrm>
          <a:prstGeom prst="rect">
            <a:avLst/>
          </a:prstGeom>
          <a:noFill/>
        </p:spPr>
        <p:txBody>
          <a:bodyPr wrap="square" lIns="45720" rIns="45720">
            <a:spAutoFit/>
          </a:bodyPr>
          <a:lstStyle/>
          <a:p>
            <a:pPr algn="l"/>
            <a:r>
              <a:rPr sz="1200" b="1">
                <a:solidFill>
                  <a:srgbClr val="E6EAF0"/>
                </a:solidFill>
                <a:latin typeface="Helvetica Neue"/>
              </a:rPr>
              <a:t>Observability (OTel + Prometheus)</a:t>
            </a:r>
          </a:p>
        </p:txBody>
      </p:sp>
      <p:sp>
        <p:nvSpPr>
          <p:cNvPr id="38" name="Rounded Rectangle 37"/>
          <p:cNvSpPr/>
          <p:nvPr/>
        </p:nvSpPr>
        <p:spPr>
          <a:xfrm>
            <a:off x="4663440" y="5833872"/>
            <a:ext cx="1051560" cy="292608"/>
          </a:xfrm>
          <a:prstGeom prst="roundRect">
            <a:avLst/>
          </a:prstGeom>
          <a:solidFill>
            <a:srgbClr val="E5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5833872"/>
            <a:ext cx="1051560" cy="292608"/>
          </a:xfrm>
          <a:prstGeom prst="rect">
            <a:avLst/>
          </a:prstGeom>
          <a:noFill/>
        </p:spPr>
        <p:txBody>
          <a:bodyPr wrap="none" lIns="0" rIns="0" tIns="36576">
            <a:spAutoFit/>
          </a:bodyPr>
          <a:lstStyle/>
          <a:p>
            <a:pPr algn="ctr"/>
            <a:r>
              <a:rPr sz="1000" b="1">
                <a:solidFill>
                  <a:srgbClr val="0F141A"/>
                </a:solidFill>
                <a:latin typeface="Helvetica Neue"/>
              </a:rPr>
              <a:t>Coming</a:t>
            </a:r>
          </a:p>
        </p:txBody>
      </p:sp>
      <p:sp>
        <p:nvSpPr>
          <p:cNvPr id="40" name="TextBox 39"/>
          <p:cNvSpPr txBox="1"/>
          <p:nvPr/>
        </p:nvSpPr>
        <p:spPr>
          <a:xfrm>
            <a:off x="5897880" y="5833872"/>
            <a:ext cx="5760720" cy="548640"/>
          </a:xfrm>
          <a:prstGeom prst="rect">
            <a:avLst/>
          </a:prstGeom>
          <a:noFill/>
        </p:spPr>
        <p:txBody>
          <a:bodyPr wrap="square" lIns="45720" rIns="45720">
            <a:spAutoFit/>
          </a:bodyPr>
          <a:lstStyle/>
          <a:p>
            <a:pPr algn="l"/>
            <a:r>
              <a:rPr sz="1000" b="0">
                <a:solidFill>
                  <a:srgbClr val="8A95A5"/>
                </a:solidFill>
                <a:latin typeface="Helvetica Neue"/>
              </a:rPr>
              <a:t>Per-stage spans + counters; logging is in place today, traces and metrics are next</a:t>
            </a:r>
          </a:p>
        </p:txBody>
      </p:sp>
      <p:sp>
        <p:nvSpPr>
          <p:cNvPr id="41" name="TextBox 4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Status snapshot</a:t>
            </a:r>
          </a:p>
        </p:txBody>
      </p:sp>
      <p:sp>
        <p:nvSpPr>
          <p:cNvPr id="42" name="TextBox 4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v0.9 release · Sat May 16,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big picture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Five layers carry every question from English to answer</a:t>
            </a:r>
          </a:p>
        </p:txBody>
      </p:sp>
      <p:sp>
        <p:nvSpPr>
          <p:cNvPr id="4" name="Rounded Rectangle 3"/>
          <p:cNvSpPr/>
          <p:nvPr/>
        </p:nvSpPr>
        <p:spPr>
          <a:xfrm>
            <a:off x="457200" y="1280160"/>
            <a:ext cx="11247120" cy="795528"/>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2377440" cy="365760"/>
          </a:xfrm>
          <a:prstGeom prst="rect">
            <a:avLst/>
          </a:prstGeom>
          <a:noFill/>
        </p:spPr>
        <p:txBody>
          <a:bodyPr wrap="square" lIns="45720" rIns="45720">
            <a:spAutoFit/>
          </a:bodyPr>
          <a:lstStyle/>
          <a:p>
            <a:pPr algn="l"/>
            <a:r>
              <a:rPr sz="1300" b="1">
                <a:solidFill>
                  <a:srgbClr val="8A95A5"/>
                </a:solidFill>
                <a:latin typeface="Helvetica Neue"/>
              </a:rPr>
              <a:t>Question</a:t>
            </a:r>
          </a:p>
        </p:txBody>
      </p:sp>
      <p:sp>
        <p:nvSpPr>
          <p:cNvPr id="6" name="TextBox 5"/>
          <p:cNvSpPr txBox="1"/>
          <p:nvPr/>
        </p:nvSpPr>
        <p:spPr>
          <a:xfrm>
            <a:off x="3108960" y="1371600"/>
            <a:ext cx="8412480" cy="292608"/>
          </a:xfrm>
          <a:prstGeom prst="rect">
            <a:avLst/>
          </a:prstGeom>
          <a:noFill/>
        </p:spPr>
        <p:txBody>
          <a:bodyPr wrap="square" lIns="45720" rIns="45720">
            <a:spAutoFit/>
          </a:bodyPr>
          <a:lstStyle/>
          <a:p>
            <a:pPr algn="l"/>
            <a:r>
              <a:rPr sz="1100" b="0">
                <a:solidFill>
                  <a:srgbClr val="E6EAF0"/>
                </a:solidFill>
                <a:latin typeface="Helvetica Neue"/>
              </a:rPr>
              <a:t>• Analyst types: 'How many Hispanic students enrolled in Grade 9 last year?'</a:t>
            </a:r>
          </a:p>
        </p:txBody>
      </p:sp>
      <p:sp>
        <p:nvSpPr>
          <p:cNvPr id="7" name="Rounded Rectangle 6"/>
          <p:cNvSpPr/>
          <p:nvPr/>
        </p:nvSpPr>
        <p:spPr>
          <a:xfrm>
            <a:off x="457200" y="2148840"/>
            <a:ext cx="11247120" cy="1673352"/>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40280"/>
            <a:ext cx="2377440" cy="365760"/>
          </a:xfrm>
          <a:prstGeom prst="rect">
            <a:avLst/>
          </a:prstGeom>
          <a:noFill/>
        </p:spPr>
        <p:txBody>
          <a:bodyPr wrap="square" lIns="45720" rIns="45720">
            <a:spAutoFit/>
          </a:bodyPr>
          <a:lstStyle/>
          <a:p>
            <a:pPr algn="l"/>
            <a:r>
              <a:rPr sz="1300" b="1">
                <a:solidFill>
                  <a:srgbClr val="4AD09C"/>
                </a:solidFill>
                <a:latin typeface="Helvetica Neue"/>
              </a:rPr>
              <a:t>Knowledge</a:t>
            </a:r>
          </a:p>
        </p:txBody>
      </p:sp>
      <p:sp>
        <p:nvSpPr>
          <p:cNvPr id="9" name="TextBox 8"/>
          <p:cNvSpPr txBox="1"/>
          <p:nvPr/>
        </p:nvSpPr>
        <p:spPr>
          <a:xfrm>
            <a:off x="3108960" y="2240280"/>
            <a:ext cx="8412480" cy="292608"/>
          </a:xfrm>
          <a:prstGeom prst="rect">
            <a:avLst/>
          </a:prstGeom>
          <a:noFill/>
        </p:spPr>
        <p:txBody>
          <a:bodyPr wrap="square" lIns="45720" rIns="45720">
            <a:spAutoFit/>
          </a:bodyPr>
          <a:lstStyle/>
          <a:p>
            <a:pPr algn="l"/>
            <a:r>
              <a:rPr sz="1100" b="0">
                <a:solidFill>
                  <a:srgbClr val="E6EAF0"/>
                </a:solidFill>
                <a:latin typeface="Helvetica Neue"/>
              </a:rPr>
              <a:t>• Classification routes the question to the right Ed-Fi domains</a:t>
            </a:r>
          </a:p>
        </p:txBody>
      </p:sp>
      <p:sp>
        <p:nvSpPr>
          <p:cNvPr id="10" name="TextBox 9"/>
          <p:cNvSpPr txBox="1"/>
          <p:nvPr/>
        </p:nvSpPr>
        <p:spPr>
          <a:xfrm>
            <a:off x="3108960" y="2514600"/>
            <a:ext cx="8412480" cy="292608"/>
          </a:xfrm>
          <a:prstGeom prst="rect">
            <a:avLst/>
          </a:prstGeom>
          <a:noFill/>
        </p:spPr>
        <p:txBody>
          <a:bodyPr wrap="square" lIns="45720" rIns="45720">
            <a:spAutoFit/>
          </a:bodyPr>
          <a:lstStyle/>
          <a:p>
            <a:pPr algn="l"/>
            <a:r>
              <a:rPr sz="1100" b="0">
                <a:solidFill>
                  <a:srgbClr val="E6EAF0"/>
                </a:solidFill>
                <a:latin typeface="Helvetica Neue"/>
              </a:rPr>
              <a:t>• Hybrid retrieval narrows 1,048 tables to a small relevant set</a:t>
            </a:r>
          </a:p>
        </p:txBody>
      </p:sp>
      <p:sp>
        <p:nvSpPr>
          <p:cNvPr id="11" name="TextBox 10"/>
          <p:cNvSpPr txBox="1"/>
          <p:nvPr/>
        </p:nvSpPr>
        <p:spPr>
          <a:xfrm>
            <a:off x="3108960" y="2788920"/>
            <a:ext cx="8412480" cy="292608"/>
          </a:xfrm>
          <a:prstGeom prst="rect">
            <a:avLst/>
          </a:prstGeom>
          <a:noFill/>
        </p:spPr>
        <p:txBody>
          <a:bodyPr wrap="square" lIns="45720" rIns="45720">
            <a:spAutoFit/>
          </a:bodyPr>
          <a:lstStyle/>
          <a:p>
            <a:pPr algn="l"/>
            <a:r>
              <a:rPr sz="1100" b="0">
                <a:solidFill>
                  <a:srgbClr val="E6EAF0"/>
                </a:solidFill>
                <a:latin typeface="Helvetica Neue"/>
              </a:rPr>
              <a:t>• FK graph + Steiner returns the cheapest JOIN tree connecting them</a:t>
            </a:r>
          </a:p>
        </p:txBody>
      </p:sp>
      <p:sp>
        <p:nvSpPr>
          <p:cNvPr id="12" name="TextBox 11"/>
          <p:cNvSpPr txBox="1"/>
          <p:nvPr/>
        </p:nvSpPr>
        <p:spPr>
          <a:xfrm>
            <a:off x="3108960" y="3063240"/>
            <a:ext cx="8412480" cy="292608"/>
          </a:xfrm>
          <a:prstGeom prst="rect">
            <a:avLst/>
          </a:prstGeom>
          <a:noFill/>
        </p:spPr>
        <p:txBody>
          <a:bodyPr wrap="square" lIns="45720" rIns="45720">
            <a:spAutoFit/>
          </a:bodyPr>
          <a:lstStyle/>
          <a:p>
            <a:pPr algn="l"/>
            <a:r>
              <a:rPr sz="1100" b="0">
                <a:solidFill>
                  <a:srgbClr val="E6EAF0"/>
                </a:solidFill>
                <a:latin typeface="Helvetica Neue"/>
              </a:rPr>
              <a:t>• Entity resolver maps real-world terms (Hispanic, Grade 9) to codes</a:t>
            </a:r>
          </a:p>
        </p:txBody>
      </p:sp>
      <p:sp>
        <p:nvSpPr>
          <p:cNvPr id="13" name="Rounded Rectangle 12"/>
          <p:cNvSpPr/>
          <p:nvPr/>
        </p:nvSpPr>
        <p:spPr>
          <a:xfrm>
            <a:off x="457200" y="3895344"/>
            <a:ext cx="11247120" cy="1088136"/>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86783"/>
            <a:ext cx="2377440" cy="365760"/>
          </a:xfrm>
          <a:prstGeom prst="rect">
            <a:avLst/>
          </a:prstGeom>
          <a:noFill/>
        </p:spPr>
        <p:txBody>
          <a:bodyPr wrap="square" lIns="45720" rIns="45720">
            <a:spAutoFit/>
          </a:bodyPr>
          <a:lstStyle/>
          <a:p>
            <a:pPr algn="l"/>
            <a:r>
              <a:rPr sz="1300" b="1">
                <a:solidFill>
                  <a:srgbClr val="4AD09C"/>
                </a:solidFill>
                <a:latin typeface="Helvetica Neue"/>
              </a:rPr>
              <a:t>Pipeline</a:t>
            </a:r>
          </a:p>
        </p:txBody>
      </p:sp>
      <p:sp>
        <p:nvSpPr>
          <p:cNvPr id="15" name="TextBox 14"/>
          <p:cNvSpPr txBox="1"/>
          <p:nvPr/>
        </p:nvSpPr>
        <p:spPr>
          <a:xfrm>
            <a:off x="3108960" y="3986783"/>
            <a:ext cx="8412480" cy="292608"/>
          </a:xfrm>
          <a:prstGeom prst="rect">
            <a:avLst/>
          </a:prstGeom>
          <a:noFill/>
        </p:spPr>
        <p:txBody>
          <a:bodyPr wrap="square" lIns="45720" rIns="45720">
            <a:spAutoFit/>
          </a:bodyPr>
          <a:lstStyle/>
          <a:p>
            <a:pPr algn="l"/>
            <a:r>
              <a:rPr sz="1100" b="0">
                <a:solidFill>
                  <a:srgbClr val="E6EAF0"/>
                </a:solidFill>
                <a:latin typeface="Helvetica Neue"/>
              </a:rPr>
              <a:t>• LLM writes SQL grounded in real columns; validator parses + plans + dry-runs</a:t>
            </a:r>
          </a:p>
        </p:txBody>
      </p:sp>
      <p:sp>
        <p:nvSpPr>
          <p:cNvPr id="16" name="TextBox 15"/>
          <p:cNvSpPr txBox="1"/>
          <p:nvPr/>
        </p:nvSpPr>
        <p:spPr>
          <a:xfrm>
            <a:off x="3108960" y="4261103"/>
            <a:ext cx="8412480" cy="292608"/>
          </a:xfrm>
          <a:prstGeom prst="rect">
            <a:avLst/>
          </a:prstGeom>
          <a:noFill/>
        </p:spPr>
        <p:txBody>
          <a:bodyPr wrap="square" lIns="45720" rIns="45720">
            <a:spAutoFit/>
          </a:bodyPr>
          <a:lstStyle/>
          <a:p>
            <a:pPr algn="l"/>
            <a:r>
              <a:rPr sz="1100" b="0">
                <a:solidFill>
                  <a:srgbClr val="E6EAF0"/>
                </a:solidFill>
                <a:latin typeface="Helvetica Neue"/>
              </a:rPr>
              <a:t>• Repair loop (3 attempts) auto-fixes the common failure modes</a:t>
            </a:r>
          </a:p>
        </p:txBody>
      </p:sp>
      <p:sp>
        <p:nvSpPr>
          <p:cNvPr id="17" name="Rounded Rectangle 16"/>
          <p:cNvSpPr/>
          <p:nvPr/>
        </p:nvSpPr>
        <p:spPr>
          <a:xfrm>
            <a:off x="457200" y="5056631"/>
            <a:ext cx="11247120" cy="1088136"/>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148071"/>
            <a:ext cx="2377440" cy="365760"/>
          </a:xfrm>
          <a:prstGeom prst="rect">
            <a:avLst/>
          </a:prstGeom>
          <a:noFill/>
        </p:spPr>
        <p:txBody>
          <a:bodyPr wrap="square" lIns="45720" rIns="45720">
            <a:spAutoFit/>
          </a:bodyPr>
          <a:lstStyle/>
          <a:p>
            <a:pPr algn="l"/>
            <a:r>
              <a:rPr sz="1300" b="1">
                <a:solidFill>
                  <a:srgbClr val="4AD09C"/>
                </a:solidFill>
                <a:latin typeface="Helvetica Neue"/>
              </a:rPr>
              <a:t>Agentic</a:t>
            </a:r>
          </a:p>
        </p:txBody>
      </p:sp>
      <p:sp>
        <p:nvSpPr>
          <p:cNvPr id="19" name="TextBox 18"/>
          <p:cNvSpPr txBox="1"/>
          <p:nvPr/>
        </p:nvSpPr>
        <p:spPr>
          <a:xfrm>
            <a:off x="3108960" y="5148071"/>
            <a:ext cx="8412480" cy="292608"/>
          </a:xfrm>
          <a:prstGeom prst="rect">
            <a:avLst/>
          </a:prstGeom>
          <a:noFill/>
        </p:spPr>
        <p:txBody>
          <a:bodyPr wrap="square" lIns="45720" rIns="45720">
            <a:spAutoFit/>
          </a:bodyPr>
          <a:lstStyle/>
          <a:p>
            <a:pPr algn="l"/>
            <a:r>
              <a:rPr sz="1100" b="0">
                <a:solidFill>
                  <a:srgbClr val="E6EAF0"/>
                </a:solidFill>
                <a:latin typeface="Helvetica Neue"/>
              </a:rPr>
              <a:t>• Agent loop calls 8 tools across multi-turn conversations</a:t>
            </a:r>
          </a:p>
        </p:txBody>
      </p:sp>
      <p:sp>
        <p:nvSpPr>
          <p:cNvPr id="20" name="TextBox 19"/>
          <p:cNvSpPr txBox="1"/>
          <p:nvPr/>
        </p:nvSpPr>
        <p:spPr>
          <a:xfrm>
            <a:off x="3108960" y="5422391"/>
            <a:ext cx="8412480" cy="292608"/>
          </a:xfrm>
          <a:prstGeom prst="rect">
            <a:avLst/>
          </a:prstGeom>
          <a:noFill/>
        </p:spPr>
        <p:txBody>
          <a:bodyPr wrap="square" lIns="45720" rIns="45720">
            <a:spAutoFit/>
          </a:bodyPr>
          <a:lstStyle/>
          <a:p>
            <a:pPr algn="l"/>
            <a:r>
              <a:rPr sz="1100" b="0">
                <a:solidFill>
                  <a:srgbClr val="E6EAF0"/>
                </a:solidFill>
                <a:latin typeface="Helvetica Neue"/>
              </a:rPr>
              <a:t>• Server-sent streaming gives token-level feedback in the browser</a:t>
            </a:r>
          </a:p>
        </p:txBody>
      </p:sp>
      <p:sp>
        <p:nvSpPr>
          <p:cNvPr id="21" name="Rounded Rectangle 20"/>
          <p:cNvSpPr/>
          <p:nvPr/>
        </p:nvSpPr>
        <p:spPr>
          <a:xfrm>
            <a:off x="457200" y="6217919"/>
            <a:ext cx="11247120" cy="795528"/>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309359"/>
            <a:ext cx="2377440" cy="365760"/>
          </a:xfrm>
          <a:prstGeom prst="rect">
            <a:avLst/>
          </a:prstGeom>
          <a:noFill/>
        </p:spPr>
        <p:txBody>
          <a:bodyPr wrap="square" lIns="45720" rIns="45720">
            <a:spAutoFit/>
          </a:bodyPr>
          <a:lstStyle/>
          <a:p>
            <a:pPr algn="l"/>
            <a:r>
              <a:rPr sz="1300" b="1">
                <a:solidFill>
                  <a:srgbClr val="4AD09C"/>
                </a:solidFill>
                <a:latin typeface="Helvetica Neue"/>
              </a:rPr>
              <a:t>Answer</a:t>
            </a:r>
          </a:p>
        </p:txBody>
      </p:sp>
      <p:sp>
        <p:nvSpPr>
          <p:cNvPr id="23" name="TextBox 22"/>
          <p:cNvSpPr txBox="1"/>
          <p:nvPr/>
        </p:nvSpPr>
        <p:spPr>
          <a:xfrm>
            <a:off x="3108960" y="6309359"/>
            <a:ext cx="8412480" cy="292608"/>
          </a:xfrm>
          <a:prstGeom prst="rect">
            <a:avLst/>
          </a:prstGeom>
          <a:noFill/>
        </p:spPr>
        <p:txBody>
          <a:bodyPr wrap="square" lIns="45720" rIns="45720">
            <a:spAutoFit/>
          </a:bodyPr>
          <a:lstStyle/>
          <a:p>
            <a:pPr algn="l"/>
            <a:r>
              <a:rPr sz="1100" b="0">
                <a:solidFill>
                  <a:srgbClr val="E6EAF0"/>
                </a:solidFill>
                <a:latin typeface="Helvetica Neue"/>
              </a:rPr>
              <a:t>• SQL · rows · auto-picked chart · plain-English summary · cited tables</a:t>
            </a:r>
          </a:p>
        </p:txBody>
      </p:sp>
      <p:sp>
        <p:nvSpPr>
          <p:cNvPr id="24" name="TextBox 23"/>
          <p:cNvSpPr txBox="1"/>
          <p:nvPr/>
        </p:nvSpPr>
        <p:spPr>
          <a:xfrm>
            <a:off x="457200" y="6446520"/>
            <a:ext cx="11247120" cy="274320"/>
          </a:xfrm>
          <a:prstGeom prst="rect">
            <a:avLst/>
          </a:prstGeom>
          <a:noFill/>
        </p:spPr>
        <p:txBody>
          <a:bodyPr wrap="square" lIns="45720" rIns="45720">
            <a:spAutoFit/>
          </a:bodyPr>
          <a:lstStyle/>
          <a:p>
            <a:pPr algn="ctr"/>
            <a:r>
              <a:rPr sz="1100" b="0">
                <a:solidFill>
                  <a:srgbClr val="8A95A5"/>
                </a:solidFill>
                <a:latin typeface="Helvetica Neue"/>
              </a:rPr>
              <a:t>Every layer is built and tested today; the work to May 16 is polish and recorded demo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By the numbers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What the platform actually contains today</a:t>
            </a:r>
          </a:p>
        </p:txBody>
      </p:sp>
      <p:sp>
        <p:nvSpPr>
          <p:cNvPr id="4" name="Rounded Rectangle 3"/>
          <p:cNvSpPr/>
          <p:nvPr/>
        </p:nvSpPr>
        <p:spPr>
          <a:xfrm>
            <a:off x="4572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3383280" cy="365760"/>
          </a:xfrm>
          <a:prstGeom prst="rect">
            <a:avLst/>
          </a:prstGeom>
          <a:noFill/>
        </p:spPr>
        <p:txBody>
          <a:bodyPr wrap="square" lIns="45720" rIns="45720">
            <a:spAutoFit/>
          </a:bodyPr>
          <a:lstStyle/>
          <a:p>
            <a:pPr algn="l"/>
            <a:r>
              <a:rPr sz="1500" b="1">
                <a:solidFill>
                  <a:srgbClr val="4AD09C"/>
                </a:solidFill>
                <a:latin typeface="Helvetica Neue"/>
              </a:rPr>
              <a:t>Knowledge</a:t>
            </a:r>
          </a:p>
        </p:txBody>
      </p:sp>
      <p:sp>
        <p:nvSpPr>
          <p:cNvPr id="6" name="TextBox 5"/>
          <p:cNvSpPr txBox="1"/>
          <p:nvPr/>
        </p:nvSpPr>
        <p:spPr>
          <a:xfrm>
            <a:off x="640080" y="2011680"/>
            <a:ext cx="2286000" cy="292608"/>
          </a:xfrm>
          <a:prstGeom prst="rect">
            <a:avLst/>
          </a:prstGeom>
          <a:noFill/>
        </p:spPr>
        <p:txBody>
          <a:bodyPr wrap="square" lIns="45720" rIns="45720">
            <a:spAutoFit/>
          </a:bodyPr>
          <a:lstStyle/>
          <a:p>
            <a:pPr algn="l"/>
            <a:r>
              <a:rPr sz="1100" b="0">
                <a:solidFill>
                  <a:srgbClr val="8A95A5"/>
                </a:solidFill>
                <a:latin typeface="Helvetica Neue"/>
              </a:rPr>
              <a:t>Tables modeled</a:t>
            </a:r>
          </a:p>
        </p:txBody>
      </p:sp>
      <p:sp>
        <p:nvSpPr>
          <p:cNvPr id="7" name="TextBox 6"/>
          <p:cNvSpPr txBox="1"/>
          <p:nvPr/>
        </p:nvSpPr>
        <p:spPr>
          <a:xfrm>
            <a:off x="2834640" y="2011680"/>
            <a:ext cx="1280160" cy="292608"/>
          </a:xfrm>
          <a:prstGeom prst="rect">
            <a:avLst/>
          </a:prstGeom>
          <a:noFill/>
        </p:spPr>
        <p:txBody>
          <a:bodyPr wrap="square" lIns="45720" rIns="45720">
            <a:spAutoFit/>
          </a:bodyPr>
          <a:lstStyle/>
          <a:p>
            <a:pPr algn="r"/>
            <a:r>
              <a:rPr sz="1200" b="1">
                <a:solidFill>
                  <a:srgbClr val="E6EAF0"/>
                </a:solidFill>
                <a:latin typeface="Helvetica Neue"/>
              </a:rPr>
              <a:t>1,048</a:t>
            </a:r>
          </a:p>
        </p:txBody>
      </p:sp>
      <p:sp>
        <p:nvSpPr>
          <p:cNvPr id="8" name="TextBox 7"/>
          <p:cNvSpPr txBox="1"/>
          <p:nvPr/>
        </p:nvSpPr>
        <p:spPr>
          <a:xfrm>
            <a:off x="640080" y="2514600"/>
            <a:ext cx="2286000" cy="292608"/>
          </a:xfrm>
          <a:prstGeom prst="rect">
            <a:avLst/>
          </a:prstGeom>
          <a:noFill/>
        </p:spPr>
        <p:txBody>
          <a:bodyPr wrap="square" lIns="45720" rIns="45720">
            <a:spAutoFit/>
          </a:bodyPr>
          <a:lstStyle/>
          <a:p>
            <a:pPr algn="l"/>
            <a:r>
              <a:rPr sz="1100" b="0">
                <a:solidFill>
                  <a:srgbClr val="8A95A5"/>
                </a:solidFill>
                <a:latin typeface="Helvetica Neue"/>
              </a:rPr>
              <a:t>Foreign keys parsed</a:t>
            </a:r>
          </a:p>
        </p:txBody>
      </p:sp>
      <p:sp>
        <p:nvSpPr>
          <p:cNvPr id="9" name="TextBox 8"/>
          <p:cNvSpPr txBox="1"/>
          <p:nvPr/>
        </p:nvSpPr>
        <p:spPr>
          <a:xfrm>
            <a:off x="2834640" y="2514600"/>
            <a:ext cx="1280160" cy="292608"/>
          </a:xfrm>
          <a:prstGeom prst="rect">
            <a:avLst/>
          </a:prstGeom>
          <a:noFill/>
        </p:spPr>
        <p:txBody>
          <a:bodyPr wrap="square" lIns="45720" rIns="45720">
            <a:spAutoFit/>
          </a:bodyPr>
          <a:lstStyle/>
          <a:p>
            <a:pPr algn="r"/>
            <a:r>
              <a:rPr sz="1200" b="1">
                <a:solidFill>
                  <a:srgbClr val="E6EAF0"/>
                </a:solidFill>
                <a:latin typeface="Helvetica Neue"/>
              </a:rPr>
              <a:t>1,663</a:t>
            </a:r>
          </a:p>
        </p:txBody>
      </p:sp>
      <p:sp>
        <p:nvSpPr>
          <p:cNvPr id="10" name="TextBox 9"/>
          <p:cNvSpPr txBox="1"/>
          <p:nvPr/>
        </p:nvSpPr>
        <p:spPr>
          <a:xfrm>
            <a:off x="640080" y="3017520"/>
            <a:ext cx="2286000" cy="292608"/>
          </a:xfrm>
          <a:prstGeom prst="rect">
            <a:avLst/>
          </a:prstGeom>
          <a:noFill/>
        </p:spPr>
        <p:txBody>
          <a:bodyPr wrap="square" lIns="45720" rIns="45720">
            <a:spAutoFit/>
          </a:bodyPr>
          <a:lstStyle/>
          <a:p>
            <a:pPr algn="l"/>
            <a:r>
              <a:rPr sz="1100" b="0">
                <a:solidFill>
                  <a:srgbClr val="8A95A5"/>
                </a:solidFill>
                <a:latin typeface="Helvetica Neue"/>
              </a:rPr>
              <a:t>Domains (Ed-Fi taxonomy)</a:t>
            </a:r>
          </a:p>
        </p:txBody>
      </p:sp>
      <p:sp>
        <p:nvSpPr>
          <p:cNvPr id="11" name="TextBox 10"/>
          <p:cNvSpPr txBox="1"/>
          <p:nvPr/>
        </p:nvSpPr>
        <p:spPr>
          <a:xfrm>
            <a:off x="2834640" y="3017520"/>
            <a:ext cx="1280160" cy="292608"/>
          </a:xfrm>
          <a:prstGeom prst="rect">
            <a:avLst/>
          </a:prstGeom>
          <a:noFill/>
        </p:spPr>
        <p:txBody>
          <a:bodyPr wrap="square" lIns="45720" rIns="45720">
            <a:spAutoFit/>
          </a:bodyPr>
          <a:lstStyle/>
          <a:p>
            <a:pPr algn="r"/>
            <a:r>
              <a:rPr sz="1200" b="1">
                <a:solidFill>
                  <a:srgbClr val="E6EAF0"/>
                </a:solidFill>
                <a:latin typeface="Helvetica Neue"/>
              </a:rPr>
              <a:t>35</a:t>
            </a:r>
          </a:p>
        </p:txBody>
      </p:sp>
      <p:sp>
        <p:nvSpPr>
          <p:cNvPr id="12" name="TextBox 11"/>
          <p:cNvSpPr txBox="1"/>
          <p:nvPr/>
        </p:nvSpPr>
        <p:spPr>
          <a:xfrm>
            <a:off x="640080" y="3520439"/>
            <a:ext cx="2286000" cy="292608"/>
          </a:xfrm>
          <a:prstGeom prst="rect">
            <a:avLst/>
          </a:prstGeom>
          <a:noFill/>
        </p:spPr>
        <p:txBody>
          <a:bodyPr wrap="square" lIns="45720" rIns="45720">
            <a:spAutoFit/>
          </a:bodyPr>
          <a:lstStyle/>
          <a:p>
            <a:pPr algn="l"/>
            <a:r>
              <a:rPr sz="1100" b="0">
                <a:solidFill>
                  <a:srgbClr val="8A95A5"/>
                </a:solidFill>
                <a:latin typeface="Helvetica Neue"/>
              </a:rPr>
              <a:t>Catalog entries</a:t>
            </a:r>
          </a:p>
        </p:txBody>
      </p:sp>
      <p:sp>
        <p:nvSpPr>
          <p:cNvPr id="13" name="TextBox 12"/>
          <p:cNvSpPr txBox="1"/>
          <p:nvPr/>
        </p:nvSpPr>
        <p:spPr>
          <a:xfrm>
            <a:off x="2834640" y="3520439"/>
            <a:ext cx="1280160" cy="292608"/>
          </a:xfrm>
          <a:prstGeom prst="rect">
            <a:avLst/>
          </a:prstGeom>
          <a:noFill/>
        </p:spPr>
        <p:txBody>
          <a:bodyPr wrap="square" lIns="45720" rIns="45720">
            <a:spAutoFit/>
          </a:bodyPr>
          <a:lstStyle/>
          <a:p>
            <a:pPr algn="r"/>
            <a:r>
              <a:rPr sz="1200" b="1">
                <a:solidFill>
                  <a:srgbClr val="E6EAF0"/>
                </a:solidFill>
                <a:latin typeface="Helvetica Neue"/>
              </a:rPr>
              <a:t>829</a:t>
            </a:r>
          </a:p>
        </p:txBody>
      </p:sp>
      <p:sp>
        <p:nvSpPr>
          <p:cNvPr id="14" name="TextBox 13"/>
          <p:cNvSpPr txBox="1"/>
          <p:nvPr/>
        </p:nvSpPr>
        <p:spPr>
          <a:xfrm>
            <a:off x="640080" y="4023359"/>
            <a:ext cx="2286000" cy="292608"/>
          </a:xfrm>
          <a:prstGeom prst="rect">
            <a:avLst/>
          </a:prstGeom>
          <a:noFill/>
        </p:spPr>
        <p:txBody>
          <a:bodyPr wrap="square" lIns="45720" rIns="45720">
            <a:spAutoFit/>
          </a:bodyPr>
          <a:lstStyle/>
          <a:p>
            <a:pPr algn="l"/>
            <a:r>
              <a:rPr sz="1100" b="0">
                <a:solidFill>
                  <a:srgbClr val="8A95A5"/>
                </a:solidFill>
                <a:latin typeface="Helvetica Neue"/>
              </a:rPr>
              <a:t>APSP matrix</a:t>
            </a:r>
          </a:p>
        </p:txBody>
      </p:sp>
      <p:sp>
        <p:nvSpPr>
          <p:cNvPr id="15" name="TextBox 14"/>
          <p:cNvSpPr txBox="1"/>
          <p:nvPr/>
        </p:nvSpPr>
        <p:spPr>
          <a:xfrm>
            <a:off x="2834640" y="4023359"/>
            <a:ext cx="1280160" cy="292608"/>
          </a:xfrm>
          <a:prstGeom prst="rect">
            <a:avLst/>
          </a:prstGeom>
          <a:noFill/>
        </p:spPr>
        <p:txBody>
          <a:bodyPr wrap="square" lIns="45720" rIns="45720">
            <a:spAutoFit/>
          </a:bodyPr>
          <a:lstStyle/>
          <a:p>
            <a:pPr algn="r"/>
            <a:r>
              <a:rPr sz="1200" b="1">
                <a:solidFill>
                  <a:srgbClr val="E6EAF0"/>
                </a:solidFill>
                <a:latin typeface="Helvetica Neue"/>
              </a:rPr>
              <a:t>829 × 829</a:t>
            </a:r>
          </a:p>
        </p:txBody>
      </p:sp>
      <p:sp>
        <p:nvSpPr>
          <p:cNvPr id="16" name="TextBox 15"/>
          <p:cNvSpPr txBox="1"/>
          <p:nvPr/>
        </p:nvSpPr>
        <p:spPr>
          <a:xfrm>
            <a:off x="640080" y="4526279"/>
            <a:ext cx="2286000" cy="292608"/>
          </a:xfrm>
          <a:prstGeom prst="rect">
            <a:avLst/>
          </a:prstGeom>
          <a:noFill/>
        </p:spPr>
        <p:txBody>
          <a:bodyPr wrap="square" lIns="45720" rIns="45720">
            <a:spAutoFit/>
          </a:bodyPr>
          <a:lstStyle/>
          <a:p>
            <a:pPr algn="l"/>
            <a:r>
              <a:rPr sz="1100" b="0">
                <a:solidFill>
                  <a:srgbClr val="8A95A5"/>
                </a:solidFill>
                <a:latin typeface="Helvetica Neue"/>
              </a:rPr>
              <a:t>Steiner p99 latency</a:t>
            </a:r>
          </a:p>
        </p:txBody>
      </p:sp>
      <p:sp>
        <p:nvSpPr>
          <p:cNvPr id="17" name="TextBox 16"/>
          <p:cNvSpPr txBox="1"/>
          <p:nvPr/>
        </p:nvSpPr>
        <p:spPr>
          <a:xfrm>
            <a:off x="2834640" y="4526279"/>
            <a:ext cx="1280160" cy="292608"/>
          </a:xfrm>
          <a:prstGeom prst="rect">
            <a:avLst/>
          </a:prstGeom>
          <a:noFill/>
        </p:spPr>
        <p:txBody>
          <a:bodyPr wrap="square" lIns="45720" rIns="45720">
            <a:spAutoFit/>
          </a:bodyPr>
          <a:lstStyle/>
          <a:p>
            <a:pPr algn="r"/>
            <a:r>
              <a:rPr sz="1200" b="1">
                <a:solidFill>
                  <a:srgbClr val="E6EAF0"/>
                </a:solidFill>
                <a:latin typeface="Helvetica Neue"/>
              </a:rPr>
              <a:t>&lt; 1 ms</a:t>
            </a:r>
          </a:p>
        </p:txBody>
      </p:sp>
      <p:sp>
        <p:nvSpPr>
          <p:cNvPr id="18" name="Rounded Rectangle 17"/>
          <p:cNvSpPr/>
          <p:nvPr/>
        </p:nvSpPr>
        <p:spPr>
          <a:xfrm>
            <a:off x="43434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1554480"/>
            <a:ext cx="3383280" cy="365760"/>
          </a:xfrm>
          <a:prstGeom prst="rect">
            <a:avLst/>
          </a:prstGeom>
          <a:noFill/>
        </p:spPr>
        <p:txBody>
          <a:bodyPr wrap="square" lIns="45720" rIns="45720">
            <a:spAutoFit/>
          </a:bodyPr>
          <a:lstStyle/>
          <a:p>
            <a:pPr algn="l"/>
            <a:r>
              <a:rPr sz="1500" b="1">
                <a:solidFill>
                  <a:srgbClr val="4AD09C"/>
                </a:solidFill>
                <a:latin typeface="Helvetica Neue"/>
              </a:rPr>
              <a:t>Pipeline</a:t>
            </a:r>
          </a:p>
        </p:txBody>
      </p:sp>
      <p:sp>
        <p:nvSpPr>
          <p:cNvPr id="20" name="TextBox 19"/>
          <p:cNvSpPr txBox="1"/>
          <p:nvPr/>
        </p:nvSpPr>
        <p:spPr>
          <a:xfrm>
            <a:off x="4526280" y="2011680"/>
            <a:ext cx="2286000" cy="292608"/>
          </a:xfrm>
          <a:prstGeom prst="rect">
            <a:avLst/>
          </a:prstGeom>
          <a:noFill/>
        </p:spPr>
        <p:txBody>
          <a:bodyPr wrap="square" lIns="45720" rIns="45720">
            <a:spAutoFit/>
          </a:bodyPr>
          <a:lstStyle/>
          <a:p>
            <a:pPr algn="l"/>
            <a:r>
              <a:rPr sz="1100" b="0">
                <a:solidFill>
                  <a:srgbClr val="8A95A5"/>
                </a:solidFill>
                <a:latin typeface="Helvetica Neue"/>
              </a:rPr>
              <a:t>Pipeline stages end-to-end</a:t>
            </a:r>
          </a:p>
        </p:txBody>
      </p:sp>
      <p:sp>
        <p:nvSpPr>
          <p:cNvPr id="21" name="TextBox 20"/>
          <p:cNvSpPr txBox="1"/>
          <p:nvPr/>
        </p:nvSpPr>
        <p:spPr>
          <a:xfrm>
            <a:off x="6720840" y="2011680"/>
            <a:ext cx="1280160" cy="292608"/>
          </a:xfrm>
          <a:prstGeom prst="rect">
            <a:avLst/>
          </a:prstGeom>
          <a:noFill/>
        </p:spPr>
        <p:txBody>
          <a:bodyPr wrap="square" lIns="45720" rIns="45720">
            <a:spAutoFit/>
          </a:bodyPr>
          <a:lstStyle/>
          <a:p>
            <a:pPr algn="r"/>
            <a:r>
              <a:rPr sz="1200" b="1">
                <a:solidFill>
                  <a:srgbClr val="E6EAF0"/>
                </a:solidFill>
                <a:latin typeface="Helvetica Neue"/>
              </a:rPr>
              <a:t>9</a:t>
            </a:r>
          </a:p>
        </p:txBody>
      </p:sp>
      <p:sp>
        <p:nvSpPr>
          <p:cNvPr id="22" name="TextBox 21"/>
          <p:cNvSpPr txBox="1"/>
          <p:nvPr/>
        </p:nvSpPr>
        <p:spPr>
          <a:xfrm>
            <a:off x="4526280" y="2514600"/>
            <a:ext cx="2286000" cy="292608"/>
          </a:xfrm>
          <a:prstGeom prst="rect">
            <a:avLst/>
          </a:prstGeom>
          <a:noFill/>
        </p:spPr>
        <p:txBody>
          <a:bodyPr wrap="square" lIns="45720" rIns="45720">
            <a:spAutoFit/>
          </a:bodyPr>
          <a:lstStyle/>
          <a:p>
            <a:pPr algn="l"/>
            <a:r>
              <a:rPr sz="1100" b="0">
                <a:solidFill>
                  <a:srgbClr val="8A95A5"/>
                </a:solidFill>
                <a:latin typeface="Helvetica Neue"/>
              </a:rPr>
              <a:t>Repair attempts before fail</a:t>
            </a:r>
          </a:p>
        </p:txBody>
      </p:sp>
      <p:sp>
        <p:nvSpPr>
          <p:cNvPr id="23" name="TextBox 22"/>
          <p:cNvSpPr txBox="1"/>
          <p:nvPr/>
        </p:nvSpPr>
        <p:spPr>
          <a:xfrm>
            <a:off x="6720840" y="2514600"/>
            <a:ext cx="1280160" cy="292608"/>
          </a:xfrm>
          <a:prstGeom prst="rect">
            <a:avLst/>
          </a:prstGeom>
          <a:noFill/>
        </p:spPr>
        <p:txBody>
          <a:bodyPr wrap="square" lIns="45720" rIns="45720">
            <a:spAutoFit/>
          </a:bodyPr>
          <a:lstStyle/>
          <a:p>
            <a:pPr algn="r"/>
            <a:r>
              <a:rPr sz="1200" b="1">
                <a:solidFill>
                  <a:srgbClr val="E6EAF0"/>
                </a:solidFill>
                <a:latin typeface="Helvetica Neue"/>
              </a:rPr>
              <a:t>3</a:t>
            </a:r>
          </a:p>
        </p:txBody>
      </p:sp>
      <p:sp>
        <p:nvSpPr>
          <p:cNvPr id="24" name="TextBox 23"/>
          <p:cNvSpPr txBox="1"/>
          <p:nvPr/>
        </p:nvSpPr>
        <p:spPr>
          <a:xfrm>
            <a:off x="4526280" y="3017520"/>
            <a:ext cx="2286000" cy="292608"/>
          </a:xfrm>
          <a:prstGeom prst="rect">
            <a:avLst/>
          </a:prstGeom>
          <a:noFill/>
        </p:spPr>
        <p:txBody>
          <a:bodyPr wrap="square" lIns="45720" rIns="45720">
            <a:spAutoFit/>
          </a:bodyPr>
          <a:lstStyle/>
          <a:p>
            <a:pPr algn="l"/>
            <a:r>
              <a:rPr sz="1100" b="0">
                <a:solidFill>
                  <a:srgbClr val="8A95A5"/>
                </a:solidFill>
                <a:latin typeface="Helvetica Neue"/>
              </a:rPr>
              <a:t>Entity-resolver tiers</a:t>
            </a:r>
          </a:p>
        </p:txBody>
      </p:sp>
      <p:sp>
        <p:nvSpPr>
          <p:cNvPr id="25" name="TextBox 24"/>
          <p:cNvSpPr txBox="1"/>
          <p:nvPr/>
        </p:nvSpPr>
        <p:spPr>
          <a:xfrm>
            <a:off x="6720840" y="3017520"/>
            <a:ext cx="1280160" cy="292608"/>
          </a:xfrm>
          <a:prstGeom prst="rect">
            <a:avLst/>
          </a:prstGeom>
          <a:noFill/>
        </p:spPr>
        <p:txBody>
          <a:bodyPr wrap="square" lIns="45720" rIns="45720">
            <a:spAutoFit/>
          </a:bodyPr>
          <a:lstStyle/>
          <a:p>
            <a:pPr algn="r"/>
            <a:r>
              <a:rPr sz="1200" b="1">
                <a:solidFill>
                  <a:srgbClr val="E6EAF0"/>
                </a:solidFill>
                <a:latin typeface="Helvetica Neue"/>
              </a:rPr>
              <a:t>4</a:t>
            </a:r>
          </a:p>
        </p:txBody>
      </p:sp>
      <p:sp>
        <p:nvSpPr>
          <p:cNvPr id="26" name="TextBox 25"/>
          <p:cNvSpPr txBox="1"/>
          <p:nvPr/>
        </p:nvSpPr>
        <p:spPr>
          <a:xfrm>
            <a:off x="4526280" y="3520439"/>
            <a:ext cx="2286000" cy="292608"/>
          </a:xfrm>
          <a:prstGeom prst="rect">
            <a:avLst/>
          </a:prstGeom>
          <a:noFill/>
        </p:spPr>
        <p:txBody>
          <a:bodyPr wrap="square" lIns="45720" rIns="45720">
            <a:spAutoFit/>
          </a:bodyPr>
          <a:lstStyle/>
          <a:p>
            <a:pPr algn="l"/>
            <a:r>
              <a:rPr sz="1100" b="0">
                <a:solidFill>
                  <a:srgbClr val="8A95A5"/>
                </a:solidFill>
                <a:latin typeface="Helvetica Neue"/>
              </a:rPr>
              <a:t>Hybrid retrieval blend</a:t>
            </a:r>
          </a:p>
        </p:txBody>
      </p:sp>
      <p:sp>
        <p:nvSpPr>
          <p:cNvPr id="27" name="TextBox 26"/>
          <p:cNvSpPr txBox="1"/>
          <p:nvPr/>
        </p:nvSpPr>
        <p:spPr>
          <a:xfrm>
            <a:off x="6720840" y="3520439"/>
            <a:ext cx="1280160" cy="292608"/>
          </a:xfrm>
          <a:prstGeom prst="rect">
            <a:avLst/>
          </a:prstGeom>
          <a:noFill/>
        </p:spPr>
        <p:txBody>
          <a:bodyPr wrap="square" lIns="45720" rIns="45720">
            <a:spAutoFit/>
          </a:bodyPr>
          <a:lstStyle/>
          <a:p>
            <a:pPr algn="r"/>
            <a:r>
              <a:rPr sz="1200" b="1">
                <a:solidFill>
                  <a:srgbClr val="E6EAF0"/>
                </a:solidFill>
                <a:latin typeface="Helvetica Neue"/>
              </a:rPr>
              <a:t>0.6 / 0.4</a:t>
            </a:r>
          </a:p>
        </p:txBody>
      </p:sp>
      <p:sp>
        <p:nvSpPr>
          <p:cNvPr id="28" name="TextBox 27"/>
          <p:cNvSpPr txBox="1"/>
          <p:nvPr/>
        </p:nvSpPr>
        <p:spPr>
          <a:xfrm>
            <a:off x="4526280" y="4023359"/>
            <a:ext cx="2286000" cy="292608"/>
          </a:xfrm>
          <a:prstGeom prst="rect">
            <a:avLst/>
          </a:prstGeom>
          <a:noFill/>
        </p:spPr>
        <p:txBody>
          <a:bodyPr wrap="square" lIns="45720" rIns="45720">
            <a:spAutoFit/>
          </a:bodyPr>
          <a:lstStyle/>
          <a:p>
            <a:pPr algn="l"/>
            <a:r>
              <a:rPr sz="1100" b="0">
                <a:solidFill>
                  <a:srgbClr val="8A95A5"/>
                </a:solidFill>
                <a:latin typeface="Helvetica Neue"/>
              </a:rPr>
              <a:t>Gold-store tests passing</a:t>
            </a:r>
          </a:p>
        </p:txBody>
      </p:sp>
      <p:sp>
        <p:nvSpPr>
          <p:cNvPr id="29" name="TextBox 28"/>
          <p:cNvSpPr txBox="1"/>
          <p:nvPr/>
        </p:nvSpPr>
        <p:spPr>
          <a:xfrm>
            <a:off x="6720840" y="4023359"/>
            <a:ext cx="1280160" cy="292608"/>
          </a:xfrm>
          <a:prstGeom prst="rect">
            <a:avLst/>
          </a:prstGeom>
          <a:noFill/>
        </p:spPr>
        <p:txBody>
          <a:bodyPr wrap="square" lIns="45720" rIns="45720">
            <a:spAutoFit/>
          </a:bodyPr>
          <a:lstStyle/>
          <a:p>
            <a:pPr algn="r"/>
            <a:r>
              <a:rPr sz="1200" b="1">
                <a:solidFill>
                  <a:srgbClr val="E6EAF0"/>
                </a:solidFill>
                <a:latin typeface="Helvetica Neue"/>
              </a:rPr>
              <a:t>7/7</a:t>
            </a:r>
          </a:p>
        </p:txBody>
      </p:sp>
      <p:sp>
        <p:nvSpPr>
          <p:cNvPr id="30" name="TextBox 29"/>
          <p:cNvSpPr txBox="1"/>
          <p:nvPr/>
        </p:nvSpPr>
        <p:spPr>
          <a:xfrm>
            <a:off x="4526280" y="4526279"/>
            <a:ext cx="2286000" cy="292608"/>
          </a:xfrm>
          <a:prstGeom prst="rect">
            <a:avLst/>
          </a:prstGeom>
          <a:noFill/>
        </p:spPr>
        <p:txBody>
          <a:bodyPr wrap="square" lIns="45720" rIns="45720">
            <a:spAutoFit/>
          </a:bodyPr>
          <a:lstStyle/>
          <a:p>
            <a:pPr algn="l"/>
            <a:r>
              <a:rPr sz="1100" b="0">
                <a:solidFill>
                  <a:srgbClr val="8A95A5"/>
                </a:solidFill>
                <a:latin typeface="Helvetica Neue"/>
              </a:rPr>
              <a:t>Pipeline tests passing</a:t>
            </a:r>
          </a:p>
        </p:txBody>
      </p:sp>
      <p:sp>
        <p:nvSpPr>
          <p:cNvPr id="31" name="TextBox 30"/>
          <p:cNvSpPr txBox="1"/>
          <p:nvPr/>
        </p:nvSpPr>
        <p:spPr>
          <a:xfrm>
            <a:off x="6720840" y="4526279"/>
            <a:ext cx="1280160" cy="292608"/>
          </a:xfrm>
          <a:prstGeom prst="rect">
            <a:avLst/>
          </a:prstGeom>
          <a:noFill/>
        </p:spPr>
        <p:txBody>
          <a:bodyPr wrap="square" lIns="45720" rIns="45720">
            <a:spAutoFit/>
          </a:bodyPr>
          <a:lstStyle/>
          <a:p>
            <a:pPr algn="r"/>
            <a:r>
              <a:rPr sz="1200" b="1">
                <a:solidFill>
                  <a:srgbClr val="E6EAF0"/>
                </a:solidFill>
                <a:latin typeface="Helvetica Neue"/>
              </a:rPr>
              <a:t>4/4</a:t>
            </a:r>
          </a:p>
        </p:txBody>
      </p:sp>
      <p:sp>
        <p:nvSpPr>
          <p:cNvPr id="32" name="Rounded Rectangle 31"/>
          <p:cNvSpPr/>
          <p:nvPr/>
        </p:nvSpPr>
        <p:spPr>
          <a:xfrm>
            <a:off x="8229600" y="1463040"/>
            <a:ext cx="3749039"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80" y="1554480"/>
            <a:ext cx="3383280" cy="365760"/>
          </a:xfrm>
          <a:prstGeom prst="rect">
            <a:avLst/>
          </a:prstGeom>
          <a:noFill/>
        </p:spPr>
        <p:txBody>
          <a:bodyPr wrap="square" lIns="45720" rIns="45720">
            <a:spAutoFit/>
          </a:bodyPr>
          <a:lstStyle/>
          <a:p>
            <a:pPr algn="l"/>
            <a:r>
              <a:rPr sz="1500" b="1">
                <a:solidFill>
                  <a:srgbClr val="4AD09C"/>
                </a:solidFill>
                <a:latin typeface="Helvetica Neue"/>
              </a:rPr>
              <a:t>Surface</a:t>
            </a:r>
          </a:p>
        </p:txBody>
      </p:sp>
      <p:sp>
        <p:nvSpPr>
          <p:cNvPr id="34" name="TextBox 33"/>
          <p:cNvSpPr txBox="1"/>
          <p:nvPr/>
        </p:nvSpPr>
        <p:spPr>
          <a:xfrm>
            <a:off x="8412480" y="2011680"/>
            <a:ext cx="2286000" cy="292608"/>
          </a:xfrm>
          <a:prstGeom prst="rect">
            <a:avLst/>
          </a:prstGeom>
          <a:noFill/>
        </p:spPr>
        <p:txBody>
          <a:bodyPr wrap="square" lIns="45720" rIns="45720">
            <a:spAutoFit/>
          </a:bodyPr>
          <a:lstStyle/>
          <a:p>
            <a:pPr algn="l"/>
            <a:r>
              <a:rPr sz="1100" b="0">
                <a:solidFill>
                  <a:srgbClr val="8A95A5"/>
                </a:solidFill>
                <a:latin typeface="Helvetica Neue"/>
              </a:rPr>
              <a:t>API endpoints</a:t>
            </a:r>
          </a:p>
        </p:txBody>
      </p:sp>
      <p:sp>
        <p:nvSpPr>
          <p:cNvPr id="35" name="TextBox 34"/>
          <p:cNvSpPr txBox="1"/>
          <p:nvPr/>
        </p:nvSpPr>
        <p:spPr>
          <a:xfrm>
            <a:off x="10607040" y="2011680"/>
            <a:ext cx="1280160" cy="292608"/>
          </a:xfrm>
          <a:prstGeom prst="rect">
            <a:avLst/>
          </a:prstGeom>
          <a:noFill/>
        </p:spPr>
        <p:txBody>
          <a:bodyPr wrap="square" lIns="45720" rIns="45720">
            <a:spAutoFit/>
          </a:bodyPr>
          <a:lstStyle/>
          <a:p>
            <a:pPr algn="r"/>
            <a:r>
              <a:rPr sz="1200" b="1">
                <a:solidFill>
                  <a:srgbClr val="E6EAF0"/>
                </a:solidFill>
                <a:latin typeface="Helvetica Neue"/>
              </a:rPr>
              <a:t>18</a:t>
            </a:r>
          </a:p>
        </p:txBody>
      </p:sp>
      <p:sp>
        <p:nvSpPr>
          <p:cNvPr id="36" name="TextBox 35"/>
          <p:cNvSpPr txBox="1"/>
          <p:nvPr/>
        </p:nvSpPr>
        <p:spPr>
          <a:xfrm>
            <a:off x="8412480" y="2514600"/>
            <a:ext cx="2286000" cy="292608"/>
          </a:xfrm>
          <a:prstGeom prst="rect">
            <a:avLst/>
          </a:prstGeom>
          <a:noFill/>
        </p:spPr>
        <p:txBody>
          <a:bodyPr wrap="square" lIns="45720" rIns="45720">
            <a:spAutoFit/>
          </a:bodyPr>
          <a:lstStyle/>
          <a:p>
            <a:pPr algn="l"/>
            <a:r>
              <a:rPr sz="1100" b="0">
                <a:solidFill>
                  <a:srgbClr val="8A95A5"/>
                </a:solidFill>
                <a:latin typeface="Helvetica Neue"/>
              </a:rPr>
              <a:t>WebSocket streaming routes</a:t>
            </a:r>
          </a:p>
        </p:txBody>
      </p:sp>
      <p:sp>
        <p:nvSpPr>
          <p:cNvPr id="37" name="TextBox 36"/>
          <p:cNvSpPr txBox="1"/>
          <p:nvPr/>
        </p:nvSpPr>
        <p:spPr>
          <a:xfrm>
            <a:off x="10607040" y="2514600"/>
            <a:ext cx="1280160" cy="292608"/>
          </a:xfrm>
          <a:prstGeom prst="rect">
            <a:avLst/>
          </a:prstGeom>
          <a:noFill/>
        </p:spPr>
        <p:txBody>
          <a:bodyPr wrap="square" lIns="45720" rIns="45720">
            <a:spAutoFit/>
          </a:bodyPr>
          <a:lstStyle/>
          <a:p>
            <a:pPr algn="r"/>
            <a:r>
              <a:rPr sz="1200" b="1">
                <a:solidFill>
                  <a:srgbClr val="E6EAF0"/>
                </a:solidFill>
                <a:latin typeface="Helvetica Neue"/>
              </a:rPr>
              <a:t>2</a:t>
            </a:r>
          </a:p>
        </p:txBody>
      </p:sp>
      <p:sp>
        <p:nvSpPr>
          <p:cNvPr id="38" name="TextBox 37"/>
          <p:cNvSpPr txBox="1"/>
          <p:nvPr/>
        </p:nvSpPr>
        <p:spPr>
          <a:xfrm>
            <a:off x="8412480" y="3017520"/>
            <a:ext cx="2286000" cy="292608"/>
          </a:xfrm>
          <a:prstGeom prst="rect">
            <a:avLst/>
          </a:prstGeom>
          <a:noFill/>
        </p:spPr>
        <p:txBody>
          <a:bodyPr wrap="square" lIns="45720" rIns="45720">
            <a:spAutoFit/>
          </a:bodyPr>
          <a:lstStyle/>
          <a:p>
            <a:pPr algn="l"/>
            <a:r>
              <a:rPr sz="1100" b="0">
                <a:solidFill>
                  <a:srgbClr val="8A95A5"/>
                </a:solidFill>
                <a:latin typeface="Helvetica Neue"/>
              </a:rPr>
              <a:t>Frontend pages</a:t>
            </a:r>
          </a:p>
        </p:txBody>
      </p:sp>
      <p:sp>
        <p:nvSpPr>
          <p:cNvPr id="39" name="TextBox 38"/>
          <p:cNvSpPr txBox="1"/>
          <p:nvPr/>
        </p:nvSpPr>
        <p:spPr>
          <a:xfrm>
            <a:off x="10607040" y="3017520"/>
            <a:ext cx="1280160" cy="292608"/>
          </a:xfrm>
          <a:prstGeom prst="rect">
            <a:avLst/>
          </a:prstGeom>
          <a:noFill/>
        </p:spPr>
        <p:txBody>
          <a:bodyPr wrap="square" lIns="45720" rIns="45720">
            <a:spAutoFit/>
          </a:bodyPr>
          <a:lstStyle/>
          <a:p>
            <a:pPr algn="r"/>
            <a:r>
              <a:rPr sz="1200" b="1">
                <a:solidFill>
                  <a:srgbClr val="E6EAF0"/>
                </a:solidFill>
                <a:latin typeface="Helvetica Neue"/>
              </a:rPr>
              <a:t>7</a:t>
            </a:r>
          </a:p>
        </p:txBody>
      </p:sp>
      <p:sp>
        <p:nvSpPr>
          <p:cNvPr id="40" name="TextBox 39"/>
          <p:cNvSpPr txBox="1"/>
          <p:nvPr/>
        </p:nvSpPr>
        <p:spPr>
          <a:xfrm>
            <a:off x="8412480" y="3520439"/>
            <a:ext cx="2286000" cy="292608"/>
          </a:xfrm>
          <a:prstGeom prst="rect">
            <a:avLst/>
          </a:prstGeom>
          <a:noFill/>
        </p:spPr>
        <p:txBody>
          <a:bodyPr wrap="square" lIns="45720" rIns="45720">
            <a:spAutoFit/>
          </a:bodyPr>
          <a:lstStyle/>
          <a:p>
            <a:pPr algn="l"/>
            <a:r>
              <a:rPr sz="1100" b="0">
                <a:solidFill>
                  <a:srgbClr val="8A95A5"/>
                </a:solidFill>
                <a:latin typeface="Helvetica Neue"/>
              </a:rPr>
              <a:t>Agent tools wired</a:t>
            </a:r>
          </a:p>
        </p:txBody>
      </p:sp>
      <p:sp>
        <p:nvSpPr>
          <p:cNvPr id="41" name="TextBox 40"/>
          <p:cNvSpPr txBox="1"/>
          <p:nvPr/>
        </p:nvSpPr>
        <p:spPr>
          <a:xfrm>
            <a:off x="10607040" y="3520439"/>
            <a:ext cx="1280160" cy="292608"/>
          </a:xfrm>
          <a:prstGeom prst="rect">
            <a:avLst/>
          </a:prstGeom>
          <a:noFill/>
        </p:spPr>
        <p:txBody>
          <a:bodyPr wrap="square" lIns="45720" rIns="45720">
            <a:spAutoFit/>
          </a:bodyPr>
          <a:lstStyle/>
          <a:p>
            <a:pPr algn="r"/>
            <a:r>
              <a:rPr sz="1200" b="1">
                <a:solidFill>
                  <a:srgbClr val="E6EAF0"/>
                </a:solidFill>
                <a:latin typeface="Helvetica Neue"/>
              </a:rPr>
              <a:t>8</a:t>
            </a:r>
          </a:p>
        </p:txBody>
      </p:sp>
      <p:sp>
        <p:nvSpPr>
          <p:cNvPr id="42" name="TextBox 41"/>
          <p:cNvSpPr txBox="1"/>
          <p:nvPr/>
        </p:nvSpPr>
        <p:spPr>
          <a:xfrm>
            <a:off x="8412480" y="4023359"/>
            <a:ext cx="2286000" cy="292608"/>
          </a:xfrm>
          <a:prstGeom prst="rect">
            <a:avLst/>
          </a:prstGeom>
          <a:noFill/>
        </p:spPr>
        <p:txBody>
          <a:bodyPr wrap="square" lIns="45720" rIns="45720">
            <a:spAutoFit/>
          </a:bodyPr>
          <a:lstStyle/>
          <a:p>
            <a:pPr algn="l"/>
            <a:r>
              <a:rPr sz="1100" b="0">
                <a:solidFill>
                  <a:srgbClr val="8A95A5"/>
                </a:solidFill>
                <a:latin typeface="Helvetica Neue"/>
              </a:rPr>
              <a:t>LLM providers integrated</a:t>
            </a:r>
          </a:p>
        </p:txBody>
      </p:sp>
      <p:sp>
        <p:nvSpPr>
          <p:cNvPr id="43" name="TextBox 42"/>
          <p:cNvSpPr txBox="1"/>
          <p:nvPr/>
        </p:nvSpPr>
        <p:spPr>
          <a:xfrm>
            <a:off x="10607040" y="4023359"/>
            <a:ext cx="1280160" cy="292608"/>
          </a:xfrm>
          <a:prstGeom prst="rect">
            <a:avLst/>
          </a:prstGeom>
          <a:noFill/>
        </p:spPr>
        <p:txBody>
          <a:bodyPr wrap="square" lIns="45720" rIns="45720">
            <a:spAutoFit/>
          </a:bodyPr>
          <a:lstStyle/>
          <a:p>
            <a:pPr algn="r"/>
            <a:r>
              <a:rPr sz="1200" b="1">
                <a:solidFill>
                  <a:srgbClr val="E6EAF0"/>
                </a:solidFill>
                <a:latin typeface="Helvetica Neue"/>
              </a:rPr>
              <a:t>5</a:t>
            </a:r>
          </a:p>
        </p:txBody>
      </p:sp>
      <p:sp>
        <p:nvSpPr>
          <p:cNvPr id="44" name="TextBox 43"/>
          <p:cNvSpPr txBox="1"/>
          <p:nvPr/>
        </p:nvSpPr>
        <p:spPr>
          <a:xfrm>
            <a:off x="8412480" y="4526279"/>
            <a:ext cx="2286000" cy="292608"/>
          </a:xfrm>
          <a:prstGeom prst="rect">
            <a:avLst/>
          </a:prstGeom>
          <a:noFill/>
        </p:spPr>
        <p:txBody>
          <a:bodyPr wrap="square" lIns="45720" rIns="45720">
            <a:spAutoFit/>
          </a:bodyPr>
          <a:lstStyle/>
          <a:p>
            <a:pPr algn="l"/>
            <a:r>
              <a:rPr sz="1100" b="0">
                <a:solidFill>
                  <a:srgbClr val="8A95A5"/>
                </a:solidFill>
                <a:latin typeface="Helvetica Neue"/>
              </a:rPr>
              <a:t>Database dialects supported</a:t>
            </a:r>
          </a:p>
        </p:txBody>
      </p:sp>
      <p:sp>
        <p:nvSpPr>
          <p:cNvPr id="45" name="TextBox 44"/>
          <p:cNvSpPr txBox="1"/>
          <p:nvPr/>
        </p:nvSpPr>
        <p:spPr>
          <a:xfrm>
            <a:off x="10607040" y="4526279"/>
            <a:ext cx="1280160" cy="292608"/>
          </a:xfrm>
          <a:prstGeom prst="rect">
            <a:avLst/>
          </a:prstGeom>
          <a:noFill/>
        </p:spPr>
        <p:txBody>
          <a:bodyPr wrap="square" lIns="45720" rIns="45720">
            <a:spAutoFit/>
          </a:bodyPr>
          <a:lstStyle/>
          <a:p>
            <a:pPr algn="r"/>
            <a:r>
              <a:rPr sz="1200" b="1">
                <a:solidFill>
                  <a:srgbClr val="E6EAF0"/>
                </a:solidFill>
                <a:latin typeface="Helvetica Neue"/>
              </a:rPr>
              <a:t>3</a:t>
            </a:r>
          </a:p>
        </p:txBody>
      </p:sp>
      <p:sp>
        <p:nvSpPr>
          <p:cNvPr id="46" name="TextBox 4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Numbers are from the latest test run + Ed-Fi DS 6.1.0 build</a:t>
            </a:r>
          </a:p>
        </p:txBody>
      </p:sp>
      <p:sp>
        <p:nvSpPr>
          <p:cNvPr id="47" name="TextBox 4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2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Knowledge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How the platform turns 1,048 tables into a navigable, queryable index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Cataloging every Ed-Fi table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Four-stage classifier · 829/829 tables placed · descriptions captured at build time</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Four-stage classifier</a:t>
            </a:r>
          </a:p>
        </p:txBody>
      </p:sp>
      <p:sp>
        <p:nvSpPr>
          <p:cNvPr id="6" name="TextBox 5"/>
          <p:cNvSpPr txBox="1"/>
          <p:nvPr/>
        </p:nvSpPr>
        <p:spPr>
          <a:xfrm>
            <a:off x="640080" y="2011680"/>
            <a:ext cx="3200400" cy="292608"/>
          </a:xfrm>
          <a:prstGeom prst="rect">
            <a:avLst/>
          </a:prstGeom>
          <a:noFill/>
        </p:spPr>
        <p:txBody>
          <a:bodyPr wrap="square" lIns="45720" rIns="45720">
            <a:spAutoFit/>
          </a:bodyPr>
          <a:lstStyle/>
          <a:p>
            <a:pPr algn="l"/>
            <a:r>
              <a:rPr sz="1200" b="0">
                <a:solidFill>
                  <a:srgbClr val="8A95A5"/>
                </a:solidFill>
                <a:latin typeface="Helvetica Neue"/>
              </a:rPr>
              <a:t>Stage 1 · Direct ApiModel domains</a:t>
            </a:r>
          </a:p>
        </p:txBody>
      </p:sp>
      <p:sp>
        <p:nvSpPr>
          <p:cNvPr id="7" name="TextBox 6"/>
          <p:cNvSpPr txBox="1"/>
          <p:nvPr/>
        </p:nvSpPr>
        <p:spPr>
          <a:xfrm>
            <a:off x="3840480" y="2011680"/>
            <a:ext cx="1828800" cy="292608"/>
          </a:xfrm>
          <a:prstGeom prst="rect">
            <a:avLst/>
          </a:prstGeom>
          <a:noFill/>
        </p:spPr>
        <p:txBody>
          <a:bodyPr wrap="square" lIns="45720" rIns="45720">
            <a:spAutoFit/>
          </a:bodyPr>
          <a:lstStyle/>
          <a:p>
            <a:pPr algn="r"/>
            <a:r>
              <a:rPr sz="1200" b="1">
                <a:solidFill>
                  <a:srgbClr val="E6EAF0"/>
                </a:solidFill>
                <a:latin typeface="Helvetica Neue"/>
              </a:rPr>
              <a:t>750 tables</a:t>
            </a:r>
          </a:p>
        </p:txBody>
      </p:sp>
      <p:sp>
        <p:nvSpPr>
          <p:cNvPr id="8" name="TextBox 7"/>
          <p:cNvSpPr txBox="1"/>
          <p:nvPr/>
        </p:nvSpPr>
        <p:spPr>
          <a:xfrm>
            <a:off x="640080" y="2542032"/>
            <a:ext cx="3200400" cy="292608"/>
          </a:xfrm>
          <a:prstGeom prst="rect">
            <a:avLst/>
          </a:prstGeom>
          <a:noFill/>
        </p:spPr>
        <p:txBody>
          <a:bodyPr wrap="square" lIns="45720" rIns="45720">
            <a:spAutoFit/>
          </a:bodyPr>
          <a:lstStyle/>
          <a:p>
            <a:pPr algn="l"/>
            <a:r>
              <a:rPr sz="1200" b="0">
                <a:solidFill>
                  <a:srgbClr val="8A95A5"/>
                </a:solidFill>
                <a:latin typeface="Helvetica Neue"/>
              </a:rPr>
              <a:t>Stage 2 · Aggregate inheritance</a:t>
            </a:r>
          </a:p>
        </p:txBody>
      </p:sp>
      <p:sp>
        <p:nvSpPr>
          <p:cNvPr id="9" name="TextBox 8"/>
          <p:cNvSpPr txBox="1"/>
          <p:nvPr/>
        </p:nvSpPr>
        <p:spPr>
          <a:xfrm>
            <a:off x="3840480" y="2542032"/>
            <a:ext cx="1828800" cy="292608"/>
          </a:xfrm>
          <a:prstGeom prst="rect">
            <a:avLst/>
          </a:prstGeom>
          <a:noFill/>
        </p:spPr>
        <p:txBody>
          <a:bodyPr wrap="square" lIns="45720" rIns="45720">
            <a:spAutoFit/>
          </a:bodyPr>
          <a:lstStyle/>
          <a:p>
            <a:pPr algn="r"/>
            <a:r>
              <a:rPr sz="1200" b="1">
                <a:solidFill>
                  <a:srgbClr val="E6EAF0"/>
                </a:solidFill>
                <a:latin typeface="Helvetica Neue"/>
              </a:rPr>
              <a:t>75 tables</a:t>
            </a:r>
          </a:p>
        </p:txBody>
      </p:sp>
      <p:sp>
        <p:nvSpPr>
          <p:cNvPr id="10" name="TextBox 9"/>
          <p:cNvSpPr txBox="1"/>
          <p:nvPr/>
        </p:nvSpPr>
        <p:spPr>
          <a:xfrm>
            <a:off x="640080" y="3072384"/>
            <a:ext cx="3200400" cy="292608"/>
          </a:xfrm>
          <a:prstGeom prst="rect">
            <a:avLst/>
          </a:prstGeom>
          <a:noFill/>
        </p:spPr>
        <p:txBody>
          <a:bodyPr wrap="square" lIns="45720" rIns="45720">
            <a:spAutoFit/>
          </a:bodyPr>
          <a:lstStyle/>
          <a:p>
            <a:pPr algn="l"/>
            <a:r>
              <a:rPr sz="1200" b="0">
                <a:solidFill>
                  <a:srgbClr val="8A95A5"/>
                </a:solidFill>
                <a:latin typeface="Helvetica Neue"/>
              </a:rPr>
              <a:t>Stage 3 · Descriptor FK voting</a:t>
            </a:r>
          </a:p>
        </p:txBody>
      </p:sp>
      <p:sp>
        <p:nvSpPr>
          <p:cNvPr id="11" name="TextBox 10"/>
          <p:cNvSpPr txBox="1"/>
          <p:nvPr/>
        </p:nvSpPr>
        <p:spPr>
          <a:xfrm>
            <a:off x="3840480" y="3072384"/>
            <a:ext cx="1828800" cy="292608"/>
          </a:xfrm>
          <a:prstGeom prst="rect">
            <a:avLst/>
          </a:prstGeom>
          <a:noFill/>
        </p:spPr>
        <p:txBody>
          <a:bodyPr wrap="square" lIns="45720" rIns="45720">
            <a:spAutoFit/>
          </a:bodyPr>
          <a:lstStyle/>
          <a:p>
            <a:pPr algn="r"/>
            <a:r>
              <a:rPr sz="1200" b="1">
                <a:solidFill>
                  <a:srgbClr val="E6EAF0"/>
                </a:solidFill>
                <a:latin typeface="Helvetica Neue"/>
              </a:rPr>
              <a:t>3 tables</a:t>
            </a:r>
          </a:p>
        </p:txBody>
      </p:sp>
      <p:sp>
        <p:nvSpPr>
          <p:cNvPr id="12" name="TextBox 11"/>
          <p:cNvSpPr txBox="1"/>
          <p:nvPr/>
        </p:nvSpPr>
        <p:spPr>
          <a:xfrm>
            <a:off x="640080" y="3602736"/>
            <a:ext cx="3200400" cy="292608"/>
          </a:xfrm>
          <a:prstGeom prst="rect">
            <a:avLst/>
          </a:prstGeom>
          <a:noFill/>
        </p:spPr>
        <p:txBody>
          <a:bodyPr wrap="square" lIns="45720" rIns="45720">
            <a:spAutoFit/>
          </a:bodyPr>
          <a:lstStyle/>
          <a:p>
            <a:pPr algn="l"/>
            <a:r>
              <a:rPr sz="1200" b="0">
                <a:solidFill>
                  <a:srgbClr val="8A95A5"/>
                </a:solidFill>
                <a:latin typeface="Helvetica Neue"/>
              </a:rPr>
              <a:t>Stage 4 · LLM fallback</a:t>
            </a:r>
          </a:p>
        </p:txBody>
      </p:sp>
      <p:sp>
        <p:nvSpPr>
          <p:cNvPr id="13" name="TextBox 12"/>
          <p:cNvSpPr txBox="1"/>
          <p:nvPr/>
        </p:nvSpPr>
        <p:spPr>
          <a:xfrm>
            <a:off x="3840480" y="3602736"/>
            <a:ext cx="1828800" cy="292608"/>
          </a:xfrm>
          <a:prstGeom prst="rect">
            <a:avLst/>
          </a:prstGeom>
          <a:noFill/>
        </p:spPr>
        <p:txBody>
          <a:bodyPr wrap="square" lIns="45720" rIns="45720">
            <a:spAutoFit/>
          </a:bodyPr>
          <a:lstStyle/>
          <a:p>
            <a:pPr algn="r"/>
            <a:r>
              <a:rPr sz="1200" b="1">
                <a:solidFill>
                  <a:srgbClr val="E6EAF0"/>
                </a:solidFill>
                <a:latin typeface="Helvetica Neue"/>
              </a:rPr>
              <a:t>rare residual</a:t>
            </a:r>
          </a:p>
        </p:txBody>
      </p:sp>
      <p:sp>
        <p:nvSpPr>
          <p:cNvPr id="14" name="TextBox 13"/>
          <p:cNvSpPr txBox="1"/>
          <p:nvPr/>
        </p:nvSpPr>
        <p:spPr>
          <a:xfrm>
            <a:off x="640080" y="4133088"/>
            <a:ext cx="3200400" cy="292608"/>
          </a:xfrm>
          <a:prstGeom prst="rect">
            <a:avLst/>
          </a:prstGeom>
          <a:noFill/>
        </p:spPr>
        <p:txBody>
          <a:bodyPr wrap="square" lIns="45720" rIns="45720">
            <a:spAutoFit/>
          </a:bodyPr>
          <a:lstStyle/>
          <a:p>
            <a:pPr algn="l"/>
            <a:r>
              <a:rPr sz="1200" b="0">
                <a:solidFill>
                  <a:srgbClr val="8A95A5"/>
                </a:solidFill>
                <a:latin typeface="Helvetica Neue"/>
              </a:rPr>
              <a:t>Override layer (operator)</a:t>
            </a:r>
          </a:p>
        </p:txBody>
      </p:sp>
      <p:sp>
        <p:nvSpPr>
          <p:cNvPr id="15" name="TextBox 14"/>
          <p:cNvSpPr txBox="1"/>
          <p:nvPr/>
        </p:nvSpPr>
        <p:spPr>
          <a:xfrm>
            <a:off x="3840480" y="4133088"/>
            <a:ext cx="1828800" cy="292608"/>
          </a:xfrm>
          <a:prstGeom prst="rect">
            <a:avLst/>
          </a:prstGeom>
          <a:noFill/>
        </p:spPr>
        <p:txBody>
          <a:bodyPr wrap="square" lIns="45720" rIns="45720">
            <a:spAutoFit/>
          </a:bodyPr>
          <a:lstStyle/>
          <a:p>
            <a:pPr algn="r"/>
            <a:r>
              <a:rPr sz="1200" b="1">
                <a:solidFill>
                  <a:srgbClr val="E6EAF0"/>
                </a:solidFill>
                <a:latin typeface="Helvetica Neue"/>
              </a:rPr>
              <a:t>human in the loop</a:t>
            </a:r>
          </a:p>
        </p:txBody>
      </p:sp>
      <p:sp>
        <p:nvSpPr>
          <p:cNvPr id="16" name="TextBox 15"/>
          <p:cNvSpPr txBox="1"/>
          <p:nvPr/>
        </p:nvSpPr>
        <p:spPr>
          <a:xfrm>
            <a:off x="640080" y="4663440"/>
            <a:ext cx="3200400" cy="292608"/>
          </a:xfrm>
          <a:prstGeom prst="rect">
            <a:avLst/>
          </a:prstGeom>
          <a:noFill/>
        </p:spPr>
        <p:txBody>
          <a:bodyPr wrap="square" lIns="45720" rIns="45720">
            <a:spAutoFit/>
          </a:bodyPr>
          <a:lstStyle/>
          <a:p>
            <a:pPr algn="l"/>
            <a:r>
              <a:rPr sz="1200" b="0">
                <a:solidFill>
                  <a:srgbClr val="8A95A5"/>
                </a:solidFill>
                <a:latin typeface="Helvetica Neue"/>
              </a:rPr>
              <a:t>Output artifact</a:t>
            </a:r>
          </a:p>
        </p:txBody>
      </p:sp>
      <p:sp>
        <p:nvSpPr>
          <p:cNvPr id="17" name="TextBox 16"/>
          <p:cNvSpPr txBox="1"/>
          <p:nvPr/>
        </p:nvSpPr>
        <p:spPr>
          <a:xfrm>
            <a:off x="3840480" y="4663440"/>
            <a:ext cx="1828800" cy="292608"/>
          </a:xfrm>
          <a:prstGeom prst="rect">
            <a:avLst/>
          </a:prstGeom>
          <a:noFill/>
        </p:spPr>
        <p:txBody>
          <a:bodyPr wrap="square" lIns="45720" rIns="45720">
            <a:spAutoFit/>
          </a:bodyPr>
          <a:lstStyle/>
          <a:p>
            <a:pPr algn="r"/>
            <a:r>
              <a:rPr sz="1200" b="1">
                <a:solidFill>
                  <a:srgbClr val="E6EAF0"/>
                </a:solidFill>
                <a:latin typeface="Helvetica Neue"/>
              </a:rPr>
              <a:t>table_classification.json</a:t>
            </a:r>
          </a:p>
        </p:txBody>
      </p:sp>
      <p:sp>
        <p:nvSpPr>
          <p:cNvPr id="18" name="Rounded Rectangle 17"/>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Per-table catalog entry</a:t>
            </a:r>
          </a:p>
        </p:txBody>
      </p:sp>
      <p:sp>
        <p:nvSpPr>
          <p:cNvPr id="20" name="TextBox 19"/>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Authoritative description (Ed-Fi prose, no LLM hallucination)</a:t>
            </a:r>
          </a:p>
          <a:p>
            <a:pPr algn="l">
              <a:spcAft>
                <a:spcPts val="400"/>
              </a:spcAft>
            </a:pPr>
            <a:r>
              <a:rPr sz="1200">
                <a:solidFill>
                  <a:srgbClr val="E6EAF0"/>
                </a:solidFill>
                <a:latin typeface="Helvetica Neue"/>
              </a:rPr>
              <a:t>• Domain tags + identifying columns + linked descriptors</a:t>
            </a:r>
          </a:p>
          <a:p>
            <a:pPr algn="l">
              <a:spcAft>
                <a:spcPts val="400"/>
              </a:spcAft>
            </a:pPr>
            <a:r>
              <a:rPr sz="1200">
                <a:solidFill>
                  <a:srgbClr val="E6EAF0"/>
                </a:solidFill>
                <a:latin typeface="Helvetica Neue"/>
              </a:rPr>
              <a:t>• Connected tables (FK neighbors) for join intuition</a:t>
            </a:r>
          </a:p>
          <a:p>
            <a:pPr algn="l">
              <a:spcAft>
                <a:spcPts val="400"/>
              </a:spcAft>
            </a:pPr>
            <a:r>
              <a:rPr sz="1200">
                <a:solidFill>
                  <a:srgbClr val="E6EAF0"/>
                </a:solidFill>
                <a:latin typeface="Helvetica Neue"/>
              </a:rPr>
              <a:t>• Sample column values for entity resolution</a:t>
            </a:r>
          </a:p>
          <a:p>
            <a:pPr algn="l">
              <a:spcAft>
                <a:spcPts val="400"/>
              </a:spcAft>
            </a:pPr>
            <a:r>
              <a:rPr sz="1200">
                <a:solidFill>
                  <a:srgbClr val="E6EAF0"/>
                </a:solidFill>
                <a:latin typeface="Helvetica Neue"/>
              </a:rPr>
              <a:t>• Proven-query count — biases retrieval to tables we've answered before</a:t>
            </a:r>
          </a:p>
          <a:p>
            <a:pPr algn="l">
              <a:spcAft>
                <a:spcPts val="400"/>
              </a:spcAft>
            </a:pPr>
            <a:r>
              <a:rPr sz="1200">
                <a:solidFill>
                  <a:srgbClr val="E6EAF0"/>
                </a:solidFill>
                <a:latin typeface="Helvetica Neue"/>
              </a:rPr>
              <a:t>• Reflects unknown tables on the live DB so non-Ed-Fi columns join cleanly</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Classification &amp; Catalog</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test_component2 + test_component4 green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Foreign-Key Graph + JOIN solver</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1,663 edges · 829×829 APSP precomputed · KMB Steiner approximation</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What the graph contains</a:t>
            </a:r>
          </a:p>
        </p:txBody>
      </p:sp>
      <p:sp>
        <p:nvSpPr>
          <p:cNvPr id="6" name="TextBox 5"/>
          <p:cNvSpPr txBox="1"/>
          <p:nvPr/>
        </p:nvSpPr>
        <p:spPr>
          <a:xfrm>
            <a:off x="640080" y="1965960"/>
            <a:ext cx="3383280" cy="292608"/>
          </a:xfrm>
          <a:prstGeom prst="rect">
            <a:avLst/>
          </a:prstGeom>
          <a:noFill/>
        </p:spPr>
        <p:txBody>
          <a:bodyPr wrap="square" lIns="45720" rIns="45720">
            <a:spAutoFit/>
          </a:bodyPr>
          <a:lstStyle/>
          <a:p>
            <a:pPr algn="l"/>
            <a:r>
              <a:rPr sz="1200" b="0">
                <a:solidFill>
                  <a:srgbClr val="8A95A5"/>
                </a:solidFill>
                <a:latin typeface="Helvetica Neue"/>
              </a:rPr>
              <a:t>Nodes (tables)</a:t>
            </a:r>
          </a:p>
        </p:txBody>
      </p:sp>
      <p:sp>
        <p:nvSpPr>
          <p:cNvPr id="7" name="TextBox 6"/>
          <p:cNvSpPr txBox="1"/>
          <p:nvPr/>
        </p:nvSpPr>
        <p:spPr>
          <a:xfrm>
            <a:off x="4023360" y="1965960"/>
            <a:ext cx="1645920" cy="292608"/>
          </a:xfrm>
          <a:prstGeom prst="rect">
            <a:avLst/>
          </a:prstGeom>
          <a:noFill/>
        </p:spPr>
        <p:txBody>
          <a:bodyPr wrap="square" lIns="45720" rIns="45720">
            <a:spAutoFit/>
          </a:bodyPr>
          <a:lstStyle/>
          <a:p>
            <a:pPr algn="r"/>
            <a:r>
              <a:rPr sz="1200" b="1">
                <a:solidFill>
                  <a:srgbClr val="E6EAF0"/>
                </a:solidFill>
                <a:latin typeface="Helvetica Neue"/>
              </a:rPr>
              <a:t>829</a:t>
            </a:r>
          </a:p>
        </p:txBody>
      </p:sp>
      <p:sp>
        <p:nvSpPr>
          <p:cNvPr id="8" name="TextBox 7"/>
          <p:cNvSpPr txBox="1"/>
          <p:nvPr/>
        </p:nvSpPr>
        <p:spPr>
          <a:xfrm>
            <a:off x="640080" y="2423160"/>
            <a:ext cx="3383280" cy="292608"/>
          </a:xfrm>
          <a:prstGeom prst="rect">
            <a:avLst/>
          </a:prstGeom>
          <a:noFill/>
        </p:spPr>
        <p:txBody>
          <a:bodyPr wrap="square" lIns="45720" rIns="45720">
            <a:spAutoFit/>
          </a:bodyPr>
          <a:lstStyle/>
          <a:p>
            <a:pPr algn="l"/>
            <a:r>
              <a:rPr sz="1200" b="0">
                <a:solidFill>
                  <a:srgbClr val="8A95A5"/>
                </a:solidFill>
                <a:latin typeface="Helvetica Neue"/>
              </a:rPr>
              <a:t>Edges (FK relationships)</a:t>
            </a:r>
          </a:p>
        </p:txBody>
      </p:sp>
      <p:sp>
        <p:nvSpPr>
          <p:cNvPr id="9" name="TextBox 8"/>
          <p:cNvSpPr txBox="1"/>
          <p:nvPr/>
        </p:nvSpPr>
        <p:spPr>
          <a:xfrm>
            <a:off x="4023360" y="2423160"/>
            <a:ext cx="1645920" cy="292608"/>
          </a:xfrm>
          <a:prstGeom prst="rect">
            <a:avLst/>
          </a:prstGeom>
          <a:noFill/>
        </p:spPr>
        <p:txBody>
          <a:bodyPr wrap="square" lIns="45720" rIns="45720">
            <a:spAutoFit/>
          </a:bodyPr>
          <a:lstStyle/>
          <a:p>
            <a:pPr algn="r"/>
            <a:r>
              <a:rPr sz="1200" b="1">
                <a:solidFill>
                  <a:srgbClr val="E6EAF0"/>
                </a:solidFill>
                <a:latin typeface="Helvetica Neue"/>
              </a:rPr>
              <a:t>1,663</a:t>
            </a:r>
          </a:p>
        </p:txBody>
      </p:sp>
      <p:sp>
        <p:nvSpPr>
          <p:cNvPr id="10" name="TextBox 9"/>
          <p:cNvSpPr txBox="1"/>
          <p:nvPr/>
        </p:nvSpPr>
        <p:spPr>
          <a:xfrm>
            <a:off x="640080" y="2880360"/>
            <a:ext cx="3383280" cy="292608"/>
          </a:xfrm>
          <a:prstGeom prst="rect">
            <a:avLst/>
          </a:prstGeom>
          <a:noFill/>
        </p:spPr>
        <p:txBody>
          <a:bodyPr wrap="square" lIns="45720" rIns="45720">
            <a:spAutoFit/>
          </a:bodyPr>
          <a:lstStyle/>
          <a:p>
            <a:pPr algn="l"/>
            <a:r>
              <a:rPr sz="1200" b="0">
                <a:solidFill>
                  <a:srgbClr val="8A95A5"/>
                </a:solidFill>
                <a:latin typeface="Helvetica Neue"/>
              </a:rPr>
              <a:t>APSP storage on disk</a:t>
            </a:r>
          </a:p>
        </p:txBody>
      </p:sp>
      <p:sp>
        <p:nvSpPr>
          <p:cNvPr id="11" name="TextBox 10"/>
          <p:cNvSpPr txBox="1"/>
          <p:nvPr/>
        </p:nvSpPr>
        <p:spPr>
          <a:xfrm>
            <a:off x="4023360" y="2880360"/>
            <a:ext cx="1645920" cy="292608"/>
          </a:xfrm>
          <a:prstGeom prst="rect">
            <a:avLst/>
          </a:prstGeom>
          <a:noFill/>
        </p:spPr>
        <p:txBody>
          <a:bodyPr wrap="square" lIns="45720" rIns="45720">
            <a:spAutoFit/>
          </a:bodyPr>
          <a:lstStyle/>
          <a:p>
            <a:pPr algn="r"/>
            <a:r>
              <a:rPr sz="1200" b="1">
                <a:solidFill>
                  <a:srgbClr val="E6EAF0"/>
                </a:solidFill>
                <a:latin typeface="Helvetica Neue"/>
              </a:rPr>
              <a:t>&lt;10 MB</a:t>
            </a:r>
          </a:p>
        </p:txBody>
      </p:sp>
      <p:sp>
        <p:nvSpPr>
          <p:cNvPr id="12" name="TextBox 11"/>
          <p:cNvSpPr txBox="1"/>
          <p:nvPr/>
        </p:nvSpPr>
        <p:spPr>
          <a:xfrm>
            <a:off x="640080" y="3337560"/>
            <a:ext cx="3383280" cy="292608"/>
          </a:xfrm>
          <a:prstGeom prst="rect">
            <a:avLst/>
          </a:prstGeom>
          <a:noFill/>
        </p:spPr>
        <p:txBody>
          <a:bodyPr wrap="square" lIns="45720" rIns="45720">
            <a:spAutoFit/>
          </a:bodyPr>
          <a:lstStyle/>
          <a:p>
            <a:pPr algn="l"/>
            <a:r>
              <a:rPr sz="1200" b="0">
                <a:solidFill>
                  <a:srgbClr val="8A95A5"/>
                </a:solidFill>
                <a:latin typeface="Helvetica Neue"/>
              </a:rPr>
              <a:t>Load time at startup</a:t>
            </a:r>
          </a:p>
        </p:txBody>
      </p:sp>
      <p:sp>
        <p:nvSpPr>
          <p:cNvPr id="13" name="TextBox 12"/>
          <p:cNvSpPr txBox="1"/>
          <p:nvPr/>
        </p:nvSpPr>
        <p:spPr>
          <a:xfrm>
            <a:off x="4023360" y="3337560"/>
            <a:ext cx="1645920" cy="292608"/>
          </a:xfrm>
          <a:prstGeom prst="rect">
            <a:avLst/>
          </a:prstGeom>
          <a:noFill/>
        </p:spPr>
        <p:txBody>
          <a:bodyPr wrap="square" lIns="45720" rIns="45720">
            <a:spAutoFit/>
          </a:bodyPr>
          <a:lstStyle/>
          <a:p>
            <a:pPr algn="r"/>
            <a:r>
              <a:rPr sz="1200" b="1">
                <a:solidFill>
                  <a:srgbClr val="E6EAF0"/>
                </a:solidFill>
                <a:latin typeface="Helvetica Neue"/>
              </a:rPr>
              <a:t>&lt;100 ms</a:t>
            </a:r>
          </a:p>
        </p:txBody>
      </p:sp>
      <p:sp>
        <p:nvSpPr>
          <p:cNvPr id="14" name="TextBox 13"/>
          <p:cNvSpPr txBox="1"/>
          <p:nvPr/>
        </p:nvSpPr>
        <p:spPr>
          <a:xfrm>
            <a:off x="640080" y="3794760"/>
            <a:ext cx="3383280" cy="292608"/>
          </a:xfrm>
          <a:prstGeom prst="rect">
            <a:avLst/>
          </a:prstGeom>
          <a:noFill/>
        </p:spPr>
        <p:txBody>
          <a:bodyPr wrap="square" lIns="45720" rIns="45720">
            <a:spAutoFit/>
          </a:bodyPr>
          <a:lstStyle/>
          <a:p>
            <a:pPr algn="l"/>
            <a:r>
              <a:rPr sz="1200" b="0">
                <a:solidFill>
                  <a:srgbClr val="8A95A5"/>
                </a:solidFill>
                <a:latin typeface="Helvetica Neue"/>
              </a:rPr>
              <a:t>Same-aggregate join weight</a:t>
            </a:r>
          </a:p>
        </p:txBody>
      </p:sp>
      <p:sp>
        <p:nvSpPr>
          <p:cNvPr id="15" name="TextBox 14"/>
          <p:cNvSpPr txBox="1"/>
          <p:nvPr/>
        </p:nvSpPr>
        <p:spPr>
          <a:xfrm>
            <a:off x="4023360" y="3794760"/>
            <a:ext cx="1645920" cy="292608"/>
          </a:xfrm>
          <a:prstGeom prst="rect">
            <a:avLst/>
          </a:prstGeom>
          <a:noFill/>
        </p:spPr>
        <p:txBody>
          <a:bodyPr wrap="square" lIns="45720" rIns="45720">
            <a:spAutoFit/>
          </a:bodyPr>
          <a:lstStyle/>
          <a:p>
            <a:pPr algn="r"/>
            <a:r>
              <a:rPr sz="1200" b="1">
                <a:solidFill>
                  <a:srgbClr val="E6EAF0"/>
                </a:solidFill>
                <a:latin typeface="Helvetica Neue"/>
              </a:rPr>
              <a:t>1.0</a:t>
            </a:r>
          </a:p>
        </p:txBody>
      </p:sp>
      <p:sp>
        <p:nvSpPr>
          <p:cNvPr id="16" name="TextBox 15"/>
          <p:cNvSpPr txBox="1"/>
          <p:nvPr/>
        </p:nvSpPr>
        <p:spPr>
          <a:xfrm>
            <a:off x="640080" y="4251960"/>
            <a:ext cx="3383280" cy="292608"/>
          </a:xfrm>
          <a:prstGeom prst="rect">
            <a:avLst/>
          </a:prstGeom>
          <a:noFill/>
        </p:spPr>
        <p:txBody>
          <a:bodyPr wrap="square" lIns="45720" rIns="45720">
            <a:spAutoFit/>
          </a:bodyPr>
          <a:lstStyle/>
          <a:p>
            <a:pPr algn="l"/>
            <a:r>
              <a:rPr sz="1200" b="0">
                <a:solidFill>
                  <a:srgbClr val="8A95A5"/>
                </a:solidFill>
                <a:latin typeface="Helvetica Neue"/>
              </a:rPr>
              <a:t>Cross-aggregate join weight</a:t>
            </a:r>
          </a:p>
        </p:txBody>
      </p:sp>
      <p:sp>
        <p:nvSpPr>
          <p:cNvPr id="17" name="TextBox 16"/>
          <p:cNvSpPr txBox="1"/>
          <p:nvPr/>
        </p:nvSpPr>
        <p:spPr>
          <a:xfrm>
            <a:off x="4023360" y="4251960"/>
            <a:ext cx="1645920" cy="292608"/>
          </a:xfrm>
          <a:prstGeom prst="rect">
            <a:avLst/>
          </a:prstGeom>
          <a:noFill/>
        </p:spPr>
        <p:txBody>
          <a:bodyPr wrap="square" lIns="45720" rIns="45720">
            <a:spAutoFit/>
          </a:bodyPr>
          <a:lstStyle/>
          <a:p>
            <a:pPr algn="r"/>
            <a:r>
              <a:rPr sz="1200" b="1">
                <a:solidFill>
                  <a:srgbClr val="E6EAF0"/>
                </a:solidFill>
                <a:latin typeface="Helvetica Neue"/>
              </a:rPr>
              <a:t>2.0</a:t>
            </a:r>
          </a:p>
        </p:txBody>
      </p:sp>
      <p:sp>
        <p:nvSpPr>
          <p:cNvPr id="18" name="TextBox 17"/>
          <p:cNvSpPr txBox="1"/>
          <p:nvPr/>
        </p:nvSpPr>
        <p:spPr>
          <a:xfrm>
            <a:off x="640080" y="4709160"/>
            <a:ext cx="3383280" cy="292608"/>
          </a:xfrm>
          <a:prstGeom prst="rect">
            <a:avLst/>
          </a:prstGeom>
          <a:noFill/>
        </p:spPr>
        <p:txBody>
          <a:bodyPr wrap="square" lIns="45720" rIns="45720">
            <a:spAutoFit/>
          </a:bodyPr>
          <a:lstStyle/>
          <a:p>
            <a:pPr algn="l"/>
            <a:r>
              <a:rPr sz="1200" b="0">
                <a:solidFill>
                  <a:srgbClr val="8A95A5"/>
                </a:solidFill>
                <a:latin typeface="Helvetica Neue"/>
              </a:rPr>
              <a:t>Cross-domain join weight</a:t>
            </a:r>
          </a:p>
        </p:txBody>
      </p:sp>
      <p:sp>
        <p:nvSpPr>
          <p:cNvPr id="19" name="TextBox 18"/>
          <p:cNvSpPr txBox="1"/>
          <p:nvPr/>
        </p:nvSpPr>
        <p:spPr>
          <a:xfrm>
            <a:off x="4023360" y="4709160"/>
            <a:ext cx="1645920" cy="292608"/>
          </a:xfrm>
          <a:prstGeom prst="rect">
            <a:avLst/>
          </a:prstGeom>
          <a:noFill/>
        </p:spPr>
        <p:txBody>
          <a:bodyPr wrap="square" lIns="45720" rIns="45720">
            <a:spAutoFit/>
          </a:bodyPr>
          <a:lstStyle/>
          <a:p>
            <a:pPr algn="r"/>
            <a:r>
              <a:rPr sz="1200" b="1">
                <a:solidFill>
                  <a:srgbClr val="E6EAF0"/>
                </a:solidFill>
                <a:latin typeface="Helvetica Neue"/>
              </a:rPr>
              <a:t>4.0</a:t>
            </a:r>
          </a:p>
        </p:txBody>
      </p:sp>
      <p:sp>
        <p:nvSpPr>
          <p:cNvPr id="20" name="TextBox 19"/>
          <p:cNvSpPr txBox="1"/>
          <p:nvPr/>
        </p:nvSpPr>
        <p:spPr>
          <a:xfrm>
            <a:off x="640080" y="5166360"/>
            <a:ext cx="3383280" cy="292608"/>
          </a:xfrm>
          <a:prstGeom prst="rect">
            <a:avLst/>
          </a:prstGeom>
          <a:noFill/>
        </p:spPr>
        <p:txBody>
          <a:bodyPr wrap="square" lIns="45720" rIns="45720">
            <a:spAutoFit/>
          </a:bodyPr>
          <a:lstStyle/>
          <a:p>
            <a:pPr algn="l"/>
            <a:r>
              <a:rPr sz="1200" b="0">
                <a:solidFill>
                  <a:srgbClr val="8A95A5"/>
                </a:solidFill>
                <a:latin typeface="Helvetica Neue"/>
              </a:rPr>
              <a:t>Composite-FK bonus multiplier</a:t>
            </a:r>
          </a:p>
        </p:txBody>
      </p:sp>
      <p:sp>
        <p:nvSpPr>
          <p:cNvPr id="21" name="TextBox 20"/>
          <p:cNvSpPr txBox="1"/>
          <p:nvPr/>
        </p:nvSpPr>
        <p:spPr>
          <a:xfrm>
            <a:off x="4023360" y="5166360"/>
            <a:ext cx="1645920" cy="292608"/>
          </a:xfrm>
          <a:prstGeom prst="rect">
            <a:avLst/>
          </a:prstGeom>
          <a:noFill/>
        </p:spPr>
        <p:txBody>
          <a:bodyPr wrap="square" lIns="45720" rIns="45720">
            <a:spAutoFit/>
          </a:bodyPr>
          <a:lstStyle/>
          <a:p>
            <a:pPr algn="r"/>
            <a:r>
              <a:rPr sz="1200" b="1">
                <a:solidFill>
                  <a:srgbClr val="E6EAF0"/>
                </a:solidFill>
                <a:latin typeface="Helvetica Neue"/>
              </a:rPr>
              <a:t>0.9</a:t>
            </a:r>
          </a:p>
        </p:txBody>
      </p:sp>
      <p:sp>
        <p:nvSpPr>
          <p:cNvPr id="22" name="Rounded Rectangle 21"/>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Steiner solver — three paths</a:t>
            </a:r>
          </a:p>
        </p:txBody>
      </p:sp>
      <p:sp>
        <p:nvSpPr>
          <p:cNvPr id="24" name="TextBox 23"/>
          <p:cNvSpPr txBox="1"/>
          <p:nvPr/>
        </p:nvSpPr>
        <p:spPr>
          <a:xfrm>
            <a:off x="6446520" y="1965960"/>
            <a:ext cx="5120640" cy="292608"/>
          </a:xfrm>
          <a:prstGeom prst="rect">
            <a:avLst/>
          </a:prstGeom>
          <a:noFill/>
        </p:spPr>
        <p:txBody>
          <a:bodyPr wrap="square" lIns="45720" rIns="45720">
            <a:spAutoFit/>
          </a:bodyPr>
          <a:lstStyle/>
          <a:p>
            <a:pPr algn="l"/>
            <a:r>
              <a:rPr sz="1200" b="1">
                <a:solidFill>
                  <a:srgbClr val="E6EAF0"/>
                </a:solidFill>
                <a:latin typeface="Helvetica Neue"/>
              </a:rPr>
              <a:t>k = 2 tables</a:t>
            </a:r>
          </a:p>
        </p:txBody>
      </p:sp>
      <p:sp>
        <p:nvSpPr>
          <p:cNvPr id="25" name="TextBox 24"/>
          <p:cNvSpPr txBox="1"/>
          <p:nvPr/>
        </p:nvSpPr>
        <p:spPr>
          <a:xfrm>
            <a:off x="6446520" y="2240279"/>
            <a:ext cx="5120640" cy="640080"/>
          </a:xfrm>
          <a:prstGeom prst="rect">
            <a:avLst/>
          </a:prstGeom>
          <a:noFill/>
        </p:spPr>
        <p:txBody>
          <a:bodyPr wrap="square" lIns="45720" rIns="45720">
            <a:spAutoFit/>
          </a:bodyPr>
          <a:lstStyle/>
          <a:p>
            <a:pPr algn="l"/>
            <a:r>
              <a:rPr sz="1100" b="0">
                <a:solidFill>
                  <a:srgbClr val="8A95A5"/>
                </a:solidFill>
                <a:latin typeface="Helvetica Neue"/>
              </a:rPr>
              <a:t>Bidirectional Dijkstra; returns top-3 alternatives so the model picks the most readable</a:t>
            </a:r>
          </a:p>
        </p:txBody>
      </p:sp>
      <p:sp>
        <p:nvSpPr>
          <p:cNvPr id="26" name="TextBox 25"/>
          <p:cNvSpPr txBox="1"/>
          <p:nvPr/>
        </p:nvSpPr>
        <p:spPr>
          <a:xfrm>
            <a:off x="10058400" y="1965960"/>
            <a:ext cx="1554480" cy="292608"/>
          </a:xfrm>
          <a:prstGeom prst="rect">
            <a:avLst/>
          </a:prstGeom>
          <a:noFill/>
        </p:spPr>
        <p:txBody>
          <a:bodyPr wrap="square" lIns="45720" rIns="45720">
            <a:spAutoFit/>
          </a:bodyPr>
          <a:lstStyle/>
          <a:p>
            <a:pPr algn="r"/>
            <a:r>
              <a:rPr sz="1100" b="1">
                <a:solidFill>
                  <a:srgbClr val="4AD09C"/>
                </a:solidFill>
                <a:latin typeface="Helvetica Neue"/>
              </a:rPr>
              <a:t>&lt;5 ms</a:t>
            </a:r>
          </a:p>
        </p:txBody>
      </p:sp>
      <p:sp>
        <p:nvSpPr>
          <p:cNvPr id="27" name="TextBox 26"/>
          <p:cNvSpPr txBox="1"/>
          <p:nvPr/>
        </p:nvSpPr>
        <p:spPr>
          <a:xfrm>
            <a:off x="6446520" y="3154680"/>
            <a:ext cx="5120640" cy="292608"/>
          </a:xfrm>
          <a:prstGeom prst="rect">
            <a:avLst/>
          </a:prstGeom>
          <a:noFill/>
        </p:spPr>
        <p:txBody>
          <a:bodyPr wrap="square" lIns="45720" rIns="45720">
            <a:spAutoFit/>
          </a:bodyPr>
          <a:lstStyle/>
          <a:p>
            <a:pPr algn="l"/>
            <a:r>
              <a:rPr sz="1200" b="1">
                <a:solidFill>
                  <a:srgbClr val="E6EAF0"/>
                </a:solidFill>
                <a:latin typeface="Helvetica Neue"/>
              </a:rPr>
              <a:t>k = 3–8 tables</a:t>
            </a:r>
          </a:p>
        </p:txBody>
      </p:sp>
      <p:sp>
        <p:nvSpPr>
          <p:cNvPr id="28" name="TextBox 27"/>
          <p:cNvSpPr txBox="1"/>
          <p:nvPr/>
        </p:nvSpPr>
        <p:spPr>
          <a:xfrm>
            <a:off x="6446520" y="3429000"/>
            <a:ext cx="5120640" cy="640080"/>
          </a:xfrm>
          <a:prstGeom prst="rect">
            <a:avLst/>
          </a:prstGeom>
          <a:noFill/>
        </p:spPr>
        <p:txBody>
          <a:bodyPr wrap="square" lIns="45720" rIns="45720">
            <a:spAutoFit/>
          </a:bodyPr>
          <a:lstStyle/>
          <a:p>
            <a:pPr algn="l"/>
            <a:r>
              <a:rPr sz="1100" b="0">
                <a:solidFill>
                  <a:srgbClr val="8A95A5"/>
                </a:solidFill>
                <a:latin typeface="Helvetica Neue"/>
              </a:rPr>
              <a:t>KMB Steiner-tree approximation — provably within 2× of optimal</a:t>
            </a:r>
          </a:p>
        </p:txBody>
      </p:sp>
      <p:sp>
        <p:nvSpPr>
          <p:cNvPr id="29" name="TextBox 28"/>
          <p:cNvSpPr txBox="1"/>
          <p:nvPr/>
        </p:nvSpPr>
        <p:spPr>
          <a:xfrm>
            <a:off x="10058400" y="3154680"/>
            <a:ext cx="1554480" cy="292608"/>
          </a:xfrm>
          <a:prstGeom prst="rect">
            <a:avLst/>
          </a:prstGeom>
          <a:noFill/>
        </p:spPr>
        <p:txBody>
          <a:bodyPr wrap="square" lIns="45720" rIns="45720">
            <a:spAutoFit/>
          </a:bodyPr>
          <a:lstStyle/>
          <a:p>
            <a:pPr algn="r"/>
            <a:r>
              <a:rPr sz="1100" b="1">
                <a:solidFill>
                  <a:srgbClr val="4AD09C"/>
                </a:solidFill>
                <a:latin typeface="Helvetica Neue"/>
              </a:rPr>
              <a:t>&lt;50 ms</a:t>
            </a:r>
          </a:p>
        </p:txBody>
      </p:sp>
      <p:sp>
        <p:nvSpPr>
          <p:cNvPr id="30" name="TextBox 29"/>
          <p:cNvSpPr txBox="1"/>
          <p:nvPr/>
        </p:nvSpPr>
        <p:spPr>
          <a:xfrm>
            <a:off x="6446520" y="4343400"/>
            <a:ext cx="5120640" cy="292608"/>
          </a:xfrm>
          <a:prstGeom prst="rect">
            <a:avLst/>
          </a:prstGeom>
          <a:noFill/>
        </p:spPr>
        <p:txBody>
          <a:bodyPr wrap="square" lIns="45720" rIns="45720">
            <a:spAutoFit/>
          </a:bodyPr>
          <a:lstStyle/>
          <a:p>
            <a:pPr algn="l"/>
            <a:r>
              <a:rPr sz="1200" b="1">
                <a:solidFill>
                  <a:srgbClr val="E6EAF0"/>
                </a:solidFill>
                <a:latin typeface="Helvetica Neue"/>
              </a:rPr>
              <a:t>k &gt; 8 (edge case)</a:t>
            </a:r>
          </a:p>
        </p:txBody>
      </p:sp>
      <p:sp>
        <p:nvSpPr>
          <p:cNvPr id="31" name="TextBox 30"/>
          <p:cNvSpPr txBox="1"/>
          <p:nvPr/>
        </p:nvSpPr>
        <p:spPr>
          <a:xfrm>
            <a:off x="6446520" y="4617720"/>
            <a:ext cx="5120640" cy="640080"/>
          </a:xfrm>
          <a:prstGeom prst="rect">
            <a:avLst/>
          </a:prstGeom>
          <a:noFill/>
        </p:spPr>
        <p:txBody>
          <a:bodyPr wrap="square" lIns="45720" rIns="45720">
            <a:spAutoFit/>
          </a:bodyPr>
          <a:lstStyle/>
          <a:p>
            <a:pPr algn="l"/>
            <a:r>
              <a:rPr sz="1100" b="0">
                <a:solidFill>
                  <a:srgbClr val="8A95A5"/>
                </a:solidFill>
                <a:latin typeface="Helvetica Neue"/>
              </a:rPr>
              <a:t>Greedy fallback; rare on real Ed-Fi questions</a:t>
            </a:r>
          </a:p>
        </p:txBody>
      </p:sp>
      <p:sp>
        <p:nvSpPr>
          <p:cNvPr id="32" name="TextBox 31"/>
          <p:cNvSpPr txBox="1"/>
          <p:nvPr/>
        </p:nvSpPr>
        <p:spPr>
          <a:xfrm>
            <a:off x="10058400" y="4343400"/>
            <a:ext cx="1554480" cy="292608"/>
          </a:xfrm>
          <a:prstGeom prst="rect">
            <a:avLst/>
          </a:prstGeom>
          <a:noFill/>
        </p:spPr>
        <p:txBody>
          <a:bodyPr wrap="square" lIns="45720" rIns="45720">
            <a:spAutoFit/>
          </a:bodyPr>
          <a:lstStyle/>
          <a:p>
            <a:pPr algn="r"/>
            <a:r>
              <a:rPr sz="1100" b="1">
                <a:solidFill>
                  <a:srgbClr val="4AD09C"/>
                </a:solidFill>
                <a:latin typeface="Helvetica Neue"/>
              </a:rPr>
              <a:t>&lt;200 ms</a:t>
            </a:r>
          </a:p>
        </p:txBody>
      </p:sp>
      <p:sp>
        <p:nvSpPr>
          <p:cNvPr id="33" name="TextBox 32"/>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FK Graph &amp; Steiner</a:t>
            </a:r>
          </a:p>
        </p:txBody>
      </p:sp>
      <p:sp>
        <p:nvSpPr>
          <p:cNvPr id="34" name="TextBox 33"/>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test_component3 + test_component3_benchmark green · p99 &lt; 1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Finding the right tables, resolving real-world terms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Hybrid retrieval shortlists tables · 4-tier resolver maps user words to codes</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Hybrid retrieval (semantic + keyword)</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Per-table semantic blob: description, key columns, neighbors, linked descriptors</a:t>
            </a:r>
          </a:p>
          <a:p>
            <a:pPr algn="l">
              <a:spcAft>
                <a:spcPts val="400"/>
              </a:spcAft>
            </a:pPr>
            <a:r>
              <a:rPr sz="1200">
                <a:solidFill>
                  <a:srgbClr val="E6EAF0"/>
                </a:solidFill>
                <a:latin typeface="Helvetica Neue"/>
              </a:rPr>
              <a:t>• Embedded once at build time; queried millions of times after</a:t>
            </a:r>
          </a:p>
          <a:p>
            <a:pPr algn="l">
              <a:spcAft>
                <a:spcPts val="400"/>
              </a:spcAft>
            </a:pPr>
            <a:r>
              <a:rPr sz="1200">
                <a:solidFill>
                  <a:srgbClr val="E6EAF0"/>
                </a:solidFill>
                <a:latin typeface="Helvetica Neue"/>
              </a:rPr>
              <a:t>• Domain pre-filter narrows the candidate pool before scoring</a:t>
            </a:r>
          </a:p>
          <a:p>
            <a:pPr algn="l">
              <a:spcAft>
                <a:spcPts val="400"/>
              </a:spcAft>
            </a:pPr>
            <a:r>
              <a:rPr sz="1200">
                <a:solidFill>
                  <a:srgbClr val="E6EAF0"/>
                </a:solidFill>
                <a:latin typeface="Helvetica Neue"/>
              </a:rPr>
              <a:t>• Cosine similarity (0.6) + BM25 keyword score (0.4) — best of both</a:t>
            </a:r>
          </a:p>
          <a:p>
            <a:pPr algn="l">
              <a:spcAft>
                <a:spcPts val="400"/>
              </a:spcAft>
            </a:pPr>
            <a:r>
              <a:rPr sz="1200">
                <a:solidFill>
                  <a:srgbClr val="E6EAF0"/>
                </a:solidFill>
                <a:latin typeface="Helvetica Neue"/>
              </a:rPr>
              <a:t>• Returns the small set (typically 3–8 tables) that best matches the question</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Four-tier entity resolver</a:t>
            </a:r>
          </a:p>
        </p:txBody>
      </p:sp>
      <p:sp>
        <p:nvSpPr>
          <p:cNvPr id="9" name="TextBox 8"/>
          <p:cNvSpPr txBox="1"/>
          <p:nvPr/>
        </p:nvSpPr>
        <p:spPr>
          <a:xfrm>
            <a:off x="6446520" y="2011680"/>
            <a:ext cx="3291840" cy="292608"/>
          </a:xfrm>
          <a:prstGeom prst="rect">
            <a:avLst/>
          </a:prstGeom>
          <a:noFill/>
        </p:spPr>
        <p:txBody>
          <a:bodyPr wrap="square" lIns="45720" rIns="45720">
            <a:spAutoFit/>
          </a:bodyPr>
          <a:lstStyle/>
          <a:p>
            <a:pPr algn="l"/>
            <a:r>
              <a:rPr sz="1200" b="1">
                <a:solidFill>
                  <a:srgbClr val="E6EAF0"/>
                </a:solidFill>
                <a:latin typeface="Helvetica Neue"/>
              </a:rPr>
              <a:t>Tier 1 · Exact lookup</a:t>
            </a:r>
          </a:p>
        </p:txBody>
      </p:sp>
      <p:sp>
        <p:nvSpPr>
          <p:cNvPr id="10" name="TextBox 9"/>
          <p:cNvSpPr txBox="1"/>
          <p:nvPr/>
        </p:nvSpPr>
        <p:spPr>
          <a:xfrm>
            <a:off x="6446520" y="2286000"/>
            <a:ext cx="4023360" cy="292608"/>
          </a:xfrm>
          <a:prstGeom prst="rect">
            <a:avLst/>
          </a:prstGeom>
          <a:noFill/>
        </p:spPr>
        <p:txBody>
          <a:bodyPr wrap="square" lIns="45720" rIns="45720">
            <a:spAutoFit/>
          </a:bodyPr>
          <a:lstStyle/>
          <a:p>
            <a:pPr algn="l"/>
            <a:r>
              <a:rPr sz="1100" b="0">
                <a:solidFill>
                  <a:srgbClr val="8A95A5"/>
                </a:solidFill>
                <a:latin typeface="Helvetica Neue"/>
              </a:rPr>
              <a:t>Hash hit on the value index</a:t>
            </a:r>
          </a:p>
        </p:txBody>
      </p:sp>
      <p:sp>
        <p:nvSpPr>
          <p:cNvPr id="11" name="TextBox 10"/>
          <p:cNvSpPr txBox="1"/>
          <p:nvPr/>
        </p:nvSpPr>
        <p:spPr>
          <a:xfrm>
            <a:off x="10424160" y="2011680"/>
            <a:ext cx="1188720" cy="292608"/>
          </a:xfrm>
          <a:prstGeom prst="rect">
            <a:avLst/>
          </a:prstGeom>
          <a:noFill/>
        </p:spPr>
        <p:txBody>
          <a:bodyPr wrap="square" lIns="45720" rIns="45720">
            <a:spAutoFit/>
          </a:bodyPr>
          <a:lstStyle/>
          <a:p>
            <a:pPr algn="r"/>
            <a:r>
              <a:rPr sz="1100" b="0">
                <a:solidFill>
                  <a:srgbClr val="4AD09C"/>
                </a:solidFill>
                <a:latin typeface="Helvetica Neue"/>
              </a:rPr>
              <a:t>&lt;1 ms</a:t>
            </a:r>
          </a:p>
        </p:txBody>
      </p:sp>
      <p:sp>
        <p:nvSpPr>
          <p:cNvPr id="12" name="TextBox 11"/>
          <p:cNvSpPr txBox="1"/>
          <p:nvPr/>
        </p:nvSpPr>
        <p:spPr>
          <a:xfrm>
            <a:off x="6446520" y="2788920"/>
            <a:ext cx="3291840" cy="292608"/>
          </a:xfrm>
          <a:prstGeom prst="rect">
            <a:avLst/>
          </a:prstGeom>
          <a:noFill/>
        </p:spPr>
        <p:txBody>
          <a:bodyPr wrap="square" lIns="45720" rIns="45720">
            <a:spAutoFit/>
          </a:bodyPr>
          <a:lstStyle/>
          <a:p>
            <a:pPr algn="l"/>
            <a:r>
              <a:rPr sz="1200" b="1">
                <a:solidFill>
                  <a:srgbClr val="E6EAF0"/>
                </a:solidFill>
                <a:latin typeface="Helvetica Neue"/>
              </a:rPr>
              <a:t>Tier 2 · Fuzzy match</a:t>
            </a:r>
          </a:p>
        </p:txBody>
      </p:sp>
      <p:sp>
        <p:nvSpPr>
          <p:cNvPr id="13" name="TextBox 12"/>
          <p:cNvSpPr txBox="1"/>
          <p:nvPr/>
        </p:nvSpPr>
        <p:spPr>
          <a:xfrm>
            <a:off x="6446520" y="3063240"/>
            <a:ext cx="4023360" cy="292608"/>
          </a:xfrm>
          <a:prstGeom prst="rect">
            <a:avLst/>
          </a:prstGeom>
          <a:noFill/>
        </p:spPr>
        <p:txBody>
          <a:bodyPr wrap="square" lIns="45720" rIns="45720">
            <a:spAutoFit/>
          </a:bodyPr>
          <a:lstStyle/>
          <a:p>
            <a:pPr algn="l"/>
            <a:r>
              <a:rPr sz="1100" b="0">
                <a:solidFill>
                  <a:srgbClr val="8A95A5"/>
                </a:solidFill>
                <a:latin typeface="Helvetica Neue"/>
              </a:rPr>
              <a:t>Typos: 'Hispanc' → 'Hispanic'</a:t>
            </a:r>
          </a:p>
        </p:txBody>
      </p:sp>
      <p:sp>
        <p:nvSpPr>
          <p:cNvPr id="14" name="TextBox 13"/>
          <p:cNvSpPr txBox="1"/>
          <p:nvPr/>
        </p:nvSpPr>
        <p:spPr>
          <a:xfrm>
            <a:off x="10424160" y="2788920"/>
            <a:ext cx="1188720" cy="292608"/>
          </a:xfrm>
          <a:prstGeom prst="rect">
            <a:avLst/>
          </a:prstGeom>
          <a:noFill/>
        </p:spPr>
        <p:txBody>
          <a:bodyPr wrap="square" lIns="45720" rIns="45720">
            <a:spAutoFit/>
          </a:bodyPr>
          <a:lstStyle/>
          <a:p>
            <a:pPr algn="r"/>
            <a:r>
              <a:rPr sz="1100" b="0">
                <a:solidFill>
                  <a:srgbClr val="4AD09C"/>
                </a:solidFill>
                <a:latin typeface="Helvetica Neue"/>
              </a:rPr>
              <a:t>5 ms</a:t>
            </a:r>
          </a:p>
        </p:txBody>
      </p:sp>
      <p:sp>
        <p:nvSpPr>
          <p:cNvPr id="15" name="TextBox 14"/>
          <p:cNvSpPr txBox="1"/>
          <p:nvPr/>
        </p:nvSpPr>
        <p:spPr>
          <a:xfrm>
            <a:off x="6446520" y="3566160"/>
            <a:ext cx="3291840" cy="292608"/>
          </a:xfrm>
          <a:prstGeom prst="rect">
            <a:avLst/>
          </a:prstGeom>
          <a:noFill/>
        </p:spPr>
        <p:txBody>
          <a:bodyPr wrap="square" lIns="45720" rIns="45720">
            <a:spAutoFit/>
          </a:bodyPr>
          <a:lstStyle/>
          <a:p>
            <a:pPr algn="l"/>
            <a:r>
              <a:rPr sz="1200" b="1">
                <a:solidFill>
                  <a:srgbClr val="E6EAF0"/>
                </a:solidFill>
                <a:latin typeface="Helvetica Neue"/>
              </a:rPr>
              <a:t>Tier 3 · Semantic ANN</a:t>
            </a:r>
          </a:p>
        </p:txBody>
      </p:sp>
      <p:sp>
        <p:nvSpPr>
          <p:cNvPr id="16" name="TextBox 15"/>
          <p:cNvSpPr txBox="1"/>
          <p:nvPr/>
        </p:nvSpPr>
        <p:spPr>
          <a:xfrm>
            <a:off x="6446520" y="3840480"/>
            <a:ext cx="4023360" cy="292608"/>
          </a:xfrm>
          <a:prstGeom prst="rect">
            <a:avLst/>
          </a:prstGeom>
          <a:noFill/>
        </p:spPr>
        <p:txBody>
          <a:bodyPr wrap="square" lIns="45720" rIns="45720">
            <a:spAutoFit/>
          </a:bodyPr>
          <a:lstStyle/>
          <a:p>
            <a:pPr algn="l"/>
            <a:r>
              <a:rPr sz="1100" b="0">
                <a:solidFill>
                  <a:srgbClr val="8A95A5"/>
                </a:solidFill>
                <a:latin typeface="Helvetica Neue"/>
              </a:rPr>
              <a:t>Match meaning when spelling differs</a:t>
            </a:r>
          </a:p>
        </p:txBody>
      </p:sp>
      <p:sp>
        <p:nvSpPr>
          <p:cNvPr id="17" name="TextBox 16"/>
          <p:cNvSpPr txBox="1"/>
          <p:nvPr/>
        </p:nvSpPr>
        <p:spPr>
          <a:xfrm>
            <a:off x="10424160" y="3566160"/>
            <a:ext cx="1188720" cy="292608"/>
          </a:xfrm>
          <a:prstGeom prst="rect">
            <a:avLst/>
          </a:prstGeom>
          <a:noFill/>
        </p:spPr>
        <p:txBody>
          <a:bodyPr wrap="square" lIns="45720" rIns="45720">
            <a:spAutoFit/>
          </a:bodyPr>
          <a:lstStyle/>
          <a:p>
            <a:pPr algn="r"/>
            <a:r>
              <a:rPr sz="1100" b="0">
                <a:solidFill>
                  <a:srgbClr val="4AD09C"/>
                </a:solidFill>
                <a:latin typeface="Helvetica Neue"/>
              </a:rPr>
              <a:t>20 ms</a:t>
            </a:r>
          </a:p>
        </p:txBody>
      </p:sp>
      <p:sp>
        <p:nvSpPr>
          <p:cNvPr id="18" name="TextBox 17"/>
          <p:cNvSpPr txBox="1"/>
          <p:nvPr/>
        </p:nvSpPr>
        <p:spPr>
          <a:xfrm>
            <a:off x="6446520" y="4343400"/>
            <a:ext cx="3291840" cy="292608"/>
          </a:xfrm>
          <a:prstGeom prst="rect">
            <a:avLst/>
          </a:prstGeom>
          <a:noFill/>
        </p:spPr>
        <p:txBody>
          <a:bodyPr wrap="square" lIns="45720" rIns="45720">
            <a:spAutoFit/>
          </a:bodyPr>
          <a:lstStyle/>
          <a:p>
            <a:pPr algn="l"/>
            <a:r>
              <a:rPr sz="1200" b="1">
                <a:solidFill>
                  <a:srgbClr val="E6EAF0"/>
                </a:solidFill>
                <a:latin typeface="Helvetica Neue"/>
              </a:rPr>
              <a:t>Tier 4 · LLM disambiguate</a:t>
            </a:r>
          </a:p>
        </p:txBody>
      </p:sp>
      <p:sp>
        <p:nvSpPr>
          <p:cNvPr id="19" name="TextBox 18"/>
          <p:cNvSpPr txBox="1"/>
          <p:nvPr/>
        </p:nvSpPr>
        <p:spPr>
          <a:xfrm>
            <a:off x="6446520" y="4617720"/>
            <a:ext cx="4023360" cy="292608"/>
          </a:xfrm>
          <a:prstGeom prst="rect">
            <a:avLst/>
          </a:prstGeom>
          <a:noFill/>
        </p:spPr>
        <p:txBody>
          <a:bodyPr wrap="square" lIns="45720" rIns="45720">
            <a:spAutoFit/>
          </a:bodyPr>
          <a:lstStyle/>
          <a:p>
            <a:pPr algn="l"/>
            <a:r>
              <a:rPr sz="1100" b="0">
                <a:solidFill>
                  <a:srgbClr val="8A95A5"/>
                </a:solidFill>
                <a:latin typeface="Helvetica Neue"/>
              </a:rPr>
              <a:t>Resolve when one term means two things</a:t>
            </a:r>
          </a:p>
        </p:txBody>
      </p:sp>
      <p:sp>
        <p:nvSpPr>
          <p:cNvPr id="20" name="TextBox 19"/>
          <p:cNvSpPr txBox="1"/>
          <p:nvPr/>
        </p:nvSpPr>
        <p:spPr>
          <a:xfrm>
            <a:off x="10424160" y="4343400"/>
            <a:ext cx="1188720" cy="292608"/>
          </a:xfrm>
          <a:prstGeom prst="rect">
            <a:avLst/>
          </a:prstGeom>
          <a:noFill/>
        </p:spPr>
        <p:txBody>
          <a:bodyPr wrap="square" lIns="45720" rIns="45720">
            <a:spAutoFit/>
          </a:bodyPr>
          <a:lstStyle/>
          <a:p>
            <a:pPr algn="r"/>
            <a:r>
              <a:rPr sz="1100" b="0">
                <a:solidFill>
                  <a:srgbClr val="4AD09C"/>
                </a:solidFill>
                <a:latin typeface="Helvetica Neue"/>
              </a:rPr>
              <a:t>200 ms</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Knowledge · Retrieval &amp; Entity Resolution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test_component5 + test_component6 green · Tier 1+2 handle ~95% of cases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3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NL → SQL Pipeline</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Nine stages, end-to-end · validation + 3-attempt repair · charts and descriptions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The nine pipeline stages</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answer(nl) → SQL + rows + chart + summary · all wired and tested today</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3383280" cy="292608"/>
          </a:xfrm>
          <a:prstGeom prst="rect">
            <a:avLst/>
          </a:prstGeom>
          <a:noFill/>
        </p:spPr>
        <p:txBody>
          <a:bodyPr wrap="square" lIns="45720" rIns="45720">
            <a:spAutoFit/>
          </a:bodyPr>
          <a:lstStyle/>
          <a:p>
            <a:pPr algn="l"/>
            <a:r>
              <a:rPr sz="1300" b="1">
                <a:solidFill>
                  <a:srgbClr val="6EC1FF"/>
                </a:solidFill>
                <a:latin typeface="Helvetica Neue"/>
              </a:rPr>
              <a:t>1. Classify</a:t>
            </a:r>
          </a:p>
        </p:txBody>
      </p:sp>
      <p:sp>
        <p:nvSpPr>
          <p:cNvPr id="6" name="TextBox 5"/>
          <p:cNvSpPr txBox="1"/>
          <p:nvPr/>
        </p:nvSpPr>
        <p:spPr>
          <a:xfrm>
            <a:off x="4114800" y="1627632"/>
            <a:ext cx="7498079" cy="292608"/>
          </a:xfrm>
          <a:prstGeom prst="rect">
            <a:avLst/>
          </a:prstGeom>
          <a:noFill/>
        </p:spPr>
        <p:txBody>
          <a:bodyPr wrap="square" lIns="45720" rIns="45720">
            <a:spAutoFit/>
          </a:bodyPr>
          <a:lstStyle/>
          <a:p>
            <a:pPr algn="l"/>
            <a:r>
              <a:rPr sz="1200" b="0">
                <a:solidFill>
                  <a:srgbClr val="E6EAF0"/>
                </a:solidFill>
                <a:latin typeface="Helvetica Neue"/>
              </a:rPr>
              <a:t>Route question → primary + secondary + tertiary domains</a:t>
            </a:r>
          </a:p>
        </p:txBody>
      </p:sp>
      <p:sp>
        <p:nvSpPr>
          <p:cNvPr id="7" name="TextBox 6"/>
          <p:cNvSpPr txBox="1"/>
          <p:nvPr/>
        </p:nvSpPr>
        <p:spPr>
          <a:xfrm>
            <a:off x="640080" y="2139696"/>
            <a:ext cx="3383280" cy="292608"/>
          </a:xfrm>
          <a:prstGeom prst="rect">
            <a:avLst/>
          </a:prstGeom>
          <a:noFill/>
        </p:spPr>
        <p:txBody>
          <a:bodyPr wrap="square" lIns="45720" rIns="45720">
            <a:spAutoFit/>
          </a:bodyPr>
          <a:lstStyle/>
          <a:p>
            <a:pPr algn="l"/>
            <a:r>
              <a:rPr sz="1300" b="1">
                <a:solidFill>
                  <a:srgbClr val="6EC1FF"/>
                </a:solidFill>
                <a:latin typeface="Helvetica Neue"/>
              </a:rPr>
              <a:t>2. Retrieve</a:t>
            </a:r>
          </a:p>
        </p:txBody>
      </p:sp>
      <p:sp>
        <p:nvSpPr>
          <p:cNvPr id="8" name="TextBox 7"/>
          <p:cNvSpPr txBox="1"/>
          <p:nvPr/>
        </p:nvSpPr>
        <p:spPr>
          <a:xfrm>
            <a:off x="4114800" y="2139696"/>
            <a:ext cx="7498079" cy="292608"/>
          </a:xfrm>
          <a:prstGeom prst="rect">
            <a:avLst/>
          </a:prstGeom>
          <a:noFill/>
        </p:spPr>
        <p:txBody>
          <a:bodyPr wrap="square" lIns="45720" rIns="45720">
            <a:spAutoFit/>
          </a:bodyPr>
          <a:lstStyle/>
          <a:p>
            <a:pPr algn="l"/>
            <a:r>
              <a:rPr sz="1200" b="0">
                <a:solidFill>
                  <a:srgbClr val="E6EAF0"/>
                </a:solidFill>
                <a:latin typeface="Helvetica Neue"/>
              </a:rPr>
              <a:t>Hybrid search inside routed domains → 3–8 candidate tables</a:t>
            </a:r>
          </a:p>
        </p:txBody>
      </p:sp>
      <p:sp>
        <p:nvSpPr>
          <p:cNvPr id="9" name="TextBox 8"/>
          <p:cNvSpPr txBox="1"/>
          <p:nvPr/>
        </p:nvSpPr>
        <p:spPr>
          <a:xfrm>
            <a:off x="640080" y="2651760"/>
            <a:ext cx="3383280" cy="292608"/>
          </a:xfrm>
          <a:prstGeom prst="rect">
            <a:avLst/>
          </a:prstGeom>
          <a:noFill/>
        </p:spPr>
        <p:txBody>
          <a:bodyPr wrap="square" lIns="45720" rIns="45720">
            <a:spAutoFit/>
          </a:bodyPr>
          <a:lstStyle/>
          <a:p>
            <a:pPr algn="l"/>
            <a:r>
              <a:rPr sz="1300" b="1">
                <a:solidFill>
                  <a:srgbClr val="6EC1FF"/>
                </a:solidFill>
                <a:latin typeface="Helvetica Neue"/>
              </a:rPr>
              <a:t>3. Resolve</a:t>
            </a:r>
          </a:p>
        </p:txBody>
      </p:sp>
      <p:sp>
        <p:nvSpPr>
          <p:cNvPr id="10" name="TextBox 9"/>
          <p:cNvSpPr txBox="1"/>
          <p:nvPr/>
        </p:nvSpPr>
        <p:spPr>
          <a:xfrm>
            <a:off x="4114800" y="2651760"/>
            <a:ext cx="7498079" cy="292608"/>
          </a:xfrm>
          <a:prstGeom prst="rect">
            <a:avLst/>
          </a:prstGeom>
          <a:noFill/>
        </p:spPr>
        <p:txBody>
          <a:bodyPr wrap="square" lIns="45720" rIns="45720">
            <a:spAutoFit/>
          </a:bodyPr>
          <a:lstStyle/>
          <a:p>
            <a:pPr algn="l"/>
            <a:r>
              <a:rPr sz="1200" b="0">
                <a:solidFill>
                  <a:srgbClr val="E6EAF0"/>
                </a:solidFill>
                <a:latin typeface="Helvetica Neue"/>
              </a:rPr>
              <a:t>Map user terms to descriptor codes (4-tier funnel)</a:t>
            </a:r>
          </a:p>
        </p:txBody>
      </p:sp>
      <p:sp>
        <p:nvSpPr>
          <p:cNvPr id="11" name="TextBox 10"/>
          <p:cNvSpPr txBox="1"/>
          <p:nvPr/>
        </p:nvSpPr>
        <p:spPr>
          <a:xfrm>
            <a:off x="640080" y="3163824"/>
            <a:ext cx="3383280" cy="292608"/>
          </a:xfrm>
          <a:prstGeom prst="rect">
            <a:avLst/>
          </a:prstGeom>
          <a:noFill/>
        </p:spPr>
        <p:txBody>
          <a:bodyPr wrap="square" lIns="45720" rIns="45720">
            <a:spAutoFit/>
          </a:bodyPr>
          <a:lstStyle/>
          <a:p>
            <a:pPr algn="l"/>
            <a:r>
              <a:rPr sz="1300" b="1">
                <a:solidFill>
                  <a:srgbClr val="6EC1FF"/>
                </a:solidFill>
                <a:latin typeface="Helvetica Neue"/>
              </a:rPr>
              <a:t>4. Recall gold</a:t>
            </a:r>
          </a:p>
        </p:txBody>
      </p:sp>
      <p:sp>
        <p:nvSpPr>
          <p:cNvPr id="12" name="TextBox 11"/>
          <p:cNvSpPr txBox="1"/>
          <p:nvPr/>
        </p:nvSpPr>
        <p:spPr>
          <a:xfrm>
            <a:off x="4114800" y="3163824"/>
            <a:ext cx="7498079" cy="292608"/>
          </a:xfrm>
          <a:prstGeom prst="rect">
            <a:avLst/>
          </a:prstGeom>
          <a:noFill/>
        </p:spPr>
        <p:txBody>
          <a:bodyPr wrap="square" lIns="45720" rIns="45720">
            <a:spAutoFit/>
          </a:bodyPr>
          <a:lstStyle/>
          <a:p>
            <a:pPr algn="l"/>
            <a:r>
              <a:rPr sz="1200" b="0">
                <a:solidFill>
                  <a:srgbClr val="E6EAF0"/>
                </a:solidFill>
                <a:latin typeface="Helvetica Neue"/>
              </a:rPr>
              <a:t>Top-3 proven NL/SQL pairs by AST + NL similarity</a:t>
            </a:r>
          </a:p>
        </p:txBody>
      </p:sp>
      <p:sp>
        <p:nvSpPr>
          <p:cNvPr id="13" name="TextBox 12"/>
          <p:cNvSpPr txBox="1"/>
          <p:nvPr/>
        </p:nvSpPr>
        <p:spPr>
          <a:xfrm>
            <a:off x="640080" y="3675887"/>
            <a:ext cx="3383280" cy="292608"/>
          </a:xfrm>
          <a:prstGeom prst="rect">
            <a:avLst/>
          </a:prstGeom>
          <a:noFill/>
        </p:spPr>
        <p:txBody>
          <a:bodyPr wrap="square" lIns="45720" rIns="45720">
            <a:spAutoFit/>
          </a:bodyPr>
          <a:lstStyle/>
          <a:p>
            <a:pPr algn="l"/>
            <a:r>
              <a:rPr sz="1300" b="1">
                <a:solidFill>
                  <a:srgbClr val="6EC1FF"/>
                </a:solidFill>
                <a:latin typeface="Helvetica Neue"/>
              </a:rPr>
              <a:t>5. Generate</a:t>
            </a:r>
          </a:p>
        </p:txBody>
      </p:sp>
      <p:sp>
        <p:nvSpPr>
          <p:cNvPr id="14" name="TextBox 13"/>
          <p:cNvSpPr txBox="1"/>
          <p:nvPr/>
        </p:nvSpPr>
        <p:spPr>
          <a:xfrm>
            <a:off x="4114800" y="3675887"/>
            <a:ext cx="7498079" cy="292608"/>
          </a:xfrm>
          <a:prstGeom prst="rect">
            <a:avLst/>
          </a:prstGeom>
          <a:noFill/>
        </p:spPr>
        <p:txBody>
          <a:bodyPr wrap="square" lIns="45720" rIns="45720">
            <a:spAutoFit/>
          </a:bodyPr>
          <a:lstStyle/>
          <a:p>
            <a:pPr algn="l"/>
            <a:r>
              <a:rPr sz="1200" b="0">
                <a:solidFill>
                  <a:srgbClr val="E6EAF0"/>
                </a:solidFill>
                <a:latin typeface="Helvetica Neue"/>
              </a:rPr>
              <a:t>LLM writes SQL grounded in real columns + JOINs</a:t>
            </a:r>
          </a:p>
        </p:txBody>
      </p:sp>
      <p:sp>
        <p:nvSpPr>
          <p:cNvPr id="15" name="TextBox 14"/>
          <p:cNvSpPr txBox="1"/>
          <p:nvPr/>
        </p:nvSpPr>
        <p:spPr>
          <a:xfrm>
            <a:off x="640080" y="4187952"/>
            <a:ext cx="3383280" cy="292608"/>
          </a:xfrm>
          <a:prstGeom prst="rect">
            <a:avLst/>
          </a:prstGeom>
          <a:noFill/>
        </p:spPr>
        <p:txBody>
          <a:bodyPr wrap="square" lIns="45720" rIns="45720">
            <a:spAutoFit/>
          </a:bodyPr>
          <a:lstStyle/>
          <a:p>
            <a:pPr algn="l"/>
            <a:r>
              <a:rPr sz="1300" b="1">
                <a:solidFill>
                  <a:srgbClr val="6EC1FF"/>
                </a:solidFill>
                <a:latin typeface="Helvetica Neue"/>
              </a:rPr>
              <a:t>6. Validate</a:t>
            </a:r>
          </a:p>
        </p:txBody>
      </p:sp>
      <p:sp>
        <p:nvSpPr>
          <p:cNvPr id="16" name="TextBox 15"/>
          <p:cNvSpPr txBox="1"/>
          <p:nvPr/>
        </p:nvSpPr>
        <p:spPr>
          <a:xfrm>
            <a:off x="4114800" y="4187952"/>
            <a:ext cx="7498079" cy="292608"/>
          </a:xfrm>
          <a:prstGeom prst="rect">
            <a:avLst/>
          </a:prstGeom>
          <a:noFill/>
        </p:spPr>
        <p:txBody>
          <a:bodyPr wrap="square" lIns="45720" rIns="45720">
            <a:spAutoFit/>
          </a:bodyPr>
          <a:lstStyle/>
          <a:p>
            <a:pPr algn="l"/>
            <a:r>
              <a:rPr sz="1200" b="0">
                <a:solidFill>
                  <a:srgbClr val="E6EAF0"/>
                </a:solidFill>
                <a:latin typeface="Helvetica Neue"/>
              </a:rPr>
              <a:t>sqlglot parse + EXPLAIN + LIMIT 0 dry-run</a:t>
            </a:r>
          </a:p>
        </p:txBody>
      </p:sp>
      <p:sp>
        <p:nvSpPr>
          <p:cNvPr id="17" name="TextBox 16"/>
          <p:cNvSpPr txBox="1"/>
          <p:nvPr/>
        </p:nvSpPr>
        <p:spPr>
          <a:xfrm>
            <a:off x="640080" y="4700016"/>
            <a:ext cx="3383280" cy="292608"/>
          </a:xfrm>
          <a:prstGeom prst="rect">
            <a:avLst/>
          </a:prstGeom>
          <a:noFill/>
        </p:spPr>
        <p:txBody>
          <a:bodyPr wrap="square" lIns="45720" rIns="45720">
            <a:spAutoFit/>
          </a:bodyPr>
          <a:lstStyle/>
          <a:p>
            <a:pPr algn="l"/>
            <a:r>
              <a:rPr sz="1300" b="1">
                <a:solidFill>
                  <a:srgbClr val="6EC1FF"/>
                </a:solidFill>
                <a:latin typeface="Helvetica Neue"/>
              </a:rPr>
              <a:t>7. Repair</a:t>
            </a:r>
          </a:p>
        </p:txBody>
      </p:sp>
      <p:sp>
        <p:nvSpPr>
          <p:cNvPr id="18" name="TextBox 17"/>
          <p:cNvSpPr txBox="1"/>
          <p:nvPr/>
        </p:nvSpPr>
        <p:spPr>
          <a:xfrm>
            <a:off x="4114800" y="4700016"/>
            <a:ext cx="7498079" cy="292608"/>
          </a:xfrm>
          <a:prstGeom prst="rect">
            <a:avLst/>
          </a:prstGeom>
          <a:noFill/>
        </p:spPr>
        <p:txBody>
          <a:bodyPr wrap="square" lIns="45720" rIns="45720">
            <a:spAutoFit/>
          </a:bodyPr>
          <a:lstStyle/>
          <a:p>
            <a:pPr algn="l"/>
            <a:r>
              <a:rPr sz="1200" b="0">
                <a:solidFill>
                  <a:srgbClr val="E6EAF0"/>
                </a:solidFill>
                <a:latin typeface="Helvetica Neue"/>
              </a:rPr>
              <a:t>3-attempt loop fixes typos / missing joins / wrong columns</a:t>
            </a:r>
          </a:p>
        </p:txBody>
      </p:sp>
      <p:sp>
        <p:nvSpPr>
          <p:cNvPr id="19" name="TextBox 18"/>
          <p:cNvSpPr txBox="1"/>
          <p:nvPr/>
        </p:nvSpPr>
        <p:spPr>
          <a:xfrm>
            <a:off x="640080" y="5212080"/>
            <a:ext cx="3383280" cy="292608"/>
          </a:xfrm>
          <a:prstGeom prst="rect">
            <a:avLst/>
          </a:prstGeom>
          <a:noFill/>
        </p:spPr>
        <p:txBody>
          <a:bodyPr wrap="square" lIns="45720" rIns="45720">
            <a:spAutoFit/>
          </a:bodyPr>
          <a:lstStyle/>
          <a:p>
            <a:pPr algn="l"/>
            <a:r>
              <a:rPr sz="1300" b="1">
                <a:solidFill>
                  <a:srgbClr val="6EC1FF"/>
                </a:solidFill>
                <a:latin typeface="Helvetica Neue"/>
              </a:rPr>
              <a:t>8. Execute</a:t>
            </a:r>
          </a:p>
        </p:txBody>
      </p:sp>
      <p:sp>
        <p:nvSpPr>
          <p:cNvPr id="20" name="TextBox 19"/>
          <p:cNvSpPr txBox="1"/>
          <p:nvPr/>
        </p:nvSpPr>
        <p:spPr>
          <a:xfrm>
            <a:off x="4114800" y="5212080"/>
            <a:ext cx="7498079" cy="292608"/>
          </a:xfrm>
          <a:prstGeom prst="rect">
            <a:avLst/>
          </a:prstGeom>
          <a:noFill/>
        </p:spPr>
        <p:txBody>
          <a:bodyPr wrap="square" lIns="45720" rIns="45720">
            <a:spAutoFit/>
          </a:bodyPr>
          <a:lstStyle/>
          <a:p>
            <a:pPr algn="l"/>
            <a:r>
              <a:rPr sz="1200" b="0">
                <a:solidFill>
                  <a:srgbClr val="E6EAF0"/>
                </a:solidFill>
                <a:latin typeface="Helvetica Neue"/>
              </a:rPr>
              <a:t>Run against the active target DB engine</a:t>
            </a:r>
          </a:p>
        </p:txBody>
      </p:sp>
      <p:sp>
        <p:nvSpPr>
          <p:cNvPr id="21" name="TextBox 20"/>
          <p:cNvSpPr txBox="1"/>
          <p:nvPr/>
        </p:nvSpPr>
        <p:spPr>
          <a:xfrm>
            <a:off x="640080" y="5724144"/>
            <a:ext cx="3383280" cy="292608"/>
          </a:xfrm>
          <a:prstGeom prst="rect">
            <a:avLst/>
          </a:prstGeom>
          <a:noFill/>
        </p:spPr>
        <p:txBody>
          <a:bodyPr wrap="square" lIns="45720" rIns="45720">
            <a:spAutoFit/>
          </a:bodyPr>
          <a:lstStyle/>
          <a:p>
            <a:pPr algn="l"/>
            <a:r>
              <a:rPr sz="1300" b="1">
                <a:solidFill>
                  <a:srgbClr val="6EC1FF"/>
                </a:solidFill>
                <a:latin typeface="Helvetica Neue"/>
              </a:rPr>
              <a:t>9. Visualize + describe</a:t>
            </a:r>
          </a:p>
        </p:txBody>
      </p:sp>
      <p:sp>
        <p:nvSpPr>
          <p:cNvPr id="22" name="TextBox 21"/>
          <p:cNvSpPr txBox="1"/>
          <p:nvPr/>
        </p:nvSpPr>
        <p:spPr>
          <a:xfrm>
            <a:off x="4114800" y="5724144"/>
            <a:ext cx="7498079" cy="292608"/>
          </a:xfrm>
          <a:prstGeom prst="rect">
            <a:avLst/>
          </a:prstGeom>
          <a:noFill/>
        </p:spPr>
        <p:txBody>
          <a:bodyPr wrap="square" lIns="45720" rIns="45720">
            <a:spAutoFit/>
          </a:bodyPr>
          <a:lstStyle/>
          <a:p>
            <a:pPr algn="l"/>
            <a:r>
              <a:rPr sz="1200" b="0">
                <a:solidFill>
                  <a:srgbClr val="E6EAF0"/>
                </a:solidFill>
                <a:latin typeface="Helvetica Neue"/>
              </a:rPr>
              <a:t>Vega-Lite chart + plain-English summary in parallel</a:t>
            </a:r>
          </a:p>
        </p:txBody>
      </p:sp>
      <p:sp>
        <p:nvSpPr>
          <p:cNvPr id="23" name="TextBox 22"/>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Pipeline · 9 stages · test_component8 green</a:t>
            </a:r>
          </a:p>
        </p:txBody>
      </p:sp>
      <p:sp>
        <p:nvSpPr>
          <p:cNvPr id="24" name="TextBox 23"/>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Postgres / MSSQL / SQLite all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Self-correcting and self-explaining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Bad SQL never reaches production · charts and summaries land in parallel</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Validation + repair loop</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Parse-check — catches syntax errors (sqlglot)</a:t>
            </a:r>
          </a:p>
          <a:p>
            <a:pPr algn="l">
              <a:spcAft>
                <a:spcPts val="400"/>
              </a:spcAft>
            </a:pPr>
            <a:r>
              <a:rPr sz="1200">
                <a:solidFill>
                  <a:srgbClr val="E6EAF0"/>
                </a:solidFill>
                <a:latin typeface="Helvetica Neue"/>
              </a:rPr>
              <a:t>• Plan-check — catches semantic errors (EXPLAIN)</a:t>
            </a:r>
          </a:p>
          <a:p>
            <a:pPr algn="l">
              <a:spcAft>
                <a:spcPts val="400"/>
              </a:spcAft>
            </a:pPr>
            <a:r>
              <a:rPr sz="1200">
                <a:solidFill>
                  <a:srgbClr val="E6EAF0"/>
                </a:solidFill>
                <a:latin typeface="Helvetica Neue"/>
              </a:rPr>
              <a:t>• Dry-execute — catches runtime errors (LIMIT 0)</a:t>
            </a:r>
          </a:p>
          <a:p>
            <a:pPr algn="l">
              <a:spcAft>
                <a:spcPts val="400"/>
              </a:spcAft>
            </a:pPr>
            <a:r>
              <a:rPr sz="1200">
                <a:solidFill>
                  <a:srgbClr val="E6EAF0"/>
                </a:solidFill>
                <a:latin typeface="Helvetica Neue"/>
              </a:rPr>
              <a:t>• Up to three repair attempts with fresh context</a:t>
            </a:r>
          </a:p>
          <a:p>
            <a:pPr algn="l">
              <a:spcAft>
                <a:spcPts val="400"/>
              </a:spcAft>
            </a:pPr>
            <a:r>
              <a:rPr sz="1200">
                <a:solidFill>
                  <a:srgbClr val="E6EAF0"/>
                </a:solidFill>
                <a:latin typeface="Helvetica Neue"/>
              </a:rPr>
              <a:t>• Live-fix verified end-to-end (test_repair_fixes_real_explain_error)</a:t>
            </a:r>
          </a:p>
          <a:p>
            <a:pPr algn="l">
              <a:spcAft>
                <a:spcPts val="400"/>
              </a:spcAft>
            </a:pPr>
            <a:r>
              <a:rPr sz="1200">
                <a:solidFill>
                  <a:srgbClr val="E6EAF0"/>
                </a:solidFill>
                <a:latin typeface="Helvetica Neue"/>
              </a:rPr>
              <a:t>• Short-circuits on clean first SQL — no overhead in the common case</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Charts + descriptions (parallel)</a:t>
            </a:r>
          </a:p>
        </p:txBody>
      </p:sp>
      <p:sp>
        <p:nvSpPr>
          <p:cNvPr id="9" name="TextBox 8"/>
          <p:cNvSpPr txBox="1"/>
          <p:nvPr/>
        </p:nvSpPr>
        <p:spPr>
          <a:xfrm>
            <a:off x="644652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Result-shape inference: row count, column types, aggregates, temporal axes</a:t>
            </a:r>
          </a:p>
          <a:p>
            <a:pPr algn="l">
              <a:spcAft>
                <a:spcPts val="400"/>
              </a:spcAft>
            </a:pPr>
            <a:r>
              <a:rPr sz="1200">
                <a:solidFill>
                  <a:srgbClr val="E6EAF0"/>
                </a:solidFill>
                <a:latin typeface="Helvetica Neue"/>
              </a:rPr>
              <a:t>• Vega-Lite spec generated via LLM with strict JSON schema</a:t>
            </a:r>
          </a:p>
          <a:p>
            <a:pPr algn="l">
              <a:spcAft>
                <a:spcPts val="400"/>
              </a:spcAft>
            </a:pPr>
            <a:r>
              <a:rPr sz="1200">
                <a:solidFill>
                  <a:srgbClr val="E6EAF0"/>
                </a:solidFill>
                <a:latin typeface="Helvetica Neue"/>
              </a:rPr>
              <a:t>• Plain-English summary generated in parallel via ThreadPoolExecutor</a:t>
            </a:r>
          </a:p>
          <a:p>
            <a:pPr algn="l">
              <a:spcAft>
                <a:spcPts val="400"/>
              </a:spcAft>
            </a:pPr>
            <a:r>
              <a:rPr sz="1200">
                <a:solidFill>
                  <a:srgbClr val="E6EAF0"/>
                </a:solidFill>
                <a:latin typeface="Helvetica Neue"/>
              </a:rPr>
              <a:t>• Browser receives chart spec + summary the moment they're ready</a:t>
            </a:r>
          </a:p>
          <a:p>
            <a:pPr algn="l">
              <a:spcAft>
                <a:spcPts val="400"/>
              </a:spcAft>
            </a:pPr>
            <a:r>
              <a:rPr sz="1200">
                <a:solidFill>
                  <a:srgbClr val="E6EAF0"/>
                </a:solidFill>
                <a:latin typeface="Helvetica Neue"/>
              </a:rPr>
              <a:t>• Single-row, multi-row, time-series, and aggregate cases all handled</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Pipeline · Validation &amp; Output</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test_component9 + test_component10 green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4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The Agentic Layer</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8 tools · multi-turn conversations · server-sent streaming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Eight tools the agent can call</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Each tool is the same primitive an engineer would reach for — exposed to the LLM</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3657600" cy="292608"/>
          </a:xfrm>
          <a:prstGeom prst="rect">
            <a:avLst/>
          </a:prstGeom>
          <a:noFill/>
        </p:spPr>
        <p:txBody>
          <a:bodyPr wrap="square" lIns="45720" rIns="45720">
            <a:spAutoFit/>
          </a:bodyPr>
          <a:lstStyle/>
          <a:p>
            <a:pPr algn="l"/>
            <a:r>
              <a:rPr sz="1200" b="1">
                <a:solidFill>
                  <a:srgbClr val="6EC1FF"/>
                </a:solidFill>
                <a:latin typeface="Helvetica Neue"/>
              </a:rPr>
              <a:t>CLASSIFY_DOMAINS</a:t>
            </a:r>
          </a:p>
        </p:txBody>
      </p:sp>
      <p:sp>
        <p:nvSpPr>
          <p:cNvPr id="6" name="TextBox 5"/>
          <p:cNvSpPr txBox="1"/>
          <p:nvPr/>
        </p:nvSpPr>
        <p:spPr>
          <a:xfrm>
            <a:off x="4389120" y="1645920"/>
            <a:ext cx="7315200" cy="292608"/>
          </a:xfrm>
          <a:prstGeom prst="rect">
            <a:avLst/>
          </a:prstGeom>
          <a:noFill/>
        </p:spPr>
        <p:txBody>
          <a:bodyPr wrap="square" lIns="45720" rIns="45720">
            <a:spAutoFit/>
          </a:bodyPr>
          <a:lstStyle/>
          <a:p>
            <a:pPr algn="l"/>
            <a:r>
              <a:rPr sz="1200" b="0">
                <a:solidFill>
                  <a:srgbClr val="E6EAF0"/>
                </a:solidFill>
                <a:latin typeface="Helvetica Neue"/>
              </a:rPr>
              <a:t>Find the Ed-Fi domains relevant to a question</a:t>
            </a:r>
          </a:p>
        </p:txBody>
      </p:sp>
      <p:sp>
        <p:nvSpPr>
          <p:cNvPr id="7" name="TextBox 6"/>
          <p:cNvSpPr txBox="1"/>
          <p:nvPr/>
        </p:nvSpPr>
        <p:spPr>
          <a:xfrm>
            <a:off x="640080" y="2212848"/>
            <a:ext cx="3657600" cy="292608"/>
          </a:xfrm>
          <a:prstGeom prst="rect">
            <a:avLst/>
          </a:prstGeom>
          <a:noFill/>
        </p:spPr>
        <p:txBody>
          <a:bodyPr wrap="square" lIns="45720" rIns="45720">
            <a:spAutoFit/>
          </a:bodyPr>
          <a:lstStyle/>
          <a:p>
            <a:pPr algn="l"/>
            <a:r>
              <a:rPr sz="1200" b="1">
                <a:solidFill>
                  <a:srgbClr val="6EC1FF"/>
                </a:solidFill>
                <a:latin typeface="Helvetica Neue"/>
              </a:rPr>
              <a:t>SEARCH_TABLES</a:t>
            </a:r>
          </a:p>
        </p:txBody>
      </p:sp>
      <p:sp>
        <p:nvSpPr>
          <p:cNvPr id="8" name="TextBox 7"/>
          <p:cNvSpPr txBox="1"/>
          <p:nvPr/>
        </p:nvSpPr>
        <p:spPr>
          <a:xfrm>
            <a:off x="4389120" y="2212848"/>
            <a:ext cx="7315200" cy="292608"/>
          </a:xfrm>
          <a:prstGeom prst="rect">
            <a:avLst/>
          </a:prstGeom>
          <a:noFill/>
        </p:spPr>
        <p:txBody>
          <a:bodyPr wrap="square" lIns="45720" rIns="45720">
            <a:spAutoFit/>
          </a:bodyPr>
          <a:lstStyle/>
          <a:p>
            <a:pPr algn="l"/>
            <a:r>
              <a:rPr sz="1200" b="0">
                <a:solidFill>
                  <a:srgbClr val="E6EAF0"/>
                </a:solidFill>
                <a:latin typeface="Helvetica Neue"/>
              </a:rPr>
              <a:t>Hybrid search inside the catalog · top-K tables</a:t>
            </a:r>
          </a:p>
        </p:txBody>
      </p:sp>
      <p:sp>
        <p:nvSpPr>
          <p:cNvPr id="9" name="TextBox 8"/>
          <p:cNvSpPr txBox="1"/>
          <p:nvPr/>
        </p:nvSpPr>
        <p:spPr>
          <a:xfrm>
            <a:off x="640080" y="2779776"/>
            <a:ext cx="3657600" cy="292608"/>
          </a:xfrm>
          <a:prstGeom prst="rect">
            <a:avLst/>
          </a:prstGeom>
          <a:noFill/>
        </p:spPr>
        <p:txBody>
          <a:bodyPr wrap="square" lIns="45720" rIns="45720">
            <a:spAutoFit/>
          </a:bodyPr>
          <a:lstStyle/>
          <a:p>
            <a:pPr algn="l"/>
            <a:r>
              <a:rPr sz="1200" b="1">
                <a:solidFill>
                  <a:srgbClr val="6EC1FF"/>
                </a:solidFill>
                <a:latin typeface="Helvetica Neue"/>
              </a:rPr>
              <a:t>INSPECT_TABLE</a:t>
            </a:r>
          </a:p>
        </p:txBody>
      </p:sp>
      <p:sp>
        <p:nvSpPr>
          <p:cNvPr id="10" name="TextBox 9"/>
          <p:cNvSpPr txBox="1"/>
          <p:nvPr/>
        </p:nvSpPr>
        <p:spPr>
          <a:xfrm>
            <a:off x="4389120" y="2779776"/>
            <a:ext cx="7315200" cy="292608"/>
          </a:xfrm>
          <a:prstGeom prst="rect">
            <a:avLst/>
          </a:prstGeom>
          <a:noFill/>
        </p:spPr>
        <p:txBody>
          <a:bodyPr wrap="square" lIns="45720" rIns="45720">
            <a:spAutoFit/>
          </a:bodyPr>
          <a:lstStyle/>
          <a:p>
            <a:pPr algn="l"/>
            <a:r>
              <a:rPr sz="1200" b="0">
                <a:solidFill>
                  <a:srgbClr val="E6EAF0"/>
                </a:solidFill>
                <a:latin typeface="Helvetica Neue"/>
              </a:rPr>
              <a:t>Full schema + sample rows for one table</a:t>
            </a:r>
          </a:p>
        </p:txBody>
      </p:sp>
      <p:sp>
        <p:nvSpPr>
          <p:cNvPr id="11" name="TextBox 10"/>
          <p:cNvSpPr txBox="1"/>
          <p:nvPr/>
        </p:nvSpPr>
        <p:spPr>
          <a:xfrm>
            <a:off x="640080" y="3346704"/>
            <a:ext cx="3657600" cy="292608"/>
          </a:xfrm>
          <a:prstGeom prst="rect">
            <a:avLst/>
          </a:prstGeom>
          <a:noFill/>
        </p:spPr>
        <p:txBody>
          <a:bodyPr wrap="square" lIns="45720" rIns="45720">
            <a:spAutoFit/>
          </a:bodyPr>
          <a:lstStyle/>
          <a:p>
            <a:pPr algn="l"/>
            <a:r>
              <a:rPr sz="1200" b="1">
                <a:solidFill>
                  <a:srgbClr val="6EC1FF"/>
                </a:solidFill>
                <a:latin typeface="Helvetica Neue"/>
              </a:rPr>
              <a:t>RESOLVE_ENTITY</a:t>
            </a:r>
          </a:p>
        </p:txBody>
      </p:sp>
      <p:sp>
        <p:nvSpPr>
          <p:cNvPr id="12" name="TextBox 11"/>
          <p:cNvSpPr txBox="1"/>
          <p:nvPr/>
        </p:nvSpPr>
        <p:spPr>
          <a:xfrm>
            <a:off x="4389120" y="3346704"/>
            <a:ext cx="7315200" cy="292608"/>
          </a:xfrm>
          <a:prstGeom prst="rect">
            <a:avLst/>
          </a:prstGeom>
          <a:noFill/>
        </p:spPr>
        <p:txBody>
          <a:bodyPr wrap="square" lIns="45720" rIns="45720">
            <a:spAutoFit/>
          </a:bodyPr>
          <a:lstStyle/>
          <a:p>
            <a:pPr algn="l"/>
            <a:r>
              <a:rPr sz="1200" b="0">
                <a:solidFill>
                  <a:srgbClr val="E6EAF0"/>
                </a:solidFill>
                <a:latin typeface="Helvetica Neue"/>
              </a:rPr>
              <a:t>Map a user term ('Hispanic') to (table, column, code)</a:t>
            </a:r>
          </a:p>
        </p:txBody>
      </p:sp>
      <p:sp>
        <p:nvSpPr>
          <p:cNvPr id="13" name="TextBox 12"/>
          <p:cNvSpPr txBox="1"/>
          <p:nvPr/>
        </p:nvSpPr>
        <p:spPr>
          <a:xfrm>
            <a:off x="640080" y="3913632"/>
            <a:ext cx="3657600" cy="292608"/>
          </a:xfrm>
          <a:prstGeom prst="rect">
            <a:avLst/>
          </a:prstGeom>
          <a:noFill/>
        </p:spPr>
        <p:txBody>
          <a:bodyPr wrap="square" lIns="45720" rIns="45720">
            <a:spAutoFit/>
          </a:bodyPr>
          <a:lstStyle/>
          <a:p>
            <a:pPr algn="l"/>
            <a:r>
              <a:rPr sz="1200" b="1">
                <a:solidFill>
                  <a:srgbClr val="6EC1FF"/>
                </a:solidFill>
                <a:latin typeface="Helvetica Neue"/>
              </a:rPr>
              <a:t>FIND_JOIN_PATH</a:t>
            </a:r>
          </a:p>
        </p:txBody>
      </p:sp>
      <p:sp>
        <p:nvSpPr>
          <p:cNvPr id="14" name="TextBox 13"/>
          <p:cNvSpPr txBox="1"/>
          <p:nvPr/>
        </p:nvSpPr>
        <p:spPr>
          <a:xfrm>
            <a:off x="4389120" y="3913632"/>
            <a:ext cx="7315200" cy="292608"/>
          </a:xfrm>
          <a:prstGeom prst="rect">
            <a:avLst/>
          </a:prstGeom>
          <a:noFill/>
        </p:spPr>
        <p:txBody>
          <a:bodyPr wrap="square" lIns="45720" rIns="45720">
            <a:spAutoFit/>
          </a:bodyPr>
          <a:lstStyle/>
          <a:p>
            <a:pPr algn="l"/>
            <a:r>
              <a:rPr sz="1200" b="0">
                <a:solidFill>
                  <a:srgbClr val="E6EAF0"/>
                </a:solidFill>
                <a:latin typeface="Helvetica Neue"/>
              </a:rPr>
              <a:t>Steiner solver between two or more tables</a:t>
            </a:r>
          </a:p>
        </p:txBody>
      </p:sp>
      <p:sp>
        <p:nvSpPr>
          <p:cNvPr id="15" name="TextBox 14"/>
          <p:cNvSpPr txBox="1"/>
          <p:nvPr/>
        </p:nvSpPr>
        <p:spPr>
          <a:xfrm>
            <a:off x="640080" y="4480560"/>
            <a:ext cx="3657600" cy="292608"/>
          </a:xfrm>
          <a:prstGeom prst="rect">
            <a:avLst/>
          </a:prstGeom>
          <a:noFill/>
        </p:spPr>
        <p:txBody>
          <a:bodyPr wrap="square" lIns="45720" rIns="45720">
            <a:spAutoFit/>
          </a:bodyPr>
          <a:lstStyle/>
          <a:p>
            <a:pPr algn="l"/>
            <a:r>
              <a:rPr sz="1200" b="1">
                <a:solidFill>
                  <a:srgbClr val="6EC1FF"/>
                </a:solidFill>
                <a:latin typeface="Helvetica Neue"/>
              </a:rPr>
              <a:t>FIND_SIMILAR_QUERIES</a:t>
            </a:r>
          </a:p>
        </p:txBody>
      </p:sp>
      <p:sp>
        <p:nvSpPr>
          <p:cNvPr id="16" name="TextBox 15"/>
          <p:cNvSpPr txBox="1"/>
          <p:nvPr/>
        </p:nvSpPr>
        <p:spPr>
          <a:xfrm>
            <a:off x="4389120" y="4480560"/>
            <a:ext cx="7315200" cy="292608"/>
          </a:xfrm>
          <a:prstGeom prst="rect">
            <a:avLst/>
          </a:prstGeom>
          <a:noFill/>
        </p:spPr>
        <p:txBody>
          <a:bodyPr wrap="square" lIns="45720" rIns="45720">
            <a:spAutoFit/>
          </a:bodyPr>
          <a:lstStyle/>
          <a:p>
            <a:pPr algn="l"/>
            <a:r>
              <a:rPr sz="1200" b="0">
                <a:solidFill>
                  <a:srgbClr val="E6EAF0"/>
                </a:solidFill>
                <a:latin typeface="Helvetica Neue"/>
              </a:rPr>
              <a:t>Top-3 proven NL/SQL pairs from the gold store</a:t>
            </a:r>
          </a:p>
        </p:txBody>
      </p:sp>
      <p:sp>
        <p:nvSpPr>
          <p:cNvPr id="17" name="TextBox 16"/>
          <p:cNvSpPr txBox="1"/>
          <p:nvPr/>
        </p:nvSpPr>
        <p:spPr>
          <a:xfrm>
            <a:off x="640080" y="5047488"/>
            <a:ext cx="3657600" cy="292608"/>
          </a:xfrm>
          <a:prstGeom prst="rect">
            <a:avLst/>
          </a:prstGeom>
          <a:noFill/>
        </p:spPr>
        <p:txBody>
          <a:bodyPr wrap="square" lIns="45720" rIns="45720">
            <a:spAutoFit/>
          </a:bodyPr>
          <a:lstStyle/>
          <a:p>
            <a:pPr algn="l"/>
            <a:r>
              <a:rPr sz="1200" b="1">
                <a:solidFill>
                  <a:srgbClr val="6EC1FF"/>
                </a:solidFill>
                <a:latin typeface="Helvetica Neue"/>
              </a:rPr>
              <a:t>RUN_SQL</a:t>
            </a:r>
          </a:p>
        </p:txBody>
      </p:sp>
      <p:sp>
        <p:nvSpPr>
          <p:cNvPr id="18" name="TextBox 17"/>
          <p:cNvSpPr txBox="1"/>
          <p:nvPr/>
        </p:nvSpPr>
        <p:spPr>
          <a:xfrm>
            <a:off x="4389120" y="5047488"/>
            <a:ext cx="7315200" cy="292608"/>
          </a:xfrm>
          <a:prstGeom prst="rect">
            <a:avLst/>
          </a:prstGeom>
          <a:noFill/>
        </p:spPr>
        <p:txBody>
          <a:bodyPr wrap="square" lIns="45720" rIns="45720">
            <a:spAutoFit/>
          </a:bodyPr>
          <a:lstStyle/>
          <a:p>
            <a:pPr algn="l"/>
            <a:r>
              <a:rPr sz="1200" b="0">
                <a:solidFill>
                  <a:srgbClr val="E6EAF0"/>
                </a:solidFill>
                <a:latin typeface="Helvetica Neue"/>
              </a:rPr>
              <a:t>Execute SQL against the active target DB · returns rows</a:t>
            </a:r>
          </a:p>
        </p:txBody>
      </p:sp>
      <p:sp>
        <p:nvSpPr>
          <p:cNvPr id="19" name="TextBox 18"/>
          <p:cNvSpPr txBox="1"/>
          <p:nvPr/>
        </p:nvSpPr>
        <p:spPr>
          <a:xfrm>
            <a:off x="640080" y="5614416"/>
            <a:ext cx="3657600" cy="292608"/>
          </a:xfrm>
          <a:prstGeom prst="rect">
            <a:avLst/>
          </a:prstGeom>
          <a:noFill/>
        </p:spPr>
        <p:txBody>
          <a:bodyPr wrap="square" lIns="45720" rIns="45720">
            <a:spAutoFit/>
          </a:bodyPr>
          <a:lstStyle/>
          <a:p>
            <a:pPr algn="l"/>
            <a:r>
              <a:rPr sz="1200" b="1">
                <a:solidFill>
                  <a:srgbClr val="6EC1FF"/>
                </a:solidFill>
                <a:latin typeface="Helvetica Neue"/>
              </a:rPr>
              <a:t>FINAL_ANSWER</a:t>
            </a:r>
          </a:p>
        </p:txBody>
      </p:sp>
      <p:sp>
        <p:nvSpPr>
          <p:cNvPr id="20" name="TextBox 19"/>
          <p:cNvSpPr txBox="1"/>
          <p:nvPr/>
        </p:nvSpPr>
        <p:spPr>
          <a:xfrm>
            <a:off x="4389120" y="5614416"/>
            <a:ext cx="7315200" cy="292608"/>
          </a:xfrm>
          <a:prstGeom prst="rect">
            <a:avLst/>
          </a:prstGeom>
          <a:noFill/>
        </p:spPr>
        <p:txBody>
          <a:bodyPr wrap="square" lIns="45720" rIns="45720">
            <a:spAutoFit/>
          </a:bodyPr>
          <a:lstStyle/>
          <a:p>
            <a:pPr algn="l"/>
            <a:r>
              <a:rPr sz="1200" b="0">
                <a:solidFill>
                  <a:srgbClr val="E6EAF0"/>
                </a:solidFill>
                <a:latin typeface="Helvetica Neue"/>
              </a:rPr>
              <a:t>Terminate the turn with a structured answer</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Agentic · 8 tools wired · max 20 steps per turn</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test_agent_loop · streaming events verified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Conversations, streaming, and provider portability</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The agent works the same on Anthropic, Bedrock, Azure, OpenAI, OpenRouter</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Multi-turn conversations</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200">
                <a:solidFill>
                  <a:srgbClr val="E6EAF0"/>
                </a:solidFill>
                <a:latin typeface="Helvetica Neue"/>
              </a:rPr>
              <a:t>• SQLAlchemy-backed conversation store — Postgres, MSSQL, SQLite</a:t>
            </a:r>
          </a:p>
          <a:p>
            <a:pPr algn="l">
              <a:spcAft>
                <a:spcPts val="400"/>
              </a:spcAft>
            </a:pPr>
            <a:r>
              <a:rPr sz="1200">
                <a:solidFill>
                  <a:srgbClr val="E6EAF0"/>
                </a:solidFill>
                <a:latin typeface="Helvetica Neue"/>
              </a:rPr>
              <a:t>• Each conversation tagged with the dialect it was authored in</a:t>
            </a:r>
          </a:p>
          <a:p>
            <a:pPr algn="l">
              <a:spcAft>
                <a:spcPts val="400"/>
              </a:spcAft>
            </a:pPr>
            <a:r>
              <a:rPr sz="1200">
                <a:solidFill>
                  <a:srgbClr val="E6EAF0"/>
                </a:solidFill>
                <a:latin typeface="Helvetica Neue"/>
              </a:rPr>
              <a:t>• Cross-dialect history visible (badge in the chat UI)</a:t>
            </a:r>
          </a:p>
          <a:p>
            <a:pPr algn="l">
              <a:spcAft>
                <a:spcPts val="400"/>
              </a:spcAft>
            </a:pPr>
            <a:r>
              <a:rPr sz="1200">
                <a:solidFill>
                  <a:srgbClr val="E6EAF0"/>
                </a:solidFill>
                <a:latin typeface="Helvetica Neue"/>
              </a:rPr>
              <a:t>• Server-sent events stream tokens, tool calls, and final answers</a:t>
            </a:r>
          </a:p>
          <a:p>
            <a:pPr algn="l">
              <a:spcAft>
                <a:spcPts val="400"/>
              </a:spcAft>
            </a:pPr>
            <a:r>
              <a:rPr sz="1200">
                <a:solidFill>
                  <a:srgbClr val="E6EAF0"/>
                </a:solidFill>
                <a:latin typeface="Helvetica Neue"/>
              </a:rPr>
              <a:t>• Frontend reducer renders updates without page reloads</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LLM providers integrated</a:t>
            </a:r>
          </a:p>
        </p:txBody>
      </p:sp>
      <p:sp>
        <p:nvSpPr>
          <p:cNvPr id="9" name="TextBox 8"/>
          <p:cNvSpPr txBox="1"/>
          <p:nvPr/>
        </p:nvSpPr>
        <p:spPr>
          <a:xfrm>
            <a:off x="6446520" y="2011680"/>
            <a:ext cx="3108960" cy="292608"/>
          </a:xfrm>
          <a:prstGeom prst="rect">
            <a:avLst/>
          </a:prstGeom>
          <a:noFill/>
        </p:spPr>
        <p:txBody>
          <a:bodyPr wrap="square" lIns="45720" rIns="45720">
            <a:spAutoFit/>
          </a:bodyPr>
          <a:lstStyle/>
          <a:p>
            <a:pPr algn="l"/>
            <a:r>
              <a:rPr sz="1200" b="1">
                <a:solidFill>
                  <a:srgbClr val="E6EAF0"/>
                </a:solidFill>
                <a:latin typeface="Helvetica Neue"/>
              </a:rPr>
              <a:t>Anthropic Claude (direct)</a:t>
            </a:r>
          </a:p>
        </p:txBody>
      </p:sp>
      <p:sp>
        <p:nvSpPr>
          <p:cNvPr id="10" name="TextBox 9"/>
          <p:cNvSpPr txBox="1"/>
          <p:nvPr/>
        </p:nvSpPr>
        <p:spPr>
          <a:xfrm>
            <a:off x="9509760" y="2011680"/>
            <a:ext cx="2194560" cy="292608"/>
          </a:xfrm>
          <a:prstGeom prst="rect">
            <a:avLst/>
          </a:prstGeom>
          <a:noFill/>
        </p:spPr>
        <p:txBody>
          <a:bodyPr wrap="square" lIns="45720" rIns="45720">
            <a:spAutoFit/>
          </a:bodyPr>
          <a:lstStyle/>
          <a:p>
            <a:pPr algn="r"/>
            <a:r>
              <a:rPr sz="1100" b="0">
                <a:solidFill>
                  <a:srgbClr val="8A95A5"/>
                </a:solidFill>
                <a:latin typeface="Helvetica Neue"/>
              </a:rPr>
              <a:t>tool_use · strict schemas</a:t>
            </a:r>
          </a:p>
        </p:txBody>
      </p:sp>
      <p:sp>
        <p:nvSpPr>
          <p:cNvPr id="11" name="TextBox 10"/>
          <p:cNvSpPr txBox="1"/>
          <p:nvPr/>
        </p:nvSpPr>
        <p:spPr>
          <a:xfrm>
            <a:off x="6446520" y="2514600"/>
            <a:ext cx="3108960" cy="292608"/>
          </a:xfrm>
          <a:prstGeom prst="rect">
            <a:avLst/>
          </a:prstGeom>
          <a:noFill/>
        </p:spPr>
        <p:txBody>
          <a:bodyPr wrap="square" lIns="45720" rIns="45720">
            <a:spAutoFit/>
          </a:bodyPr>
          <a:lstStyle/>
          <a:p>
            <a:pPr algn="l"/>
            <a:r>
              <a:rPr sz="1200" b="1">
                <a:solidFill>
                  <a:srgbClr val="E6EAF0"/>
                </a:solidFill>
                <a:latin typeface="Helvetica Neue"/>
              </a:rPr>
              <a:t>AWS Bedrock</a:t>
            </a:r>
          </a:p>
        </p:txBody>
      </p:sp>
      <p:sp>
        <p:nvSpPr>
          <p:cNvPr id="12" name="TextBox 11"/>
          <p:cNvSpPr txBox="1"/>
          <p:nvPr/>
        </p:nvSpPr>
        <p:spPr>
          <a:xfrm>
            <a:off x="9509760" y="2514600"/>
            <a:ext cx="2194560" cy="292608"/>
          </a:xfrm>
          <a:prstGeom prst="rect">
            <a:avLst/>
          </a:prstGeom>
          <a:noFill/>
        </p:spPr>
        <p:txBody>
          <a:bodyPr wrap="square" lIns="45720" rIns="45720">
            <a:spAutoFit/>
          </a:bodyPr>
          <a:lstStyle/>
          <a:p>
            <a:pPr algn="r"/>
            <a:r>
              <a:rPr sz="1100" b="0">
                <a:solidFill>
                  <a:srgbClr val="8A95A5"/>
                </a:solidFill>
                <a:latin typeface="Helvetica Neue"/>
              </a:rPr>
              <a:t>Converse API · same Claude family</a:t>
            </a:r>
          </a:p>
        </p:txBody>
      </p:sp>
      <p:sp>
        <p:nvSpPr>
          <p:cNvPr id="13" name="TextBox 12"/>
          <p:cNvSpPr txBox="1"/>
          <p:nvPr/>
        </p:nvSpPr>
        <p:spPr>
          <a:xfrm>
            <a:off x="6446520" y="3017520"/>
            <a:ext cx="3108960" cy="292608"/>
          </a:xfrm>
          <a:prstGeom prst="rect">
            <a:avLst/>
          </a:prstGeom>
          <a:noFill/>
        </p:spPr>
        <p:txBody>
          <a:bodyPr wrap="square" lIns="45720" rIns="45720">
            <a:spAutoFit/>
          </a:bodyPr>
          <a:lstStyle/>
          <a:p>
            <a:pPr algn="l"/>
            <a:r>
              <a:rPr sz="1200" b="1">
                <a:solidFill>
                  <a:srgbClr val="E6EAF0"/>
                </a:solidFill>
                <a:latin typeface="Helvetica Neue"/>
              </a:rPr>
              <a:t>Azure OpenAI</a:t>
            </a:r>
          </a:p>
        </p:txBody>
      </p:sp>
      <p:sp>
        <p:nvSpPr>
          <p:cNvPr id="14" name="TextBox 13"/>
          <p:cNvSpPr txBox="1"/>
          <p:nvPr/>
        </p:nvSpPr>
        <p:spPr>
          <a:xfrm>
            <a:off x="9509760" y="3017520"/>
            <a:ext cx="2194560" cy="292608"/>
          </a:xfrm>
          <a:prstGeom prst="rect">
            <a:avLst/>
          </a:prstGeom>
          <a:noFill/>
        </p:spPr>
        <p:txBody>
          <a:bodyPr wrap="square" lIns="45720" rIns="45720">
            <a:spAutoFit/>
          </a:bodyPr>
          <a:lstStyle/>
          <a:p>
            <a:pPr algn="r"/>
            <a:r>
              <a:rPr sz="1100" b="0">
                <a:solidFill>
                  <a:srgbClr val="8A95A5"/>
                </a:solidFill>
                <a:latin typeface="Helvetica Neue"/>
              </a:rPr>
              <a:t>tool_calls · deployments</a:t>
            </a:r>
          </a:p>
        </p:txBody>
      </p:sp>
      <p:sp>
        <p:nvSpPr>
          <p:cNvPr id="15" name="TextBox 14"/>
          <p:cNvSpPr txBox="1"/>
          <p:nvPr/>
        </p:nvSpPr>
        <p:spPr>
          <a:xfrm>
            <a:off x="6446520" y="3520439"/>
            <a:ext cx="3108960" cy="292608"/>
          </a:xfrm>
          <a:prstGeom prst="rect">
            <a:avLst/>
          </a:prstGeom>
          <a:noFill/>
        </p:spPr>
        <p:txBody>
          <a:bodyPr wrap="square" lIns="45720" rIns="45720">
            <a:spAutoFit/>
          </a:bodyPr>
          <a:lstStyle/>
          <a:p>
            <a:pPr algn="l"/>
            <a:r>
              <a:rPr sz="1200" b="1">
                <a:solidFill>
                  <a:srgbClr val="E6EAF0"/>
                </a:solidFill>
                <a:latin typeface="Helvetica Neue"/>
              </a:rPr>
              <a:t>OpenAI</a:t>
            </a:r>
          </a:p>
        </p:txBody>
      </p:sp>
      <p:sp>
        <p:nvSpPr>
          <p:cNvPr id="16" name="TextBox 15"/>
          <p:cNvSpPr txBox="1"/>
          <p:nvPr/>
        </p:nvSpPr>
        <p:spPr>
          <a:xfrm>
            <a:off x="9509760" y="3520439"/>
            <a:ext cx="2194560" cy="292608"/>
          </a:xfrm>
          <a:prstGeom prst="rect">
            <a:avLst/>
          </a:prstGeom>
          <a:noFill/>
        </p:spPr>
        <p:txBody>
          <a:bodyPr wrap="square" lIns="45720" rIns="45720">
            <a:spAutoFit/>
          </a:bodyPr>
          <a:lstStyle/>
          <a:p>
            <a:pPr algn="r"/>
            <a:r>
              <a:rPr sz="1100" b="0">
                <a:solidFill>
                  <a:srgbClr val="8A95A5"/>
                </a:solidFill>
                <a:latin typeface="Helvetica Neue"/>
              </a:rPr>
              <a:t>tool_calls · function schemas</a:t>
            </a:r>
          </a:p>
        </p:txBody>
      </p:sp>
      <p:sp>
        <p:nvSpPr>
          <p:cNvPr id="17" name="TextBox 16"/>
          <p:cNvSpPr txBox="1"/>
          <p:nvPr/>
        </p:nvSpPr>
        <p:spPr>
          <a:xfrm>
            <a:off x="6446520" y="4023359"/>
            <a:ext cx="3108960" cy="292608"/>
          </a:xfrm>
          <a:prstGeom prst="rect">
            <a:avLst/>
          </a:prstGeom>
          <a:noFill/>
        </p:spPr>
        <p:txBody>
          <a:bodyPr wrap="square" lIns="45720" rIns="45720">
            <a:spAutoFit/>
          </a:bodyPr>
          <a:lstStyle/>
          <a:p>
            <a:pPr algn="l"/>
            <a:r>
              <a:rPr sz="1200" b="1">
                <a:solidFill>
                  <a:srgbClr val="E6EAF0"/>
                </a:solidFill>
                <a:latin typeface="Helvetica Neue"/>
              </a:rPr>
              <a:t>OpenRouter</a:t>
            </a:r>
          </a:p>
        </p:txBody>
      </p:sp>
      <p:sp>
        <p:nvSpPr>
          <p:cNvPr id="18" name="TextBox 17"/>
          <p:cNvSpPr txBox="1"/>
          <p:nvPr/>
        </p:nvSpPr>
        <p:spPr>
          <a:xfrm>
            <a:off x="9509760" y="4023359"/>
            <a:ext cx="2194560" cy="292608"/>
          </a:xfrm>
          <a:prstGeom prst="rect">
            <a:avLst/>
          </a:prstGeom>
          <a:noFill/>
        </p:spPr>
        <p:txBody>
          <a:bodyPr wrap="square" lIns="45720" rIns="45720">
            <a:spAutoFit/>
          </a:bodyPr>
          <a:lstStyle/>
          <a:p>
            <a:pPr algn="r"/>
            <a:r>
              <a:rPr sz="1100" b="0">
                <a:solidFill>
                  <a:srgbClr val="8A95A5"/>
                </a:solidFill>
                <a:latin typeface="Helvetica Neue"/>
              </a:rPr>
              <a:t>runtime schema probe + cache</a:t>
            </a:r>
          </a:p>
        </p:txBody>
      </p:sp>
      <p:sp>
        <p:nvSpPr>
          <p:cNvPr id="19" name="TextBox 18"/>
          <p:cNvSpPr txBox="1"/>
          <p:nvPr/>
        </p:nvSpPr>
        <p:spPr>
          <a:xfrm>
            <a:off x="6446520" y="4937760"/>
            <a:ext cx="5120640" cy="292608"/>
          </a:xfrm>
          <a:prstGeom prst="rect">
            <a:avLst/>
          </a:prstGeom>
          <a:noFill/>
        </p:spPr>
        <p:txBody>
          <a:bodyPr wrap="square" lIns="45720" rIns="45720">
            <a:spAutoFit/>
          </a:bodyPr>
          <a:lstStyle/>
          <a:p>
            <a:pPr algn="l"/>
            <a:r>
              <a:rPr sz="1100" b="0">
                <a:solidFill>
                  <a:srgbClr val="F2B857"/>
                </a:solidFill>
                <a:latin typeface="Helvetica Neue"/>
              </a:rPr>
              <a:t>Cross-product regression matrix lands by May 16</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Agentic · Conversations &amp; Providers</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All 5 providers wired · matrix tests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2286000"/>
            <a:ext cx="10698480" cy="457200"/>
          </a:xfrm>
          <a:prstGeom prst="rect">
            <a:avLst/>
          </a:prstGeom>
          <a:noFill/>
        </p:spPr>
        <p:txBody>
          <a:bodyPr wrap="square" lIns="45720" rIns="45720">
            <a:spAutoFit/>
          </a:bodyPr>
          <a:lstStyle/>
          <a:p>
            <a:pPr algn="l"/>
            <a:r>
              <a:rPr sz="1800" b="0">
                <a:solidFill>
                  <a:srgbClr val="8A95A5"/>
                </a:solidFill>
                <a:latin typeface="Helvetica Neue"/>
              </a:rPr>
              <a:t>Section 5 of 5</a:t>
            </a:r>
          </a:p>
        </p:txBody>
      </p:sp>
      <p:sp>
        <p:nvSpPr>
          <p:cNvPr id="3" name="TextBox 2"/>
          <p:cNvSpPr txBox="1"/>
          <p:nvPr/>
        </p:nvSpPr>
        <p:spPr>
          <a:xfrm>
            <a:off x="731520" y="2788920"/>
            <a:ext cx="10698480" cy="914400"/>
          </a:xfrm>
          <a:prstGeom prst="rect">
            <a:avLst/>
          </a:prstGeom>
          <a:noFill/>
        </p:spPr>
        <p:txBody>
          <a:bodyPr wrap="square" lIns="45720" rIns="45720">
            <a:spAutoFit/>
          </a:bodyPr>
          <a:lstStyle/>
          <a:p>
            <a:pPr algn="l"/>
            <a:r>
              <a:rPr sz="4200" b="1">
                <a:solidFill>
                  <a:srgbClr val="4AD09C"/>
                </a:solidFill>
                <a:latin typeface="Helvetica Neue"/>
              </a:rPr>
              <a:t>Surface &amp; Operations</a:t>
            </a:r>
          </a:p>
        </p:txBody>
      </p:sp>
      <p:sp>
        <p:nvSpPr>
          <p:cNvPr id="4" name="TextBox 3"/>
          <p:cNvSpPr txBox="1"/>
          <p:nvPr/>
        </p:nvSpPr>
        <p:spPr>
          <a:xfrm>
            <a:off x="731520" y="3703320"/>
            <a:ext cx="10698480" cy="457200"/>
          </a:xfrm>
          <a:prstGeom prst="rect">
            <a:avLst/>
          </a:prstGeom>
          <a:noFill/>
        </p:spPr>
        <p:txBody>
          <a:bodyPr wrap="square" lIns="45720" rIns="45720">
            <a:spAutoFit/>
          </a:bodyPr>
          <a:lstStyle/>
          <a:p>
            <a:pPr algn="l"/>
            <a:r>
              <a:rPr sz="1800" b="0">
                <a:solidFill>
                  <a:srgbClr val="E6EAF0"/>
                </a:solidFill>
                <a:latin typeface="Helvetica Neue"/>
              </a:rPr>
              <a:t>API, frontend, settings, multi-dialect metadata, eval harness — the parts an operator touches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API surface + browser experience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18 endpoints · WebSocket + SSE streaming · 7 browser pages</a:t>
            </a:r>
          </a:p>
        </p:txBody>
      </p:sp>
      <p:sp>
        <p:nvSpPr>
          <p:cNvPr id="4" name="Rounded Rectangle 3"/>
          <p:cNvSpPr/>
          <p:nvPr/>
        </p:nvSpPr>
        <p:spPr>
          <a:xfrm>
            <a:off x="45720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120640" cy="365760"/>
          </a:xfrm>
          <a:prstGeom prst="rect">
            <a:avLst/>
          </a:prstGeom>
          <a:noFill/>
        </p:spPr>
        <p:txBody>
          <a:bodyPr wrap="square" lIns="45720" rIns="45720">
            <a:spAutoFit/>
          </a:bodyPr>
          <a:lstStyle/>
          <a:p>
            <a:pPr algn="l"/>
            <a:r>
              <a:rPr sz="1500" b="1">
                <a:solidFill>
                  <a:srgbClr val="6EC1FF"/>
                </a:solidFill>
                <a:latin typeface="Helvetica Neue"/>
              </a:rPr>
              <a:t>REST + streaming endpoints</a:t>
            </a:r>
          </a:p>
        </p:txBody>
      </p:sp>
      <p:sp>
        <p:nvSpPr>
          <p:cNvPr id="6" name="TextBox 5"/>
          <p:cNvSpPr txBox="1"/>
          <p:nvPr/>
        </p:nvSpPr>
        <p:spPr>
          <a:xfrm>
            <a:off x="640080" y="1965960"/>
            <a:ext cx="5120640" cy="4114800"/>
          </a:xfrm>
          <a:prstGeom prst="rect">
            <a:avLst/>
          </a:prstGeom>
          <a:noFill/>
        </p:spPr>
        <p:txBody>
          <a:bodyPr wrap="square">
            <a:spAutoFit/>
          </a:bodyPr>
          <a:lstStyle/>
          <a:p>
            <a:pPr algn="l">
              <a:spcAft>
                <a:spcPts val="400"/>
              </a:spcAft>
            </a:pPr>
            <a:r>
              <a:rPr sz="1100">
                <a:solidFill>
                  <a:srgbClr val="E6EAF0"/>
                </a:solidFill>
                <a:latin typeface="Helvetica Neue"/>
              </a:rPr>
              <a:t>• /health · status, active provider, dialect, catalog readiness</a:t>
            </a:r>
          </a:p>
          <a:p>
            <a:pPr algn="l">
              <a:spcAft>
                <a:spcPts val="400"/>
              </a:spcAft>
            </a:pPr>
            <a:r>
              <a:rPr sz="1100">
                <a:solidFill>
                  <a:srgbClr val="E6EAF0"/>
                </a:solidFill>
                <a:latin typeface="Helvetica Neue"/>
              </a:rPr>
              <a:t>• /query, /query/stream — synchronous + WebSocket pipeline</a:t>
            </a:r>
          </a:p>
          <a:p>
            <a:pPr algn="l">
              <a:spcAft>
                <a:spcPts val="400"/>
              </a:spcAft>
            </a:pPr>
            <a:r>
              <a:rPr sz="1100">
                <a:solidFill>
                  <a:srgbClr val="E6EAF0"/>
                </a:solidFill>
                <a:latin typeface="Helvetica Neue"/>
              </a:rPr>
              <a:t>• /chat, /chat/stream — agent loop sync + SSE streaming</a:t>
            </a:r>
          </a:p>
          <a:p>
            <a:pPr algn="l">
              <a:spcAft>
                <a:spcPts val="400"/>
              </a:spcAft>
            </a:pPr>
            <a:r>
              <a:rPr sz="1100">
                <a:solidFill>
                  <a:srgbClr val="E6EAF0"/>
                </a:solidFill>
                <a:latin typeface="Helvetica Neue"/>
              </a:rPr>
              <a:t>• /conversations — multi-turn lifecycle (CRUD + dialect badges)</a:t>
            </a:r>
          </a:p>
          <a:p>
            <a:pPr algn="l">
              <a:spcAft>
                <a:spcPts val="400"/>
              </a:spcAft>
            </a:pPr>
            <a:r>
              <a:rPr sz="1100">
                <a:solidFill>
                  <a:srgbClr val="E6EAF0"/>
                </a:solidFill>
                <a:latin typeface="Helvetica Neue"/>
              </a:rPr>
              <a:t>• /tables, /tables/{fqn}, /domains — catalog browse</a:t>
            </a:r>
          </a:p>
          <a:p>
            <a:pPr algn="l">
              <a:spcAft>
                <a:spcPts val="400"/>
              </a:spcAft>
            </a:pPr>
            <a:r>
              <a:rPr sz="1100">
                <a:solidFill>
                  <a:srgbClr val="E6EAF0"/>
                </a:solidFill>
                <a:latin typeface="Helvetica Neue"/>
              </a:rPr>
              <a:t>• /gold — CRUD + approve/reject + retrieval refresh</a:t>
            </a:r>
          </a:p>
          <a:p>
            <a:pPr algn="l">
              <a:spcAft>
                <a:spcPts val="400"/>
              </a:spcAft>
            </a:pPr>
            <a:r>
              <a:rPr sz="1100">
                <a:solidFill>
                  <a:srgbClr val="E6EAF0"/>
                </a:solidFill>
                <a:latin typeface="Helvetica Neue"/>
              </a:rPr>
              <a:t>• /admin — config, jobs/rebuild SSE, test_metadata_db</a:t>
            </a:r>
          </a:p>
        </p:txBody>
      </p:sp>
      <p:sp>
        <p:nvSpPr>
          <p:cNvPr id="7" name="Rounded Rectangle 6"/>
          <p:cNvSpPr/>
          <p:nvPr/>
        </p:nvSpPr>
        <p:spPr>
          <a:xfrm>
            <a:off x="6263640" y="1463040"/>
            <a:ext cx="5486400" cy="484632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54480"/>
            <a:ext cx="5120640" cy="365760"/>
          </a:xfrm>
          <a:prstGeom prst="rect">
            <a:avLst/>
          </a:prstGeom>
          <a:noFill/>
        </p:spPr>
        <p:txBody>
          <a:bodyPr wrap="square" lIns="45720" rIns="45720">
            <a:spAutoFit/>
          </a:bodyPr>
          <a:lstStyle/>
          <a:p>
            <a:pPr algn="l"/>
            <a:r>
              <a:rPr sz="1500" b="1">
                <a:solidFill>
                  <a:srgbClr val="F2B857"/>
                </a:solidFill>
                <a:latin typeface="Helvetica Neue"/>
              </a:rPr>
              <a:t>Browser pages (Next.js)</a:t>
            </a:r>
          </a:p>
        </p:txBody>
      </p:sp>
      <p:sp>
        <p:nvSpPr>
          <p:cNvPr id="9" name="TextBox 8"/>
          <p:cNvSpPr txBox="1"/>
          <p:nvPr/>
        </p:nvSpPr>
        <p:spPr>
          <a:xfrm>
            <a:off x="6446520" y="1965960"/>
            <a:ext cx="5120640" cy="4114800"/>
          </a:xfrm>
          <a:prstGeom prst="rect">
            <a:avLst/>
          </a:prstGeom>
          <a:noFill/>
        </p:spPr>
        <p:txBody>
          <a:bodyPr wrap="square">
            <a:spAutoFit/>
          </a:bodyPr>
          <a:lstStyle/>
          <a:p>
            <a:pPr algn="l">
              <a:spcAft>
                <a:spcPts val="400"/>
              </a:spcAft>
            </a:pPr>
            <a:r>
              <a:rPr sz="1100">
                <a:solidFill>
                  <a:srgbClr val="E6EAF0"/>
                </a:solidFill>
                <a:latin typeface="Helvetica Neue"/>
              </a:rPr>
              <a:t>• Query — single-shot NL → SQL with chart &amp; summary</a:t>
            </a:r>
          </a:p>
          <a:p>
            <a:pPr algn="l">
              <a:spcAft>
                <a:spcPts val="400"/>
              </a:spcAft>
            </a:pPr>
            <a:r>
              <a:rPr sz="1100">
                <a:solidFill>
                  <a:srgbClr val="E6EAF0"/>
                </a:solidFill>
                <a:latin typeface="Helvetica Neue"/>
              </a:rPr>
              <a:t>• Chat — multi-turn agent loop with conversation list</a:t>
            </a:r>
          </a:p>
          <a:p>
            <a:pPr algn="l">
              <a:spcAft>
                <a:spcPts val="400"/>
              </a:spcAft>
            </a:pPr>
            <a:r>
              <a:rPr sz="1100">
                <a:solidFill>
                  <a:srgbClr val="E6EAF0"/>
                </a:solidFill>
                <a:latin typeface="Helvetica Neue"/>
              </a:rPr>
              <a:t>• Tables — schema browser, FQN detail, sample rows</a:t>
            </a:r>
          </a:p>
          <a:p>
            <a:pPr algn="l">
              <a:spcAft>
                <a:spcPts val="400"/>
              </a:spcAft>
            </a:pPr>
            <a:r>
              <a:rPr sz="1100">
                <a:solidFill>
                  <a:srgbClr val="E6EAF0"/>
                </a:solidFill>
                <a:latin typeface="Helvetica Neue"/>
              </a:rPr>
              <a:t>• Domains — domain list with table counts</a:t>
            </a:r>
          </a:p>
          <a:p>
            <a:pPr algn="l">
              <a:spcAft>
                <a:spcPts val="400"/>
              </a:spcAft>
            </a:pPr>
            <a:r>
              <a:rPr sz="1100">
                <a:solidFill>
                  <a:srgbClr val="E6EAF0"/>
                </a:solidFill>
                <a:latin typeface="Helvetica Neue"/>
              </a:rPr>
              <a:t>• Gold — gold-query CRUD, approve workflow, eval drilldown</a:t>
            </a:r>
          </a:p>
          <a:p>
            <a:pPr algn="l">
              <a:spcAft>
                <a:spcPts val="400"/>
              </a:spcAft>
            </a:pPr>
            <a:r>
              <a:rPr sz="1100">
                <a:solidFill>
                  <a:srgbClr val="E6EAF0"/>
                </a:solidFill>
                <a:latin typeface="Helvetica Neue"/>
              </a:rPr>
              <a:t>• Settings — DB / LLM / embedding connector forms (editable)</a:t>
            </a:r>
          </a:p>
          <a:p>
            <a:pPr algn="l">
              <a:spcAft>
                <a:spcPts val="400"/>
              </a:spcAft>
            </a:pPr>
            <a:r>
              <a:rPr sz="1100">
                <a:solidFill>
                  <a:srgbClr val="E6EAF0"/>
                </a:solidFill>
                <a:latin typeface="Helvetica Neue"/>
              </a:rPr>
              <a:t>• Onboarding — sitewide banner when artifacts not yet built</a:t>
            </a:r>
          </a:p>
        </p:txBody>
      </p:sp>
      <p:sp>
        <p:nvSpPr>
          <p:cNvPr id="10" name="TextBox 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Surface · API + Frontend</a:t>
            </a:r>
          </a:p>
        </p:txBody>
      </p:sp>
      <p:sp>
        <p:nvSpPr>
          <p:cNvPr id="11" name="TextBox 1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test_component11 + test_component12 green · provider-aware refresh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Operator-grade plumbing</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Settings UI · multi-dialect metadata · eval harness · zero-infra demo target</a:t>
            </a:r>
          </a:p>
        </p:txBody>
      </p:sp>
      <p:sp>
        <p:nvSpPr>
          <p:cNvPr id="4" name="Rounded Rectangle 3"/>
          <p:cNvSpPr/>
          <p:nvPr/>
        </p:nvSpPr>
        <p:spPr>
          <a:xfrm>
            <a:off x="457200" y="146304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5257800" cy="365760"/>
          </a:xfrm>
          <a:prstGeom prst="rect">
            <a:avLst/>
          </a:prstGeom>
          <a:noFill/>
        </p:spPr>
        <p:txBody>
          <a:bodyPr wrap="square" lIns="45720" rIns="45720">
            <a:spAutoFit/>
          </a:bodyPr>
          <a:lstStyle/>
          <a:p>
            <a:pPr algn="l"/>
            <a:r>
              <a:rPr sz="1400" b="1">
                <a:solidFill>
                  <a:srgbClr val="6EC1FF"/>
                </a:solidFill>
                <a:latin typeface="Helvetica Neue"/>
              </a:rPr>
              <a:t>Settings UI</a:t>
            </a:r>
          </a:p>
        </p:txBody>
      </p:sp>
      <p:sp>
        <p:nvSpPr>
          <p:cNvPr id="6" name="TextBox 5"/>
          <p:cNvSpPr txBox="1"/>
          <p:nvPr/>
        </p:nvSpPr>
        <p:spPr>
          <a:xfrm>
            <a:off x="640080" y="192024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DB / LLM / embedding connector forms with inline test buttons</a:t>
            </a:r>
          </a:p>
          <a:p>
            <a:pPr algn="l">
              <a:spcAft>
                <a:spcPts val="400"/>
              </a:spcAft>
            </a:pPr>
            <a:r>
              <a:rPr sz="1000">
                <a:solidFill>
                  <a:srgbClr val="E6EAF0"/>
                </a:solidFill>
                <a:latin typeface="Helvetica Neue"/>
              </a:rPr>
              <a:t>• Secrets stored in gitignored runtime_secrets.json (not in body)</a:t>
            </a:r>
          </a:p>
          <a:p>
            <a:pPr algn="l">
              <a:spcAft>
                <a:spcPts val="400"/>
              </a:spcAft>
            </a:pPr>
            <a:r>
              <a:rPr sz="1000">
                <a:solidFill>
                  <a:srgbClr val="E6EAF0"/>
                </a:solidFill>
                <a:latin typeface="Helvetica Neue"/>
              </a:rPr>
              <a:t>• Runtime overlay merged on top of default.yaml at boot</a:t>
            </a:r>
          </a:p>
          <a:p>
            <a:pPr algn="l">
              <a:spcAft>
                <a:spcPts val="400"/>
              </a:spcAft>
            </a:pPr>
            <a:r>
              <a:rPr sz="1000">
                <a:solidFill>
                  <a:srgbClr val="E6EAF0"/>
                </a:solidFill>
                <a:latin typeface="Helvetica Neue"/>
              </a:rPr>
              <a:t>• Rebuild orchestrator: queue stages, watch live log via SSE</a:t>
            </a:r>
          </a:p>
        </p:txBody>
      </p:sp>
      <p:sp>
        <p:nvSpPr>
          <p:cNvPr id="7" name="Rounded Rectangle 6"/>
          <p:cNvSpPr/>
          <p:nvPr/>
        </p:nvSpPr>
        <p:spPr>
          <a:xfrm>
            <a:off x="6126480" y="146304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554480"/>
            <a:ext cx="5257800" cy="365760"/>
          </a:xfrm>
          <a:prstGeom prst="rect">
            <a:avLst/>
          </a:prstGeom>
          <a:noFill/>
        </p:spPr>
        <p:txBody>
          <a:bodyPr wrap="square" lIns="45720" rIns="45720">
            <a:spAutoFit/>
          </a:bodyPr>
          <a:lstStyle/>
          <a:p>
            <a:pPr algn="l"/>
            <a:r>
              <a:rPr sz="1400" b="1">
                <a:solidFill>
                  <a:srgbClr val="6EC1FF"/>
                </a:solidFill>
                <a:latin typeface="Helvetica Neue"/>
              </a:rPr>
              <a:t>Multi-dialect metadata DB</a:t>
            </a:r>
          </a:p>
        </p:txBody>
      </p:sp>
      <p:sp>
        <p:nvSpPr>
          <p:cNvPr id="9" name="TextBox 8"/>
          <p:cNvSpPr txBox="1"/>
          <p:nvPr/>
        </p:nvSpPr>
        <p:spPr>
          <a:xfrm>
            <a:off x="6309360" y="192024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SQLite (default zero-infra), Postgres, MSSQL all supported</a:t>
            </a:r>
          </a:p>
          <a:p>
            <a:pPr algn="l">
              <a:spcAft>
                <a:spcPts val="400"/>
              </a:spcAft>
            </a:pPr>
            <a:r>
              <a:rPr sz="1000">
                <a:solidFill>
                  <a:srgbClr val="E6EAF0"/>
                </a:solidFill>
                <a:latin typeface="Helvetica Neue"/>
              </a:rPr>
              <a:t>• URL.create() escaping handles passwords with @ : / ?</a:t>
            </a:r>
          </a:p>
          <a:p>
            <a:pPr algn="l">
              <a:spcAft>
                <a:spcPts val="400"/>
              </a:spcAft>
            </a:pPr>
            <a:r>
              <a:rPr sz="1000">
                <a:solidFill>
                  <a:srgbClr val="E6EAF0"/>
                </a:solidFill>
                <a:latin typeface="Helvetica Neue"/>
              </a:rPr>
              <a:t>• Forward-only ALTER TABLE migrations for legacy installs</a:t>
            </a:r>
          </a:p>
          <a:p>
            <a:pPr algn="l">
              <a:spcAft>
                <a:spcPts val="400"/>
              </a:spcAft>
            </a:pPr>
            <a:r>
              <a:rPr sz="1000">
                <a:solidFill>
                  <a:srgbClr val="E6EAF0"/>
                </a:solidFill>
                <a:latin typeface="Helvetica Neue"/>
              </a:rPr>
              <a:t>• Password redacted from driver error responses</a:t>
            </a:r>
          </a:p>
        </p:txBody>
      </p:sp>
      <p:sp>
        <p:nvSpPr>
          <p:cNvPr id="10" name="Rounded Rectangle 9"/>
          <p:cNvSpPr/>
          <p:nvPr/>
        </p:nvSpPr>
        <p:spPr>
          <a:xfrm>
            <a:off x="457200" y="393192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5257800" cy="365760"/>
          </a:xfrm>
          <a:prstGeom prst="rect">
            <a:avLst/>
          </a:prstGeom>
          <a:noFill/>
        </p:spPr>
        <p:txBody>
          <a:bodyPr wrap="square" lIns="45720" rIns="45720">
            <a:spAutoFit/>
          </a:bodyPr>
          <a:lstStyle/>
          <a:p>
            <a:pPr algn="l"/>
            <a:r>
              <a:rPr sz="1400" b="1">
                <a:solidFill>
                  <a:srgbClr val="6EC1FF"/>
                </a:solidFill>
                <a:latin typeface="Helvetica Neue"/>
              </a:rPr>
              <a:t>Eval harness</a:t>
            </a:r>
          </a:p>
        </p:txBody>
      </p:sp>
      <p:sp>
        <p:nvSpPr>
          <p:cNvPr id="12" name="TextBox 11"/>
          <p:cNvSpPr txBox="1"/>
          <p:nvPr/>
        </p:nvSpPr>
        <p:spPr>
          <a:xfrm>
            <a:off x="640080" y="438912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Gold-question suite with JSON + Markdown reports</a:t>
            </a:r>
          </a:p>
          <a:p>
            <a:pPr algn="l">
              <a:spcAft>
                <a:spcPts val="400"/>
              </a:spcAft>
            </a:pPr>
            <a:r>
              <a:rPr sz="1000">
                <a:solidFill>
                  <a:srgbClr val="E6EAF0"/>
                </a:solidFill>
                <a:latin typeface="Helvetica Neue"/>
              </a:rPr>
              <a:t>• Schema-hit, join-hit, descriptor-leakage, BLEU, exact-match metrics</a:t>
            </a:r>
          </a:p>
          <a:p>
            <a:pPr algn="l">
              <a:spcAft>
                <a:spcPts val="400"/>
              </a:spcAft>
            </a:pPr>
            <a:r>
              <a:rPr sz="1000">
                <a:solidFill>
                  <a:srgbClr val="E6EAF0"/>
                </a:solidFill>
                <a:latin typeface="Helvetica Neue"/>
              </a:rPr>
              <a:t>• Per-build comparison so regressions surface immediately</a:t>
            </a:r>
          </a:p>
          <a:p>
            <a:pPr algn="l">
              <a:spcAft>
                <a:spcPts val="400"/>
              </a:spcAft>
            </a:pPr>
            <a:r>
              <a:rPr sz="1000">
                <a:solidFill>
                  <a:srgbClr val="E6EAF0"/>
                </a:solidFill>
                <a:latin typeface="Helvetica Neue"/>
              </a:rPr>
              <a:t>• CI gate hook in place; expanding to 100 questions for v0.9</a:t>
            </a:r>
          </a:p>
        </p:txBody>
      </p:sp>
      <p:sp>
        <p:nvSpPr>
          <p:cNvPr id="13" name="Rounded Rectangle 12"/>
          <p:cNvSpPr/>
          <p:nvPr/>
        </p:nvSpPr>
        <p:spPr>
          <a:xfrm>
            <a:off x="6126480" y="3931920"/>
            <a:ext cx="5623560" cy="23774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4023360"/>
            <a:ext cx="5257800" cy="365760"/>
          </a:xfrm>
          <a:prstGeom prst="rect">
            <a:avLst/>
          </a:prstGeom>
          <a:noFill/>
        </p:spPr>
        <p:txBody>
          <a:bodyPr wrap="square" lIns="45720" rIns="45720">
            <a:spAutoFit/>
          </a:bodyPr>
          <a:lstStyle/>
          <a:p>
            <a:pPr algn="l"/>
            <a:r>
              <a:rPr sz="1400" b="1">
                <a:solidFill>
                  <a:srgbClr val="6EC1FF"/>
                </a:solidFill>
                <a:latin typeface="Helvetica Neue"/>
              </a:rPr>
              <a:t>Zero-infra demo target</a:t>
            </a:r>
          </a:p>
        </p:txBody>
      </p:sp>
      <p:sp>
        <p:nvSpPr>
          <p:cNvPr id="15" name="TextBox 14"/>
          <p:cNvSpPr txBox="1"/>
          <p:nvPr/>
        </p:nvSpPr>
        <p:spPr>
          <a:xfrm>
            <a:off x="6309360" y="4389120"/>
            <a:ext cx="5257800" cy="1828800"/>
          </a:xfrm>
          <a:prstGeom prst="rect">
            <a:avLst/>
          </a:prstGeom>
          <a:noFill/>
        </p:spPr>
        <p:txBody>
          <a:bodyPr wrap="square">
            <a:spAutoFit/>
          </a:bodyPr>
          <a:lstStyle/>
          <a:p>
            <a:pPr algn="l">
              <a:spcAft>
                <a:spcPts val="400"/>
              </a:spcAft>
            </a:pPr>
            <a:r>
              <a:rPr sz="1000">
                <a:solidFill>
                  <a:srgbClr val="E6EAF0"/>
                </a:solidFill>
                <a:latin typeface="Helvetica Neue"/>
              </a:rPr>
              <a:t>• sample_demo.sqlite shipped with the repo (Ed-Fi-shaped, ~70 rows)</a:t>
            </a:r>
          </a:p>
          <a:p>
            <a:pPr algn="l">
              <a:spcAft>
                <a:spcPts val="400"/>
              </a:spcAft>
            </a:pPr>
            <a:r>
              <a:rPr sz="1000">
                <a:solidFill>
                  <a:srgbClr val="E6EAF0"/>
                </a:solidFill>
                <a:latin typeface="Helvetica Neue"/>
              </a:rPr>
              <a:t>• git clone + text2sql serve works without an operator-supplied DB</a:t>
            </a:r>
          </a:p>
          <a:p>
            <a:pPr algn="l">
              <a:spcAft>
                <a:spcPts val="400"/>
              </a:spcAft>
            </a:pPr>
            <a:r>
              <a:rPr sz="1000">
                <a:solidFill>
                  <a:srgbClr val="E6EAF0"/>
                </a:solidFill>
                <a:latin typeface="Helvetica Neue"/>
              </a:rPr>
              <a:t>• Reflection picks up unknown tables on operator-supplied DBs</a:t>
            </a:r>
          </a:p>
          <a:p>
            <a:pPr algn="l">
              <a:spcAft>
                <a:spcPts val="400"/>
              </a:spcAft>
            </a:pPr>
            <a:r>
              <a:rPr sz="1000">
                <a:solidFill>
                  <a:srgbClr val="E6EAF0"/>
                </a:solidFill>
                <a:latin typeface="Helvetica Neue"/>
              </a:rPr>
              <a:t>• Onboarding banner walks new users to first query</a:t>
            </a:r>
          </a:p>
        </p:txBody>
      </p:sp>
      <p:sp>
        <p:nvSpPr>
          <p:cNvPr id="16" name="TextBox 15"/>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Operations · Settings + Multi-dialect + Eval + Demo target</a:t>
            </a:r>
          </a:p>
        </p:txBody>
      </p:sp>
      <p:sp>
        <p:nvSpPr>
          <p:cNvPr id="17" name="TextBox 16"/>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All four committed and tested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What ships in the v0.9 release</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11 working days of focused polish · then tag and announce</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6" name="TextBox 5"/>
          <p:cNvSpPr txBox="1"/>
          <p:nvPr/>
        </p:nvSpPr>
        <p:spPr>
          <a:xfrm>
            <a:off x="960120" y="1600200"/>
            <a:ext cx="10698480" cy="274320"/>
          </a:xfrm>
          <a:prstGeom prst="rect">
            <a:avLst/>
          </a:prstGeom>
          <a:noFill/>
        </p:spPr>
        <p:txBody>
          <a:bodyPr wrap="square" lIns="45720" rIns="45720">
            <a:spAutoFit/>
          </a:bodyPr>
          <a:lstStyle/>
          <a:p>
            <a:pPr algn="l"/>
            <a:r>
              <a:rPr sz="1300" b="1">
                <a:solidFill>
                  <a:srgbClr val="E6EAF0"/>
                </a:solidFill>
                <a:latin typeface="Helvetica Neue"/>
              </a:rPr>
              <a:t>Auto sub-clustering (Leiden)</a:t>
            </a:r>
          </a:p>
        </p:txBody>
      </p:sp>
      <p:sp>
        <p:nvSpPr>
          <p:cNvPr id="7" name="TextBox 6"/>
          <p:cNvSpPr txBox="1"/>
          <p:nvPr/>
        </p:nvSpPr>
        <p:spPr>
          <a:xfrm>
            <a:off x="960120" y="1892807"/>
            <a:ext cx="10698480" cy="640080"/>
          </a:xfrm>
          <a:prstGeom prst="rect">
            <a:avLst/>
          </a:prstGeom>
          <a:noFill/>
        </p:spPr>
        <p:txBody>
          <a:bodyPr wrap="square" lIns="45720" rIns="45720">
            <a:spAutoFit/>
          </a:bodyPr>
          <a:lstStyle/>
          <a:p>
            <a:pPr algn="l"/>
            <a:r>
              <a:rPr sz="1100" b="0">
                <a:solidFill>
                  <a:srgbClr val="8A95A5"/>
                </a:solidFill>
                <a:latin typeface="Helvetica Neue"/>
              </a:rPr>
              <a:t>Refines oversize Ed-Fi domains (Student, Assessment, Discipline) into 8–20-table sub-clusters. Today: static taxonomy works. Next: sharper retrieval inside the heaviest domains.</a:t>
            </a:r>
          </a:p>
        </p:txBody>
      </p:sp>
      <p:sp>
        <p:nvSpPr>
          <p:cNvPr id="8" name="TextBox 7"/>
          <p:cNvSpPr txBox="1"/>
          <p:nvPr/>
        </p:nvSpPr>
        <p:spPr>
          <a:xfrm>
            <a:off x="640080" y="2560320"/>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9" name="TextBox 8"/>
          <p:cNvSpPr txBox="1"/>
          <p:nvPr/>
        </p:nvSpPr>
        <p:spPr>
          <a:xfrm>
            <a:off x="960120" y="2560320"/>
            <a:ext cx="10698480" cy="274320"/>
          </a:xfrm>
          <a:prstGeom prst="rect">
            <a:avLst/>
          </a:prstGeom>
          <a:noFill/>
        </p:spPr>
        <p:txBody>
          <a:bodyPr wrap="square" lIns="45720" rIns="45720">
            <a:spAutoFit/>
          </a:bodyPr>
          <a:lstStyle/>
          <a:p>
            <a:pPr algn="l"/>
            <a:r>
              <a:rPr sz="1300" b="1">
                <a:solidFill>
                  <a:srgbClr val="E6EAF0"/>
                </a:solidFill>
                <a:latin typeface="Helvetica Neue"/>
              </a:rPr>
              <a:t>Multi-provider regression matrix</a:t>
            </a:r>
          </a:p>
        </p:txBody>
      </p:sp>
      <p:sp>
        <p:nvSpPr>
          <p:cNvPr id="10" name="TextBox 9"/>
          <p:cNvSpPr txBox="1"/>
          <p:nvPr/>
        </p:nvSpPr>
        <p:spPr>
          <a:xfrm>
            <a:off x="960120" y="2852927"/>
            <a:ext cx="10698480" cy="640080"/>
          </a:xfrm>
          <a:prstGeom prst="rect">
            <a:avLst/>
          </a:prstGeom>
          <a:noFill/>
        </p:spPr>
        <p:txBody>
          <a:bodyPr wrap="square" lIns="45720" rIns="45720">
            <a:spAutoFit/>
          </a:bodyPr>
          <a:lstStyle/>
          <a:p>
            <a:pPr algn="l"/>
            <a:r>
              <a:rPr sz="1100" b="0">
                <a:solidFill>
                  <a:srgbClr val="8A95A5"/>
                </a:solidFill>
                <a:latin typeface="Helvetica Neue"/>
              </a:rPr>
              <a:t>All 5 LLM providers + 4 embedding providers wired. Matrix expands to test every consumer (chat, query, eval, agent) against every provider on every supported dialect.</a:t>
            </a:r>
          </a:p>
        </p:txBody>
      </p:sp>
      <p:sp>
        <p:nvSpPr>
          <p:cNvPr id="11" name="TextBox 10"/>
          <p:cNvSpPr txBox="1"/>
          <p:nvPr/>
        </p:nvSpPr>
        <p:spPr>
          <a:xfrm>
            <a:off x="640080" y="3520439"/>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12" name="TextBox 11"/>
          <p:cNvSpPr txBox="1"/>
          <p:nvPr/>
        </p:nvSpPr>
        <p:spPr>
          <a:xfrm>
            <a:off x="960120" y="3520439"/>
            <a:ext cx="10698480" cy="274320"/>
          </a:xfrm>
          <a:prstGeom prst="rect">
            <a:avLst/>
          </a:prstGeom>
          <a:noFill/>
        </p:spPr>
        <p:txBody>
          <a:bodyPr wrap="square" lIns="45720" rIns="45720">
            <a:spAutoFit/>
          </a:bodyPr>
          <a:lstStyle/>
          <a:p>
            <a:pPr algn="l"/>
            <a:r>
              <a:rPr sz="1300" b="1">
                <a:solidFill>
                  <a:srgbClr val="E6EAF0"/>
                </a:solidFill>
                <a:latin typeface="Helvetica Neue"/>
              </a:rPr>
              <a:t>Agentic polish</a:t>
            </a:r>
          </a:p>
        </p:txBody>
      </p:sp>
      <p:sp>
        <p:nvSpPr>
          <p:cNvPr id="13" name="TextBox 12"/>
          <p:cNvSpPr txBox="1"/>
          <p:nvPr/>
        </p:nvSpPr>
        <p:spPr>
          <a:xfrm>
            <a:off x="960120" y="3813048"/>
            <a:ext cx="10698480" cy="640080"/>
          </a:xfrm>
          <a:prstGeom prst="rect">
            <a:avLst/>
          </a:prstGeom>
          <a:noFill/>
        </p:spPr>
        <p:txBody>
          <a:bodyPr wrap="square" lIns="45720" rIns="45720">
            <a:spAutoFit/>
          </a:bodyPr>
          <a:lstStyle/>
          <a:p>
            <a:pPr algn="l"/>
            <a:r>
              <a:rPr sz="1100" b="0">
                <a:solidFill>
                  <a:srgbClr val="8A95A5"/>
                </a:solidFill>
                <a:latin typeface="Helvetica Neue"/>
              </a:rPr>
              <a:t>Tool-call reliability under streaming, richer agent tools (chart export, eval drilldown), smoother conversation list UX, retry on transient provider errors.</a:t>
            </a:r>
          </a:p>
        </p:txBody>
      </p:sp>
      <p:sp>
        <p:nvSpPr>
          <p:cNvPr id="14" name="TextBox 13"/>
          <p:cNvSpPr txBox="1"/>
          <p:nvPr/>
        </p:nvSpPr>
        <p:spPr>
          <a:xfrm>
            <a:off x="640080" y="4480559"/>
            <a:ext cx="274320" cy="274320"/>
          </a:xfrm>
          <a:prstGeom prst="rect">
            <a:avLst/>
          </a:prstGeom>
          <a:noFill/>
        </p:spPr>
        <p:txBody>
          <a:bodyPr wrap="square" lIns="45720" rIns="45720">
            <a:spAutoFit/>
          </a:bodyPr>
          <a:lstStyle/>
          <a:p>
            <a:pPr algn="l"/>
            <a:r>
              <a:rPr sz="1800" b="1">
                <a:solidFill>
                  <a:srgbClr val="E56B6B"/>
                </a:solidFill>
                <a:latin typeface="Helvetica Neue"/>
              </a:rPr>
              <a:t>●</a:t>
            </a:r>
          </a:p>
        </p:txBody>
      </p:sp>
      <p:sp>
        <p:nvSpPr>
          <p:cNvPr id="15" name="TextBox 14"/>
          <p:cNvSpPr txBox="1"/>
          <p:nvPr/>
        </p:nvSpPr>
        <p:spPr>
          <a:xfrm>
            <a:off x="960120" y="4480559"/>
            <a:ext cx="10698480" cy="274320"/>
          </a:xfrm>
          <a:prstGeom prst="rect">
            <a:avLst/>
          </a:prstGeom>
          <a:noFill/>
        </p:spPr>
        <p:txBody>
          <a:bodyPr wrap="square" lIns="45720" rIns="45720">
            <a:spAutoFit/>
          </a:bodyPr>
          <a:lstStyle/>
          <a:p>
            <a:pPr algn="l"/>
            <a:r>
              <a:rPr sz="1300" b="1">
                <a:solidFill>
                  <a:srgbClr val="E6EAF0"/>
                </a:solidFill>
                <a:latin typeface="Helvetica Neue"/>
              </a:rPr>
              <a:t>Observability (OTel + Prometheus)</a:t>
            </a:r>
          </a:p>
        </p:txBody>
      </p:sp>
      <p:sp>
        <p:nvSpPr>
          <p:cNvPr id="16" name="TextBox 15"/>
          <p:cNvSpPr txBox="1"/>
          <p:nvPr/>
        </p:nvSpPr>
        <p:spPr>
          <a:xfrm>
            <a:off x="960120" y="4773168"/>
            <a:ext cx="10698480" cy="640080"/>
          </a:xfrm>
          <a:prstGeom prst="rect">
            <a:avLst/>
          </a:prstGeom>
          <a:noFill/>
        </p:spPr>
        <p:txBody>
          <a:bodyPr wrap="square" lIns="45720" rIns="45720">
            <a:spAutoFit/>
          </a:bodyPr>
          <a:lstStyle/>
          <a:p>
            <a:pPr algn="l"/>
            <a:r>
              <a:rPr sz="1100" b="0">
                <a:solidFill>
                  <a:srgbClr val="8A95A5"/>
                </a:solidFill>
                <a:latin typeface="Helvetica Neue"/>
              </a:rPr>
              <a:t>Per-stage tracing spans + counters + Grafana dashboards. Logging is in place today; spans and metrics are next. May slip to v0.10 if matrix work runs long.</a:t>
            </a:r>
          </a:p>
        </p:txBody>
      </p:sp>
      <p:sp>
        <p:nvSpPr>
          <p:cNvPr id="17" name="TextBox 16"/>
          <p:cNvSpPr txBox="1"/>
          <p:nvPr/>
        </p:nvSpPr>
        <p:spPr>
          <a:xfrm>
            <a:off x="640080" y="5440679"/>
            <a:ext cx="274320" cy="274320"/>
          </a:xfrm>
          <a:prstGeom prst="rect">
            <a:avLst/>
          </a:prstGeom>
          <a:noFill/>
        </p:spPr>
        <p:txBody>
          <a:bodyPr wrap="square" lIns="45720" rIns="45720">
            <a:spAutoFit/>
          </a:bodyPr>
          <a:lstStyle/>
          <a:p>
            <a:pPr algn="l"/>
            <a:r>
              <a:rPr sz="1800" b="1">
                <a:solidFill>
                  <a:srgbClr val="F2B857"/>
                </a:solidFill>
                <a:latin typeface="Helvetica Neue"/>
              </a:rPr>
              <a:t>●</a:t>
            </a:r>
          </a:p>
        </p:txBody>
      </p:sp>
      <p:sp>
        <p:nvSpPr>
          <p:cNvPr id="18" name="TextBox 17"/>
          <p:cNvSpPr txBox="1"/>
          <p:nvPr/>
        </p:nvSpPr>
        <p:spPr>
          <a:xfrm>
            <a:off x="960120" y="5440679"/>
            <a:ext cx="10698480" cy="274320"/>
          </a:xfrm>
          <a:prstGeom prst="rect">
            <a:avLst/>
          </a:prstGeom>
          <a:noFill/>
        </p:spPr>
        <p:txBody>
          <a:bodyPr wrap="square" lIns="45720" rIns="45720">
            <a:spAutoFit/>
          </a:bodyPr>
          <a:lstStyle/>
          <a:p>
            <a:pPr algn="l"/>
            <a:r>
              <a:rPr sz="1300" b="1">
                <a:solidFill>
                  <a:srgbClr val="E6EAF0"/>
                </a:solidFill>
                <a:latin typeface="Helvetica Neue"/>
              </a:rPr>
              <a:t>Recorded demo + release cut</a:t>
            </a:r>
          </a:p>
        </p:txBody>
      </p:sp>
      <p:sp>
        <p:nvSpPr>
          <p:cNvPr id="19" name="TextBox 18"/>
          <p:cNvSpPr txBox="1"/>
          <p:nvPr/>
        </p:nvSpPr>
        <p:spPr>
          <a:xfrm>
            <a:off x="960120" y="5733288"/>
            <a:ext cx="10698480" cy="640080"/>
          </a:xfrm>
          <a:prstGeom prst="rect">
            <a:avLst/>
          </a:prstGeom>
          <a:noFill/>
        </p:spPr>
        <p:txBody>
          <a:bodyPr wrap="square" lIns="45720" rIns="45720">
            <a:spAutoFit/>
          </a:bodyPr>
          <a:lstStyle/>
          <a:p>
            <a:pPr algn="l"/>
            <a:r>
              <a:rPr sz="1100" b="0">
                <a:solidFill>
                  <a:srgbClr val="8A95A5"/>
                </a:solidFill>
                <a:latin typeface="Helvetica Neue"/>
              </a:rPr>
              <a:t>End-to-end recording on a clean Mac and Windows machine; v0.9 tag pushed Sat May 16; release notes + operator runbook + provider-swap guide finalized.</a:t>
            </a:r>
          </a:p>
        </p:txBody>
      </p:sp>
      <p:sp>
        <p:nvSpPr>
          <p:cNvPr id="20" name="TextBox 19"/>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Section 6</a:t>
            </a:r>
          </a:p>
        </p:txBody>
      </p:sp>
      <p:sp>
        <p:nvSpPr>
          <p:cNvPr id="21" name="TextBox 20"/>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Day-by-day plan</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Apr 30 → Fri May 15 · 11 working days · v0.9 release Sat May 16</a:t>
            </a:r>
          </a:p>
        </p:txBody>
      </p:sp>
      <p:sp>
        <p:nvSpPr>
          <p:cNvPr id="4" name="Rounded Rectangle 3"/>
          <p:cNvSpPr/>
          <p:nvPr/>
        </p:nvSpPr>
        <p:spPr>
          <a:xfrm>
            <a:off x="457200" y="1417320"/>
            <a:ext cx="11247120" cy="502920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1554480" cy="237744"/>
          </a:xfrm>
          <a:prstGeom prst="rect">
            <a:avLst/>
          </a:prstGeom>
          <a:noFill/>
        </p:spPr>
        <p:txBody>
          <a:bodyPr wrap="square" lIns="45720" rIns="45720">
            <a:spAutoFit/>
          </a:bodyPr>
          <a:lstStyle/>
          <a:p>
            <a:pPr algn="l"/>
            <a:r>
              <a:rPr sz="1100" b="1">
                <a:solidFill>
                  <a:srgbClr val="6EC1FF"/>
                </a:solidFill>
                <a:latin typeface="Helvetica Neue"/>
              </a:rPr>
              <a:t>Thu Apr 30</a:t>
            </a:r>
          </a:p>
        </p:txBody>
      </p:sp>
      <p:sp>
        <p:nvSpPr>
          <p:cNvPr id="6" name="TextBox 5"/>
          <p:cNvSpPr txBox="1"/>
          <p:nvPr/>
        </p:nvSpPr>
        <p:spPr>
          <a:xfrm>
            <a:off x="2286000" y="1508760"/>
            <a:ext cx="9418320" cy="237744"/>
          </a:xfrm>
          <a:prstGeom prst="rect">
            <a:avLst/>
          </a:prstGeom>
          <a:noFill/>
        </p:spPr>
        <p:txBody>
          <a:bodyPr wrap="square" lIns="45720" rIns="45720">
            <a:spAutoFit/>
          </a:bodyPr>
          <a:lstStyle/>
          <a:p>
            <a:pPr algn="l"/>
            <a:r>
              <a:rPr sz="1100" b="1">
                <a:solidFill>
                  <a:srgbClr val="E6EAF0"/>
                </a:solidFill>
                <a:latin typeface="Helvetica Neue"/>
              </a:rPr>
              <a:t>Multi-provider regression matrix — kickoff</a:t>
            </a:r>
          </a:p>
        </p:txBody>
      </p:sp>
      <p:sp>
        <p:nvSpPr>
          <p:cNvPr id="7" name="TextBox 6"/>
          <p:cNvSpPr txBox="1"/>
          <p:nvPr/>
        </p:nvSpPr>
        <p:spPr>
          <a:xfrm>
            <a:off x="2286000" y="1682495"/>
            <a:ext cx="9418320" cy="201168"/>
          </a:xfrm>
          <a:prstGeom prst="rect">
            <a:avLst/>
          </a:prstGeom>
          <a:noFill/>
        </p:spPr>
        <p:txBody>
          <a:bodyPr wrap="square" lIns="45720" rIns="45720">
            <a:spAutoFit/>
          </a:bodyPr>
          <a:lstStyle/>
          <a:p>
            <a:pPr algn="l"/>
            <a:r>
              <a:rPr sz="900" b="0">
                <a:solidFill>
                  <a:srgbClr val="8A95A5"/>
                </a:solidFill>
                <a:latin typeface="Helvetica Neue"/>
              </a:rPr>
              <a:t>•  Lock the matrix shape: 5 LLMs × 4 embeddings × 3 dialects × 4 consumers</a:t>
            </a:r>
          </a:p>
        </p:txBody>
      </p:sp>
      <p:sp>
        <p:nvSpPr>
          <p:cNvPr id="8" name="TextBox 7"/>
          <p:cNvSpPr txBox="1"/>
          <p:nvPr/>
        </p:nvSpPr>
        <p:spPr>
          <a:xfrm>
            <a:off x="2286000" y="1856231"/>
            <a:ext cx="9418320" cy="201168"/>
          </a:xfrm>
          <a:prstGeom prst="rect">
            <a:avLst/>
          </a:prstGeom>
          <a:noFill/>
        </p:spPr>
        <p:txBody>
          <a:bodyPr wrap="square" lIns="45720" rIns="45720">
            <a:spAutoFit/>
          </a:bodyPr>
          <a:lstStyle/>
          <a:p>
            <a:pPr algn="l"/>
            <a:r>
              <a:rPr sz="900" b="0">
                <a:solidFill>
                  <a:srgbClr val="8A95A5"/>
                </a:solidFill>
                <a:latin typeface="Helvetica Neue"/>
              </a:rPr>
              <a:t>•  Stand up CI fixture set; run agent loop against Anthropic + Bedrock first</a:t>
            </a:r>
          </a:p>
        </p:txBody>
      </p:sp>
      <p:sp>
        <p:nvSpPr>
          <p:cNvPr id="9" name="TextBox 8"/>
          <p:cNvSpPr txBox="1"/>
          <p:nvPr/>
        </p:nvSpPr>
        <p:spPr>
          <a:xfrm>
            <a:off x="640080" y="2057400"/>
            <a:ext cx="1554480" cy="237744"/>
          </a:xfrm>
          <a:prstGeom prst="rect">
            <a:avLst/>
          </a:prstGeom>
          <a:noFill/>
        </p:spPr>
        <p:txBody>
          <a:bodyPr wrap="square" lIns="45720" rIns="45720">
            <a:spAutoFit/>
          </a:bodyPr>
          <a:lstStyle/>
          <a:p>
            <a:pPr algn="l"/>
            <a:r>
              <a:rPr sz="1100" b="1">
                <a:solidFill>
                  <a:srgbClr val="6EC1FF"/>
                </a:solidFill>
                <a:latin typeface="Helvetica Neue"/>
              </a:rPr>
              <a:t>Mon May 4</a:t>
            </a:r>
          </a:p>
        </p:txBody>
      </p:sp>
      <p:sp>
        <p:nvSpPr>
          <p:cNvPr id="10" name="TextBox 9"/>
          <p:cNvSpPr txBox="1"/>
          <p:nvPr/>
        </p:nvSpPr>
        <p:spPr>
          <a:xfrm>
            <a:off x="2286000" y="2057400"/>
            <a:ext cx="9418320" cy="237744"/>
          </a:xfrm>
          <a:prstGeom prst="rect">
            <a:avLst/>
          </a:prstGeom>
          <a:noFill/>
        </p:spPr>
        <p:txBody>
          <a:bodyPr wrap="square" lIns="45720" rIns="45720">
            <a:spAutoFit/>
          </a:bodyPr>
          <a:lstStyle/>
          <a:p>
            <a:pPr algn="l"/>
            <a:r>
              <a:rPr sz="1100" b="1">
                <a:solidFill>
                  <a:srgbClr val="E6EAF0"/>
                </a:solidFill>
                <a:latin typeface="Helvetica Neue"/>
              </a:rPr>
              <a:t>Multi-provider matrix — coverage</a:t>
            </a:r>
          </a:p>
        </p:txBody>
      </p:sp>
      <p:sp>
        <p:nvSpPr>
          <p:cNvPr id="11" name="TextBox 10"/>
          <p:cNvSpPr txBox="1"/>
          <p:nvPr/>
        </p:nvSpPr>
        <p:spPr>
          <a:xfrm>
            <a:off x="2286000" y="2231136"/>
            <a:ext cx="9418320" cy="201168"/>
          </a:xfrm>
          <a:prstGeom prst="rect">
            <a:avLst/>
          </a:prstGeom>
          <a:noFill/>
        </p:spPr>
        <p:txBody>
          <a:bodyPr wrap="square" lIns="45720" rIns="45720">
            <a:spAutoFit/>
          </a:bodyPr>
          <a:lstStyle/>
          <a:p>
            <a:pPr algn="l"/>
            <a:r>
              <a:rPr sz="900" b="0">
                <a:solidFill>
                  <a:srgbClr val="8A95A5"/>
                </a:solidFill>
                <a:latin typeface="Helvetica Neue"/>
              </a:rPr>
              <a:t>•  Add Azure OpenAI + OpenAI + OpenRouter coverage; capture per-provider regressions</a:t>
            </a:r>
          </a:p>
        </p:txBody>
      </p:sp>
      <p:sp>
        <p:nvSpPr>
          <p:cNvPr id="12" name="TextBox 11"/>
          <p:cNvSpPr txBox="1"/>
          <p:nvPr/>
        </p:nvSpPr>
        <p:spPr>
          <a:xfrm>
            <a:off x="2286000" y="2404872"/>
            <a:ext cx="9418320" cy="201168"/>
          </a:xfrm>
          <a:prstGeom prst="rect">
            <a:avLst/>
          </a:prstGeom>
          <a:noFill/>
        </p:spPr>
        <p:txBody>
          <a:bodyPr wrap="square" lIns="45720" rIns="45720">
            <a:spAutoFit/>
          </a:bodyPr>
          <a:lstStyle/>
          <a:p>
            <a:pPr algn="l"/>
            <a:r>
              <a:rPr sz="900" b="0">
                <a:solidFill>
                  <a:srgbClr val="8A95A5"/>
                </a:solidFill>
                <a:latin typeface="Helvetica Neue"/>
              </a:rPr>
              <a:t>•  Patch agent translator layer for any newly surfaced gaps</a:t>
            </a:r>
          </a:p>
        </p:txBody>
      </p:sp>
      <p:sp>
        <p:nvSpPr>
          <p:cNvPr id="13" name="TextBox 12"/>
          <p:cNvSpPr txBox="1"/>
          <p:nvPr/>
        </p:nvSpPr>
        <p:spPr>
          <a:xfrm>
            <a:off x="640080" y="2606040"/>
            <a:ext cx="1554480" cy="237744"/>
          </a:xfrm>
          <a:prstGeom prst="rect">
            <a:avLst/>
          </a:prstGeom>
          <a:noFill/>
        </p:spPr>
        <p:txBody>
          <a:bodyPr wrap="square" lIns="45720" rIns="45720">
            <a:spAutoFit/>
          </a:bodyPr>
          <a:lstStyle/>
          <a:p>
            <a:pPr algn="l"/>
            <a:r>
              <a:rPr sz="1100" b="1">
                <a:solidFill>
                  <a:srgbClr val="6EC1FF"/>
                </a:solidFill>
                <a:latin typeface="Helvetica Neue"/>
              </a:rPr>
              <a:t>Tue May 5</a:t>
            </a:r>
          </a:p>
        </p:txBody>
      </p:sp>
      <p:sp>
        <p:nvSpPr>
          <p:cNvPr id="14" name="TextBox 13"/>
          <p:cNvSpPr txBox="1"/>
          <p:nvPr/>
        </p:nvSpPr>
        <p:spPr>
          <a:xfrm>
            <a:off x="2286000" y="2606040"/>
            <a:ext cx="9418320" cy="237744"/>
          </a:xfrm>
          <a:prstGeom prst="rect">
            <a:avLst/>
          </a:prstGeom>
          <a:noFill/>
        </p:spPr>
        <p:txBody>
          <a:bodyPr wrap="square" lIns="45720" rIns="45720">
            <a:spAutoFit/>
          </a:bodyPr>
          <a:lstStyle/>
          <a:p>
            <a:pPr algn="l"/>
            <a:r>
              <a:rPr sz="1100" b="1">
                <a:solidFill>
                  <a:srgbClr val="E6EAF0"/>
                </a:solidFill>
                <a:latin typeface="Helvetica Neue"/>
              </a:rPr>
              <a:t>Auto sub-clustering (Leiden) inside oversize domains</a:t>
            </a:r>
          </a:p>
        </p:txBody>
      </p:sp>
      <p:sp>
        <p:nvSpPr>
          <p:cNvPr id="15" name="TextBox 14"/>
          <p:cNvSpPr txBox="1"/>
          <p:nvPr/>
        </p:nvSpPr>
        <p:spPr>
          <a:xfrm>
            <a:off x="2286000" y="2779776"/>
            <a:ext cx="9418320" cy="201168"/>
          </a:xfrm>
          <a:prstGeom prst="rect">
            <a:avLst/>
          </a:prstGeom>
          <a:noFill/>
        </p:spPr>
        <p:txBody>
          <a:bodyPr wrap="square" lIns="45720" rIns="45720">
            <a:spAutoFit/>
          </a:bodyPr>
          <a:lstStyle/>
          <a:p>
            <a:pPr algn="l"/>
            <a:r>
              <a:rPr sz="900" b="0">
                <a:solidFill>
                  <a:srgbClr val="8A95A5"/>
                </a:solidFill>
                <a:latin typeface="Helvetica Neue"/>
              </a:rPr>
              <a:t>•  Build affinity matrix (cosine + graph proximity + name jaccard)</a:t>
            </a:r>
          </a:p>
        </p:txBody>
      </p:sp>
      <p:sp>
        <p:nvSpPr>
          <p:cNvPr id="16" name="TextBox 15"/>
          <p:cNvSpPr txBox="1"/>
          <p:nvPr/>
        </p:nvSpPr>
        <p:spPr>
          <a:xfrm>
            <a:off x="2286000" y="2953512"/>
            <a:ext cx="9418320" cy="201168"/>
          </a:xfrm>
          <a:prstGeom prst="rect">
            <a:avLst/>
          </a:prstGeom>
          <a:noFill/>
        </p:spPr>
        <p:txBody>
          <a:bodyPr wrap="square" lIns="45720" rIns="45720">
            <a:spAutoFit/>
          </a:bodyPr>
          <a:lstStyle/>
          <a:p>
            <a:pPr algn="l"/>
            <a:r>
              <a:rPr sz="900" b="0">
                <a:solidFill>
                  <a:srgbClr val="8A95A5"/>
                </a:solidFill>
                <a:latin typeface="Helvetica Neue"/>
              </a:rPr>
              <a:t>•  Tune Leiden for 8–20 tables/cluster; LLM auto-naming for sub-clusters</a:t>
            </a:r>
          </a:p>
        </p:txBody>
      </p:sp>
      <p:sp>
        <p:nvSpPr>
          <p:cNvPr id="17" name="TextBox 16"/>
          <p:cNvSpPr txBox="1"/>
          <p:nvPr/>
        </p:nvSpPr>
        <p:spPr>
          <a:xfrm>
            <a:off x="2286000" y="3127248"/>
            <a:ext cx="9418320" cy="201168"/>
          </a:xfrm>
          <a:prstGeom prst="rect">
            <a:avLst/>
          </a:prstGeom>
          <a:noFill/>
        </p:spPr>
        <p:txBody>
          <a:bodyPr wrap="square" lIns="45720" rIns="45720">
            <a:spAutoFit/>
          </a:bodyPr>
          <a:lstStyle/>
          <a:p>
            <a:pPr algn="l"/>
            <a:r>
              <a:rPr sz="900" b="0">
                <a:solidFill>
                  <a:srgbClr val="8A95A5"/>
                </a:solidFill>
                <a:latin typeface="Helvetica Neue"/>
              </a:rPr>
              <a:t>•  Hungarian assignment for cluster-ID stability across rebuilds</a:t>
            </a:r>
          </a:p>
        </p:txBody>
      </p:sp>
      <p:sp>
        <p:nvSpPr>
          <p:cNvPr id="18" name="TextBox 17"/>
          <p:cNvSpPr txBox="1"/>
          <p:nvPr/>
        </p:nvSpPr>
        <p:spPr>
          <a:xfrm>
            <a:off x="640080" y="3328416"/>
            <a:ext cx="1554480" cy="237744"/>
          </a:xfrm>
          <a:prstGeom prst="rect">
            <a:avLst/>
          </a:prstGeom>
          <a:noFill/>
        </p:spPr>
        <p:txBody>
          <a:bodyPr wrap="square" lIns="45720" rIns="45720">
            <a:spAutoFit/>
          </a:bodyPr>
          <a:lstStyle/>
          <a:p>
            <a:pPr algn="l"/>
            <a:r>
              <a:rPr sz="1100" b="1">
                <a:solidFill>
                  <a:srgbClr val="6EC1FF"/>
                </a:solidFill>
                <a:latin typeface="Helvetica Neue"/>
              </a:rPr>
              <a:t>Wed May 6</a:t>
            </a:r>
          </a:p>
        </p:txBody>
      </p:sp>
      <p:sp>
        <p:nvSpPr>
          <p:cNvPr id="19" name="TextBox 18"/>
          <p:cNvSpPr txBox="1"/>
          <p:nvPr/>
        </p:nvSpPr>
        <p:spPr>
          <a:xfrm>
            <a:off x="2286000" y="3328416"/>
            <a:ext cx="9418320" cy="237744"/>
          </a:xfrm>
          <a:prstGeom prst="rect">
            <a:avLst/>
          </a:prstGeom>
          <a:noFill/>
        </p:spPr>
        <p:txBody>
          <a:bodyPr wrap="square" lIns="45720" rIns="45720">
            <a:spAutoFit/>
          </a:bodyPr>
          <a:lstStyle/>
          <a:p>
            <a:pPr algn="l"/>
            <a:r>
              <a:rPr sz="1100" b="1">
                <a:solidFill>
                  <a:srgbClr val="E6EAF0"/>
                </a:solidFill>
                <a:latin typeface="Helvetica Neue"/>
              </a:rPr>
              <a:t>Agentic polish — tool reliability + UX</a:t>
            </a:r>
          </a:p>
        </p:txBody>
      </p:sp>
      <p:sp>
        <p:nvSpPr>
          <p:cNvPr id="20" name="TextBox 19"/>
          <p:cNvSpPr txBox="1"/>
          <p:nvPr/>
        </p:nvSpPr>
        <p:spPr>
          <a:xfrm>
            <a:off x="2286000" y="3502152"/>
            <a:ext cx="9418320" cy="201168"/>
          </a:xfrm>
          <a:prstGeom prst="rect">
            <a:avLst/>
          </a:prstGeom>
          <a:noFill/>
        </p:spPr>
        <p:txBody>
          <a:bodyPr wrap="square" lIns="45720" rIns="45720">
            <a:spAutoFit/>
          </a:bodyPr>
          <a:lstStyle/>
          <a:p>
            <a:pPr algn="l"/>
            <a:r>
              <a:rPr sz="900" b="0">
                <a:solidFill>
                  <a:srgbClr val="8A95A5"/>
                </a:solidFill>
                <a:latin typeface="Helvetica Neue"/>
              </a:rPr>
              <a:t>•  Tool-call retries on transient provider errors; structured failure surfaces</a:t>
            </a:r>
          </a:p>
        </p:txBody>
      </p:sp>
      <p:sp>
        <p:nvSpPr>
          <p:cNvPr id="21" name="TextBox 20"/>
          <p:cNvSpPr txBox="1"/>
          <p:nvPr/>
        </p:nvSpPr>
        <p:spPr>
          <a:xfrm>
            <a:off x="2286000" y="3675888"/>
            <a:ext cx="9418320" cy="201168"/>
          </a:xfrm>
          <a:prstGeom prst="rect">
            <a:avLst/>
          </a:prstGeom>
          <a:noFill/>
        </p:spPr>
        <p:txBody>
          <a:bodyPr wrap="square" lIns="45720" rIns="45720">
            <a:spAutoFit/>
          </a:bodyPr>
          <a:lstStyle/>
          <a:p>
            <a:pPr algn="l"/>
            <a:r>
              <a:rPr sz="900" b="0">
                <a:solidFill>
                  <a:srgbClr val="8A95A5"/>
                </a:solidFill>
                <a:latin typeface="Helvetica Neue"/>
              </a:rPr>
              <a:t>•  Streaming UX refinements; chart-export and eval-drilldown agent tools</a:t>
            </a:r>
          </a:p>
        </p:txBody>
      </p:sp>
      <p:sp>
        <p:nvSpPr>
          <p:cNvPr id="22" name="TextBox 21"/>
          <p:cNvSpPr txBox="1"/>
          <p:nvPr/>
        </p:nvSpPr>
        <p:spPr>
          <a:xfrm>
            <a:off x="2286000" y="3849624"/>
            <a:ext cx="9418320" cy="201168"/>
          </a:xfrm>
          <a:prstGeom prst="rect">
            <a:avLst/>
          </a:prstGeom>
          <a:noFill/>
        </p:spPr>
        <p:txBody>
          <a:bodyPr wrap="square" lIns="45720" rIns="45720">
            <a:spAutoFit/>
          </a:bodyPr>
          <a:lstStyle/>
          <a:p>
            <a:pPr algn="l"/>
            <a:r>
              <a:rPr sz="900" b="0">
                <a:solidFill>
                  <a:srgbClr val="8A95A5"/>
                </a:solidFill>
                <a:latin typeface="Helvetica Neue"/>
              </a:rPr>
              <a:t>•  Conversation list polish (rename, archive, filter)</a:t>
            </a:r>
          </a:p>
        </p:txBody>
      </p:sp>
      <p:sp>
        <p:nvSpPr>
          <p:cNvPr id="23" name="TextBox 22"/>
          <p:cNvSpPr txBox="1"/>
          <p:nvPr/>
        </p:nvSpPr>
        <p:spPr>
          <a:xfrm>
            <a:off x="640080" y="4050792"/>
            <a:ext cx="1554480" cy="237744"/>
          </a:xfrm>
          <a:prstGeom prst="rect">
            <a:avLst/>
          </a:prstGeom>
          <a:noFill/>
        </p:spPr>
        <p:txBody>
          <a:bodyPr wrap="square" lIns="45720" rIns="45720">
            <a:spAutoFit/>
          </a:bodyPr>
          <a:lstStyle/>
          <a:p>
            <a:pPr algn="l"/>
            <a:r>
              <a:rPr sz="1100" b="1">
                <a:solidFill>
                  <a:srgbClr val="6EC1FF"/>
                </a:solidFill>
                <a:latin typeface="Helvetica Neue"/>
              </a:rPr>
              <a:t>Thu May 7</a:t>
            </a:r>
          </a:p>
        </p:txBody>
      </p:sp>
      <p:sp>
        <p:nvSpPr>
          <p:cNvPr id="24" name="TextBox 23"/>
          <p:cNvSpPr txBox="1"/>
          <p:nvPr/>
        </p:nvSpPr>
        <p:spPr>
          <a:xfrm>
            <a:off x="2286000" y="4050792"/>
            <a:ext cx="9418320" cy="237744"/>
          </a:xfrm>
          <a:prstGeom prst="rect">
            <a:avLst/>
          </a:prstGeom>
          <a:noFill/>
        </p:spPr>
        <p:txBody>
          <a:bodyPr wrap="square" lIns="45720" rIns="45720">
            <a:spAutoFit/>
          </a:bodyPr>
          <a:lstStyle/>
          <a:p>
            <a:pPr algn="l"/>
            <a:r>
              <a:rPr sz="1100" b="1">
                <a:solidFill>
                  <a:srgbClr val="E6EAF0"/>
                </a:solidFill>
                <a:latin typeface="Helvetica Neue"/>
              </a:rPr>
              <a:t>Observability scaffolding</a:t>
            </a:r>
          </a:p>
        </p:txBody>
      </p:sp>
      <p:sp>
        <p:nvSpPr>
          <p:cNvPr id="25" name="TextBox 24"/>
          <p:cNvSpPr txBox="1"/>
          <p:nvPr/>
        </p:nvSpPr>
        <p:spPr>
          <a:xfrm>
            <a:off x="2286000" y="4224528"/>
            <a:ext cx="9418320" cy="201168"/>
          </a:xfrm>
          <a:prstGeom prst="rect">
            <a:avLst/>
          </a:prstGeom>
          <a:noFill/>
        </p:spPr>
        <p:txBody>
          <a:bodyPr wrap="square" lIns="45720" rIns="45720">
            <a:spAutoFit/>
          </a:bodyPr>
          <a:lstStyle/>
          <a:p>
            <a:pPr algn="l"/>
            <a:r>
              <a:rPr sz="900" b="0">
                <a:solidFill>
                  <a:srgbClr val="8A95A5"/>
                </a:solidFill>
                <a:latin typeface="Helvetica Neue"/>
              </a:rPr>
              <a:t>•  OpenTelemetry spans on every pipeline + agent stage</a:t>
            </a:r>
          </a:p>
        </p:txBody>
      </p:sp>
      <p:sp>
        <p:nvSpPr>
          <p:cNvPr id="26" name="TextBox 25"/>
          <p:cNvSpPr txBox="1"/>
          <p:nvPr/>
        </p:nvSpPr>
        <p:spPr>
          <a:xfrm>
            <a:off x="2286000" y="4398264"/>
            <a:ext cx="9418320" cy="201168"/>
          </a:xfrm>
          <a:prstGeom prst="rect">
            <a:avLst/>
          </a:prstGeom>
          <a:noFill/>
        </p:spPr>
        <p:txBody>
          <a:bodyPr wrap="square" lIns="45720" rIns="45720">
            <a:spAutoFit/>
          </a:bodyPr>
          <a:lstStyle/>
          <a:p>
            <a:pPr algn="l"/>
            <a:r>
              <a:rPr sz="900" b="0">
                <a:solidFill>
                  <a:srgbClr val="8A95A5"/>
                </a:solidFill>
                <a:latin typeface="Helvetica Neue"/>
              </a:rPr>
              <a:t>•  Prometheus counters/histograms; Grafana dashboards in infra/grafana/</a:t>
            </a:r>
          </a:p>
        </p:txBody>
      </p:sp>
      <p:sp>
        <p:nvSpPr>
          <p:cNvPr id="27" name="TextBox 26"/>
          <p:cNvSpPr txBox="1"/>
          <p:nvPr/>
        </p:nvSpPr>
        <p:spPr>
          <a:xfrm>
            <a:off x="2286000" y="4572000"/>
            <a:ext cx="9418320" cy="201168"/>
          </a:xfrm>
          <a:prstGeom prst="rect">
            <a:avLst/>
          </a:prstGeom>
          <a:noFill/>
        </p:spPr>
        <p:txBody>
          <a:bodyPr wrap="square" lIns="45720" rIns="45720">
            <a:spAutoFit/>
          </a:bodyPr>
          <a:lstStyle/>
          <a:p>
            <a:pPr algn="l"/>
            <a:r>
              <a:rPr sz="900" b="0">
                <a:solidFill>
                  <a:srgbClr val="8A95A5"/>
                </a:solidFill>
                <a:latin typeface="Helvetica Neue"/>
              </a:rPr>
              <a:t>•  Wire structured logging context (request id, provider, dialect)</a:t>
            </a:r>
          </a:p>
        </p:txBody>
      </p:sp>
      <p:sp>
        <p:nvSpPr>
          <p:cNvPr id="28" name="TextBox 27"/>
          <p:cNvSpPr txBox="1"/>
          <p:nvPr/>
        </p:nvSpPr>
        <p:spPr>
          <a:xfrm>
            <a:off x="640080" y="4773168"/>
            <a:ext cx="1554480" cy="237744"/>
          </a:xfrm>
          <a:prstGeom prst="rect">
            <a:avLst/>
          </a:prstGeom>
          <a:noFill/>
        </p:spPr>
        <p:txBody>
          <a:bodyPr wrap="square" lIns="45720" rIns="45720">
            <a:spAutoFit/>
          </a:bodyPr>
          <a:lstStyle/>
          <a:p>
            <a:pPr algn="l"/>
            <a:r>
              <a:rPr sz="1100" b="1">
                <a:solidFill>
                  <a:srgbClr val="6EC1FF"/>
                </a:solidFill>
                <a:latin typeface="Helvetica Neue"/>
              </a:rPr>
              <a:t>Fri May 8</a:t>
            </a:r>
          </a:p>
        </p:txBody>
      </p:sp>
      <p:sp>
        <p:nvSpPr>
          <p:cNvPr id="29" name="TextBox 28"/>
          <p:cNvSpPr txBox="1"/>
          <p:nvPr/>
        </p:nvSpPr>
        <p:spPr>
          <a:xfrm>
            <a:off x="2286000" y="4773168"/>
            <a:ext cx="9418320" cy="237744"/>
          </a:xfrm>
          <a:prstGeom prst="rect">
            <a:avLst/>
          </a:prstGeom>
          <a:noFill/>
        </p:spPr>
        <p:txBody>
          <a:bodyPr wrap="square" lIns="45720" rIns="45720">
            <a:spAutoFit/>
          </a:bodyPr>
          <a:lstStyle/>
          <a:p>
            <a:pPr algn="l"/>
            <a:r>
              <a:rPr sz="1100" b="1">
                <a:solidFill>
                  <a:srgbClr val="E6EAF0"/>
                </a:solidFill>
                <a:latin typeface="Helvetica Neue"/>
              </a:rPr>
              <a:t>Eval suite expansion + nightly gate</a:t>
            </a:r>
          </a:p>
        </p:txBody>
      </p:sp>
      <p:sp>
        <p:nvSpPr>
          <p:cNvPr id="30" name="TextBox 29"/>
          <p:cNvSpPr txBox="1"/>
          <p:nvPr/>
        </p:nvSpPr>
        <p:spPr>
          <a:xfrm>
            <a:off x="2286000" y="4946904"/>
            <a:ext cx="9418320" cy="201168"/>
          </a:xfrm>
          <a:prstGeom prst="rect">
            <a:avLst/>
          </a:prstGeom>
          <a:noFill/>
        </p:spPr>
        <p:txBody>
          <a:bodyPr wrap="square" lIns="45720" rIns="45720">
            <a:spAutoFit/>
          </a:bodyPr>
          <a:lstStyle/>
          <a:p>
            <a:pPr algn="l"/>
            <a:r>
              <a:rPr sz="900" b="0">
                <a:solidFill>
                  <a:srgbClr val="8A95A5"/>
                </a:solidFill>
                <a:latin typeface="Helvetica Neue"/>
              </a:rPr>
              <a:t>•  Expand gold-question suite from 50 to 100 questions</a:t>
            </a:r>
          </a:p>
        </p:txBody>
      </p:sp>
      <p:sp>
        <p:nvSpPr>
          <p:cNvPr id="31" name="TextBox 30"/>
          <p:cNvSpPr txBox="1"/>
          <p:nvPr/>
        </p:nvSpPr>
        <p:spPr>
          <a:xfrm>
            <a:off x="2286000" y="5120640"/>
            <a:ext cx="9418320" cy="201168"/>
          </a:xfrm>
          <a:prstGeom prst="rect">
            <a:avLst/>
          </a:prstGeom>
          <a:noFill/>
        </p:spPr>
        <p:txBody>
          <a:bodyPr wrap="square" lIns="45720" rIns="45720">
            <a:spAutoFit/>
          </a:bodyPr>
          <a:lstStyle/>
          <a:p>
            <a:pPr algn="l"/>
            <a:r>
              <a:rPr sz="900" b="0">
                <a:solidFill>
                  <a:srgbClr val="8A95A5"/>
                </a:solidFill>
                <a:latin typeface="Helvetica Neue"/>
              </a:rPr>
              <a:t>•  Wire CI nightly run; gate on &gt;2pp execution-accuracy regression</a:t>
            </a:r>
          </a:p>
        </p:txBody>
      </p:sp>
      <p:sp>
        <p:nvSpPr>
          <p:cNvPr id="32" name="TextBox 31"/>
          <p:cNvSpPr txBox="1"/>
          <p:nvPr/>
        </p:nvSpPr>
        <p:spPr>
          <a:xfrm>
            <a:off x="2286000" y="5294376"/>
            <a:ext cx="9418320" cy="201168"/>
          </a:xfrm>
          <a:prstGeom prst="rect">
            <a:avLst/>
          </a:prstGeom>
          <a:noFill/>
        </p:spPr>
        <p:txBody>
          <a:bodyPr wrap="square" lIns="45720" rIns="45720">
            <a:spAutoFit/>
          </a:bodyPr>
          <a:lstStyle/>
          <a:p>
            <a:pPr algn="l"/>
            <a:r>
              <a:rPr sz="900" b="0">
                <a:solidFill>
                  <a:srgbClr val="8A95A5"/>
                </a:solidFill>
                <a:latin typeface="Helvetica Neue"/>
              </a:rPr>
              <a:t>•  Eval Dashboard polish: per-build deltas, regression alerts</a:t>
            </a:r>
          </a:p>
        </p:txBody>
      </p:sp>
      <p:sp>
        <p:nvSpPr>
          <p:cNvPr id="33" name="TextBox 32"/>
          <p:cNvSpPr txBox="1"/>
          <p:nvPr/>
        </p:nvSpPr>
        <p:spPr>
          <a:xfrm>
            <a:off x="640080" y="5495544"/>
            <a:ext cx="1554480" cy="237744"/>
          </a:xfrm>
          <a:prstGeom prst="rect">
            <a:avLst/>
          </a:prstGeom>
          <a:noFill/>
        </p:spPr>
        <p:txBody>
          <a:bodyPr wrap="square" lIns="45720" rIns="45720">
            <a:spAutoFit/>
          </a:bodyPr>
          <a:lstStyle/>
          <a:p>
            <a:pPr algn="l"/>
            <a:r>
              <a:rPr sz="1100" b="1">
                <a:solidFill>
                  <a:srgbClr val="6EC1FF"/>
                </a:solidFill>
                <a:latin typeface="Helvetica Neue"/>
              </a:rPr>
              <a:t>Mon May 11</a:t>
            </a:r>
          </a:p>
        </p:txBody>
      </p:sp>
      <p:sp>
        <p:nvSpPr>
          <p:cNvPr id="34" name="TextBox 33"/>
          <p:cNvSpPr txBox="1"/>
          <p:nvPr/>
        </p:nvSpPr>
        <p:spPr>
          <a:xfrm>
            <a:off x="2286000" y="5495544"/>
            <a:ext cx="9418320" cy="237744"/>
          </a:xfrm>
          <a:prstGeom prst="rect">
            <a:avLst/>
          </a:prstGeom>
          <a:noFill/>
        </p:spPr>
        <p:txBody>
          <a:bodyPr wrap="square" lIns="45720" rIns="45720">
            <a:spAutoFit/>
          </a:bodyPr>
          <a:lstStyle/>
          <a:p>
            <a:pPr algn="l"/>
            <a:r>
              <a:rPr sz="1100" b="1">
                <a:solidFill>
                  <a:srgbClr val="E6EAF0"/>
                </a:solidFill>
                <a:latin typeface="Helvetica Neue"/>
              </a:rPr>
              <a:t>Performance pass + caching</a:t>
            </a:r>
          </a:p>
        </p:txBody>
      </p:sp>
      <p:sp>
        <p:nvSpPr>
          <p:cNvPr id="35" name="TextBox 34"/>
          <p:cNvSpPr txBox="1"/>
          <p:nvPr/>
        </p:nvSpPr>
        <p:spPr>
          <a:xfrm>
            <a:off x="2286000" y="5669280"/>
            <a:ext cx="9418320" cy="201168"/>
          </a:xfrm>
          <a:prstGeom prst="rect">
            <a:avLst/>
          </a:prstGeom>
          <a:noFill/>
        </p:spPr>
        <p:txBody>
          <a:bodyPr wrap="square" lIns="45720" rIns="45720">
            <a:spAutoFit/>
          </a:bodyPr>
          <a:lstStyle/>
          <a:p>
            <a:pPr algn="l"/>
            <a:r>
              <a:rPr sz="900" b="0">
                <a:solidFill>
                  <a:srgbClr val="8A95A5"/>
                </a:solidFill>
                <a:latin typeface="Helvetica Neue"/>
              </a:rPr>
              <a:t>•  APSP load + retrieval cache hot paths; verify p95 latency budget per spec §17</a:t>
            </a:r>
          </a:p>
        </p:txBody>
      </p:sp>
      <p:sp>
        <p:nvSpPr>
          <p:cNvPr id="36" name="TextBox 35"/>
          <p:cNvSpPr txBox="1"/>
          <p:nvPr/>
        </p:nvSpPr>
        <p:spPr>
          <a:xfrm>
            <a:off x="2286000" y="5843016"/>
            <a:ext cx="9418320" cy="201168"/>
          </a:xfrm>
          <a:prstGeom prst="rect">
            <a:avLst/>
          </a:prstGeom>
          <a:noFill/>
        </p:spPr>
        <p:txBody>
          <a:bodyPr wrap="square" lIns="45720" rIns="45720">
            <a:spAutoFit/>
          </a:bodyPr>
          <a:lstStyle/>
          <a:p>
            <a:pPr algn="l"/>
            <a:r>
              <a:rPr sz="900" b="0">
                <a:solidFill>
                  <a:srgbClr val="8A95A5"/>
                </a:solidFill>
                <a:latin typeface="Helvetica Neue"/>
              </a:rPr>
              <a:t>•  Per-user quota + rate limits; secret-leak scrubber on all error paths</a:t>
            </a:r>
          </a:p>
        </p:txBody>
      </p:sp>
      <p:sp>
        <p:nvSpPr>
          <p:cNvPr id="37" name="TextBox 36"/>
          <p:cNvSpPr txBox="1"/>
          <p:nvPr/>
        </p:nvSpPr>
        <p:spPr>
          <a:xfrm>
            <a:off x="640080" y="6044184"/>
            <a:ext cx="1554480" cy="237744"/>
          </a:xfrm>
          <a:prstGeom prst="rect">
            <a:avLst/>
          </a:prstGeom>
          <a:noFill/>
        </p:spPr>
        <p:txBody>
          <a:bodyPr wrap="square" lIns="45720" rIns="45720">
            <a:spAutoFit/>
          </a:bodyPr>
          <a:lstStyle/>
          <a:p>
            <a:pPr algn="l"/>
            <a:r>
              <a:rPr sz="1100" b="1">
                <a:solidFill>
                  <a:srgbClr val="6EC1FF"/>
                </a:solidFill>
                <a:latin typeface="Helvetica Neue"/>
              </a:rPr>
              <a:t>Tue May 12</a:t>
            </a:r>
          </a:p>
        </p:txBody>
      </p:sp>
      <p:sp>
        <p:nvSpPr>
          <p:cNvPr id="38" name="TextBox 37"/>
          <p:cNvSpPr txBox="1"/>
          <p:nvPr/>
        </p:nvSpPr>
        <p:spPr>
          <a:xfrm>
            <a:off x="2286000" y="6044184"/>
            <a:ext cx="9418320" cy="237744"/>
          </a:xfrm>
          <a:prstGeom prst="rect">
            <a:avLst/>
          </a:prstGeom>
          <a:noFill/>
        </p:spPr>
        <p:txBody>
          <a:bodyPr wrap="square" lIns="45720" rIns="45720">
            <a:spAutoFit/>
          </a:bodyPr>
          <a:lstStyle/>
          <a:p>
            <a:pPr algn="l"/>
            <a:r>
              <a:rPr sz="1100" b="1">
                <a:solidFill>
                  <a:srgbClr val="E6EAF0"/>
                </a:solidFill>
                <a:latin typeface="Helvetica Neue"/>
              </a:rPr>
              <a:t>Cross-platform smoke + provider-swap drill</a:t>
            </a:r>
          </a:p>
        </p:txBody>
      </p:sp>
      <p:sp>
        <p:nvSpPr>
          <p:cNvPr id="39" name="TextBox 38"/>
          <p:cNvSpPr txBox="1"/>
          <p:nvPr/>
        </p:nvSpPr>
        <p:spPr>
          <a:xfrm>
            <a:off x="2286000" y="6217920"/>
            <a:ext cx="9418320" cy="201168"/>
          </a:xfrm>
          <a:prstGeom prst="rect">
            <a:avLst/>
          </a:prstGeom>
          <a:noFill/>
        </p:spPr>
        <p:txBody>
          <a:bodyPr wrap="square" lIns="45720" rIns="45720">
            <a:spAutoFit/>
          </a:bodyPr>
          <a:lstStyle/>
          <a:p>
            <a:pPr algn="l"/>
            <a:r>
              <a:rPr sz="900" b="0">
                <a:solidFill>
                  <a:srgbClr val="8A95A5"/>
                </a:solidFill>
                <a:latin typeface="Helvetica Neue"/>
              </a:rPr>
              <a:t>•  Clean Windows 11 + macOS dry runs from git clone</a:t>
            </a:r>
          </a:p>
        </p:txBody>
      </p:sp>
      <p:sp>
        <p:nvSpPr>
          <p:cNvPr id="40" name="TextBox 39"/>
          <p:cNvSpPr txBox="1"/>
          <p:nvPr/>
        </p:nvSpPr>
        <p:spPr>
          <a:xfrm>
            <a:off x="2286000" y="6391656"/>
            <a:ext cx="9418320" cy="201168"/>
          </a:xfrm>
          <a:prstGeom prst="rect">
            <a:avLst/>
          </a:prstGeom>
          <a:noFill/>
        </p:spPr>
        <p:txBody>
          <a:bodyPr wrap="square" lIns="45720" rIns="45720">
            <a:spAutoFit/>
          </a:bodyPr>
          <a:lstStyle/>
          <a:p>
            <a:pPr algn="l"/>
            <a:r>
              <a:rPr sz="900" b="0">
                <a:solidFill>
                  <a:srgbClr val="8A95A5"/>
                </a:solidFill>
                <a:latin typeface="Helvetica Neue"/>
              </a:rPr>
              <a:t>•  Provider-swap drill: Anthropic → Bedrock → Azure mid-session, no restart</a:t>
            </a:r>
          </a:p>
        </p:txBody>
      </p:sp>
      <p:sp>
        <p:nvSpPr>
          <p:cNvPr id="41" name="TextBox 40"/>
          <p:cNvSpPr txBox="1"/>
          <p:nvPr/>
        </p:nvSpPr>
        <p:spPr>
          <a:xfrm>
            <a:off x="640080" y="6592824"/>
            <a:ext cx="1554480" cy="237744"/>
          </a:xfrm>
          <a:prstGeom prst="rect">
            <a:avLst/>
          </a:prstGeom>
          <a:noFill/>
        </p:spPr>
        <p:txBody>
          <a:bodyPr wrap="square" lIns="45720" rIns="45720">
            <a:spAutoFit/>
          </a:bodyPr>
          <a:lstStyle/>
          <a:p>
            <a:pPr algn="l"/>
            <a:r>
              <a:rPr sz="1100" b="1">
                <a:solidFill>
                  <a:srgbClr val="6EC1FF"/>
                </a:solidFill>
                <a:latin typeface="Helvetica Neue"/>
              </a:rPr>
              <a:t>Wed May 13</a:t>
            </a:r>
          </a:p>
        </p:txBody>
      </p:sp>
      <p:sp>
        <p:nvSpPr>
          <p:cNvPr id="42" name="TextBox 41"/>
          <p:cNvSpPr txBox="1"/>
          <p:nvPr/>
        </p:nvSpPr>
        <p:spPr>
          <a:xfrm>
            <a:off x="2286000" y="6592824"/>
            <a:ext cx="9418320" cy="237744"/>
          </a:xfrm>
          <a:prstGeom prst="rect">
            <a:avLst/>
          </a:prstGeom>
          <a:noFill/>
        </p:spPr>
        <p:txBody>
          <a:bodyPr wrap="square" lIns="45720" rIns="45720">
            <a:spAutoFit/>
          </a:bodyPr>
          <a:lstStyle/>
          <a:p>
            <a:pPr algn="l"/>
            <a:r>
              <a:rPr sz="1100" b="1">
                <a:solidFill>
                  <a:srgbClr val="E6EAF0"/>
                </a:solidFill>
                <a:latin typeface="Helvetica Neue"/>
              </a:rPr>
              <a:t>Recorded demo — first cut</a:t>
            </a:r>
          </a:p>
        </p:txBody>
      </p:sp>
      <p:sp>
        <p:nvSpPr>
          <p:cNvPr id="43" name="TextBox 42"/>
          <p:cNvSpPr txBox="1"/>
          <p:nvPr/>
        </p:nvSpPr>
        <p:spPr>
          <a:xfrm>
            <a:off x="2286000" y="6766560"/>
            <a:ext cx="9418320" cy="201168"/>
          </a:xfrm>
          <a:prstGeom prst="rect">
            <a:avLst/>
          </a:prstGeom>
          <a:noFill/>
        </p:spPr>
        <p:txBody>
          <a:bodyPr wrap="square" lIns="45720" rIns="45720">
            <a:spAutoFit/>
          </a:bodyPr>
          <a:lstStyle/>
          <a:p>
            <a:pPr algn="l"/>
            <a:r>
              <a:rPr sz="900" b="0">
                <a:solidFill>
                  <a:srgbClr val="8A95A5"/>
                </a:solidFill>
                <a:latin typeface="Helvetica Neue"/>
              </a:rPr>
              <a:t>•  Script: connect SQLite demo → ask question → chart + summary → switch to Postgres</a:t>
            </a:r>
          </a:p>
        </p:txBody>
      </p:sp>
      <p:sp>
        <p:nvSpPr>
          <p:cNvPr id="44" name="TextBox 43"/>
          <p:cNvSpPr txBox="1"/>
          <p:nvPr/>
        </p:nvSpPr>
        <p:spPr>
          <a:xfrm>
            <a:off x="2286000" y="6940296"/>
            <a:ext cx="9418320" cy="201168"/>
          </a:xfrm>
          <a:prstGeom prst="rect">
            <a:avLst/>
          </a:prstGeom>
          <a:noFill/>
        </p:spPr>
        <p:txBody>
          <a:bodyPr wrap="square" lIns="45720" rIns="45720">
            <a:spAutoFit/>
          </a:bodyPr>
          <a:lstStyle/>
          <a:p>
            <a:pPr algn="l"/>
            <a:r>
              <a:rPr sz="900" b="0">
                <a:solidFill>
                  <a:srgbClr val="8A95A5"/>
                </a:solidFill>
                <a:latin typeface="Helvetica Neue"/>
              </a:rPr>
              <a:t>•  Capture cluster manager drag-to-reassign + Settings UI editing</a:t>
            </a:r>
          </a:p>
        </p:txBody>
      </p:sp>
      <p:sp>
        <p:nvSpPr>
          <p:cNvPr id="45" name="TextBox 44"/>
          <p:cNvSpPr txBox="1"/>
          <p:nvPr/>
        </p:nvSpPr>
        <p:spPr>
          <a:xfrm>
            <a:off x="2286000" y="7114032"/>
            <a:ext cx="9418320" cy="201168"/>
          </a:xfrm>
          <a:prstGeom prst="rect">
            <a:avLst/>
          </a:prstGeom>
          <a:noFill/>
        </p:spPr>
        <p:txBody>
          <a:bodyPr wrap="square" lIns="45720" rIns="45720">
            <a:spAutoFit/>
          </a:bodyPr>
          <a:lstStyle/>
          <a:p>
            <a:pPr algn="l"/>
            <a:r>
              <a:rPr sz="900" b="0">
                <a:solidFill>
                  <a:srgbClr val="8A95A5"/>
                </a:solidFill>
                <a:latin typeface="Helvetica Neue"/>
              </a:rPr>
              <a:t>•  Edit + caption pass</a:t>
            </a:r>
          </a:p>
        </p:txBody>
      </p:sp>
      <p:sp>
        <p:nvSpPr>
          <p:cNvPr id="46" name="TextBox 45"/>
          <p:cNvSpPr txBox="1"/>
          <p:nvPr/>
        </p:nvSpPr>
        <p:spPr>
          <a:xfrm>
            <a:off x="640080" y="7315200"/>
            <a:ext cx="1554480" cy="237744"/>
          </a:xfrm>
          <a:prstGeom prst="rect">
            <a:avLst/>
          </a:prstGeom>
          <a:noFill/>
        </p:spPr>
        <p:txBody>
          <a:bodyPr wrap="square" lIns="45720" rIns="45720">
            <a:spAutoFit/>
          </a:bodyPr>
          <a:lstStyle/>
          <a:p>
            <a:pPr algn="l"/>
            <a:r>
              <a:rPr sz="1100" b="1">
                <a:solidFill>
                  <a:srgbClr val="6EC1FF"/>
                </a:solidFill>
                <a:latin typeface="Helvetica Neue"/>
              </a:rPr>
              <a:t>Thu May 14</a:t>
            </a:r>
          </a:p>
        </p:txBody>
      </p:sp>
      <p:sp>
        <p:nvSpPr>
          <p:cNvPr id="47" name="TextBox 46"/>
          <p:cNvSpPr txBox="1"/>
          <p:nvPr/>
        </p:nvSpPr>
        <p:spPr>
          <a:xfrm>
            <a:off x="2286000" y="7315200"/>
            <a:ext cx="9418320" cy="237744"/>
          </a:xfrm>
          <a:prstGeom prst="rect">
            <a:avLst/>
          </a:prstGeom>
          <a:noFill/>
        </p:spPr>
        <p:txBody>
          <a:bodyPr wrap="square" lIns="45720" rIns="45720">
            <a:spAutoFit/>
          </a:bodyPr>
          <a:lstStyle/>
          <a:p>
            <a:pPr algn="l"/>
            <a:r>
              <a:rPr sz="1100" b="1">
                <a:solidFill>
                  <a:srgbClr val="E6EAF0"/>
                </a:solidFill>
                <a:latin typeface="Helvetica Neue"/>
              </a:rPr>
              <a:t>Recorded demo polish + final eval gate</a:t>
            </a:r>
          </a:p>
        </p:txBody>
      </p:sp>
      <p:sp>
        <p:nvSpPr>
          <p:cNvPr id="48" name="TextBox 47"/>
          <p:cNvSpPr txBox="1"/>
          <p:nvPr/>
        </p:nvSpPr>
        <p:spPr>
          <a:xfrm>
            <a:off x="2286000" y="7488936"/>
            <a:ext cx="9418320" cy="201168"/>
          </a:xfrm>
          <a:prstGeom prst="rect">
            <a:avLst/>
          </a:prstGeom>
          <a:noFill/>
        </p:spPr>
        <p:txBody>
          <a:bodyPr wrap="square" lIns="45720" rIns="45720">
            <a:spAutoFit/>
          </a:bodyPr>
          <a:lstStyle/>
          <a:p>
            <a:pPr algn="l"/>
            <a:r>
              <a:rPr sz="900" b="0">
                <a:solidFill>
                  <a:srgbClr val="8A95A5"/>
                </a:solidFill>
                <a:latin typeface="Helvetica Neue"/>
              </a:rPr>
              <a:t>•  Re-record any segments where the live system stuttered</a:t>
            </a:r>
          </a:p>
        </p:txBody>
      </p:sp>
      <p:sp>
        <p:nvSpPr>
          <p:cNvPr id="49" name="TextBox 48"/>
          <p:cNvSpPr txBox="1"/>
          <p:nvPr/>
        </p:nvSpPr>
        <p:spPr>
          <a:xfrm>
            <a:off x="2286000" y="7662672"/>
            <a:ext cx="9418320" cy="201168"/>
          </a:xfrm>
          <a:prstGeom prst="rect">
            <a:avLst/>
          </a:prstGeom>
          <a:noFill/>
        </p:spPr>
        <p:txBody>
          <a:bodyPr wrap="square" lIns="45720" rIns="45720">
            <a:spAutoFit/>
          </a:bodyPr>
          <a:lstStyle/>
          <a:p>
            <a:pPr algn="l"/>
            <a:r>
              <a:rPr sz="900" b="0">
                <a:solidFill>
                  <a:srgbClr val="8A95A5"/>
                </a:solidFill>
                <a:latin typeface="Helvetica Neue"/>
              </a:rPr>
              <a:t>•  Final eval suite run against v0.9 candidate; capture metrics for release notes</a:t>
            </a:r>
          </a:p>
        </p:txBody>
      </p:sp>
      <p:sp>
        <p:nvSpPr>
          <p:cNvPr id="50" name="TextBox 49"/>
          <p:cNvSpPr txBox="1"/>
          <p:nvPr/>
        </p:nvSpPr>
        <p:spPr>
          <a:xfrm>
            <a:off x="640080" y="7863840"/>
            <a:ext cx="1554480" cy="237744"/>
          </a:xfrm>
          <a:prstGeom prst="rect">
            <a:avLst/>
          </a:prstGeom>
          <a:noFill/>
        </p:spPr>
        <p:txBody>
          <a:bodyPr wrap="square" lIns="45720" rIns="45720">
            <a:spAutoFit/>
          </a:bodyPr>
          <a:lstStyle/>
          <a:p>
            <a:pPr algn="l"/>
            <a:r>
              <a:rPr sz="1100" b="1">
                <a:solidFill>
                  <a:srgbClr val="6EC1FF"/>
                </a:solidFill>
                <a:latin typeface="Helvetica Neue"/>
              </a:rPr>
              <a:t>Fri May 15</a:t>
            </a:r>
          </a:p>
        </p:txBody>
      </p:sp>
      <p:sp>
        <p:nvSpPr>
          <p:cNvPr id="51" name="TextBox 50"/>
          <p:cNvSpPr txBox="1"/>
          <p:nvPr/>
        </p:nvSpPr>
        <p:spPr>
          <a:xfrm>
            <a:off x="2286000" y="7863840"/>
            <a:ext cx="9418320" cy="237744"/>
          </a:xfrm>
          <a:prstGeom prst="rect">
            <a:avLst/>
          </a:prstGeom>
          <a:noFill/>
        </p:spPr>
        <p:txBody>
          <a:bodyPr wrap="square" lIns="45720" rIns="45720">
            <a:spAutoFit/>
          </a:bodyPr>
          <a:lstStyle/>
          <a:p>
            <a:pPr algn="l"/>
            <a:r>
              <a:rPr sz="1100" b="1">
                <a:solidFill>
                  <a:srgbClr val="E6EAF0"/>
                </a:solidFill>
                <a:latin typeface="Helvetica Neue"/>
              </a:rPr>
              <a:t>Release-day prep</a:t>
            </a:r>
          </a:p>
        </p:txBody>
      </p:sp>
      <p:sp>
        <p:nvSpPr>
          <p:cNvPr id="52" name="TextBox 51"/>
          <p:cNvSpPr txBox="1"/>
          <p:nvPr/>
        </p:nvSpPr>
        <p:spPr>
          <a:xfrm>
            <a:off x="2286000" y="8037576"/>
            <a:ext cx="9418320" cy="201168"/>
          </a:xfrm>
          <a:prstGeom prst="rect">
            <a:avLst/>
          </a:prstGeom>
          <a:noFill/>
        </p:spPr>
        <p:txBody>
          <a:bodyPr wrap="square" lIns="45720" rIns="45720">
            <a:spAutoFit/>
          </a:bodyPr>
          <a:lstStyle/>
          <a:p>
            <a:pPr algn="l"/>
            <a:r>
              <a:rPr sz="900" b="0">
                <a:solidFill>
                  <a:srgbClr val="8A95A5"/>
                </a:solidFill>
                <a:latin typeface="Helvetica Neue"/>
              </a:rPr>
              <a:t>•  v0.9 release-candidate tag; smoke test on clean machines</a:t>
            </a:r>
          </a:p>
        </p:txBody>
      </p:sp>
      <p:sp>
        <p:nvSpPr>
          <p:cNvPr id="53" name="TextBox 52"/>
          <p:cNvSpPr txBox="1"/>
          <p:nvPr/>
        </p:nvSpPr>
        <p:spPr>
          <a:xfrm>
            <a:off x="2286000" y="8211312"/>
            <a:ext cx="9418320" cy="201168"/>
          </a:xfrm>
          <a:prstGeom prst="rect">
            <a:avLst/>
          </a:prstGeom>
          <a:noFill/>
        </p:spPr>
        <p:txBody>
          <a:bodyPr wrap="square" lIns="45720" rIns="45720">
            <a:spAutoFit/>
          </a:bodyPr>
          <a:lstStyle/>
          <a:p>
            <a:pPr algn="l"/>
            <a:r>
              <a:rPr sz="900" b="0">
                <a:solidFill>
                  <a:srgbClr val="8A95A5"/>
                </a:solidFill>
                <a:latin typeface="Helvetica Neue"/>
              </a:rPr>
              <a:t>•  Operator runbook + provider-swap guide finalized</a:t>
            </a:r>
          </a:p>
        </p:txBody>
      </p:sp>
      <p:sp>
        <p:nvSpPr>
          <p:cNvPr id="54" name="TextBox 53"/>
          <p:cNvSpPr txBox="1"/>
          <p:nvPr/>
        </p:nvSpPr>
        <p:spPr>
          <a:xfrm>
            <a:off x="2286000" y="8385048"/>
            <a:ext cx="9418320" cy="201168"/>
          </a:xfrm>
          <a:prstGeom prst="rect">
            <a:avLst/>
          </a:prstGeom>
          <a:noFill/>
        </p:spPr>
        <p:txBody>
          <a:bodyPr wrap="square" lIns="45720" rIns="45720">
            <a:spAutoFit/>
          </a:bodyPr>
          <a:lstStyle/>
          <a:p>
            <a:pPr algn="l"/>
            <a:r>
              <a:rPr sz="900" b="0">
                <a:solidFill>
                  <a:srgbClr val="8A95A5"/>
                </a:solidFill>
                <a:latin typeface="Helvetica Neue"/>
              </a:rPr>
              <a:t>•  Final read-through of release notes</a:t>
            </a:r>
          </a:p>
        </p:txBody>
      </p:sp>
      <p:sp>
        <p:nvSpPr>
          <p:cNvPr id="55" name="TextBox 54"/>
          <p:cNvSpPr txBox="1"/>
          <p:nvPr/>
        </p:nvSpPr>
        <p:spPr>
          <a:xfrm>
            <a:off x="640080" y="8586216"/>
            <a:ext cx="1554480" cy="237744"/>
          </a:xfrm>
          <a:prstGeom prst="rect">
            <a:avLst/>
          </a:prstGeom>
          <a:noFill/>
        </p:spPr>
        <p:txBody>
          <a:bodyPr wrap="square" lIns="45720" rIns="45720">
            <a:spAutoFit/>
          </a:bodyPr>
          <a:lstStyle/>
          <a:p>
            <a:pPr algn="l"/>
            <a:r>
              <a:rPr sz="1100" b="1">
                <a:solidFill>
                  <a:srgbClr val="4AD09C"/>
                </a:solidFill>
                <a:latin typeface="Helvetica Neue"/>
              </a:rPr>
              <a:t>Sat May 16</a:t>
            </a:r>
          </a:p>
        </p:txBody>
      </p:sp>
      <p:sp>
        <p:nvSpPr>
          <p:cNvPr id="56" name="TextBox 55"/>
          <p:cNvSpPr txBox="1"/>
          <p:nvPr/>
        </p:nvSpPr>
        <p:spPr>
          <a:xfrm>
            <a:off x="2286000" y="8586216"/>
            <a:ext cx="9418320" cy="237744"/>
          </a:xfrm>
          <a:prstGeom prst="rect">
            <a:avLst/>
          </a:prstGeom>
          <a:noFill/>
        </p:spPr>
        <p:txBody>
          <a:bodyPr wrap="square" lIns="45720" rIns="45720">
            <a:spAutoFit/>
          </a:bodyPr>
          <a:lstStyle/>
          <a:p>
            <a:pPr algn="l"/>
            <a:r>
              <a:rPr sz="1100" b="1">
                <a:solidFill>
                  <a:srgbClr val="E6EAF0"/>
                </a:solidFill>
                <a:latin typeface="Helvetica Neue"/>
              </a:rPr>
              <a:t>v0.9 RELEASE</a:t>
            </a:r>
          </a:p>
        </p:txBody>
      </p:sp>
      <p:sp>
        <p:nvSpPr>
          <p:cNvPr id="57" name="TextBox 56"/>
          <p:cNvSpPr txBox="1"/>
          <p:nvPr/>
        </p:nvSpPr>
        <p:spPr>
          <a:xfrm>
            <a:off x="2286000" y="8759952"/>
            <a:ext cx="9418320" cy="201168"/>
          </a:xfrm>
          <a:prstGeom prst="rect">
            <a:avLst/>
          </a:prstGeom>
          <a:noFill/>
        </p:spPr>
        <p:txBody>
          <a:bodyPr wrap="square" lIns="45720" rIns="45720">
            <a:spAutoFit/>
          </a:bodyPr>
          <a:lstStyle/>
          <a:p>
            <a:pPr algn="l"/>
            <a:r>
              <a:rPr sz="900" b="0">
                <a:solidFill>
                  <a:srgbClr val="8A95A5"/>
                </a:solidFill>
                <a:latin typeface="Helvetica Neue"/>
              </a:rPr>
              <a:t>•  Tag v0.9 on main; push to GitHub Releases with recorded demo attached</a:t>
            </a:r>
          </a:p>
        </p:txBody>
      </p:sp>
      <p:sp>
        <p:nvSpPr>
          <p:cNvPr id="58" name="TextBox 57"/>
          <p:cNvSpPr txBox="1"/>
          <p:nvPr/>
        </p:nvSpPr>
        <p:spPr>
          <a:xfrm>
            <a:off x="2286000" y="8933688"/>
            <a:ext cx="9418320" cy="201168"/>
          </a:xfrm>
          <a:prstGeom prst="rect">
            <a:avLst/>
          </a:prstGeom>
          <a:noFill/>
        </p:spPr>
        <p:txBody>
          <a:bodyPr wrap="square" lIns="45720" rIns="45720">
            <a:spAutoFit/>
          </a:bodyPr>
          <a:lstStyle/>
          <a:p>
            <a:pPr algn="l"/>
            <a:r>
              <a:rPr sz="900" b="0">
                <a:solidFill>
                  <a:srgbClr val="8A95A5"/>
                </a:solidFill>
                <a:latin typeface="Helvetica Neue"/>
              </a:rPr>
              <a:t>•  Announce internally; client-facing summary distributed</a:t>
            </a:r>
          </a:p>
        </p:txBody>
      </p:sp>
      <p:sp>
        <p:nvSpPr>
          <p:cNvPr id="59" name="TextBox 58"/>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Plan · 11 working days + release</a:t>
            </a:r>
          </a:p>
        </p:txBody>
      </p:sp>
      <p:sp>
        <p:nvSpPr>
          <p:cNvPr id="60" name="TextBox 59"/>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May 1 holiday + weekends excluded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457200" y="320040"/>
            <a:ext cx="11247120" cy="640080"/>
          </a:xfrm>
          <a:prstGeom prst="rect">
            <a:avLst/>
          </a:prstGeom>
          <a:noFill/>
        </p:spPr>
        <p:txBody>
          <a:bodyPr wrap="square" lIns="45720" rIns="45720">
            <a:spAutoFit/>
          </a:bodyPr>
          <a:lstStyle/>
          <a:p>
            <a:pPr algn="l"/>
            <a:r>
              <a:rPr sz="3000" b="1">
                <a:solidFill>
                  <a:srgbClr val="6EC1FF"/>
                </a:solidFill>
                <a:latin typeface="Helvetica Neue"/>
              </a:rPr>
              <a:t>Risks &amp; how we'll handle them</a:t>
            </a:r>
          </a:p>
        </p:txBody>
      </p:sp>
      <p:sp>
        <p:nvSpPr>
          <p:cNvPr id="3" name="TextBox 2"/>
          <p:cNvSpPr txBox="1"/>
          <p:nvPr/>
        </p:nvSpPr>
        <p:spPr>
          <a:xfrm>
            <a:off x="457200" y="960120"/>
            <a:ext cx="11247120" cy="411480"/>
          </a:xfrm>
          <a:prstGeom prst="rect">
            <a:avLst/>
          </a:prstGeom>
          <a:noFill/>
        </p:spPr>
        <p:txBody>
          <a:bodyPr wrap="square" lIns="45720" rIns="45720">
            <a:spAutoFit/>
          </a:bodyPr>
          <a:lstStyle/>
          <a:p>
            <a:pPr algn="l"/>
            <a:r>
              <a:rPr sz="1400" b="0">
                <a:solidFill>
                  <a:srgbClr val="8A95A5"/>
                </a:solidFill>
                <a:latin typeface="Helvetica Neue"/>
              </a:rPr>
              <a:t>Known unknowns flagged early; fallbacks scoped into the plan</a:t>
            </a:r>
          </a:p>
        </p:txBody>
      </p:sp>
      <p:sp>
        <p:nvSpPr>
          <p:cNvPr id="4" name="Rounded Rectangle 3"/>
          <p:cNvSpPr/>
          <p:nvPr/>
        </p:nvSpPr>
        <p:spPr>
          <a:xfrm>
            <a:off x="457200" y="1463040"/>
            <a:ext cx="11247120" cy="493776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6" name="TextBox 5"/>
          <p:cNvSpPr txBox="1"/>
          <p:nvPr/>
        </p:nvSpPr>
        <p:spPr>
          <a:xfrm>
            <a:off x="1005840" y="1645920"/>
            <a:ext cx="10698480" cy="274320"/>
          </a:xfrm>
          <a:prstGeom prst="rect">
            <a:avLst/>
          </a:prstGeom>
          <a:noFill/>
        </p:spPr>
        <p:txBody>
          <a:bodyPr wrap="square" lIns="45720" rIns="45720">
            <a:spAutoFit/>
          </a:bodyPr>
          <a:lstStyle/>
          <a:p>
            <a:pPr algn="l"/>
            <a:r>
              <a:rPr sz="1400" b="1">
                <a:solidFill>
                  <a:srgbClr val="E6EAF0"/>
                </a:solidFill>
                <a:latin typeface="Helvetica Neue"/>
              </a:rPr>
              <a:t>Provider matrix surprises</a:t>
            </a:r>
          </a:p>
        </p:txBody>
      </p:sp>
      <p:sp>
        <p:nvSpPr>
          <p:cNvPr id="7" name="TextBox 6"/>
          <p:cNvSpPr txBox="1"/>
          <p:nvPr/>
        </p:nvSpPr>
        <p:spPr>
          <a:xfrm>
            <a:off x="1005840" y="1938528"/>
            <a:ext cx="10698480" cy="292608"/>
          </a:xfrm>
          <a:prstGeom prst="rect">
            <a:avLst/>
          </a:prstGeom>
          <a:noFill/>
        </p:spPr>
        <p:txBody>
          <a:bodyPr wrap="square" lIns="45720" rIns="45720">
            <a:spAutoFit/>
          </a:bodyPr>
          <a:lstStyle/>
          <a:p>
            <a:pPr algn="l"/>
            <a:r>
              <a:rPr sz="1100" b="0">
                <a:solidFill>
                  <a:srgbClr val="8A95A5"/>
                </a:solidFill>
                <a:latin typeface="Helvetica Neue"/>
              </a:rPr>
              <a:t>Risk: A new provider/consumer combination may need translator-layer fixes that take longer than a half-day.</a:t>
            </a:r>
          </a:p>
        </p:txBody>
      </p:sp>
      <p:sp>
        <p:nvSpPr>
          <p:cNvPr id="8" name="TextBox 7"/>
          <p:cNvSpPr txBox="1"/>
          <p:nvPr/>
        </p:nvSpPr>
        <p:spPr>
          <a:xfrm>
            <a:off x="1005840" y="2212848"/>
            <a:ext cx="10698480" cy="292608"/>
          </a:xfrm>
          <a:prstGeom prst="rect">
            <a:avLst/>
          </a:prstGeom>
          <a:noFill/>
        </p:spPr>
        <p:txBody>
          <a:bodyPr wrap="square" lIns="45720" rIns="45720">
            <a:spAutoFit/>
          </a:bodyPr>
          <a:lstStyle/>
          <a:p>
            <a:pPr algn="l"/>
            <a:r>
              <a:rPr sz="1100" b="0">
                <a:solidFill>
                  <a:srgbClr val="6EC1FF"/>
                </a:solidFill>
                <a:latin typeface="Helvetica Neue"/>
              </a:rPr>
              <a:t>Plan: Two-day budget covers worst case; OpenRouter's runtime probe absorbs edge cases automatically.</a:t>
            </a:r>
          </a:p>
        </p:txBody>
      </p:sp>
      <p:sp>
        <p:nvSpPr>
          <p:cNvPr id="9" name="TextBox 8"/>
          <p:cNvSpPr txBox="1"/>
          <p:nvPr/>
        </p:nvSpPr>
        <p:spPr>
          <a:xfrm>
            <a:off x="640080" y="2807208"/>
            <a:ext cx="274320" cy="274320"/>
          </a:xfrm>
          <a:prstGeom prst="rect">
            <a:avLst/>
          </a:prstGeom>
          <a:noFill/>
        </p:spPr>
        <p:txBody>
          <a:bodyPr wrap="square" lIns="45720" rIns="45720">
            <a:spAutoFit/>
          </a:bodyPr>
          <a:lstStyle/>
          <a:p>
            <a:pPr algn="l"/>
            <a:r>
              <a:rPr sz="2000" b="1">
                <a:solidFill>
                  <a:srgbClr val="F2B857"/>
                </a:solidFill>
                <a:latin typeface="Helvetica Neue"/>
              </a:rPr>
              <a:t>●</a:t>
            </a:r>
          </a:p>
        </p:txBody>
      </p:sp>
      <p:sp>
        <p:nvSpPr>
          <p:cNvPr id="10" name="TextBox 9"/>
          <p:cNvSpPr txBox="1"/>
          <p:nvPr/>
        </p:nvSpPr>
        <p:spPr>
          <a:xfrm>
            <a:off x="1005840" y="2807208"/>
            <a:ext cx="10698480" cy="274320"/>
          </a:xfrm>
          <a:prstGeom prst="rect">
            <a:avLst/>
          </a:prstGeom>
          <a:noFill/>
        </p:spPr>
        <p:txBody>
          <a:bodyPr wrap="square" lIns="45720" rIns="45720">
            <a:spAutoFit/>
          </a:bodyPr>
          <a:lstStyle/>
          <a:p>
            <a:pPr algn="l"/>
            <a:r>
              <a:rPr sz="1400" b="1">
                <a:solidFill>
                  <a:srgbClr val="E6EAF0"/>
                </a:solidFill>
                <a:latin typeface="Helvetica Neue"/>
              </a:rPr>
              <a:t>Leiden tuning quality</a:t>
            </a:r>
          </a:p>
        </p:txBody>
      </p:sp>
      <p:sp>
        <p:nvSpPr>
          <p:cNvPr id="11" name="TextBox 10"/>
          <p:cNvSpPr txBox="1"/>
          <p:nvPr/>
        </p:nvSpPr>
        <p:spPr>
          <a:xfrm>
            <a:off x="1005840" y="3099816"/>
            <a:ext cx="10698480" cy="292608"/>
          </a:xfrm>
          <a:prstGeom prst="rect">
            <a:avLst/>
          </a:prstGeom>
          <a:noFill/>
        </p:spPr>
        <p:txBody>
          <a:bodyPr wrap="square" lIns="45720" rIns="45720">
            <a:spAutoFit/>
          </a:bodyPr>
          <a:lstStyle/>
          <a:p>
            <a:pPr algn="l"/>
            <a:r>
              <a:rPr sz="1100" b="0">
                <a:solidFill>
                  <a:srgbClr val="8A95A5"/>
                </a:solidFill>
                <a:latin typeface="Helvetica Neue"/>
              </a:rPr>
              <a:t>Risk: Sub-cluster quality varies with affinity-matrix weights; may not converge cleanly on Day 3.</a:t>
            </a:r>
          </a:p>
        </p:txBody>
      </p:sp>
      <p:sp>
        <p:nvSpPr>
          <p:cNvPr id="12" name="TextBox 11"/>
          <p:cNvSpPr txBox="1"/>
          <p:nvPr/>
        </p:nvSpPr>
        <p:spPr>
          <a:xfrm>
            <a:off x="1005840" y="3374136"/>
            <a:ext cx="10698480" cy="292608"/>
          </a:xfrm>
          <a:prstGeom prst="rect">
            <a:avLst/>
          </a:prstGeom>
          <a:noFill/>
        </p:spPr>
        <p:txBody>
          <a:bodyPr wrap="square" lIns="45720" rIns="45720">
            <a:spAutoFit/>
          </a:bodyPr>
          <a:lstStyle/>
          <a:p>
            <a:pPr algn="l"/>
            <a:r>
              <a:rPr sz="1100" b="0">
                <a:solidFill>
                  <a:srgbClr val="6EC1FF"/>
                </a:solidFill>
                <a:latin typeface="Helvetica Neue"/>
              </a:rPr>
              <a:t>Plan: Static taxonomy stays as the v0.9 default; Leiden ships behind a feature flag if needed.</a:t>
            </a:r>
          </a:p>
        </p:txBody>
      </p:sp>
      <p:sp>
        <p:nvSpPr>
          <p:cNvPr id="13" name="TextBox 12"/>
          <p:cNvSpPr txBox="1"/>
          <p:nvPr/>
        </p:nvSpPr>
        <p:spPr>
          <a:xfrm>
            <a:off x="640080" y="3968496"/>
            <a:ext cx="274320" cy="274320"/>
          </a:xfrm>
          <a:prstGeom prst="rect">
            <a:avLst/>
          </a:prstGeom>
          <a:noFill/>
        </p:spPr>
        <p:txBody>
          <a:bodyPr wrap="square" lIns="45720" rIns="45720">
            <a:spAutoFit/>
          </a:bodyPr>
          <a:lstStyle/>
          <a:p>
            <a:pPr algn="l"/>
            <a:r>
              <a:rPr sz="2000" b="1">
                <a:solidFill>
                  <a:srgbClr val="E56B6B"/>
                </a:solidFill>
                <a:latin typeface="Helvetica Neue"/>
              </a:rPr>
              <a:t>●</a:t>
            </a:r>
          </a:p>
        </p:txBody>
      </p:sp>
      <p:sp>
        <p:nvSpPr>
          <p:cNvPr id="14" name="TextBox 13"/>
          <p:cNvSpPr txBox="1"/>
          <p:nvPr/>
        </p:nvSpPr>
        <p:spPr>
          <a:xfrm>
            <a:off x="1005840" y="3968496"/>
            <a:ext cx="10698480" cy="274320"/>
          </a:xfrm>
          <a:prstGeom prst="rect">
            <a:avLst/>
          </a:prstGeom>
          <a:noFill/>
        </p:spPr>
        <p:txBody>
          <a:bodyPr wrap="square" lIns="45720" rIns="45720">
            <a:spAutoFit/>
          </a:bodyPr>
          <a:lstStyle/>
          <a:p>
            <a:pPr algn="l"/>
            <a:r>
              <a:rPr sz="1400" b="1">
                <a:solidFill>
                  <a:srgbClr val="E6EAF0"/>
                </a:solidFill>
                <a:latin typeface="Helvetica Neue"/>
              </a:rPr>
              <a:t>Observability slippage</a:t>
            </a:r>
          </a:p>
        </p:txBody>
      </p:sp>
      <p:sp>
        <p:nvSpPr>
          <p:cNvPr id="15" name="TextBox 14"/>
          <p:cNvSpPr txBox="1"/>
          <p:nvPr/>
        </p:nvSpPr>
        <p:spPr>
          <a:xfrm>
            <a:off x="1005840" y="4261104"/>
            <a:ext cx="10698480" cy="292608"/>
          </a:xfrm>
          <a:prstGeom prst="rect">
            <a:avLst/>
          </a:prstGeom>
          <a:noFill/>
        </p:spPr>
        <p:txBody>
          <a:bodyPr wrap="square" lIns="45720" rIns="45720">
            <a:spAutoFit/>
          </a:bodyPr>
          <a:lstStyle/>
          <a:p>
            <a:pPr algn="l"/>
            <a:r>
              <a:rPr sz="1100" b="0">
                <a:solidFill>
                  <a:srgbClr val="8A95A5"/>
                </a:solidFill>
                <a:latin typeface="Helvetica Neue"/>
              </a:rPr>
              <a:t>Risk: OTel + Prometheus spans across 9 pipeline stages + 8 agent tools is non-trivial.</a:t>
            </a:r>
          </a:p>
        </p:txBody>
      </p:sp>
      <p:sp>
        <p:nvSpPr>
          <p:cNvPr id="16" name="TextBox 15"/>
          <p:cNvSpPr txBox="1"/>
          <p:nvPr/>
        </p:nvSpPr>
        <p:spPr>
          <a:xfrm>
            <a:off x="1005840" y="4535424"/>
            <a:ext cx="10698480" cy="292608"/>
          </a:xfrm>
          <a:prstGeom prst="rect">
            <a:avLst/>
          </a:prstGeom>
          <a:noFill/>
        </p:spPr>
        <p:txBody>
          <a:bodyPr wrap="square" lIns="45720" rIns="45720">
            <a:spAutoFit/>
          </a:bodyPr>
          <a:lstStyle/>
          <a:p>
            <a:pPr algn="l"/>
            <a:r>
              <a:rPr sz="1100" b="0">
                <a:solidFill>
                  <a:srgbClr val="6EC1FF"/>
                </a:solidFill>
                <a:latin typeface="Helvetica Neue"/>
              </a:rPr>
              <a:t>Plan: Stretch goal — slips to v0.10 cleanly. Logging is comprehensive today, so debug-ability holds.</a:t>
            </a:r>
          </a:p>
        </p:txBody>
      </p:sp>
      <p:sp>
        <p:nvSpPr>
          <p:cNvPr id="17" name="TextBox 16"/>
          <p:cNvSpPr txBox="1"/>
          <p:nvPr/>
        </p:nvSpPr>
        <p:spPr>
          <a:xfrm>
            <a:off x="640080" y="5129783"/>
            <a:ext cx="274320" cy="274320"/>
          </a:xfrm>
          <a:prstGeom prst="rect">
            <a:avLst/>
          </a:prstGeom>
          <a:noFill/>
        </p:spPr>
        <p:txBody>
          <a:bodyPr wrap="square" lIns="45720" rIns="45720">
            <a:spAutoFit/>
          </a:bodyPr>
          <a:lstStyle/>
          <a:p>
            <a:pPr algn="l"/>
            <a:r>
              <a:rPr sz="2000" b="1">
                <a:solidFill>
                  <a:srgbClr val="4AD09C"/>
                </a:solidFill>
                <a:latin typeface="Helvetica Neue"/>
              </a:rPr>
              <a:t>●</a:t>
            </a:r>
          </a:p>
        </p:txBody>
      </p:sp>
      <p:sp>
        <p:nvSpPr>
          <p:cNvPr id="18" name="TextBox 17"/>
          <p:cNvSpPr txBox="1"/>
          <p:nvPr/>
        </p:nvSpPr>
        <p:spPr>
          <a:xfrm>
            <a:off x="1005840" y="5129783"/>
            <a:ext cx="10698480" cy="274320"/>
          </a:xfrm>
          <a:prstGeom prst="rect">
            <a:avLst/>
          </a:prstGeom>
          <a:noFill/>
        </p:spPr>
        <p:txBody>
          <a:bodyPr wrap="square" lIns="45720" rIns="45720">
            <a:spAutoFit/>
          </a:bodyPr>
          <a:lstStyle/>
          <a:p>
            <a:pPr algn="l"/>
            <a:r>
              <a:rPr sz="1400" b="1">
                <a:solidFill>
                  <a:srgbClr val="E6EAF0"/>
                </a:solidFill>
                <a:latin typeface="Helvetica Neue"/>
              </a:rPr>
              <a:t>Live demo connectivity</a:t>
            </a:r>
          </a:p>
        </p:txBody>
      </p:sp>
      <p:sp>
        <p:nvSpPr>
          <p:cNvPr id="19" name="TextBox 18"/>
          <p:cNvSpPr txBox="1"/>
          <p:nvPr/>
        </p:nvSpPr>
        <p:spPr>
          <a:xfrm>
            <a:off x="1005840" y="5422392"/>
            <a:ext cx="10698480" cy="292608"/>
          </a:xfrm>
          <a:prstGeom prst="rect">
            <a:avLst/>
          </a:prstGeom>
          <a:noFill/>
        </p:spPr>
        <p:txBody>
          <a:bodyPr wrap="square" lIns="45720" rIns="45720">
            <a:spAutoFit/>
          </a:bodyPr>
          <a:lstStyle/>
          <a:p>
            <a:pPr algn="l"/>
            <a:r>
              <a:rPr sz="1100" b="0">
                <a:solidFill>
                  <a:srgbClr val="8A95A5"/>
                </a:solidFill>
                <a:latin typeface="Helvetica Neue"/>
              </a:rPr>
              <a:t>Risk: Live demos can stutter on conference Wi-Fi or provider rate limits.</a:t>
            </a:r>
          </a:p>
        </p:txBody>
      </p:sp>
      <p:sp>
        <p:nvSpPr>
          <p:cNvPr id="20" name="TextBox 19"/>
          <p:cNvSpPr txBox="1"/>
          <p:nvPr/>
        </p:nvSpPr>
        <p:spPr>
          <a:xfrm>
            <a:off x="1005840" y="5696712"/>
            <a:ext cx="10698480" cy="292608"/>
          </a:xfrm>
          <a:prstGeom prst="rect">
            <a:avLst/>
          </a:prstGeom>
          <a:noFill/>
        </p:spPr>
        <p:txBody>
          <a:bodyPr wrap="square" lIns="45720" rIns="45720">
            <a:spAutoFit/>
          </a:bodyPr>
          <a:lstStyle/>
          <a:p>
            <a:pPr algn="l"/>
            <a:r>
              <a:rPr sz="1100" b="0">
                <a:solidFill>
                  <a:srgbClr val="6EC1FF"/>
                </a:solidFill>
                <a:latin typeface="Helvetica Neue"/>
              </a:rPr>
              <a:t>Plan: Pre-record the full flow Wed May 13 + polish Thu May 14; live Q&amp;A only.</a:t>
            </a:r>
          </a:p>
        </p:txBody>
      </p:sp>
      <p:sp>
        <p:nvSpPr>
          <p:cNvPr id="21" name="TextBox 20"/>
          <p:cNvSpPr txBox="1"/>
          <p:nvPr/>
        </p:nvSpPr>
        <p:spPr>
          <a:xfrm>
            <a:off x="457200" y="6446520"/>
            <a:ext cx="7315200" cy="274320"/>
          </a:xfrm>
          <a:prstGeom prst="rect">
            <a:avLst/>
          </a:prstGeom>
          <a:noFill/>
        </p:spPr>
        <p:txBody>
          <a:bodyPr wrap="square" lIns="45720" rIns="45720">
            <a:spAutoFit/>
          </a:bodyPr>
          <a:lstStyle/>
          <a:p>
            <a:pPr algn="l"/>
            <a:r>
              <a:rPr sz="1000" b="0">
                <a:solidFill>
                  <a:srgbClr val="8A95A5"/>
                </a:solidFill>
                <a:latin typeface="Helvetica Neue"/>
              </a:rPr>
              <a:t>Risk register</a:t>
            </a:r>
          </a:p>
        </p:txBody>
      </p:sp>
      <p:sp>
        <p:nvSpPr>
          <p:cNvPr id="22" name="TextBox 21"/>
          <p:cNvSpPr txBox="1"/>
          <p:nvPr/>
        </p:nvSpPr>
        <p:spPr>
          <a:xfrm>
            <a:off x="7772400" y="6446520"/>
            <a:ext cx="3931920" cy="274320"/>
          </a:xfrm>
          <a:prstGeom prst="rect">
            <a:avLst/>
          </a:prstGeom>
          <a:noFill/>
        </p:spPr>
        <p:txBody>
          <a:bodyPr wrap="square" lIns="45720" rIns="45720">
            <a:spAutoFit/>
          </a:bodyPr>
          <a:lstStyle/>
          <a:p>
            <a:pPr algn="r"/>
            <a:r>
              <a:rPr sz="1000" b="0">
                <a:solidFill>
                  <a:srgbClr val="8A95A5"/>
                </a:solidFill>
                <a:latin typeface="Helvetica Neue"/>
              </a:rP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TextBox 1"/>
          <p:cNvSpPr txBox="1"/>
          <p:nvPr/>
        </p:nvSpPr>
        <p:spPr>
          <a:xfrm>
            <a:off x="731520" y="1280160"/>
            <a:ext cx="10698480" cy="548640"/>
          </a:xfrm>
          <a:prstGeom prst="rect">
            <a:avLst/>
          </a:prstGeom>
          <a:noFill/>
        </p:spPr>
        <p:txBody>
          <a:bodyPr wrap="square" lIns="45720" rIns="45720">
            <a:spAutoFit/>
          </a:bodyPr>
          <a:lstStyle/>
          <a:p>
            <a:pPr algn="l"/>
            <a:r>
              <a:rPr sz="2400" b="1">
                <a:solidFill>
                  <a:srgbClr val="6EC1FF"/>
                </a:solidFill>
                <a:latin typeface="Helvetica Neue"/>
              </a:rPr>
              <a:t>What you'll see at the May 16 demo</a:t>
            </a:r>
          </a:p>
        </p:txBody>
      </p:sp>
      <p:sp>
        <p:nvSpPr>
          <p:cNvPr id="3" name="Rounded Rectangle 2"/>
          <p:cNvSpPr/>
          <p:nvPr/>
        </p:nvSpPr>
        <p:spPr>
          <a:xfrm>
            <a:off x="457200" y="1920240"/>
            <a:ext cx="11247120" cy="4206240"/>
          </a:xfrm>
          <a:prstGeom prst="roundRect">
            <a:avLst/>
          </a:prstGeom>
          <a:solidFill>
            <a:srgbClr val="1A212A"/>
          </a:solidFill>
          <a:ln w="9525">
            <a:solidFill>
              <a:srgbClr val="2A3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57400"/>
            <a:ext cx="10881360" cy="4023360"/>
          </a:xfrm>
          <a:prstGeom prst="rect">
            <a:avLst/>
          </a:prstGeom>
          <a:noFill/>
        </p:spPr>
        <p:txBody>
          <a:bodyPr wrap="square">
            <a:spAutoFit/>
          </a:bodyPr>
          <a:lstStyle/>
          <a:p>
            <a:pPr algn="l">
              <a:spcAft>
                <a:spcPts val="400"/>
              </a:spcAft>
            </a:pPr>
            <a:r>
              <a:rPr sz="1300">
                <a:solidFill>
                  <a:srgbClr val="E6EAF0"/>
                </a:solidFill>
                <a:latin typeface="Helvetica Neue"/>
              </a:rPr>
              <a:t>• Connect any Ed-Fi-shaped database from a browser — no code, no config files</a:t>
            </a:r>
          </a:p>
          <a:p>
            <a:pPr algn="l">
              <a:spcAft>
                <a:spcPts val="400"/>
              </a:spcAft>
            </a:pPr>
            <a:r>
              <a:rPr sz="1300">
                <a:solidFill>
                  <a:srgbClr val="E6EAF0"/>
                </a:solidFill>
                <a:latin typeface="Helvetica Neue"/>
              </a:rPr>
              <a:t>• Ask plain-English questions and watch SQL + rows + chart + summary land in seconds</a:t>
            </a:r>
          </a:p>
          <a:p>
            <a:pPr algn="l">
              <a:spcAft>
                <a:spcPts val="400"/>
              </a:spcAft>
            </a:pPr>
            <a:r>
              <a:rPr sz="1300">
                <a:solidFill>
                  <a:srgbClr val="E6EAF0"/>
                </a:solidFill>
                <a:latin typeface="Helvetica Neue"/>
              </a:rPr>
              <a:t>• Hold a multi-turn conversation — follow-up questions reuse earlier context</a:t>
            </a:r>
          </a:p>
          <a:p>
            <a:pPr algn="l">
              <a:spcAft>
                <a:spcPts val="400"/>
              </a:spcAft>
            </a:pPr>
            <a:r>
              <a:rPr sz="1300">
                <a:solidFill>
                  <a:srgbClr val="E6EAF0"/>
                </a:solidFill>
                <a:latin typeface="Helvetica Neue"/>
              </a:rPr>
              <a:t>• Watch the agent stream tool calls live: classify → retrieve → resolve → run</a:t>
            </a:r>
          </a:p>
          <a:p>
            <a:pPr algn="l">
              <a:spcAft>
                <a:spcPts val="400"/>
              </a:spcAft>
            </a:pPr>
            <a:r>
              <a:rPr sz="1300">
                <a:solidFill>
                  <a:srgbClr val="E6EAF0"/>
                </a:solidFill>
                <a:latin typeface="Helvetica Neue"/>
              </a:rPr>
              <a:t>• See the SQL color-coded against the catalog with cited tables</a:t>
            </a:r>
          </a:p>
          <a:p>
            <a:pPr algn="l">
              <a:spcAft>
                <a:spcPts val="400"/>
              </a:spcAft>
            </a:pPr>
            <a:r>
              <a:rPr sz="1300">
                <a:solidFill>
                  <a:srgbClr val="E6EAF0"/>
                </a:solidFill>
                <a:latin typeface="Helvetica Neue"/>
              </a:rPr>
              <a:t>• Approve a query — and watch the platform get smarter for the next question like it</a:t>
            </a:r>
          </a:p>
          <a:p>
            <a:pPr algn="l">
              <a:spcAft>
                <a:spcPts val="400"/>
              </a:spcAft>
            </a:pPr>
            <a:r>
              <a:rPr sz="1300">
                <a:solidFill>
                  <a:srgbClr val="E6EAF0"/>
                </a:solidFill>
                <a:latin typeface="Helvetica Neue"/>
              </a:rPr>
              <a:t>• Switch from one database (or LLM provider) to another mid-session and see results refresh automatically</a:t>
            </a:r>
          </a:p>
          <a:p>
            <a:pPr algn="l">
              <a:spcAft>
                <a:spcPts val="400"/>
              </a:spcAft>
            </a:pPr>
            <a:r>
              <a:rPr sz="1300">
                <a:solidFill>
                  <a:srgbClr val="E6EAF0"/>
                </a:solidFill>
                <a:latin typeface="Helvetica Neue"/>
              </a:rPr>
              <a:t>• Open the Eval Dashboard to see how accuracy is trending across builds</a:t>
            </a:r>
          </a:p>
        </p:txBody>
      </p:sp>
      <p:sp>
        <p:nvSpPr>
          <p:cNvPr id="5" name="TextBox 4"/>
          <p:cNvSpPr txBox="1"/>
          <p:nvPr/>
        </p:nvSpPr>
        <p:spPr>
          <a:xfrm>
            <a:off x="457200" y="6263640"/>
            <a:ext cx="11247120" cy="365760"/>
          </a:xfrm>
          <a:prstGeom prst="rect">
            <a:avLst/>
          </a:prstGeom>
          <a:noFill/>
        </p:spPr>
        <p:txBody>
          <a:bodyPr wrap="square" lIns="45720" rIns="45720">
            <a:spAutoFit/>
          </a:bodyPr>
          <a:lstStyle/>
          <a:p>
            <a:pPr algn="ctr"/>
            <a:r>
              <a:rPr sz="1200" b="0">
                <a:solidFill>
                  <a:srgbClr val="8A95A5"/>
                </a:solidFill>
                <a:latin typeface="Helvetica Neue"/>
              </a:rPr>
              <a:t>Demo machine: clean Windows install · no prior setup · v0.9 tagged Sat May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