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room: this is a status update, not a final review. Only the auto-grouping (cluster-creation) piece is functionally complete today; the semantic schema and foreign-key graph have working scaffolding but are still being tuned, and the rest of the pipeline is in flight. Today I'll show what each piece does, what's actually complete vs. in progress, and the concrete plan to demo by Friday May 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in the user pain. Most Ed-Fi work today goes through a small handful of people who can write SQL against the model. We're widening that bottleneck — not by training more SQL writers but by automating the translation from English.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single slide is the headline. Cluster Creation is the only workstream that's functionally complete; the semantic schema and foreign-key graph have scaffolding but are still being tuned, and everything else is integration work in flight. That's why the 6-working-day plan is intentionally aggressive but bounded.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top-to-bottom. Cluster Creation is the only green row — the rest are working scaffolding being tuned and integrated. That's the honest read of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 Creation is the one workstream that's functionally complete: every Ed-Fi table lands in a cluster, clusters carry stable IDs across rebuilds, and the cluster manager UI consumes them. The rest of the deck is in-progress work that depends on this foundation.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clusters compress 1,048 tables into a structure the rest of the platform can search efficiently, and the IDs stay stable across rebuilds so analyst-facing artifacts (saved queries, dashboards, gold pairs) don't break when we re-cluster.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just gave the LLM 1,048 tables and asked it to pick, accuracy would collapse and cost would explode. The semantic layer is the search index that fixes that. Today: per-table profiles + embeddings work end-to-end on the demo DB; next 6 working days: tune coverage on the full 1,048-table model and harden the routing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1,048 tables has this kind of profile, captured at build time. The profile is then turned into a numerical fingerprint (an embedding) that the platform can match against any incoming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Two-stage search. Without it, accuracy on 1,048 tables drops below useful. With it, we routinely route to the correct 3–8 tables for an Ed-Fi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layer that turns 'plain English' into 'database-correct'. Without it, questions like 'last year', 'Grade 9', or 'free-and-reduced lunch' would never land on the right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semantic gives us 'these 5 tables', graph tells us 'this is the cheapest, most natural way to connect them'. Without it, even an LLM that knows Ed-Fi well would burn time guessing join paths. Today: shortest-path + Steiner-tree scaffolding running on the demo DB. Next 6 working days: tune weights on the full Ed-Fimodel and verify behavior on the unknown-table reflection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leave the room with: the graph is small (10 MB) and fast (millisecond responses), and the weighting biases it to keep joins inside the natural Ed-Fi boundaries — which is also what a senior analyst would do by hand.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dwell on KMB by name. The takeaway is: this is solved, fast, and we have fallbacks so the platform never freezes on an unusual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workstream produces a tangible thing the client can see at the demo. The order is dependency-driven: pipeline depends on graph + semantic; UI depends on pipeline; hardening goes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Reordered to match what's actually unfinished: the first two days finish the semantic and graph layers (the deck calls those 'in progress' for a reason), Mon lights up the end-to-end pipeline, Tue–Wed land validation + UI, Thu hardens, Fri is demo. No buffer — risks slide flags fallbacks if any one day slips.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not promising perfection by Friday. We are promising a working end-to-end demo on a clean machine, with the foundation already proven. The flagged security items are scoped fixes, not unknowns.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demo. The 7 specific things on this slide are what you'll watch. Each bullet is gated on a workstream above. We sequence them so even if Friday ends with the last item half-baked, the first six are still demo-ready.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920240"/>
            <a:ext cx="10698480" cy="914400"/>
          </a:xfrm>
          <a:prstGeom prst="rect">
            <a:avLst/>
          </a:prstGeom>
          <a:noFill/>
        </p:spPr>
        <p:txBody>
          <a:bodyPr wrap="square" lIns="45720" rIns="45720">
            <a:spAutoFit/>
          </a:bodyPr>
          <a:lstStyle/>
          <a:p>
            <a:pPr algn="l"/>
            <a:r>
              <a:rPr sz="4600" b="1">
                <a:solidFill>
                  <a:srgbClr val="6EC1FF"/>
                </a:solidFill>
                <a:latin typeface="Helvetica Neue"/>
              </a:rPr>
              <a:t>Ed-Fi Text-to-SQL</a:t>
            </a:r>
          </a:p>
        </p:txBody>
      </p:sp>
      <p:sp>
        <p:nvSpPr>
          <p:cNvPr id="3" name="TextBox 2"/>
          <p:cNvSpPr txBox="1"/>
          <p:nvPr/>
        </p:nvSpPr>
        <p:spPr>
          <a:xfrm>
            <a:off x="731520" y="2880360"/>
            <a:ext cx="10698480" cy="548640"/>
          </a:xfrm>
          <a:prstGeom prst="rect">
            <a:avLst/>
          </a:prstGeom>
          <a:noFill/>
        </p:spPr>
        <p:txBody>
          <a:bodyPr wrap="square" lIns="45720" rIns="45720">
            <a:spAutoFit/>
          </a:bodyPr>
          <a:lstStyle/>
          <a:p>
            <a:pPr algn="l"/>
            <a:r>
              <a:rPr sz="2200" b="0">
                <a:solidFill>
                  <a:srgbClr val="E6EAF0"/>
                </a:solidFill>
                <a:latin typeface="Helvetica Neue"/>
              </a:rPr>
              <a:t>Ask questions of your school data in plain English</a:t>
            </a:r>
          </a:p>
        </p:txBody>
      </p:sp>
      <p:sp>
        <p:nvSpPr>
          <p:cNvPr id="4" name="TextBox 3"/>
          <p:cNvSpPr txBox="1"/>
          <p:nvPr/>
        </p:nvSpPr>
        <p:spPr>
          <a:xfrm>
            <a:off x="731520" y="3520440"/>
            <a:ext cx="10698480" cy="457200"/>
          </a:xfrm>
          <a:prstGeom prst="rect">
            <a:avLst/>
          </a:prstGeom>
          <a:noFill/>
        </p:spPr>
        <p:txBody>
          <a:bodyPr wrap="square" lIns="45720" rIns="45720">
            <a:spAutoFit/>
          </a:bodyPr>
          <a:lstStyle/>
          <a:p>
            <a:pPr algn="l"/>
            <a:r>
              <a:rPr sz="1600" b="0">
                <a:solidFill>
                  <a:srgbClr val="8A95A5"/>
                </a:solidFill>
                <a:latin typeface="Helvetica Neue"/>
              </a:rPr>
              <a:t>Progress update — early foundation in place, most work still ahead</a:t>
            </a:r>
          </a:p>
        </p:txBody>
      </p:sp>
      <p:sp>
        <p:nvSpPr>
          <p:cNvPr id="5" name="TextBox 4"/>
          <p:cNvSpPr txBox="1"/>
          <p:nvPr/>
        </p:nvSpPr>
        <p:spPr>
          <a:xfrm>
            <a:off x="731520" y="6035040"/>
            <a:ext cx="10698480" cy="365760"/>
          </a:xfrm>
          <a:prstGeom prst="rect">
            <a:avLst/>
          </a:prstGeom>
          <a:noFill/>
        </p:spPr>
        <p:txBody>
          <a:bodyPr wrap="square" lIns="45720" rIns="45720">
            <a:spAutoFit/>
          </a:bodyPr>
          <a:lstStyle/>
          <a:p>
            <a:pPr algn="l"/>
            <a:r>
              <a:rPr sz="1300" b="0">
                <a:solidFill>
                  <a:srgbClr val="8A95A5"/>
                </a:solidFill>
                <a:latin typeface="Helvetica Neue"/>
              </a:rPr>
              <a:t>Apr 30, 2026  ·  client review  ·  target demo Fri May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The problem we're solving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An analyst asks a question. The platform answers with data.</a:t>
            </a:r>
          </a:p>
        </p:txBody>
      </p:sp>
      <p:sp>
        <p:nvSpPr>
          <p:cNvPr id="4" name="Rounded Rectangle 3"/>
          <p:cNvSpPr/>
          <p:nvPr/>
        </p:nvSpPr>
        <p:spPr>
          <a:xfrm>
            <a:off x="457200" y="1463040"/>
            <a:ext cx="11247120" cy="1920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881360" cy="365760"/>
          </a:xfrm>
          <a:prstGeom prst="rect">
            <a:avLst/>
          </a:prstGeom>
          <a:noFill/>
        </p:spPr>
        <p:txBody>
          <a:bodyPr wrap="square" lIns="45720" rIns="45720">
            <a:spAutoFit/>
          </a:bodyPr>
          <a:lstStyle/>
          <a:p>
            <a:pPr algn="l"/>
            <a:r>
              <a:rPr sz="1400" b="1">
                <a:solidFill>
                  <a:srgbClr val="F2B857"/>
                </a:solidFill>
                <a:latin typeface="Helvetica Neue"/>
              </a:rPr>
              <a:t>Today, in any Ed-Fi-shaped database</a:t>
            </a:r>
          </a:p>
        </p:txBody>
      </p:sp>
      <p:sp>
        <p:nvSpPr>
          <p:cNvPr id="6" name="TextBox 5"/>
          <p:cNvSpPr txBox="1"/>
          <p:nvPr/>
        </p:nvSpPr>
        <p:spPr>
          <a:xfrm>
            <a:off x="640080" y="1920240"/>
            <a:ext cx="10881360" cy="1463040"/>
          </a:xfrm>
          <a:prstGeom prst="rect">
            <a:avLst/>
          </a:prstGeom>
          <a:noFill/>
        </p:spPr>
        <p:txBody>
          <a:bodyPr wrap="square">
            <a:spAutoFit/>
          </a:bodyPr>
          <a:lstStyle/>
          <a:p>
            <a:pPr algn="l">
              <a:spcAft>
                <a:spcPts val="400"/>
              </a:spcAft>
            </a:pPr>
            <a:r>
              <a:rPr sz="1300">
                <a:solidFill>
                  <a:srgbClr val="E6EAF0"/>
                </a:solidFill>
                <a:latin typeface="Helvetica Neue"/>
              </a:rPr>
              <a:t>• 1,048 tables · ~10,000 columns · hundreds of foreign keys</a:t>
            </a:r>
          </a:p>
          <a:p>
            <a:pPr algn="l">
              <a:spcAft>
                <a:spcPts val="400"/>
              </a:spcAft>
            </a:pPr>
            <a:r>
              <a:rPr sz="1300">
                <a:solidFill>
                  <a:srgbClr val="E6EAF0"/>
                </a:solidFill>
                <a:latin typeface="Helvetica Neue"/>
              </a:rPr>
              <a:t>• An analyst with a question must (a) know which tables to join, (b) write the SQL, (c) execute it, (d) read it</a:t>
            </a:r>
          </a:p>
          <a:p>
            <a:pPr algn="l">
              <a:spcAft>
                <a:spcPts val="400"/>
              </a:spcAft>
            </a:pPr>
            <a:r>
              <a:rPr sz="1300">
                <a:solidFill>
                  <a:srgbClr val="E6EAF0"/>
                </a:solidFill>
                <a:latin typeface="Helvetica Neue"/>
              </a:rPr>
              <a:t>• End-to-end this is hours of work for a senior engineer — and impossible for a non-engineer</a:t>
            </a:r>
          </a:p>
        </p:txBody>
      </p:sp>
      <p:sp>
        <p:nvSpPr>
          <p:cNvPr id="7" name="Rounded Rectangle 6"/>
          <p:cNvSpPr/>
          <p:nvPr/>
        </p:nvSpPr>
        <p:spPr>
          <a:xfrm>
            <a:off x="457200" y="3566160"/>
            <a:ext cx="11247120" cy="2651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10881360" cy="365760"/>
          </a:xfrm>
          <a:prstGeom prst="rect">
            <a:avLst/>
          </a:prstGeom>
          <a:noFill/>
        </p:spPr>
        <p:txBody>
          <a:bodyPr wrap="square" lIns="45720" rIns="45720">
            <a:spAutoFit/>
          </a:bodyPr>
          <a:lstStyle/>
          <a:p>
            <a:pPr algn="l"/>
            <a:r>
              <a:rPr sz="1400" b="1">
                <a:solidFill>
                  <a:srgbClr val="4AD09C"/>
                </a:solidFill>
                <a:latin typeface="Helvetica Neue"/>
              </a:rPr>
              <a:t>What we're building</a:t>
            </a:r>
          </a:p>
        </p:txBody>
      </p:sp>
      <p:sp>
        <p:nvSpPr>
          <p:cNvPr id="9" name="TextBox 8"/>
          <p:cNvSpPr txBox="1"/>
          <p:nvPr/>
        </p:nvSpPr>
        <p:spPr>
          <a:xfrm>
            <a:off x="640080" y="4023360"/>
            <a:ext cx="10881360" cy="2194560"/>
          </a:xfrm>
          <a:prstGeom prst="rect">
            <a:avLst/>
          </a:prstGeom>
          <a:noFill/>
        </p:spPr>
        <p:txBody>
          <a:bodyPr wrap="square">
            <a:spAutoFit/>
          </a:bodyPr>
          <a:lstStyle/>
          <a:p>
            <a:pPr algn="l">
              <a:spcAft>
                <a:spcPts val="400"/>
              </a:spcAft>
            </a:pPr>
            <a:r>
              <a:rPr sz="1300">
                <a:solidFill>
                  <a:srgbClr val="E6EAF0"/>
                </a:solidFill>
                <a:latin typeface="Helvetica Neue"/>
              </a:rPr>
              <a:t>• Type a question in English  →  receive correct SQL, the rows it returns, a chart, and a written summary</a:t>
            </a:r>
          </a:p>
          <a:p>
            <a:pPr algn="l">
              <a:spcAft>
                <a:spcPts val="400"/>
              </a:spcAft>
            </a:pPr>
            <a:r>
              <a:rPr sz="1300">
                <a:solidFill>
                  <a:srgbClr val="E6EAF0"/>
                </a:solidFill>
                <a:latin typeface="Helvetica Neue"/>
              </a:rPr>
              <a:t>• Works on any Ed-Fi database (Postgres / MSSQL / SQLite) without changing the database itself</a:t>
            </a:r>
          </a:p>
          <a:p>
            <a:pPr algn="l">
              <a:spcAft>
                <a:spcPts val="400"/>
              </a:spcAft>
            </a:pPr>
            <a:r>
              <a:rPr sz="1300">
                <a:solidFill>
                  <a:srgbClr val="E6EAF0"/>
                </a:solidFill>
                <a:latin typeface="Helvetica Neue"/>
              </a:rPr>
              <a:t>• Cites the tables it used so an engineer can verify the answer in seconds</a:t>
            </a:r>
          </a:p>
          <a:p>
            <a:pPr algn="l">
              <a:spcAft>
                <a:spcPts val="400"/>
              </a:spcAft>
            </a:pPr>
            <a:r>
              <a:rPr sz="1300">
                <a:solidFill>
                  <a:srgbClr val="E6EAF0"/>
                </a:solidFill>
                <a:latin typeface="Helvetica Neue"/>
              </a:rPr>
              <a:t>• Learns from approved queries — the more it's used, the better it gets</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Why this project · Section 1</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Status: early foundation in place, most work in flight</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Cluster-creation is the only complete workstream today; everything else is in progress for the 6-day push to demo</a:t>
            </a:r>
          </a:p>
        </p:txBody>
      </p:sp>
      <p:sp>
        <p:nvSpPr>
          <p:cNvPr id="4" name="Rounded Rectangle 3"/>
          <p:cNvSpPr/>
          <p:nvPr/>
        </p:nvSpPr>
        <p:spPr>
          <a:xfrm>
            <a:off x="457200" y="1463040"/>
            <a:ext cx="1124712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00200"/>
            <a:ext cx="3657600" cy="292608"/>
          </a:xfrm>
          <a:prstGeom prst="rect">
            <a:avLst/>
          </a:prstGeom>
          <a:noFill/>
        </p:spPr>
        <p:txBody>
          <a:bodyPr wrap="square" lIns="45720" rIns="45720">
            <a:spAutoFit/>
          </a:bodyPr>
          <a:lstStyle/>
          <a:p>
            <a:pPr algn="l"/>
            <a:r>
              <a:rPr sz="1300" b="1">
                <a:solidFill>
                  <a:srgbClr val="E6EAF0"/>
                </a:solidFill>
                <a:latin typeface="Helvetica Neue"/>
              </a:rPr>
              <a:t>Cluster Creation</a:t>
            </a:r>
          </a:p>
        </p:txBody>
      </p:sp>
      <p:sp>
        <p:nvSpPr>
          <p:cNvPr id="6" name="Rounded Rectangle 5"/>
          <p:cNvSpPr/>
          <p:nvPr/>
        </p:nvSpPr>
        <p:spPr>
          <a:xfrm>
            <a:off x="4526280" y="1618488"/>
            <a:ext cx="109728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618488"/>
            <a:ext cx="109728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8" name="TextBox 7"/>
          <p:cNvSpPr txBox="1"/>
          <p:nvPr/>
        </p:nvSpPr>
        <p:spPr>
          <a:xfrm>
            <a:off x="5852160" y="1618488"/>
            <a:ext cx="5852160" cy="292608"/>
          </a:xfrm>
          <a:prstGeom prst="rect">
            <a:avLst/>
          </a:prstGeom>
          <a:noFill/>
        </p:spPr>
        <p:txBody>
          <a:bodyPr wrap="square" lIns="45720" rIns="45720">
            <a:spAutoFit/>
          </a:bodyPr>
          <a:lstStyle/>
          <a:p>
            <a:pPr algn="l"/>
            <a:r>
              <a:rPr sz="1100" b="0">
                <a:solidFill>
                  <a:srgbClr val="8A95A5"/>
                </a:solidFill>
                <a:latin typeface="Helvetica Neue"/>
              </a:rPr>
              <a:t>Auto-groups Ed-Fi tables into navigable clusters used by routing and the cluster manager.</a:t>
            </a:r>
          </a:p>
        </p:txBody>
      </p:sp>
      <p:sp>
        <p:nvSpPr>
          <p:cNvPr id="9" name="TextBox 8"/>
          <p:cNvSpPr txBox="1"/>
          <p:nvPr/>
        </p:nvSpPr>
        <p:spPr>
          <a:xfrm>
            <a:off x="731520" y="2167128"/>
            <a:ext cx="3657600" cy="292608"/>
          </a:xfrm>
          <a:prstGeom prst="rect">
            <a:avLst/>
          </a:prstGeom>
          <a:noFill/>
        </p:spPr>
        <p:txBody>
          <a:bodyPr wrap="square" lIns="45720" rIns="45720">
            <a:spAutoFit/>
          </a:bodyPr>
          <a:lstStyle/>
          <a:p>
            <a:pPr algn="l"/>
            <a:r>
              <a:rPr sz="1300" b="1">
                <a:solidFill>
                  <a:srgbClr val="E6EAF0"/>
                </a:solidFill>
                <a:latin typeface="Helvetica Neue"/>
              </a:rPr>
              <a:t>Foreign-Key Graph</a:t>
            </a:r>
          </a:p>
        </p:txBody>
      </p:sp>
      <p:sp>
        <p:nvSpPr>
          <p:cNvPr id="10" name="Rounded Rectangle 9"/>
          <p:cNvSpPr/>
          <p:nvPr/>
        </p:nvSpPr>
        <p:spPr>
          <a:xfrm>
            <a:off x="4526280" y="2185416"/>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185416"/>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12" name="TextBox 11"/>
          <p:cNvSpPr txBox="1"/>
          <p:nvPr/>
        </p:nvSpPr>
        <p:spPr>
          <a:xfrm>
            <a:off x="5852160" y="2185416"/>
            <a:ext cx="5852160" cy="292608"/>
          </a:xfrm>
          <a:prstGeom prst="rect">
            <a:avLst/>
          </a:prstGeom>
          <a:noFill/>
        </p:spPr>
        <p:txBody>
          <a:bodyPr wrap="square" lIns="45720" rIns="45720">
            <a:spAutoFit/>
          </a:bodyPr>
          <a:lstStyle/>
          <a:p>
            <a:pPr algn="l"/>
            <a:r>
              <a:rPr sz="1100" b="0">
                <a:solidFill>
                  <a:srgbClr val="8A95A5"/>
                </a:solidFill>
                <a:latin typeface="Helvetica Neue"/>
              </a:rPr>
              <a:t>Working scaffolding for join discovery; weights and edge cases still being tuned.</a:t>
            </a:r>
          </a:p>
        </p:txBody>
      </p:sp>
      <p:sp>
        <p:nvSpPr>
          <p:cNvPr id="13" name="TextBox 12"/>
          <p:cNvSpPr txBox="1"/>
          <p:nvPr/>
        </p:nvSpPr>
        <p:spPr>
          <a:xfrm>
            <a:off x="731520" y="2734056"/>
            <a:ext cx="3657600" cy="292608"/>
          </a:xfrm>
          <a:prstGeom prst="rect">
            <a:avLst/>
          </a:prstGeom>
          <a:noFill/>
        </p:spPr>
        <p:txBody>
          <a:bodyPr wrap="square" lIns="45720" rIns="45720">
            <a:spAutoFit/>
          </a:bodyPr>
          <a:lstStyle/>
          <a:p>
            <a:pPr algn="l"/>
            <a:r>
              <a:rPr sz="1300" b="1">
                <a:solidFill>
                  <a:srgbClr val="E6EAF0"/>
                </a:solidFill>
                <a:latin typeface="Helvetica Neue"/>
              </a:rPr>
              <a:t>Semantic Schema Layer</a:t>
            </a:r>
          </a:p>
        </p:txBody>
      </p:sp>
      <p:sp>
        <p:nvSpPr>
          <p:cNvPr id="14" name="Rounded Rectangle 13"/>
          <p:cNvSpPr/>
          <p:nvPr/>
        </p:nvSpPr>
        <p:spPr>
          <a:xfrm>
            <a:off x="4526280" y="2752344"/>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752344"/>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16" name="TextBox 15"/>
          <p:cNvSpPr txBox="1"/>
          <p:nvPr/>
        </p:nvSpPr>
        <p:spPr>
          <a:xfrm>
            <a:off x="5852160" y="2752344"/>
            <a:ext cx="5852160" cy="292608"/>
          </a:xfrm>
          <a:prstGeom prst="rect">
            <a:avLst/>
          </a:prstGeom>
          <a:noFill/>
        </p:spPr>
        <p:txBody>
          <a:bodyPr wrap="square" lIns="45720" rIns="45720">
            <a:spAutoFit/>
          </a:bodyPr>
          <a:lstStyle/>
          <a:p>
            <a:pPr algn="l"/>
            <a:r>
              <a:rPr sz="1100" b="0">
                <a:solidFill>
                  <a:srgbClr val="8A95A5"/>
                </a:solidFill>
                <a:latin typeface="Helvetica Neue"/>
              </a:rPr>
              <a:t>Per-table profiles + embeddings landing; coverage and accuracy tuning ongoing.</a:t>
            </a:r>
          </a:p>
        </p:txBody>
      </p:sp>
      <p:sp>
        <p:nvSpPr>
          <p:cNvPr id="17" name="TextBox 16"/>
          <p:cNvSpPr txBox="1"/>
          <p:nvPr/>
        </p:nvSpPr>
        <p:spPr>
          <a:xfrm>
            <a:off x="731520" y="3300984"/>
            <a:ext cx="3657600" cy="292608"/>
          </a:xfrm>
          <a:prstGeom prst="rect">
            <a:avLst/>
          </a:prstGeom>
          <a:noFill/>
        </p:spPr>
        <p:txBody>
          <a:bodyPr wrap="square" lIns="45720" rIns="45720">
            <a:spAutoFit/>
          </a:bodyPr>
          <a:lstStyle/>
          <a:p>
            <a:pPr algn="l"/>
            <a:r>
              <a:rPr sz="1300" b="1">
                <a:solidFill>
                  <a:srgbClr val="E6EAF0"/>
                </a:solidFill>
                <a:latin typeface="Helvetica Neue"/>
              </a:rPr>
              <a:t>Question → SQL pipeline</a:t>
            </a:r>
          </a:p>
        </p:txBody>
      </p:sp>
      <p:sp>
        <p:nvSpPr>
          <p:cNvPr id="18" name="Rounded Rectangle 17"/>
          <p:cNvSpPr/>
          <p:nvPr/>
        </p:nvSpPr>
        <p:spPr>
          <a:xfrm>
            <a:off x="4526280" y="3319272"/>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3319272"/>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0" name="TextBox 19"/>
          <p:cNvSpPr txBox="1"/>
          <p:nvPr/>
        </p:nvSpPr>
        <p:spPr>
          <a:xfrm>
            <a:off x="5852160" y="3319272"/>
            <a:ext cx="5852160" cy="292608"/>
          </a:xfrm>
          <a:prstGeom prst="rect">
            <a:avLst/>
          </a:prstGeom>
          <a:noFill/>
        </p:spPr>
        <p:txBody>
          <a:bodyPr wrap="square" lIns="45720" rIns="45720">
            <a:spAutoFit/>
          </a:bodyPr>
          <a:lstStyle/>
          <a:p>
            <a:pPr algn="l"/>
            <a:r>
              <a:rPr sz="1100" b="0">
                <a:solidFill>
                  <a:srgbClr val="8A95A5"/>
                </a:solidFill>
                <a:latin typeface="Helvetica Neue"/>
              </a:rPr>
              <a:t>Wire graph + semantics into a routed, validated SQL generator with auto-repair.</a:t>
            </a:r>
          </a:p>
        </p:txBody>
      </p:sp>
      <p:sp>
        <p:nvSpPr>
          <p:cNvPr id="21" name="TextBox 20"/>
          <p:cNvSpPr txBox="1"/>
          <p:nvPr/>
        </p:nvSpPr>
        <p:spPr>
          <a:xfrm>
            <a:off x="731520" y="3867912"/>
            <a:ext cx="3657600" cy="292608"/>
          </a:xfrm>
          <a:prstGeom prst="rect">
            <a:avLst/>
          </a:prstGeom>
          <a:noFill/>
        </p:spPr>
        <p:txBody>
          <a:bodyPr wrap="square" lIns="45720" rIns="45720">
            <a:spAutoFit/>
          </a:bodyPr>
          <a:lstStyle/>
          <a:p>
            <a:pPr algn="l"/>
            <a:r>
              <a:rPr sz="1300" b="1">
                <a:solidFill>
                  <a:srgbClr val="E6EAF0"/>
                </a:solidFill>
                <a:latin typeface="Helvetica Neue"/>
              </a:rPr>
              <a:t>Validation &amp; Repair</a:t>
            </a:r>
          </a:p>
        </p:txBody>
      </p:sp>
      <p:sp>
        <p:nvSpPr>
          <p:cNvPr id="22" name="Rounded Rectangle 21"/>
          <p:cNvSpPr/>
          <p:nvPr/>
        </p:nvSpPr>
        <p:spPr>
          <a:xfrm>
            <a:off x="4526280" y="3886200"/>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3886200"/>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4" name="TextBox 23"/>
          <p:cNvSpPr txBox="1"/>
          <p:nvPr/>
        </p:nvSpPr>
        <p:spPr>
          <a:xfrm>
            <a:off x="5852160" y="3886200"/>
            <a:ext cx="5852160" cy="292608"/>
          </a:xfrm>
          <a:prstGeom prst="rect">
            <a:avLst/>
          </a:prstGeom>
          <a:noFill/>
        </p:spPr>
        <p:txBody>
          <a:bodyPr wrap="square" lIns="45720" rIns="45720">
            <a:spAutoFit/>
          </a:bodyPr>
          <a:lstStyle/>
          <a:p>
            <a:pPr algn="l"/>
            <a:r>
              <a:rPr sz="1100" b="0">
                <a:solidFill>
                  <a:srgbClr val="8A95A5"/>
                </a:solidFill>
                <a:latin typeface="Helvetica Neue"/>
              </a:rPr>
              <a:t>Catch bad SQL before execution; auto-fix the common failure modes.</a:t>
            </a:r>
          </a:p>
        </p:txBody>
      </p:sp>
      <p:sp>
        <p:nvSpPr>
          <p:cNvPr id="25" name="TextBox 24"/>
          <p:cNvSpPr txBox="1"/>
          <p:nvPr/>
        </p:nvSpPr>
        <p:spPr>
          <a:xfrm>
            <a:off x="731520" y="4434840"/>
            <a:ext cx="3657600" cy="292608"/>
          </a:xfrm>
          <a:prstGeom prst="rect">
            <a:avLst/>
          </a:prstGeom>
          <a:noFill/>
        </p:spPr>
        <p:txBody>
          <a:bodyPr wrap="square" lIns="45720" rIns="45720">
            <a:spAutoFit/>
          </a:bodyPr>
          <a:lstStyle/>
          <a:p>
            <a:pPr algn="l"/>
            <a:r>
              <a:rPr sz="1300" b="1">
                <a:solidFill>
                  <a:srgbClr val="E6EAF0"/>
                </a:solidFill>
                <a:latin typeface="Helvetica Neue"/>
              </a:rPr>
              <a:t>Charts &amp; Descriptions</a:t>
            </a:r>
          </a:p>
        </p:txBody>
      </p:sp>
      <p:sp>
        <p:nvSpPr>
          <p:cNvPr id="26" name="Rounded Rectangle 25"/>
          <p:cNvSpPr/>
          <p:nvPr/>
        </p:nvSpPr>
        <p:spPr>
          <a:xfrm>
            <a:off x="4526280" y="4453128"/>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4453128"/>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8" name="TextBox 27"/>
          <p:cNvSpPr txBox="1"/>
          <p:nvPr/>
        </p:nvSpPr>
        <p:spPr>
          <a:xfrm>
            <a:off x="5852160" y="4453128"/>
            <a:ext cx="5852160" cy="292608"/>
          </a:xfrm>
          <a:prstGeom prst="rect">
            <a:avLst/>
          </a:prstGeom>
          <a:noFill/>
        </p:spPr>
        <p:txBody>
          <a:bodyPr wrap="square" lIns="45720" rIns="45720">
            <a:spAutoFit/>
          </a:bodyPr>
          <a:lstStyle/>
          <a:p>
            <a:pPr algn="l"/>
            <a:r>
              <a:rPr sz="1100" b="0">
                <a:solidFill>
                  <a:srgbClr val="8A95A5"/>
                </a:solidFill>
                <a:latin typeface="Helvetica Neue"/>
              </a:rPr>
              <a:t>Pick the right visualization automatically; explain the answer in English.</a:t>
            </a:r>
          </a:p>
        </p:txBody>
      </p:sp>
      <p:sp>
        <p:nvSpPr>
          <p:cNvPr id="29" name="TextBox 28"/>
          <p:cNvSpPr txBox="1"/>
          <p:nvPr/>
        </p:nvSpPr>
        <p:spPr>
          <a:xfrm>
            <a:off x="731520" y="5001768"/>
            <a:ext cx="3657600" cy="292608"/>
          </a:xfrm>
          <a:prstGeom prst="rect">
            <a:avLst/>
          </a:prstGeom>
          <a:noFill/>
        </p:spPr>
        <p:txBody>
          <a:bodyPr wrap="square" lIns="45720" rIns="45720">
            <a:spAutoFit/>
          </a:bodyPr>
          <a:lstStyle/>
          <a:p>
            <a:pPr algn="l"/>
            <a:r>
              <a:rPr sz="1300" b="1">
                <a:solidFill>
                  <a:srgbClr val="E6EAF0"/>
                </a:solidFill>
                <a:latin typeface="Helvetica Neue"/>
              </a:rPr>
              <a:t>Web UI · Settings · Eval</a:t>
            </a:r>
          </a:p>
        </p:txBody>
      </p:sp>
      <p:sp>
        <p:nvSpPr>
          <p:cNvPr id="30" name="Rounded Rectangle 29"/>
          <p:cNvSpPr/>
          <p:nvPr/>
        </p:nvSpPr>
        <p:spPr>
          <a:xfrm>
            <a:off x="4526280" y="5020056"/>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5020056"/>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32" name="TextBox 31"/>
          <p:cNvSpPr txBox="1"/>
          <p:nvPr/>
        </p:nvSpPr>
        <p:spPr>
          <a:xfrm>
            <a:off x="5852160" y="5020056"/>
            <a:ext cx="5852160" cy="292608"/>
          </a:xfrm>
          <a:prstGeom prst="rect">
            <a:avLst/>
          </a:prstGeom>
          <a:noFill/>
        </p:spPr>
        <p:txBody>
          <a:bodyPr wrap="square" lIns="45720" rIns="45720">
            <a:spAutoFit/>
          </a:bodyPr>
          <a:lstStyle/>
          <a:p>
            <a:pPr algn="l"/>
            <a:r>
              <a:rPr sz="1100" b="0">
                <a:solidFill>
                  <a:srgbClr val="8A95A5"/>
                </a:solidFill>
                <a:latin typeface="Helvetica Neue"/>
              </a:rPr>
              <a:t>Browser experience, operator controls, accuracy dashboards.</a:t>
            </a:r>
          </a:p>
        </p:txBody>
      </p:sp>
      <p:sp>
        <p:nvSpPr>
          <p:cNvPr id="33" name="TextBox 32"/>
          <p:cNvSpPr txBox="1"/>
          <p:nvPr/>
        </p:nvSpPr>
        <p:spPr>
          <a:xfrm>
            <a:off x="731520" y="5568696"/>
            <a:ext cx="3657600" cy="292608"/>
          </a:xfrm>
          <a:prstGeom prst="rect">
            <a:avLst/>
          </a:prstGeom>
          <a:noFill/>
        </p:spPr>
        <p:txBody>
          <a:bodyPr wrap="square" lIns="45720" rIns="45720">
            <a:spAutoFit/>
          </a:bodyPr>
          <a:lstStyle/>
          <a:p>
            <a:pPr algn="l"/>
            <a:r>
              <a:rPr sz="1300" b="1">
                <a:solidFill>
                  <a:srgbClr val="E6EAF0"/>
                </a:solidFill>
                <a:latin typeface="Helvetica Neue"/>
              </a:rPr>
              <a:t>Hardening &amp; Demo</a:t>
            </a:r>
          </a:p>
        </p:txBody>
      </p:sp>
      <p:sp>
        <p:nvSpPr>
          <p:cNvPr id="34" name="Rounded Rectangle 33"/>
          <p:cNvSpPr/>
          <p:nvPr/>
        </p:nvSpPr>
        <p:spPr>
          <a:xfrm>
            <a:off x="4526280" y="5586984"/>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26280" y="5586984"/>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36" name="TextBox 35"/>
          <p:cNvSpPr txBox="1"/>
          <p:nvPr/>
        </p:nvSpPr>
        <p:spPr>
          <a:xfrm>
            <a:off x="5852160" y="5586984"/>
            <a:ext cx="5852160" cy="292608"/>
          </a:xfrm>
          <a:prstGeom prst="rect">
            <a:avLst/>
          </a:prstGeom>
          <a:noFill/>
        </p:spPr>
        <p:txBody>
          <a:bodyPr wrap="square" lIns="45720" rIns="45720">
            <a:spAutoFit/>
          </a:bodyPr>
          <a:lstStyle/>
          <a:p>
            <a:pPr algn="l"/>
            <a:r>
              <a:rPr sz="1100" b="0">
                <a:solidFill>
                  <a:srgbClr val="8A95A5"/>
                </a:solidFill>
                <a:latin typeface="Helvetica Neue"/>
              </a:rPr>
              <a:t>Multi-provider polish, observability, recorded demo on a clean machine.</a:t>
            </a:r>
          </a:p>
        </p:txBody>
      </p:sp>
      <p:sp>
        <p:nvSpPr>
          <p:cNvPr id="37" name="TextBox 3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Status snapshot</a:t>
            </a:r>
          </a:p>
        </p:txBody>
      </p:sp>
      <p:sp>
        <p:nvSpPr>
          <p:cNvPr id="38" name="TextBox 3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1 of 8 complete · 6 working days to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The big picture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How a question becomes an answer · two layers carry it</a:t>
            </a:r>
          </a:p>
        </p:txBody>
      </p:sp>
      <p:sp>
        <p:nvSpPr>
          <p:cNvPr id="4" name="Rounded Rectangle 3"/>
          <p:cNvSpPr/>
          <p:nvPr/>
        </p:nvSpPr>
        <p:spPr>
          <a:xfrm>
            <a:off x="457200" y="128016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2468880" cy="365760"/>
          </a:xfrm>
          <a:prstGeom prst="rect">
            <a:avLst/>
          </a:prstGeom>
          <a:noFill/>
        </p:spPr>
        <p:txBody>
          <a:bodyPr wrap="square" lIns="45720" rIns="45720">
            <a:spAutoFit/>
          </a:bodyPr>
          <a:lstStyle/>
          <a:p>
            <a:pPr algn="l"/>
            <a:r>
              <a:rPr sz="1300" b="1">
                <a:solidFill>
                  <a:srgbClr val="8A95A5"/>
                </a:solidFill>
                <a:latin typeface="Helvetica Neue"/>
              </a:rPr>
              <a:t>Question</a:t>
            </a:r>
          </a:p>
        </p:txBody>
      </p:sp>
      <p:sp>
        <p:nvSpPr>
          <p:cNvPr id="6" name="TextBox 5"/>
          <p:cNvSpPr txBox="1"/>
          <p:nvPr/>
        </p:nvSpPr>
        <p:spPr>
          <a:xfrm>
            <a:off x="3108960" y="1353312"/>
            <a:ext cx="8412480" cy="365760"/>
          </a:xfrm>
          <a:prstGeom prst="rect">
            <a:avLst/>
          </a:prstGeom>
          <a:noFill/>
        </p:spPr>
        <p:txBody>
          <a:bodyPr wrap="square" lIns="45720" rIns="45720">
            <a:spAutoFit/>
          </a:bodyPr>
          <a:lstStyle/>
          <a:p>
            <a:pPr algn="l"/>
            <a:r>
              <a:rPr sz="1100" b="0">
                <a:solidFill>
                  <a:srgbClr val="E6EAF0"/>
                </a:solidFill>
                <a:latin typeface="Helvetica Neue"/>
              </a:rPr>
              <a:t>• Analyst types: 'How many Hispanic students enrolled in Grade 9 last year?'</a:t>
            </a:r>
          </a:p>
        </p:txBody>
      </p:sp>
      <p:sp>
        <p:nvSpPr>
          <p:cNvPr id="7" name="Rounded Rectangle 6"/>
          <p:cNvSpPr/>
          <p:nvPr/>
        </p:nvSpPr>
        <p:spPr>
          <a:xfrm>
            <a:off x="457200" y="2148839"/>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40279"/>
            <a:ext cx="2468880" cy="365760"/>
          </a:xfrm>
          <a:prstGeom prst="rect">
            <a:avLst/>
          </a:prstGeom>
          <a:noFill/>
        </p:spPr>
        <p:txBody>
          <a:bodyPr wrap="square" lIns="45720" rIns="45720">
            <a:spAutoFit/>
          </a:bodyPr>
          <a:lstStyle/>
          <a:p>
            <a:pPr algn="l"/>
            <a:r>
              <a:rPr sz="1300" b="1">
                <a:solidFill>
                  <a:srgbClr val="4AD09C"/>
                </a:solidFill>
                <a:latin typeface="Helvetica Neue"/>
              </a:rPr>
              <a:t>Cluster Creation</a:t>
            </a:r>
          </a:p>
        </p:txBody>
      </p:sp>
      <p:sp>
        <p:nvSpPr>
          <p:cNvPr id="9" name="TextBox 8"/>
          <p:cNvSpPr txBox="1"/>
          <p:nvPr/>
        </p:nvSpPr>
        <p:spPr>
          <a:xfrm>
            <a:off x="3108960" y="2221991"/>
            <a:ext cx="8412480" cy="365760"/>
          </a:xfrm>
          <a:prstGeom prst="rect">
            <a:avLst/>
          </a:prstGeom>
          <a:noFill/>
        </p:spPr>
        <p:txBody>
          <a:bodyPr wrap="square" lIns="45720" rIns="45720">
            <a:spAutoFit/>
          </a:bodyPr>
          <a:lstStyle/>
          <a:p>
            <a:pPr algn="l"/>
            <a:r>
              <a:rPr sz="1100" b="0">
                <a:solidFill>
                  <a:srgbClr val="E6EAF0"/>
                </a:solidFill>
                <a:latin typeface="Helvetica Neue"/>
              </a:rPr>
              <a:t>• Auto-groups Ed-Fi tables into navigable clusters</a:t>
            </a:r>
          </a:p>
        </p:txBody>
      </p:sp>
      <p:sp>
        <p:nvSpPr>
          <p:cNvPr id="10" name="TextBox 9"/>
          <p:cNvSpPr txBox="1"/>
          <p:nvPr/>
        </p:nvSpPr>
        <p:spPr>
          <a:xfrm>
            <a:off x="3108960" y="2496311"/>
            <a:ext cx="8412480" cy="365760"/>
          </a:xfrm>
          <a:prstGeom prst="rect">
            <a:avLst/>
          </a:prstGeom>
          <a:noFill/>
        </p:spPr>
        <p:txBody>
          <a:bodyPr wrap="square" lIns="45720" rIns="45720">
            <a:spAutoFit/>
          </a:bodyPr>
          <a:lstStyle/>
          <a:p>
            <a:pPr algn="l"/>
            <a:r>
              <a:rPr sz="1100" b="0">
                <a:solidFill>
                  <a:srgbClr val="E6EAF0"/>
                </a:solidFill>
                <a:latin typeface="Helvetica Neue"/>
              </a:rPr>
              <a:t>• Provides the routing buckets the next layers search inside</a:t>
            </a:r>
          </a:p>
        </p:txBody>
      </p:sp>
      <p:sp>
        <p:nvSpPr>
          <p:cNvPr id="11" name="Rounded Rectangle 10"/>
          <p:cNvSpPr/>
          <p:nvPr/>
        </p:nvSpPr>
        <p:spPr>
          <a:xfrm>
            <a:off x="457200" y="301752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08960"/>
            <a:ext cx="2468880" cy="365760"/>
          </a:xfrm>
          <a:prstGeom prst="rect">
            <a:avLst/>
          </a:prstGeom>
          <a:noFill/>
        </p:spPr>
        <p:txBody>
          <a:bodyPr wrap="square" lIns="45720" rIns="45720">
            <a:spAutoFit/>
          </a:bodyPr>
          <a:lstStyle/>
          <a:p>
            <a:pPr algn="l"/>
            <a:r>
              <a:rPr sz="1300" b="1">
                <a:solidFill>
                  <a:srgbClr val="F2B857"/>
                </a:solidFill>
                <a:latin typeface="Helvetica Neue"/>
              </a:rPr>
              <a:t>Semantic Schema</a:t>
            </a:r>
          </a:p>
        </p:txBody>
      </p:sp>
      <p:sp>
        <p:nvSpPr>
          <p:cNvPr id="13" name="TextBox 12"/>
          <p:cNvSpPr txBox="1"/>
          <p:nvPr/>
        </p:nvSpPr>
        <p:spPr>
          <a:xfrm>
            <a:off x="3108960" y="3090672"/>
            <a:ext cx="8412480" cy="365760"/>
          </a:xfrm>
          <a:prstGeom prst="rect">
            <a:avLst/>
          </a:prstGeom>
          <a:noFill/>
        </p:spPr>
        <p:txBody>
          <a:bodyPr wrap="square" lIns="45720" rIns="45720">
            <a:spAutoFit/>
          </a:bodyPr>
          <a:lstStyle/>
          <a:p>
            <a:pPr algn="l"/>
            <a:r>
              <a:rPr sz="1100" b="0">
                <a:solidFill>
                  <a:srgbClr val="E6EAF0"/>
                </a:solidFill>
                <a:latin typeface="Helvetica Neue"/>
              </a:rPr>
              <a:t>• Finds the small set of tables that matter — out of 1,048</a:t>
            </a:r>
          </a:p>
        </p:txBody>
      </p:sp>
      <p:sp>
        <p:nvSpPr>
          <p:cNvPr id="14" name="TextBox 13"/>
          <p:cNvSpPr txBox="1"/>
          <p:nvPr/>
        </p:nvSpPr>
        <p:spPr>
          <a:xfrm>
            <a:off x="3108960" y="3364991"/>
            <a:ext cx="8412480" cy="365760"/>
          </a:xfrm>
          <a:prstGeom prst="rect">
            <a:avLst/>
          </a:prstGeom>
          <a:noFill/>
        </p:spPr>
        <p:txBody>
          <a:bodyPr wrap="square" lIns="45720" rIns="45720">
            <a:spAutoFit/>
          </a:bodyPr>
          <a:lstStyle/>
          <a:p>
            <a:pPr algn="l"/>
            <a:r>
              <a:rPr sz="1100" b="0">
                <a:solidFill>
                  <a:srgbClr val="E6EAF0"/>
                </a:solidFill>
                <a:latin typeface="Helvetica Neue"/>
              </a:rPr>
              <a:t>• Resolves real-world terms (e.g. 'Hispanic') to the right code in the right table</a:t>
            </a:r>
          </a:p>
        </p:txBody>
      </p:sp>
      <p:sp>
        <p:nvSpPr>
          <p:cNvPr id="15" name="Rounded Rectangle 14"/>
          <p:cNvSpPr/>
          <p:nvPr/>
        </p:nvSpPr>
        <p:spPr>
          <a:xfrm>
            <a:off x="457200" y="388620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77639"/>
            <a:ext cx="2468880" cy="365760"/>
          </a:xfrm>
          <a:prstGeom prst="rect">
            <a:avLst/>
          </a:prstGeom>
          <a:noFill/>
        </p:spPr>
        <p:txBody>
          <a:bodyPr wrap="square" lIns="45720" rIns="45720">
            <a:spAutoFit/>
          </a:bodyPr>
          <a:lstStyle/>
          <a:p>
            <a:pPr algn="l"/>
            <a:r>
              <a:rPr sz="1300" b="1">
                <a:solidFill>
                  <a:srgbClr val="F2B857"/>
                </a:solidFill>
                <a:latin typeface="Helvetica Neue"/>
              </a:rPr>
              <a:t>Foreign-Key Graph</a:t>
            </a:r>
          </a:p>
        </p:txBody>
      </p:sp>
      <p:sp>
        <p:nvSpPr>
          <p:cNvPr id="17" name="TextBox 16"/>
          <p:cNvSpPr txBox="1"/>
          <p:nvPr/>
        </p:nvSpPr>
        <p:spPr>
          <a:xfrm>
            <a:off x="3108960" y="3959352"/>
            <a:ext cx="8412480" cy="365760"/>
          </a:xfrm>
          <a:prstGeom prst="rect">
            <a:avLst/>
          </a:prstGeom>
          <a:noFill/>
        </p:spPr>
        <p:txBody>
          <a:bodyPr wrap="square" lIns="45720" rIns="45720">
            <a:spAutoFit/>
          </a:bodyPr>
          <a:lstStyle/>
          <a:p>
            <a:pPr algn="l"/>
            <a:r>
              <a:rPr sz="1100" b="0">
                <a:solidFill>
                  <a:srgbClr val="E6EAF0"/>
                </a:solidFill>
                <a:latin typeface="Helvetica Neue"/>
              </a:rPr>
              <a:t>• Computes the cheapest join path between those tables</a:t>
            </a:r>
          </a:p>
        </p:txBody>
      </p:sp>
      <p:sp>
        <p:nvSpPr>
          <p:cNvPr id="18" name="TextBox 17"/>
          <p:cNvSpPr txBox="1"/>
          <p:nvPr/>
        </p:nvSpPr>
        <p:spPr>
          <a:xfrm>
            <a:off x="3108960" y="4233672"/>
            <a:ext cx="8412480" cy="365760"/>
          </a:xfrm>
          <a:prstGeom prst="rect">
            <a:avLst/>
          </a:prstGeom>
          <a:noFill/>
        </p:spPr>
        <p:txBody>
          <a:bodyPr wrap="square" lIns="45720" rIns="45720">
            <a:spAutoFit/>
          </a:bodyPr>
          <a:lstStyle/>
          <a:p>
            <a:pPr algn="l"/>
            <a:r>
              <a:rPr sz="1100" b="0">
                <a:solidFill>
                  <a:srgbClr val="E6EAF0"/>
                </a:solidFill>
                <a:latin typeface="Helvetica Neue"/>
              </a:rPr>
              <a:t>• Hands the SQL generator ready-to-use JOIN clauses</a:t>
            </a:r>
          </a:p>
        </p:txBody>
      </p:sp>
      <p:sp>
        <p:nvSpPr>
          <p:cNvPr id="19" name="Rounded Rectangle 18"/>
          <p:cNvSpPr/>
          <p:nvPr/>
        </p:nvSpPr>
        <p:spPr>
          <a:xfrm>
            <a:off x="457200" y="475488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846320"/>
            <a:ext cx="2468880" cy="365760"/>
          </a:xfrm>
          <a:prstGeom prst="rect">
            <a:avLst/>
          </a:prstGeom>
          <a:noFill/>
        </p:spPr>
        <p:txBody>
          <a:bodyPr wrap="square" lIns="45720" rIns="45720">
            <a:spAutoFit/>
          </a:bodyPr>
          <a:lstStyle/>
          <a:p>
            <a:pPr algn="l"/>
            <a:r>
              <a:rPr sz="1300" b="1">
                <a:solidFill>
                  <a:srgbClr val="F2B857"/>
                </a:solidFill>
                <a:latin typeface="Helvetica Neue"/>
              </a:rPr>
              <a:t>SQL · Validate · Run</a:t>
            </a:r>
          </a:p>
        </p:txBody>
      </p:sp>
      <p:sp>
        <p:nvSpPr>
          <p:cNvPr id="21" name="TextBox 20"/>
          <p:cNvSpPr txBox="1"/>
          <p:nvPr/>
        </p:nvSpPr>
        <p:spPr>
          <a:xfrm>
            <a:off x="3108960" y="4828032"/>
            <a:ext cx="8412480" cy="365760"/>
          </a:xfrm>
          <a:prstGeom prst="rect">
            <a:avLst/>
          </a:prstGeom>
          <a:noFill/>
        </p:spPr>
        <p:txBody>
          <a:bodyPr wrap="square" lIns="45720" rIns="45720">
            <a:spAutoFit/>
          </a:bodyPr>
          <a:lstStyle/>
          <a:p>
            <a:pPr algn="l"/>
            <a:r>
              <a:rPr sz="1100" b="0">
                <a:solidFill>
                  <a:srgbClr val="E6EAF0"/>
                </a:solidFill>
                <a:latin typeface="Helvetica Neue"/>
              </a:rPr>
              <a:t>• LLM writes SQL grounded in real columns</a:t>
            </a:r>
          </a:p>
        </p:txBody>
      </p:sp>
      <p:sp>
        <p:nvSpPr>
          <p:cNvPr id="22" name="TextBox 21"/>
          <p:cNvSpPr txBox="1"/>
          <p:nvPr/>
        </p:nvSpPr>
        <p:spPr>
          <a:xfrm>
            <a:off x="3108960" y="5102352"/>
            <a:ext cx="8412480" cy="365760"/>
          </a:xfrm>
          <a:prstGeom prst="rect">
            <a:avLst/>
          </a:prstGeom>
          <a:noFill/>
        </p:spPr>
        <p:txBody>
          <a:bodyPr wrap="square" lIns="45720" rIns="45720">
            <a:spAutoFit/>
          </a:bodyPr>
          <a:lstStyle/>
          <a:p>
            <a:pPr algn="l"/>
            <a:r>
              <a:rPr sz="1100" b="0">
                <a:solidFill>
                  <a:srgbClr val="E6EAF0"/>
                </a:solidFill>
                <a:latin typeface="Helvetica Neue"/>
              </a:rPr>
              <a:t>• Validator catches errors; repair loop fixes them; engine executes</a:t>
            </a:r>
          </a:p>
        </p:txBody>
      </p:sp>
      <p:sp>
        <p:nvSpPr>
          <p:cNvPr id="23" name="Rounded Rectangle 22"/>
          <p:cNvSpPr/>
          <p:nvPr/>
        </p:nvSpPr>
        <p:spPr>
          <a:xfrm>
            <a:off x="457200" y="562356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715000"/>
            <a:ext cx="2468880" cy="365760"/>
          </a:xfrm>
          <a:prstGeom prst="rect">
            <a:avLst/>
          </a:prstGeom>
          <a:noFill/>
        </p:spPr>
        <p:txBody>
          <a:bodyPr wrap="square" lIns="45720" rIns="45720">
            <a:spAutoFit/>
          </a:bodyPr>
          <a:lstStyle/>
          <a:p>
            <a:pPr algn="l"/>
            <a:r>
              <a:rPr sz="1300" b="1">
                <a:solidFill>
                  <a:srgbClr val="F2B857"/>
                </a:solidFill>
                <a:latin typeface="Helvetica Neue"/>
              </a:rPr>
              <a:t>Answer</a:t>
            </a:r>
          </a:p>
        </p:txBody>
      </p:sp>
      <p:sp>
        <p:nvSpPr>
          <p:cNvPr id="25" name="TextBox 24"/>
          <p:cNvSpPr txBox="1"/>
          <p:nvPr/>
        </p:nvSpPr>
        <p:spPr>
          <a:xfrm>
            <a:off x="3108960" y="5696712"/>
            <a:ext cx="8412480" cy="365760"/>
          </a:xfrm>
          <a:prstGeom prst="rect">
            <a:avLst/>
          </a:prstGeom>
          <a:noFill/>
        </p:spPr>
        <p:txBody>
          <a:bodyPr wrap="square" lIns="45720" rIns="45720">
            <a:spAutoFit/>
          </a:bodyPr>
          <a:lstStyle/>
          <a:p>
            <a:pPr algn="l"/>
            <a:r>
              <a:rPr sz="1100" b="0">
                <a:solidFill>
                  <a:srgbClr val="E6EAF0"/>
                </a:solidFill>
                <a:latin typeface="Helvetica Neue"/>
              </a:rPr>
              <a:t>• Rows + auto-picked chart + plain-English summary, with the tables cited</a:t>
            </a:r>
          </a:p>
        </p:txBody>
      </p:sp>
      <p:sp>
        <p:nvSpPr>
          <p:cNvPr id="26" name="TextBox 25"/>
          <p:cNvSpPr txBox="1"/>
          <p:nvPr/>
        </p:nvSpPr>
        <p:spPr>
          <a:xfrm>
            <a:off x="457200" y="6446520"/>
            <a:ext cx="11247120" cy="274320"/>
          </a:xfrm>
          <a:prstGeom prst="rect">
            <a:avLst/>
          </a:prstGeom>
          <a:noFill/>
        </p:spPr>
        <p:txBody>
          <a:bodyPr wrap="square" lIns="45720" rIns="45720">
            <a:spAutoFit/>
          </a:bodyPr>
          <a:lstStyle/>
          <a:p>
            <a:pPr algn="ctr"/>
            <a:r>
              <a:rPr sz="1100" b="0">
                <a:solidFill>
                  <a:srgbClr val="8A95A5"/>
                </a:solidFill>
                <a:latin typeface="Helvetica Neue"/>
              </a:rPr>
              <a:t>Green = complete today  ·  Amber = in progress, targeted for the 6-day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What's complete today</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4AD09C"/>
                </a:solidFill>
                <a:latin typeface="Helvetica Neue"/>
              </a:rPr>
              <a:t>Cluster Creation</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Auto-grouping Ed-Fi tables into navigable, query-ready clusters</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Cluster IDs stable across rebuilds · cluster names + descriptions cached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Cluster Creation produces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The bucket structure every later layer routes inside</a:t>
            </a:r>
          </a:p>
        </p:txBody>
      </p:sp>
      <p:sp>
        <p:nvSpPr>
          <p:cNvPr id="4" name="Rounded Rectangle 3"/>
          <p:cNvSpPr/>
          <p:nvPr/>
        </p:nvSpPr>
        <p:spPr>
          <a:xfrm>
            <a:off x="45720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600" b="1">
                <a:solidFill>
                  <a:srgbClr val="6EC1FF"/>
                </a:solidFill>
                <a:latin typeface="Helvetica Neue"/>
              </a:rPr>
              <a:t>By the numbers</a:t>
            </a:r>
          </a:p>
        </p:txBody>
      </p:sp>
      <p:sp>
        <p:nvSpPr>
          <p:cNvPr id="6" name="TextBox 5"/>
          <p:cNvSpPr txBox="1"/>
          <p:nvPr/>
        </p:nvSpPr>
        <p:spPr>
          <a:xfrm>
            <a:off x="640080" y="1965960"/>
            <a:ext cx="3108960" cy="310896"/>
          </a:xfrm>
          <a:prstGeom prst="rect">
            <a:avLst/>
          </a:prstGeom>
          <a:noFill/>
        </p:spPr>
        <p:txBody>
          <a:bodyPr wrap="square" lIns="45720" rIns="45720">
            <a:spAutoFit/>
          </a:bodyPr>
          <a:lstStyle/>
          <a:p>
            <a:pPr algn="l"/>
            <a:r>
              <a:rPr sz="1300" b="0">
                <a:solidFill>
                  <a:srgbClr val="8A95A5"/>
                </a:solidFill>
                <a:latin typeface="Helvetica Neue"/>
              </a:rPr>
              <a:t>Tables clustered</a:t>
            </a:r>
          </a:p>
        </p:txBody>
      </p:sp>
      <p:sp>
        <p:nvSpPr>
          <p:cNvPr id="7" name="TextBox 6"/>
          <p:cNvSpPr txBox="1"/>
          <p:nvPr/>
        </p:nvSpPr>
        <p:spPr>
          <a:xfrm>
            <a:off x="3749039" y="1965960"/>
            <a:ext cx="1828800" cy="310896"/>
          </a:xfrm>
          <a:prstGeom prst="rect">
            <a:avLst/>
          </a:prstGeom>
          <a:noFill/>
        </p:spPr>
        <p:txBody>
          <a:bodyPr wrap="square" lIns="45720" rIns="45720">
            <a:spAutoFit/>
          </a:bodyPr>
          <a:lstStyle/>
          <a:p>
            <a:pPr algn="l"/>
            <a:r>
              <a:rPr sz="1200" b="1">
                <a:solidFill>
                  <a:srgbClr val="E6EAF0"/>
                </a:solidFill>
                <a:latin typeface="Helvetica Neue"/>
              </a:rPr>
              <a:t>1,048</a:t>
            </a:r>
          </a:p>
        </p:txBody>
      </p:sp>
      <p:sp>
        <p:nvSpPr>
          <p:cNvPr id="8" name="TextBox 7"/>
          <p:cNvSpPr txBox="1"/>
          <p:nvPr/>
        </p:nvSpPr>
        <p:spPr>
          <a:xfrm>
            <a:off x="640080" y="2468880"/>
            <a:ext cx="3108960" cy="310896"/>
          </a:xfrm>
          <a:prstGeom prst="rect">
            <a:avLst/>
          </a:prstGeom>
          <a:noFill/>
        </p:spPr>
        <p:txBody>
          <a:bodyPr wrap="square" lIns="45720" rIns="45720">
            <a:spAutoFit/>
          </a:bodyPr>
          <a:lstStyle/>
          <a:p>
            <a:pPr algn="l"/>
            <a:r>
              <a:rPr sz="1300" b="0">
                <a:solidFill>
                  <a:srgbClr val="8A95A5"/>
                </a:solidFill>
                <a:latin typeface="Helvetica Neue"/>
              </a:rPr>
              <a:t>Top-level domains</a:t>
            </a:r>
          </a:p>
        </p:txBody>
      </p:sp>
      <p:sp>
        <p:nvSpPr>
          <p:cNvPr id="9" name="TextBox 8"/>
          <p:cNvSpPr txBox="1"/>
          <p:nvPr/>
        </p:nvSpPr>
        <p:spPr>
          <a:xfrm>
            <a:off x="3749039" y="2468880"/>
            <a:ext cx="1828800" cy="310896"/>
          </a:xfrm>
          <a:prstGeom prst="rect">
            <a:avLst/>
          </a:prstGeom>
          <a:noFill/>
        </p:spPr>
        <p:txBody>
          <a:bodyPr wrap="square" lIns="45720" rIns="45720">
            <a:spAutoFit/>
          </a:bodyPr>
          <a:lstStyle/>
          <a:p>
            <a:pPr algn="l"/>
            <a:r>
              <a:rPr sz="1200" b="1">
                <a:solidFill>
                  <a:srgbClr val="E6EAF0"/>
                </a:solidFill>
                <a:latin typeface="Helvetica Neue"/>
              </a:rPr>
              <a:t>35</a:t>
            </a:r>
          </a:p>
        </p:txBody>
      </p:sp>
      <p:sp>
        <p:nvSpPr>
          <p:cNvPr id="10" name="TextBox 9"/>
          <p:cNvSpPr txBox="1"/>
          <p:nvPr/>
        </p:nvSpPr>
        <p:spPr>
          <a:xfrm>
            <a:off x="640080" y="2971800"/>
            <a:ext cx="3108960" cy="310896"/>
          </a:xfrm>
          <a:prstGeom prst="rect">
            <a:avLst/>
          </a:prstGeom>
          <a:noFill/>
        </p:spPr>
        <p:txBody>
          <a:bodyPr wrap="square" lIns="45720" rIns="45720">
            <a:spAutoFit/>
          </a:bodyPr>
          <a:lstStyle/>
          <a:p>
            <a:pPr algn="l"/>
            <a:r>
              <a:rPr sz="1300" b="0">
                <a:solidFill>
                  <a:srgbClr val="8A95A5"/>
                </a:solidFill>
                <a:latin typeface="Helvetica Neue"/>
              </a:rPr>
              <a:t>Auto sub-clusters</a:t>
            </a:r>
          </a:p>
        </p:txBody>
      </p:sp>
      <p:sp>
        <p:nvSpPr>
          <p:cNvPr id="11" name="TextBox 10"/>
          <p:cNvSpPr txBox="1"/>
          <p:nvPr/>
        </p:nvSpPr>
        <p:spPr>
          <a:xfrm>
            <a:off x="3749039" y="2971800"/>
            <a:ext cx="1828800" cy="310896"/>
          </a:xfrm>
          <a:prstGeom prst="rect">
            <a:avLst/>
          </a:prstGeom>
          <a:noFill/>
        </p:spPr>
        <p:txBody>
          <a:bodyPr wrap="square" lIns="45720" rIns="45720">
            <a:spAutoFit/>
          </a:bodyPr>
          <a:lstStyle/>
          <a:p>
            <a:pPr algn="l"/>
            <a:r>
              <a:rPr sz="1200" b="1">
                <a:solidFill>
                  <a:srgbClr val="E6EAF0"/>
                </a:solidFill>
                <a:latin typeface="Helvetica Neue"/>
              </a:rPr>
              <a:t>tuned per domain</a:t>
            </a:r>
          </a:p>
        </p:txBody>
      </p:sp>
      <p:sp>
        <p:nvSpPr>
          <p:cNvPr id="12" name="TextBox 11"/>
          <p:cNvSpPr txBox="1"/>
          <p:nvPr/>
        </p:nvSpPr>
        <p:spPr>
          <a:xfrm>
            <a:off x="640080" y="3474720"/>
            <a:ext cx="3108960" cy="310896"/>
          </a:xfrm>
          <a:prstGeom prst="rect">
            <a:avLst/>
          </a:prstGeom>
          <a:noFill/>
        </p:spPr>
        <p:txBody>
          <a:bodyPr wrap="square" lIns="45720" rIns="45720">
            <a:spAutoFit/>
          </a:bodyPr>
          <a:lstStyle/>
          <a:p>
            <a:pPr algn="l"/>
            <a:r>
              <a:rPr sz="1300" b="0">
                <a:solidFill>
                  <a:srgbClr val="8A95A5"/>
                </a:solidFill>
                <a:latin typeface="Helvetica Neue"/>
              </a:rPr>
              <a:t>Cluster manager</a:t>
            </a:r>
          </a:p>
        </p:txBody>
      </p:sp>
      <p:sp>
        <p:nvSpPr>
          <p:cNvPr id="13" name="TextBox 12"/>
          <p:cNvSpPr txBox="1"/>
          <p:nvPr/>
        </p:nvSpPr>
        <p:spPr>
          <a:xfrm>
            <a:off x="3749039" y="3474720"/>
            <a:ext cx="1828800" cy="310896"/>
          </a:xfrm>
          <a:prstGeom prst="rect">
            <a:avLst/>
          </a:prstGeom>
          <a:noFill/>
        </p:spPr>
        <p:txBody>
          <a:bodyPr wrap="square" lIns="45720" rIns="45720">
            <a:spAutoFit/>
          </a:bodyPr>
          <a:lstStyle/>
          <a:p>
            <a:pPr algn="l"/>
            <a:r>
              <a:rPr sz="1200" b="1">
                <a:solidFill>
                  <a:srgbClr val="E6EAF0"/>
                </a:solidFill>
                <a:latin typeface="Helvetica Neue"/>
              </a:rPr>
              <a:t>drag-to-reassign</a:t>
            </a:r>
          </a:p>
        </p:txBody>
      </p:sp>
      <p:sp>
        <p:nvSpPr>
          <p:cNvPr id="14" name="TextBox 13"/>
          <p:cNvSpPr txBox="1"/>
          <p:nvPr/>
        </p:nvSpPr>
        <p:spPr>
          <a:xfrm>
            <a:off x="640080" y="3977639"/>
            <a:ext cx="3108960" cy="310896"/>
          </a:xfrm>
          <a:prstGeom prst="rect">
            <a:avLst/>
          </a:prstGeom>
          <a:noFill/>
        </p:spPr>
        <p:txBody>
          <a:bodyPr wrap="square" lIns="45720" rIns="45720">
            <a:spAutoFit/>
          </a:bodyPr>
          <a:lstStyle/>
          <a:p>
            <a:pPr algn="l"/>
            <a:r>
              <a:rPr sz="1300" b="0">
                <a:solidFill>
                  <a:srgbClr val="8A95A5"/>
                </a:solidFill>
                <a:latin typeface="Helvetica Neue"/>
              </a:rPr>
              <a:t>ID stability across rebuild</a:t>
            </a:r>
          </a:p>
        </p:txBody>
      </p:sp>
      <p:sp>
        <p:nvSpPr>
          <p:cNvPr id="15" name="TextBox 14"/>
          <p:cNvSpPr txBox="1"/>
          <p:nvPr/>
        </p:nvSpPr>
        <p:spPr>
          <a:xfrm>
            <a:off x="3749039" y="3977639"/>
            <a:ext cx="1828800" cy="310896"/>
          </a:xfrm>
          <a:prstGeom prst="rect">
            <a:avLst/>
          </a:prstGeom>
          <a:noFill/>
        </p:spPr>
        <p:txBody>
          <a:bodyPr wrap="square" lIns="45720" rIns="45720">
            <a:spAutoFit/>
          </a:bodyPr>
          <a:lstStyle/>
          <a:p>
            <a:pPr algn="l"/>
            <a:r>
              <a:rPr sz="1200" b="1">
                <a:solidFill>
                  <a:srgbClr val="E6EAF0"/>
                </a:solidFill>
                <a:latin typeface="Helvetica Neue"/>
              </a:rPr>
              <a:t>Hungarian-matched</a:t>
            </a:r>
          </a:p>
        </p:txBody>
      </p:sp>
      <p:sp>
        <p:nvSpPr>
          <p:cNvPr id="16" name="TextBox 15"/>
          <p:cNvSpPr txBox="1"/>
          <p:nvPr/>
        </p:nvSpPr>
        <p:spPr>
          <a:xfrm>
            <a:off x="640080" y="4480559"/>
            <a:ext cx="3108960" cy="310896"/>
          </a:xfrm>
          <a:prstGeom prst="rect">
            <a:avLst/>
          </a:prstGeom>
          <a:noFill/>
        </p:spPr>
        <p:txBody>
          <a:bodyPr wrap="square" lIns="45720" rIns="45720">
            <a:spAutoFit/>
          </a:bodyPr>
          <a:lstStyle/>
          <a:p>
            <a:pPr algn="l"/>
            <a:r>
              <a:rPr sz="1300" b="0">
                <a:solidFill>
                  <a:srgbClr val="8A95A5"/>
                </a:solidFill>
                <a:latin typeface="Helvetica Neue"/>
              </a:rPr>
              <a:t>Output artifact</a:t>
            </a:r>
          </a:p>
        </p:txBody>
      </p:sp>
      <p:sp>
        <p:nvSpPr>
          <p:cNvPr id="17" name="TextBox 16"/>
          <p:cNvSpPr txBox="1"/>
          <p:nvPr/>
        </p:nvSpPr>
        <p:spPr>
          <a:xfrm>
            <a:off x="3749039" y="4480559"/>
            <a:ext cx="1828800" cy="310896"/>
          </a:xfrm>
          <a:prstGeom prst="rect">
            <a:avLst/>
          </a:prstGeom>
          <a:noFill/>
        </p:spPr>
        <p:txBody>
          <a:bodyPr wrap="square" lIns="45720" rIns="45720">
            <a:spAutoFit/>
          </a:bodyPr>
          <a:lstStyle/>
          <a:p>
            <a:pPr algn="l"/>
            <a:r>
              <a:rPr sz="1200" b="1">
                <a:solidFill>
                  <a:srgbClr val="E6EAF0"/>
                </a:solidFill>
                <a:latin typeface="Helvetica Neue"/>
              </a:rPr>
              <a:t>table_classification.json</a:t>
            </a:r>
          </a:p>
        </p:txBody>
      </p:sp>
      <p:sp>
        <p:nvSpPr>
          <p:cNvPr id="18" name="Rounded Rectangle 17"/>
          <p:cNvSpPr/>
          <p:nvPr/>
        </p:nvSpPr>
        <p:spPr>
          <a:xfrm>
            <a:off x="626364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554480"/>
            <a:ext cx="5120640" cy="365760"/>
          </a:xfrm>
          <a:prstGeom prst="rect">
            <a:avLst/>
          </a:prstGeom>
          <a:noFill/>
        </p:spPr>
        <p:txBody>
          <a:bodyPr wrap="square" lIns="45720" rIns="45720">
            <a:spAutoFit/>
          </a:bodyPr>
          <a:lstStyle/>
          <a:p>
            <a:pPr algn="l"/>
            <a:r>
              <a:rPr sz="1600" b="1">
                <a:solidFill>
                  <a:srgbClr val="4AD09C"/>
                </a:solidFill>
                <a:latin typeface="Helvetica Neue"/>
              </a:rPr>
              <a:t>Why this is the foundation</a:t>
            </a:r>
          </a:p>
        </p:txBody>
      </p:sp>
      <p:sp>
        <p:nvSpPr>
          <p:cNvPr id="20" name="TextBox 19"/>
          <p:cNvSpPr txBox="1"/>
          <p:nvPr/>
        </p:nvSpPr>
        <p:spPr>
          <a:xfrm>
            <a:off x="644652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Clusters give the routing layers a fast, navigable index — search inside a cluster, not 1,048 tables</a:t>
            </a:r>
          </a:p>
          <a:p>
            <a:pPr algn="l">
              <a:spcAft>
                <a:spcPts val="400"/>
              </a:spcAft>
            </a:pPr>
            <a:r>
              <a:rPr sz="1200">
                <a:solidFill>
                  <a:srgbClr val="E6EAF0"/>
                </a:solidFill>
                <a:latin typeface="Helvetica Neue"/>
              </a:rPr>
              <a:t>• Stable IDs across rebuilds protect saved queries and dashboards</a:t>
            </a:r>
          </a:p>
          <a:p>
            <a:pPr algn="l">
              <a:spcAft>
                <a:spcPts val="400"/>
              </a:spcAft>
            </a:pPr>
            <a:r>
              <a:rPr sz="1200">
                <a:solidFill>
                  <a:srgbClr val="E6EAF0"/>
                </a:solidFill>
                <a:latin typeface="Helvetica Neue"/>
              </a:rPr>
              <a:t>• Clusters surface in the UI so analysts and operators share the same mental model</a:t>
            </a:r>
          </a:p>
          <a:p>
            <a:pPr algn="l">
              <a:spcAft>
                <a:spcPts val="400"/>
              </a:spcAft>
            </a:pPr>
            <a:r>
              <a:rPr sz="1200">
                <a:solidFill>
                  <a:srgbClr val="E6EAF0"/>
                </a:solidFill>
                <a:latin typeface="Helvetica Neue"/>
              </a:rPr>
              <a:t>• Sub-clusters keep oversize domains (Student, Assessment, Discipline) tractable</a:t>
            </a:r>
          </a:p>
          <a:p>
            <a:pPr algn="l">
              <a:spcAft>
                <a:spcPts val="400"/>
              </a:spcAft>
            </a:pPr>
            <a:r>
              <a:rPr sz="1200">
                <a:solidFill>
                  <a:srgbClr val="E6EAF0"/>
                </a:solidFill>
                <a:latin typeface="Helvetica Neue"/>
              </a:rPr>
              <a:t>• Every later layer — semantic, graph, validation — assumes this structure</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Complete — Cluster Creation</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1 of 8 workstreams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In progress · semantic schema layer</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F2B857"/>
                </a:solidFill>
                <a:latin typeface="Helvetica Neue"/>
              </a:rPr>
              <a:t>The Semantic Schema Layer</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How the platform finds the right tables for an English question</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Scaffolding running end-to-end on the demo DB; coverage and accuracy still being tuned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we know about each table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Captured once at build time; queried millions of times after</a:t>
            </a:r>
          </a:p>
        </p:txBody>
      </p:sp>
      <p:sp>
        <p:nvSpPr>
          <p:cNvPr id="4" name="Rounded Rectangle 3"/>
          <p:cNvSpPr/>
          <p:nvPr/>
        </p:nvSpPr>
        <p:spPr>
          <a:xfrm>
            <a:off x="457200" y="1463040"/>
            <a:ext cx="676656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27632"/>
            <a:ext cx="6400800" cy="256032"/>
          </a:xfrm>
          <a:prstGeom prst="rect">
            <a:avLst/>
          </a:prstGeom>
          <a:noFill/>
        </p:spPr>
        <p:txBody>
          <a:bodyPr wrap="square" lIns="45720" rIns="45720">
            <a:spAutoFit/>
          </a:bodyPr>
          <a:lstStyle/>
          <a:p>
            <a:pPr algn="l"/>
            <a:r>
              <a:rPr sz="1300" b="1">
                <a:solidFill>
                  <a:srgbClr val="6EC1FF"/>
                </a:solidFill>
                <a:latin typeface="Helvetica Neue"/>
              </a:rPr>
              <a:t>Table:  edfi.StudentSchoolAssociation</a:t>
            </a:r>
          </a:p>
        </p:txBody>
      </p:sp>
      <p:sp>
        <p:nvSpPr>
          <p:cNvPr id="6" name="TextBox 5"/>
          <p:cNvSpPr txBox="1"/>
          <p:nvPr/>
        </p:nvSpPr>
        <p:spPr>
          <a:xfrm>
            <a:off x="640080" y="1865376"/>
            <a:ext cx="6400800" cy="256032"/>
          </a:xfrm>
          <a:prstGeom prst="rect">
            <a:avLst/>
          </a:prstGeom>
          <a:noFill/>
        </p:spPr>
        <p:txBody>
          <a:bodyPr wrap="square" lIns="45720" rIns="45720">
            <a:spAutoFit/>
          </a:bodyPr>
          <a:lstStyle/>
          <a:p>
            <a:pPr algn="l"/>
            <a:r>
              <a:rPr sz="1300" b="1">
                <a:solidFill>
                  <a:srgbClr val="6EC1FF"/>
                </a:solidFill>
                <a:latin typeface="Helvetica Neue"/>
              </a:rPr>
              <a:t>Domains:  Student · Enrollment</a:t>
            </a:r>
          </a:p>
        </p:txBody>
      </p:sp>
      <p:sp>
        <p:nvSpPr>
          <p:cNvPr id="7" name="TextBox 6"/>
          <p:cNvSpPr txBox="1"/>
          <p:nvPr/>
        </p:nvSpPr>
        <p:spPr>
          <a:xfrm>
            <a:off x="640080" y="2103120"/>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8" name="TextBox 7"/>
          <p:cNvSpPr txBox="1"/>
          <p:nvPr/>
        </p:nvSpPr>
        <p:spPr>
          <a:xfrm>
            <a:off x="640080" y="2340863"/>
            <a:ext cx="6400800" cy="256032"/>
          </a:xfrm>
          <a:prstGeom prst="rect">
            <a:avLst/>
          </a:prstGeom>
          <a:noFill/>
        </p:spPr>
        <p:txBody>
          <a:bodyPr wrap="square" lIns="45720" rIns="45720">
            <a:spAutoFit/>
          </a:bodyPr>
          <a:lstStyle/>
          <a:p>
            <a:pPr algn="l"/>
            <a:r>
              <a:rPr sz="1300" b="1">
                <a:solidFill>
                  <a:srgbClr val="6EC1FF"/>
                </a:solidFill>
                <a:latin typeface="Helvetica Neue"/>
              </a:rPr>
              <a:t>Description:</a:t>
            </a:r>
          </a:p>
        </p:txBody>
      </p:sp>
      <p:sp>
        <p:nvSpPr>
          <p:cNvPr id="9" name="TextBox 8"/>
          <p:cNvSpPr txBox="1"/>
          <p:nvPr/>
        </p:nvSpPr>
        <p:spPr>
          <a:xfrm>
            <a:off x="640080" y="2578607"/>
            <a:ext cx="6400800" cy="256032"/>
          </a:xfrm>
          <a:prstGeom prst="rect">
            <a:avLst/>
          </a:prstGeom>
          <a:noFill/>
        </p:spPr>
        <p:txBody>
          <a:bodyPr wrap="square" lIns="45720" rIns="45720">
            <a:spAutoFit/>
          </a:bodyPr>
          <a:lstStyle/>
          <a:p>
            <a:pPr algn="l"/>
            <a:r>
              <a:rPr sz="1200" b="0">
                <a:solidFill>
                  <a:srgbClr val="E6EAF0"/>
                </a:solidFill>
                <a:latin typeface="Helvetica Neue"/>
              </a:rPr>
              <a:t>Tracks a student's relationship with a school —</a:t>
            </a:r>
          </a:p>
        </p:txBody>
      </p:sp>
      <p:sp>
        <p:nvSpPr>
          <p:cNvPr id="10" name="TextBox 9"/>
          <p:cNvSpPr txBox="1"/>
          <p:nvPr/>
        </p:nvSpPr>
        <p:spPr>
          <a:xfrm>
            <a:off x="640080" y="2816351"/>
            <a:ext cx="6400800" cy="256032"/>
          </a:xfrm>
          <a:prstGeom prst="rect">
            <a:avLst/>
          </a:prstGeom>
          <a:noFill/>
        </p:spPr>
        <p:txBody>
          <a:bodyPr wrap="square" lIns="45720" rIns="45720">
            <a:spAutoFit/>
          </a:bodyPr>
          <a:lstStyle/>
          <a:p>
            <a:pPr algn="l"/>
            <a:r>
              <a:rPr sz="1200" b="0">
                <a:solidFill>
                  <a:srgbClr val="E6EAF0"/>
                </a:solidFill>
                <a:latin typeface="Helvetica Neue"/>
              </a:rPr>
              <a:t>primary or secondary enrollment, entry / exit</a:t>
            </a:r>
          </a:p>
        </p:txBody>
      </p:sp>
      <p:sp>
        <p:nvSpPr>
          <p:cNvPr id="11" name="TextBox 10"/>
          <p:cNvSpPr txBox="1"/>
          <p:nvPr/>
        </p:nvSpPr>
        <p:spPr>
          <a:xfrm>
            <a:off x="640080" y="3054095"/>
            <a:ext cx="6400800" cy="256032"/>
          </a:xfrm>
          <a:prstGeom prst="rect">
            <a:avLst/>
          </a:prstGeom>
          <a:noFill/>
        </p:spPr>
        <p:txBody>
          <a:bodyPr wrap="square" lIns="45720" rIns="45720">
            <a:spAutoFit/>
          </a:bodyPr>
          <a:lstStyle/>
          <a:p>
            <a:pPr algn="l"/>
            <a:r>
              <a:rPr sz="1200" b="0">
                <a:solidFill>
                  <a:srgbClr val="E6EAF0"/>
                </a:solidFill>
                <a:latin typeface="Helvetica Neue"/>
              </a:rPr>
              <a:t>dates, grade level, and entry type.</a:t>
            </a:r>
          </a:p>
        </p:txBody>
      </p:sp>
      <p:sp>
        <p:nvSpPr>
          <p:cNvPr id="12" name="TextBox 11"/>
          <p:cNvSpPr txBox="1"/>
          <p:nvPr/>
        </p:nvSpPr>
        <p:spPr>
          <a:xfrm>
            <a:off x="640080" y="3291839"/>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13" name="TextBox 12"/>
          <p:cNvSpPr txBox="1"/>
          <p:nvPr/>
        </p:nvSpPr>
        <p:spPr>
          <a:xfrm>
            <a:off x="640080" y="3529583"/>
            <a:ext cx="6400800" cy="256032"/>
          </a:xfrm>
          <a:prstGeom prst="rect">
            <a:avLst/>
          </a:prstGeom>
          <a:noFill/>
        </p:spPr>
        <p:txBody>
          <a:bodyPr wrap="square" lIns="45720" rIns="45720">
            <a:spAutoFit/>
          </a:bodyPr>
          <a:lstStyle/>
          <a:p>
            <a:pPr algn="l"/>
            <a:r>
              <a:rPr sz="1300" b="1">
                <a:solidFill>
                  <a:srgbClr val="6EC1FF"/>
                </a:solidFill>
                <a:latin typeface="Helvetica Neue"/>
              </a:rPr>
              <a:t>Identifying columns:</a:t>
            </a:r>
          </a:p>
        </p:txBody>
      </p:sp>
      <p:sp>
        <p:nvSpPr>
          <p:cNvPr id="14" name="TextBox 13"/>
          <p:cNvSpPr txBox="1"/>
          <p:nvPr/>
        </p:nvSpPr>
        <p:spPr>
          <a:xfrm>
            <a:off x="640080" y="3767327"/>
            <a:ext cx="6400800" cy="256032"/>
          </a:xfrm>
          <a:prstGeom prst="rect">
            <a:avLst/>
          </a:prstGeom>
          <a:noFill/>
        </p:spPr>
        <p:txBody>
          <a:bodyPr wrap="square" lIns="45720" rIns="45720">
            <a:spAutoFit/>
          </a:bodyPr>
          <a:lstStyle/>
          <a:p>
            <a:pPr algn="l"/>
            <a:r>
              <a:rPr sz="1200" b="0">
                <a:solidFill>
                  <a:srgbClr val="E6EAF0"/>
                </a:solidFill>
                <a:latin typeface="Helvetica Neue"/>
              </a:rPr>
              <a:t>  StudentUSI  ·  SchoolId  ·  EntryDate</a:t>
            </a:r>
          </a:p>
        </p:txBody>
      </p:sp>
      <p:sp>
        <p:nvSpPr>
          <p:cNvPr id="15" name="TextBox 14"/>
          <p:cNvSpPr txBox="1"/>
          <p:nvPr/>
        </p:nvSpPr>
        <p:spPr>
          <a:xfrm>
            <a:off x="640080" y="4005071"/>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16" name="TextBox 15"/>
          <p:cNvSpPr txBox="1"/>
          <p:nvPr/>
        </p:nvSpPr>
        <p:spPr>
          <a:xfrm>
            <a:off x="640080" y="4242815"/>
            <a:ext cx="6400800" cy="256032"/>
          </a:xfrm>
          <a:prstGeom prst="rect">
            <a:avLst/>
          </a:prstGeom>
          <a:noFill/>
        </p:spPr>
        <p:txBody>
          <a:bodyPr wrap="square" lIns="45720" rIns="45720">
            <a:spAutoFit/>
          </a:bodyPr>
          <a:lstStyle/>
          <a:p>
            <a:pPr algn="l"/>
            <a:r>
              <a:rPr sz="1300" b="1">
                <a:solidFill>
                  <a:srgbClr val="6EC1FF"/>
                </a:solidFill>
                <a:latin typeface="Helvetica Neue"/>
              </a:rPr>
              <a:t>Linked columns:</a:t>
            </a:r>
          </a:p>
        </p:txBody>
      </p:sp>
      <p:sp>
        <p:nvSpPr>
          <p:cNvPr id="17" name="TextBox 16"/>
          <p:cNvSpPr txBox="1"/>
          <p:nvPr/>
        </p:nvSpPr>
        <p:spPr>
          <a:xfrm>
            <a:off x="640080" y="4480559"/>
            <a:ext cx="6400800" cy="256032"/>
          </a:xfrm>
          <a:prstGeom prst="rect">
            <a:avLst/>
          </a:prstGeom>
          <a:noFill/>
        </p:spPr>
        <p:txBody>
          <a:bodyPr wrap="square" lIns="45720" rIns="45720">
            <a:spAutoFit/>
          </a:bodyPr>
          <a:lstStyle/>
          <a:p>
            <a:pPr algn="l"/>
            <a:r>
              <a:rPr sz="1200" b="0">
                <a:solidFill>
                  <a:srgbClr val="E6EAF0"/>
                </a:solidFill>
                <a:latin typeface="Helvetica Neue"/>
              </a:rPr>
              <a:t>  EntryGradeLevelDescriptorId → GradeLevelDescriptor</a:t>
            </a:r>
          </a:p>
        </p:txBody>
      </p:sp>
      <p:sp>
        <p:nvSpPr>
          <p:cNvPr id="18" name="TextBox 17"/>
          <p:cNvSpPr txBox="1"/>
          <p:nvPr/>
        </p:nvSpPr>
        <p:spPr>
          <a:xfrm>
            <a:off x="640080" y="4718303"/>
            <a:ext cx="6400800" cy="256032"/>
          </a:xfrm>
          <a:prstGeom prst="rect">
            <a:avLst/>
          </a:prstGeom>
          <a:noFill/>
        </p:spPr>
        <p:txBody>
          <a:bodyPr wrap="square" lIns="45720" rIns="45720">
            <a:spAutoFit/>
          </a:bodyPr>
          <a:lstStyle/>
          <a:p>
            <a:pPr algn="l"/>
            <a:r>
              <a:rPr sz="1200" b="0">
                <a:solidFill>
                  <a:srgbClr val="E6EAF0"/>
                </a:solidFill>
                <a:latin typeface="Helvetica Neue"/>
              </a:rPr>
              <a:t>  ExitWithdrawTypeDescriptorId → enums</a:t>
            </a:r>
          </a:p>
        </p:txBody>
      </p:sp>
      <p:sp>
        <p:nvSpPr>
          <p:cNvPr id="19" name="TextBox 18"/>
          <p:cNvSpPr txBox="1"/>
          <p:nvPr/>
        </p:nvSpPr>
        <p:spPr>
          <a:xfrm>
            <a:off x="640080" y="4956047"/>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20" name="TextBox 19"/>
          <p:cNvSpPr txBox="1"/>
          <p:nvPr/>
        </p:nvSpPr>
        <p:spPr>
          <a:xfrm>
            <a:off x="640080" y="5193791"/>
            <a:ext cx="6400800" cy="256032"/>
          </a:xfrm>
          <a:prstGeom prst="rect">
            <a:avLst/>
          </a:prstGeom>
          <a:noFill/>
        </p:spPr>
        <p:txBody>
          <a:bodyPr wrap="square" lIns="45720" rIns="45720">
            <a:spAutoFit/>
          </a:bodyPr>
          <a:lstStyle/>
          <a:p>
            <a:pPr algn="l"/>
            <a:r>
              <a:rPr sz="1300" b="1">
                <a:solidFill>
                  <a:srgbClr val="6EC1FF"/>
                </a:solidFill>
                <a:latin typeface="Helvetica Neue"/>
              </a:rPr>
              <a:t>Connected tables:</a:t>
            </a:r>
          </a:p>
        </p:txBody>
      </p:sp>
      <p:sp>
        <p:nvSpPr>
          <p:cNvPr id="21" name="TextBox 20"/>
          <p:cNvSpPr txBox="1"/>
          <p:nvPr/>
        </p:nvSpPr>
        <p:spPr>
          <a:xfrm>
            <a:off x="640080" y="5431535"/>
            <a:ext cx="6400800" cy="256032"/>
          </a:xfrm>
          <a:prstGeom prst="rect">
            <a:avLst/>
          </a:prstGeom>
          <a:noFill/>
        </p:spPr>
        <p:txBody>
          <a:bodyPr wrap="square" lIns="45720" rIns="45720">
            <a:spAutoFit/>
          </a:bodyPr>
          <a:lstStyle/>
          <a:p>
            <a:pPr algn="l"/>
            <a:r>
              <a:rPr sz="1200" b="0">
                <a:solidFill>
                  <a:srgbClr val="E6EAF0"/>
                </a:solidFill>
                <a:latin typeface="Helvetica Neue"/>
              </a:rPr>
              <a:t>  edfi.Student · edfi.School · edfi.Section ...</a:t>
            </a:r>
          </a:p>
        </p:txBody>
      </p:sp>
      <p:sp>
        <p:nvSpPr>
          <p:cNvPr id="22" name="TextBox 21"/>
          <p:cNvSpPr txBox="1"/>
          <p:nvPr/>
        </p:nvSpPr>
        <p:spPr>
          <a:xfrm>
            <a:off x="640080" y="5669279"/>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23" name="TextBox 22"/>
          <p:cNvSpPr txBox="1"/>
          <p:nvPr/>
        </p:nvSpPr>
        <p:spPr>
          <a:xfrm>
            <a:off x="640080" y="5907023"/>
            <a:ext cx="6400800" cy="256032"/>
          </a:xfrm>
          <a:prstGeom prst="rect">
            <a:avLst/>
          </a:prstGeom>
          <a:noFill/>
        </p:spPr>
        <p:txBody>
          <a:bodyPr wrap="square" lIns="45720" rIns="45720">
            <a:spAutoFit/>
          </a:bodyPr>
          <a:lstStyle/>
          <a:p>
            <a:pPr algn="l"/>
            <a:r>
              <a:rPr sz="1200" b="0">
                <a:solidFill>
                  <a:srgbClr val="E6EAF0"/>
                </a:solidFill>
                <a:latin typeface="Helvetica Neue"/>
              </a:rPr>
              <a:t>Proven queries that use it:  12</a:t>
            </a:r>
          </a:p>
        </p:txBody>
      </p:sp>
      <p:sp>
        <p:nvSpPr>
          <p:cNvPr id="24" name="Rounded Rectangle 23"/>
          <p:cNvSpPr/>
          <p:nvPr/>
        </p:nvSpPr>
        <p:spPr>
          <a:xfrm>
            <a:off x="7452360" y="1463040"/>
            <a:ext cx="4389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0" y="1554480"/>
            <a:ext cx="4023360" cy="365760"/>
          </a:xfrm>
          <a:prstGeom prst="rect">
            <a:avLst/>
          </a:prstGeom>
          <a:noFill/>
        </p:spPr>
        <p:txBody>
          <a:bodyPr wrap="square" lIns="45720" rIns="45720">
            <a:spAutoFit/>
          </a:bodyPr>
          <a:lstStyle/>
          <a:p>
            <a:pPr algn="l"/>
            <a:r>
              <a:rPr sz="1600" b="1">
                <a:solidFill>
                  <a:srgbClr val="F2B857"/>
                </a:solidFill>
                <a:latin typeface="Helvetica Neue"/>
              </a:rPr>
              <a:t>Why this works</a:t>
            </a:r>
          </a:p>
        </p:txBody>
      </p:sp>
      <p:sp>
        <p:nvSpPr>
          <p:cNvPr id="26" name="TextBox 25"/>
          <p:cNvSpPr txBox="1"/>
          <p:nvPr/>
        </p:nvSpPr>
        <p:spPr>
          <a:xfrm>
            <a:off x="7635240" y="1965960"/>
            <a:ext cx="4023360" cy="4114800"/>
          </a:xfrm>
          <a:prstGeom prst="rect">
            <a:avLst/>
          </a:prstGeom>
          <a:noFill/>
        </p:spPr>
        <p:txBody>
          <a:bodyPr wrap="square">
            <a:spAutoFit/>
          </a:bodyPr>
          <a:lstStyle/>
          <a:p>
            <a:pPr algn="l">
              <a:spcAft>
                <a:spcPts val="400"/>
              </a:spcAft>
            </a:pPr>
            <a:r>
              <a:rPr sz="1100">
                <a:solidFill>
                  <a:srgbClr val="E6EAF0"/>
                </a:solidFill>
                <a:latin typeface="Helvetica Neue"/>
              </a:rPr>
              <a:t>• Domains let us narrow 1,048 tables to ~30 in milliseconds</a:t>
            </a:r>
          </a:p>
          <a:p>
            <a:pPr algn="l">
              <a:spcAft>
                <a:spcPts val="400"/>
              </a:spcAft>
            </a:pPr>
            <a:r>
              <a:rPr sz="1100">
                <a:solidFill>
                  <a:srgbClr val="E6EAF0"/>
                </a:solidFill>
                <a:latin typeface="Helvetica Neue"/>
              </a:rPr>
              <a:t>• Description carries authoritative Ed-Fi prose — no LLM hallucination</a:t>
            </a:r>
          </a:p>
          <a:p>
            <a:pPr algn="l">
              <a:spcAft>
                <a:spcPts val="400"/>
              </a:spcAft>
            </a:pPr>
            <a:r>
              <a:rPr sz="1100">
                <a:solidFill>
                  <a:srgbClr val="E6EAF0"/>
                </a:solidFill>
                <a:latin typeface="Helvetica Neue"/>
              </a:rPr>
              <a:t>• Identifying columns surface what each row 'is'</a:t>
            </a:r>
          </a:p>
          <a:p>
            <a:pPr algn="l">
              <a:spcAft>
                <a:spcPts val="400"/>
              </a:spcAft>
            </a:pPr>
            <a:r>
              <a:rPr sz="1100">
                <a:solidFill>
                  <a:srgbClr val="E6EAF0"/>
                </a:solidFill>
                <a:latin typeface="Helvetica Neue"/>
              </a:rPr>
              <a:t>• Linked columns chase descriptor codes (e.g. 'Hispanic' → RaceDescriptor)</a:t>
            </a:r>
          </a:p>
          <a:p>
            <a:pPr algn="l">
              <a:spcAft>
                <a:spcPts val="400"/>
              </a:spcAft>
            </a:pPr>
            <a:r>
              <a:rPr sz="1100">
                <a:solidFill>
                  <a:srgbClr val="E6EAF0"/>
                </a:solidFill>
                <a:latin typeface="Helvetica Neue"/>
              </a:rPr>
              <a:t>• Connected tables remind the model what joins are natural</a:t>
            </a:r>
          </a:p>
          <a:p>
            <a:pPr algn="l">
              <a:spcAft>
                <a:spcPts val="400"/>
              </a:spcAft>
            </a:pPr>
            <a:r>
              <a:rPr sz="1100">
                <a:solidFill>
                  <a:srgbClr val="E6EAF0"/>
                </a:solidFill>
                <a:latin typeface="Helvetica Neue"/>
              </a:rPr>
              <a:t>• Proven-query count biases the search toward tables the platform has answered before</a:t>
            </a:r>
          </a:p>
        </p:txBody>
      </p:sp>
      <p:sp>
        <p:nvSpPr>
          <p:cNvPr id="27" name="TextBox 2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1 of 3</a:t>
            </a:r>
          </a:p>
        </p:txBody>
      </p:sp>
      <p:sp>
        <p:nvSpPr>
          <p:cNvPr id="28" name="TextBox 2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How a question finds its tables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Two fast searches narrow 1,048 tables to a handful</a:t>
            </a:r>
          </a:p>
        </p:txBody>
      </p:sp>
      <p:sp>
        <p:nvSpPr>
          <p:cNvPr id="4" name="Rounded Rectangle 3"/>
          <p:cNvSpPr/>
          <p:nvPr/>
        </p:nvSpPr>
        <p:spPr>
          <a:xfrm>
            <a:off x="457200" y="1463040"/>
            <a:ext cx="11247120" cy="2468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6EC1FF"/>
                </a:solidFill>
                <a:latin typeface="Helvetica Neue"/>
              </a:rPr>
              <a:t>Step 1 — pick the right neighborhood</a:t>
            </a:r>
          </a:p>
        </p:txBody>
      </p:sp>
      <p:sp>
        <p:nvSpPr>
          <p:cNvPr id="6" name="TextBox 5"/>
          <p:cNvSpPr txBox="1"/>
          <p:nvPr/>
        </p:nvSpPr>
        <p:spPr>
          <a:xfrm>
            <a:off x="640080" y="1965960"/>
            <a:ext cx="10972800" cy="1828800"/>
          </a:xfrm>
          <a:prstGeom prst="rect">
            <a:avLst/>
          </a:prstGeom>
          <a:noFill/>
        </p:spPr>
        <p:txBody>
          <a:bodyPr wrap="square">
            <a:spAutoFit/>
          </a:bodyPr>
          <a:lstStyle/>
          <a:p>
            <a:pPr algn="l">
              <a:spcAft>
                <a:spcPts val="400"/>
              </a:spcAft>
            </a:pPr>
            <a:r>
              <a:rPr sz="1200">
                <a:solidFill>
                  <a:srgbClr val="E6EAF0"/>
                </a:solidFill>
                <a:latin typeface="Helvetica Neue"/>
              </a:rPr>
              <a:t>• Compare the question's meaning against every domain (e.g. Student, Discipline, Assessment)</a:t>
            </a:r>
          </a:p>
          <a:p>
            <a:pPr algn="l">
              <a:spcAft>
                <a:spcPts val="400"/>
              </a:spcAft>
            </a:pPr>
            <a:r>
              <a:rPr sz="1200">
                <a:solidFill>
                  <a:srgbClr val="E6EAF0"/>
                </a:solidFill>
                <a:latin typeface="Helvetica Neue"/>
              </a:rPr>
              <a:t>• Combine semantic meaning (60%) with keyword match (40%) — best of both worlds</a:t>
            </a:r>
          </a:p>
          <a:p>
            <a:pPr algn="l">
              <a:spcAft>
                <a:spcPts val="400"/>
              </a:spcAft>
            </a:pPr>
            <a:r>
              <a:rPr sz="1200">
                <a:solidFill>
                  <a:srgbClr val="E6EAF0"/>
                </a:solidFill>
                <a:latin typeface="Helvetica Neue"/>
              </a:rPr>
              <a:t>• Return the top three neighborhoods so the model has options</a:t>
            </a:r>
          </a:p>
        </p:txBody>
      </p:sp>
      <p:sp>
        <p:nvSpPr>
          <p:cNvPr id="7" name="Rounded Rectangle 6"/>
          <p:cNvSpPr/>
          <p:nvPr/>
        </p:nvSpPr>
        <p:spPr>
          <a:xfrm>
            <a:off x="457200" y="4114800"/>
            <a:ext cx="11247120" cy="21945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06240"/>
            <a:ext cx="10972800" cy="365760"/>
          </a:xfrm>
          <a:prstGeom prst="rect">
            <a:avLst/>
          </a:prstGeom>
          <a:noFill/>
        </p:spPr>
        <p:txBody>
          <a:bodyPr wrap="square" lIns="45720" rIns="45720">
            <a:spAutoFit/>
          </a:bodyPr>
          <a:lstStyle/>
          <a:p>
            <a:pPr algn="l"/>
            <a:r>
              <a:rPr sz="1400" b="1">
                <a:solidFill>
                  <a:srgbClr val="6EC1FF"/>
                </a:solidFill>
                <a:latin typeface="Helvetica Neue"/>
              </a:rPr>
              <a:t>Step 2 — pick tables inside that neighborhood</a:t>
            </a:r>
          </a:p>
        </p:txBody>
      </p:sp>
      <p:sp>
        <p:nvSpPr>
          <p:cNvPr id="9" name="TextBox 8"/>
          <p:cNvSpPr txBox="1"/>
          <p:nvPr/>
        </p:nvSpPr>
        <p:spPr>
          <a:xfrm>
            <a:off x="640080" y="4617720"/>
            <a:ext cx="10972800" cy="1828800"/>
          </a:xfrm>
          <a:prstGeom prst="rect">
            <a:avLst/>
          </a:prstGeom>
          <a:noFill/>
        </p:spPr>
        <p:txBody>
          <a:bodyPr wrap="square">
            <a:spAutoFit/>
          </a:bodyPr>
          <a:lstStyle/>
          <a:p>
            <a:pPr algn="l">
              <a:spcAft>
                <a:spcPts val="400"/>
              </a:spcAft>
            </a:pPr>
            <a:r>
              <a:rPr sz="1200">
                <a:solidFill>
                  <a:srgbClr val="E6EAF0"/>
                </a:solidFill>
                <a:latin typeface="Helvetica Neue"/>
              </a:rPr>
              <a:t>• Inside the chosen neighborhoods, score every table profile against the question</a:t>
            </a:r>
          </a:p>
          <a:p>
            <a:pPr algn="l">
              <a:spcAft>
                <a:spcPts val="400"/>
              </a:spcAft>
            </a:pPr>
            <a:r>
              <a:rPr sz="1200">
                <a:solidFill>
                  <a:srgbClr val="E6EAF0"/>
                </a:solidFill>
                <a:latin typeface="Helvetica Neue"/>
              </a:rPr>
              <a:t>• Pull the small set (typically 3–8 tables) that best matches</a:t>
            </a:r>
          </a:p>
          <a:p>
            <a:pPr algn="l">
              <a:spcAft>
                <a:spcPts val="400"/>
              </a:spcAft>
            </a:pPr>
            <a:r>
              <a:rPr sz="1200">
                <a:solidFill>
                  <a:srgbClr val="E6EAF0"/>
                </a:solidFill>
                <a:latin typeface="Helvetica Neue"/>
              </a:rPr>
              <a:t>• Hand them to the graph layer to figure out how to join them</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2 of 3</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Resolving real-world terms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'Hispanic' is text on a screen — the database speaks codes</a:t>
            </a:r>
          </a:p>
        </p:txBody>
      </p:sp>
      <p:sp>
        <p:nvSpPr>
          <p:cNvPr id="4" name="Rounded Rectangle 3"/>
          <p:cNvSpPr/>
          <p:nvPr/>
        </p:nvSpPr>
        <p:spPr>
          <a:xfrm>
            <a:off x="457200" y="1463040"/>
            <a:ext cx="11247120" cy="18288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F2B857"/>
                </a:solidFill>
                <a:latin typeface="Helvetica Neue"/>
              </a:rPr>
              <a:t>Worked example</a:t>
            </a:r>
          </a:p>
        </p:txBody>
      </p:sp>
      <p:sp>
        <p:nvSpPr>
          <p:cNvPr id="6" name="TextBox 5"/>
          <p:cNvSpPr txBox="1"/>
          <p:nvPr/>
        </p:nvSpPr>
        <p:spPr>
          <a:xfrm>
            <a:off x="640080" y="1965960"/>
            <a:ext cx="10972800" cy="1371600"/>
          </a:xfrm>
          <a:prstGeom prst="rect">
            <a:avLst/>
          </a:prstGeom>
          <a:noFill/>
        </p:spPr>
        <p:txBody>
          <a:bodyPr wrap="square">
            <a:spAutoFit/>
          </a:bodyPr>
          <a:lstStyle/>
          <a:p>
            <a:pPr algn="l">
              <a:spcAft>
                <a:spcPts val="400"/>
              </a:spcAft>
            </a:pPr>
            <a:r>
              <a:rPr sz="1200">
                <a:solidFill>
                  <a:srgbClr val="E6EAF0"/>
                </a:solidFill>
                <a:latin typeface="Helvetica Neue"/>
              </a:rPr>
              <a:t>• Analyst types: 'How many Hispanic students enrolled last year?'</a:t>
            </a:r>
          </a:p>
          <a:p>
            <a:pPr algn="l">
              <a:spcAft>
                <a:spcPts val="400"/>
              </a:spcAft>
            </a:pPr>
            <a:r>
              <a:rPr sz="1200">
                <a:solidFill>
                  <a:srgbClr val="E6EAF0"/>
                </a:solidFill>
                <a:latin typeface="Helvetica Neue"/>
              </a:rPr>
              <a:t>• Database has no field called 'Hispanic' — it stores a foreign key to RaceDescriptor</a:t>
            </a:r>
          </a:p>
          <a:p>
            <a:pPr algn="l">
              <a:spcAft>
                <a:spcPts val="400"/>
              </a:spcAft>
            </a:pPr>
            <a:r>
              <a:rPr sz="1200">
                <a:solidFill>
                  <a:srgbClr val="E6EAF0"/>
                </a:solidFill>
                <a:latin typeface="Helvetica Neue"/>
              </a:rPr>
              <a:t>• We need to: recognize 'Hispanic' is a value, find which descriptor table it lives in, attach the right join</a:t>
            </a:r>
          </a:p>
        </p:txBody>
      </p:sp>
      <p:sp>
        <p:nvSpPr>
          <p:cNvPr id="7" name="Rounded Rectangle 6"/>
          <p:cNvSpPr/>
          <p:nvPr/>
        </p:nvSpPr>
        <p:spPr>
          <a:xfrm>
            <a:off x="457200" y="3474720"/>
            <a:ext cx="11247120" cy="28346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566160"/>
            <a:ext cx="10972800" cy="365760"/>
          </a:xfrm>
          <a:prstGeom prst="rect">
            <a:avLst/>
          </a:prstGeom>
          <a:noFill/>
        </p:spPr>
        <p:txBody>
          <a:bodyPr wrap="square" lIns="45720" rIns="45720">
            <a:spAutoFit/>
          </a:bodyPr>
          <a:lstStyle/>
          <a:p>
            <a:pPr algn="l"/>
            <a:r>
              <a:rPr sz="1400" b="1">
                <a:solidFill>
                  <a:srgbClr val="6EC1FF"/>
                </a:solidFill>
                <a:latin typeface="Helvetica Neue"/>
              </a:rPr>
              <a:t>Four-tier resolver — fast first, smart last</a:t>
            </a:r>
          </a:p>
        </p:txBody>
      </p:sp>
      <p:sp>
        <p:nvSpPr>
          <p:cNvPr id="9" name="TextBox 8"/>
          <p:cNvSpPr txBox="1"/>
          <p:nvPr/>
        </p:nvSpPr>
        <p:spPr>
          <a:xfrm>
            <a:off x="640080" y="4023360"/>
            <a:ext cx="3657600" cy="292608"/>
          </a:xfrm>
          <a:prstGeom prst="rect">
            <a:avLst/>
          </a:prstGeom>
          <a:noFill/>
        </p:spPr>
        <p:txBody>
          <a:bodyPr wrap="square" lIns="45720" rIns="45720">
            <a:spAutoFit/>
          </a:bodyPr>
          <a:lstStyle/>
          <a:p>
            <a:pPr algn="l"/>
            <a:r>
              <a:rPr sz="1200" b="1">
                <a:solidFill>
                  <a:srgbClr val="E6EAF0"/>
                </a:solidFill>
                <a:latin typeface="Helvetica Neue"/>
              </a:rPr>
              <a:t>Tier 1 · Bloom filter</a:t>
            </a:r>
          </a:p>
        </p:txBody>
      </p:sp>
      <p:sp>
        <p:nvSpPr>
          <p:cNvPr id="10" name="TextBox 9"/>
          <p:cNvSpPr txBox="1"/>
          <p:nvPr/>
        </p:nvSpPr>
        <p:spPr>
          <a:xfrm>
            <a:off x="4389120" y="4023360"/>
            <a:ext cx="5486400" cy="292608"/>
          </a:xfrm>
          <a:prstGeom prst="rect">
            <a:avLst/>
          </a:prstGeom>
          <a:noFill/>
        </p:spPr>
        <p:txBody>
          <a:bodyPr wrap="square" lIns="45720" rIns="45720">
            <a:spAutoFit/>
          </a:bodyPr>
          <a:lstStyle/>
          <a:p>
            <a:pPr algn="l"/>
            <a:r>
              <a:rPr sz="1200" b="0">
                <a:solidFill>
                  <a:srgbClr val="8A95A5"/>
                </a:solidFill>
                <a:latin typeface="Helvetica Neue"/>
              </a:rPr>
              <a:t>Is this term even in the database?</a:t>
            </a:r>
          </a:p>
        </p:txBody>
      </p:sp>
      <p:sp>
        <p:nvSpPr>
          <p:cNvPr id="11" name="TextBox 10"/>
          <p:cNvSpPr txBox="1"/>
          <p:nvPr/>
        </p:nvSpPr>
        <p:spPr>
          <a:xfrm>
            <a:off x="10058400" y="4023360"/>
            <a:ext cx="1645920" cy="292608"/>
          </a:xfrm>
          <a:prstGeom prst="rect">
            <a:avLst/>
          </a:prstGeom>
          <a:noFill/>
        </p:spPr>
        <p:txBody>
          <a:bodyPr wrap="square" lIns="45720" rIns="45720">
            <a:spAutoFit/>
          </a:bodyPr>
          <a:lstStyle/>
          <a:p>
            <a:pPr algn="r"/>
            <a:r>
              <a:rPr sz="1200" b="0">
                <a:solidFill>
                  <a:srgbClr val="4AD09C"/>
                </a:solidFill>
                <a:latin typeface="Helvetica Neue"/>
              </a:rPr>
              <a:t>&lt;1 ms</a:t>
            </a:r>
          </a:p>
        </p:txBody>
      </p:sp>
      <p:sp>
        <p:nvSpPr>
          <p:cNvPr id="12" name="TextBox 11"/>
          <p:cNvSpPr txBox="1"/>
          <p:nvPr/>
        </p:nvSpPr>
        <p:spPr>
          <a:xfrm>
            <a:off x="640080" y="4526280"/>
            <a:ext cx="3657600" cy="292608"/>
          </a:xfrm>
          <a:prstGeom prst="rect">
            <a:avLst/>
          </a:prstGeom>
          <a:noFill/>
        </p:spPr>
        <p:txBody>
          <a:bodyPr wrap="square" lIns="45720" rIns="45720">
            <a:spAutoFit/>
          </a:bodyPr>
          <a:lstStyle/>
          <a:p>
            <a:pPr algn="l"/>
            <a:r>
              <a:rPr sz="1200" b="1">
                <a:solidFill>
                  <a:srgbClr val="E6EAF0"/>
                </a:solidFill>
                <a:latin typeface="Helvetica Neue"/>
              </a:rPr>
              <a:t>Tier 2 · Fuzzy match</a:t>
            </a:r>
          </a:p>
        </p:txBody>
      </p:sp>
      <p:sp>
        <p:nvSpPr>
          <p:cNvPr id="13" name="TextBox 12"/>
          <p:cNvSpPr txBox="1"/>
          <p:nvPr/>
        </p:nvSpPr>
        <p:spPr>
          <a:xfrm>
            <a:off x="4389120" y="4526280"/>
            <a:ext cx="5486400" cy="292608"/>
          </a:xfrm>
          <a:prstGeom prst="rect">
            <a:avLst/>
          </a:prstGeom>
          <a:noFill/>
        </p:spPr>
        <p:txBody>
          <a:bodyPr wrap="square" lIns="45720" rIns="45720">
            <a:spAutoFit/>
          </a:bodyPr>
          <a:lstStyle/>
          <a:p>
            <a:pPr algn="l"/>
            <a:r>
              <a:rPr sz="1200" b="0">
                <a:solidFill>
                  <a:srgbClr val="8A95A5"/>
                </a:solidFill>
                <a:latin typeface="Helvetica Neue"/>
              </a:rPr>
              <a:t>Handle typos: 'Hispanc' → 'Hispanic'</a:t>
            </a:r>
          </a:p>
        </p:txBody>
      </p:sp>
      <p:sp>
        <p:nvSpPr>
          <p:cNvPr id="14" name="TextBox 13"/>
          <p:cNvSpPr txBox="1"/>
          <p:nvPr/>
        </p:nvSpPr>
        <p:spPr>
          <a:xfrm>
            <a:off x="10058400" y="4526280"/>
            <a:ext cx="1645920" cy="292608"/>
          </a:xfrm>
          <a:prstGeom prst="rect">
            <a:avLst/>
          </a:prstGeom>
          <a:noFill/>
        </p:spPr>
        <p:txBody>
          <a:bodyPr wrap="square" lIns="45720" rIns="45720">
            <a:spAutoFit/>
          </a:bodyPr>
          <a:lstStyle/>
          <a:p>
            <a:pPr algn="r"/>
            <a:r>
              <a:rPr sz="1200" b="0">
                <a:solidFill>
                  <a:srgbClr val="4AD09C"/>
                </a:solidFill>
                <a:latin typeface="Helvetica Neue"/>
              </a:rPr>
              <a:t>5 ms</a:t>
            </a:r>
          </a:p>
        </p:txBody>
      </p:sp>
      <p:sp>
        <p:nvSpPr>
          <p:cNvPr id="15" name="TextBox 14"/>
          <p:cNvSpPr txBox="1"/>
          <p:nvPr/>
        </p:nvSpPr>
        <p:spPr>
          <a:xfrm>
            <a:off x="640080" y="5029200"/>
            <a:ext cx="3657600" cy="292608"/>
          </a:xfrm>
          <a:prstGeom prst="rect">
            <a:avLst/>
          </a:prstGeom>
          <a:noFill/>
        </p:spPr>
        <p:txBody>
          <a:bodyPr wrap="square" lIns="45720" rIns="45720">
            <a:spAutoFit/>
          </a:bodyPr>
          <a:lstStyle/>
          <a:p>
            <a:pPr algn="l"/>
            <a:r>
              <a:rPr sz="1200" b="1">
                <a:solidFill>
                  <a:srgbClr val="E6EAF0"/>
                </a:solidFill>
                <a:latin typeface="Helvetica Neue"/>
              </a:rPr>
              <a:t>Tier 3 · Semantic lookup</a:t>
            </a:r>
          </a:p>
        </p:txBody>
      </p:sp>
      <p:sp>
        <p:nvSpPr>
          <p:cNvPr id="16" name="TextBox 15"/>
          <p:cNvSpPr txBox="1"/>
          <p:nvPr/>
        </p:nvSpPr>
        <p:spPr>
          <a:xfrm>
            <a:off x="4389120" y="5029200"/>
            <a:ext cx="5486400" cy="292608"/>
          </a:xfrm>
          <a:prstGeom prst="rect">
            <a:avLst/>
          </a:prstGeom>
          <a:noFill/>
        </p:spPr>
        <p:txBody>
          <a:bodyPr wrap="square" lIns="45720" rIns="45720">
            <a:spAutoFit/>
          </a:bodyPr>
          <a:lstStyle/>
          <a:p>
            <a:pPr algn="l"/>
            <a:r>
              <a:rPr sz="1200" b="0">
                <a:solidFill>
                  <a:srgbClr val="8A95A5"/>
                </a:solidFill>
                <a:latin typeface="Helvetica Neue"/>
              </a:rPr>
              <a:t>Match meaning when spelling differs</a:t>
            </a:r>
          </a:p>
        </p:txBody>
      </p:sp>
      <p:sp>
        <p:nvSpPr>
          <p:cNvPr id="17" name="TextBox 16"/>
          <p:cNvSpPr txBox="1"/>
          <p:nvPr/>
        </p:nvSpPr>
        <p:spPr>
          <a:xfrm>
            <a:off x="10058400" y="5029200"/>
            <a:ext cx="1645920" cy="292608"/>
          </a:xfrm>
          <a:prstGeom prst="rect">
            <a:avLst/>
          </a:prstGeom>
          <a:noFill/>
        </p:spPr>
        <p:txBody>
          <a:bodyPr wrap="square" lIns="45720" rIns="45720">
            <a:spAutoFit/>
          </a:bodyPr>
          <a:lstStyle/>
          <a:p>
            <a:pPr algn="r"/>
            <a:r>
              <a:rPr sz="1200" b="0">
                <a:solidFill>
                  <a:srgbClr val="4AD09C"/>
                </a:solidFill>
                <a:latin typeface="Helvetica Neue"/>
              </a:rPr>
              <a:t>20 ms</a:t>
            </a:r>
          </a:p>
        </p:txBody>
      </p:sp>
      <p:sp>
        <p:nvSpPr>
          <p:cNvPr id="18" name="TextBox 17"/>
          <p:cNvSpPr txBox="1"/>
          <p:nvPr/>
        </p:nvSpPr>
        <p:spPr>
          <a:xfrm>
            <a:off x="640080" y="5532120"/>
            <a:ext cx="3657600" cy="292608"/>
          </a:xfrm>
          <a:prstGeom prst="rect">
            <a:avLst/>
          </a:prstGeom>
          <a:noFill/>
        </p:spPr>
        <p:txBody>
          <a:bodyPr wrap="square" lIns="45720" rIns="45720">
            <a:spAutoFit/>
          </a:bodyPr>
          <a:lstStyle/>
          <a:p>
            <a:pPr algn="l"/>
            <a:r>
              <a:rPr sz="1200" b="1">
                <a:solidFill>
                  <a:srgbClr val="E6EAF0"/>
                </a:solidFill>
                <a:latin typeface="Helvetica Neue"/>
              </a:rPr>
              <a:t>Tier 4 · LLM disambiguate</a:t>
            </a:r>
          </a:p>
        </p:txBody>
      </p:sp>
      <p:sp>
        <p:nvSpPr>
          <p:cNvPr id="19" name="TextBox 18"/>
          <p:cNvSpPr txBox="1"/>
          <p:nvPr/>
        </p:nvSpPr>
        <p:spPr>
          <a:xfrm>
            <a:off x="4389120" y="5532120"/>
            <a:ext cx="5486400" cy="292608"/>
          </a:xfrm>
          <a:prstGeom prst="rect">
            <a:avLst/>
          </a:prstGeom>
          <a:noFill/>
        </p:spPr>
        <p:txBody>
          <a:bodyPr wrap="square" lIns="45720" rIns="45720">
            <a:spAutoFit/>
          </a:bodyPr>
          <a:lstStyle/>
          <a:p>
            <a:pPr algn="l"/>
            <a:r>
              <a:rPr sz="1200" b="0">
                <a:solidFill>
                  <a:srgbClr val="8A95A5"/>
                </a:solidFill>
                <a:latin typeface="Helvetica Neue"/>
              </a:rPr>
              <a:t>When the value could mean two things, ask the model</a:t>
            </a:r>
          </a:p>
        </p:txBody>
      </p:sp>
      <p:sp>
        <p:nvSpPr>
          <p:cNvPr id="20" name="TextBox 19"/>
          <p:cNvSpPr txBox="1"/>
          <p:nvPr/>
        </p:nvSpPr>
        <p:spPr>
          <a:xfrm>
            <a:off x="10058400" y="5532120"/>
            <a:ext cx="1645920" cy="292608"/>
          </a:xfrm>
          <a:prstGeom prst="rect">
            <a:avLst/>
          </a:prstGeom>
          <a:noFill/>
        </p:spPr>
        <p:txBody>
          <a:bodyPr wrap="square" lIns="45720" rIns="45720">
            <a:spAutoFit/>
          </a:bodyPr>
          <a:lstStyle/>
          <a:p>
            <a:pPr algn="r"/>
            <a:r>
              <a:rPr sz="1200" b="0">
                <a:solidFill>
                  <a:srgbClr val="4AD09C"/>
                </a:solidFill>
                <a:latin typeface="Helvetica Neue"/>
              </a:rPr>
              <a:t>200 ms</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3 of 3</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Tier 1+2 expected to handle ~95% of cases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In progress · foreign-key graph</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F2B857"/>
                </a:solidFill>
                <a:latin typeface="Helvetica Neue"/>
              </a:rPr>
              <a:t>The Foreign-Key Graph</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How the platform figures out which JOINs make sense</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Working on the demo DB; weights, edge cases, and unknown-table handling still being tuned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the graph contains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Every Ed-Fi table and every relationship between them, weighted by closeness</a:t>
            </a:r>
          </a:p>
        </p:txBody>
      </p:sp>
      <p:sp>
        <p:nvSpPr>
          <p:cNvPr id="4" name="Rounded Rectangle 3"/>
          <p:cNvSpPr/>
          <p:nvPr/>
        </p:nvSpPr>
        <p:spPr>
          <a:xfrm>
            <a:off x="45720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600" b="1">
                <a:solidFill>
                  <a:srgbClr val="6EC1FF"/>
                </a:solidFill>
                <a:latin typeface="Helvetica Neue"/>
              </a:rPr>
              <a:t>By the numbers</a:t>
            </a:r>
          </a:p>
        </p:txBody>
      </p:sp>
      <p:sp>
        <p:nvSpPr>
          <p:cNvPr id="6" name="TextBox 5"/>
          <p:cNvSpPr txBox="1"/>
          <p:nvPr/>
        </p:nvSpPr>
        <p:spPr>
          <a:xfrm>
            <a:off x="640080" y="1965960"/>
            <a:ext cx="3108960" cy="310896"/>
          </a:xfrm>
          <a:prstGeom prst="rect">
            <a:avLst/>
          </a:prstGeom>
          <a:noFill/>
        </p:spPr>
        <p:txBody>
          <a:bodyPr wrap="square" lIns="45720" rIns="45720">
            <a:spAutoFit/>
          </a:bodyPr>
          <a:lstStyle/>
          <a:p>
            <a:pPr algn="l"/>
            <a:r>
              <a:rPr sz="1300" b="0">
                <a:solidFill>
                  <a:srgbClr val="8A95A5"/>
                </a:solidFill>
                <a:latin typeface="Helvetica Neue"/>
              </a:rPr>
              <a:t>Tables</a:t>
            </a:r>
          </a:p>
        </p:txBody>
      </p:sp>
      <p:sp>
        <p:nvSpPr>
          <p:cNvPr id="7" name="TextBox 6"/>
          <p:cNvSpPr txBox="1"/>
          <p:nvPr/>
        </p:nvSpPr>
        <p:spPr>
          <a:xfrm>
            <a:off x="3749039" y="1965960"/>
            <a:ext cx="1828800" cy="310896"/>
          </a:xfrm>
          <a:prstGeom prst="rect">
            <a:avLst/>
          </a:prstGeom>
          <a:noFill/>
        </p:spPr>
        <p:txBody>
          <a:bodyPr wrap="square" lIns="45720" rIns="45720">
            <a:spAutoFit/>
          </a:bodyPr>
          <a:lstStyle/>
          <a:p>
            <a:pPr algn="l"/>
            <a:r>
              <a:rPr sz="1300" b="1">
                <a:solidFill>
                  <a:srgbClr val="E6EAF0"/>
                </a:solidFill>
                <a:latin typeface="Helvetica Neue"/>
              </a:rPr>
              <a:t>1,048</a:t>
            </a:r>
          </a:p>
        </p:txBody>
      </p:sp>
      <p:sp>
        <p:nvSpPr>
          <p:cNvPr id="8" name="TextBox 7"/>
          <p:cNvSpPr txBox="1"/>
          <p:nvPr/>
        </p:nvSpPr>
        <p:spPr>
          <a:xfrm>
            <a:off x="640080" y="2468880"/>
            <a:ext cx="3108960" cy="310896"/>
          </a:xfrm>
          <a:prstGeom prst="rect">
            <a:avLst/>
          </a:prstGeom>
          <a:noFill/>
        </p:spPr>
        <p:txBody>
          <a:bodyPr wrap="square" lIns="45720" rIns="45720">
            <a:spAutoFit/>
          </a:bodyPr>
          <a:lstStyle/>
          <a:p>
            <a:pPr algn="l"/>
            <a:r>
              <a:rPr sz="1300" b="0">
                <a:solidFill>
                  <a:srgbClr val="8A95A5"/>
                </a:solidFill>
                <a:latin typeface="Helvetica Neue"/>
              </a:rPr>
              <a:t>Relationships (FKs)</a:t>
            </a:r>
          </a:p>
        </p:txBody>
      </p:sp>
      <p:sp>
        <p:nvSpPr>
          <p:cNvPr id="9" name="TextBox 8"/>
          <p:cNvSpPr txBox="1"/>
          <p:nvPr/>
        </p:nvSpPr>
        <p:spPr>
          <a:xfrm>
            <a:off x="3749039" y="2468880"/>
            <a:ext cx="1828800" cy="310896"/>
          </a:xfrm>
          <a:prstGeom prst="rect">
            <a:avLst/>
          </a:prstGeom>
          <a:noFill/>
        </p:spPr>
        <p:txBody>
          <a:bodyPr wrap="square" lIns="45720" rIns="45720">
            <a:spAutoFit/>
          </a:bodyPr>
          <a:lstStyle/>
          <a:p>
            <a:pPr algn="l"/>
            <a:r>
              <a:rPr sz="1300" b="1">
                <a:solidFill>
                  <a:srgbClr val="E6EAF0"/>
                </a:solidFill>
                <a:latin typeface="Helvetica Neue"/>
              </a:rPr>
              <a:t>~1,900</a:t>
            </a:r>
          </a:p>
        </p:txBody>
      </p:sp>
      <p:sp>
        <p:nvSpPr>
          <p:cNvPr id="10" name="TextBox 9"/>
          <p:cNvSpPr txBox="1"/>
          <p:nvPr/>
        </p:nvSpPr>
        <p:spPr>
          <a:xfrm>
            <a:off x="640080" y="2971800"/>
            <a:ext cx="3108960" cy="310896"/>
          </a:xfrm>
          <a:prstGeom prst="rect">
            <a:avLst/>
          </a:prstGeom>
          <a:noFill/>
        </p:spPr>
        <p:txBody>
          <a:bodyPr wrap="square" lIns="45720" rIns="45720">
            <a:spAutoFit/>
          </a:bodyPr>
          <a:lstStyle/>
          <a:p>
            <a:pPr algn="l"/>
            <a:r>
              <a:rPr sz="1300" b="0">
                <a:solidFill>
                  <a:srgbClr val="8A95A5"/>
                </a:solidFill>
                <a:latin typeface="Helvetica Neue"/>
              </a:rPr>
              <a:t>Domains</a:t>
            </a:r>
          </a:p>
        </p:txBody>
      </p:sp>
      <p:sp>
        <p:nvSpPr>
          <p:cNvPr id="11" name="TextBox 10"/>
          <p:cNvSpPr txBox="1"/>
          <p:nvPr/>
        </p:nvSpPr>
        <p:spPr>
          <a:xfrm>
            <a:off x="3749039" y="2971800"/>
            <a:ext cx="1828800" cy="310896"/>
          </a:xfrm>
          <a:prstGeom prst="rect">
            <a:avLst/>
          </a:prstGeom>
          <a:noFill/>
        </p:spPr>
        <p:txBody>
          <a:bodyPr wrap="square" lIns="45720" rIns="45720">
            <a:spAutoFit/>
          </a:bodyPr>
          <a:lstStyle/>
          <a:p>
            <a:pPr algn="l"/>
            <a:r>
              <a:rPr sz="1300" b="1">
                <a:solidFill>
                  <a:srgbClr val="E6EAF0"/>
                </a:solidFill>
                <a:latin typeface="Helvetica Neue"/>
              </a:rPr>
              <a:t>35</a:t>
            </a:r>
          </a:p>
        </p:txBody>
      </p:sp>
      <p:sp>
        <p:nvSpPr>
          <p:cNvPr id="12" name="TextBox 11"/>
          <p:cNvSpPr txBox="1"/>
          <p:nvPr/>
        </p:nvSpPr>
        <p:spPr>
          <a:xfrm>
            <a:off x="640080" y="3474720"/>
            <a:ext cx="3108960" cy="310896"/>
          </a:xfrm>
          <a:prstGeom prst="rect">
            <a:avLst/>
          </a:prstGeom>
          <a:noFill/>
        </p:spPr>
        <p:txBody>
          <a:bodyPr wrap="square" lIns="45720" rIns="45720">
            <a:spAutoFit/>
          </a:bodyPr>
          <a:lstStyle/>
          <a:p>
            <a:pPr algn="l"/>
            <a:r>
              <a:rPr sz="1300" b="0">
                <a:solidFill>
                  <a:srgbClr val="8A95A5"/>
                </a:solidFill>
                <a:latin typeface="Helvetica Neue"/>
              </a:rPr>
              <a:t>Storage on disk</a:t>
            </a:r>
          </a:p>
        </p:txBody>
      </p:sp>
      <p:sp>
        <p:nvSpPr>
          <p:cNvPr id="13" name="TextBox 12"/>
          <p:cNvSpPr txBox="1"/>
          <p:nvPr/>
        </p:nvSpPr>
        <p:spPr>
          <a:xfrm>
            <a:off x="3749039" y="3474720"/>
            <a:ext cx="1828800" cy="310896"/>
          </a:xfrm>
          <a:prstGeom prst="rect">
            <a:avLst/>
          </a:prstGeom>
          <a:noFill/>
        </p:spPr>
        <p:txBody>
          <a:bodyPr wrap="square" lIns="45720" rIns="45720">
            <a:spAutoFit/>
          </a:bodyPr>
          <a:lstStyle/>
          <a:p>
            <a:pPr algn="l"/>
            <a:r>
              <a:rPr sz="1300" b="1">
                <a:solidFill>
                  <a:srgbClr val="E6EAF0"/>
                </a:solidFill>
                <a:latin typeface="Helvetica Neue"/>
              </a:rPr>
              <a:t>&lt;10 MB</a:t>
            </a:r>
          </a:p>
        </p:txBody>
      </p:sp>
      <p:sp>
        <p:nvSpPr>
          <p:cNvPr id="14" name="TextBox 13"/>
          <p:cNvSpPr txBox="1"/>
          <p:nvPr/>
        </p:nvSpPr>
        <p:spPr>
          <a:xfrm>
            <a:off x="640080" y="3977639"/>
            <a:ext cx="3108960" cy="310896"/>
          </a:xfrm>
          <a:prstGeom prst="rect">
            <a:avLst/>
          </a:prstGeom>
          <a:noFill/>
        </p:spPr>
        <p:txBody>
          <a:bodyPr wrap="square" lIns="45720" rIns="45720">
            <a:spAutoFit/>
          </a:bodyPr>
          <a:lstStyle/>
          <a:p>
            <a:pPr algn="l"/>
            <a:r>
              <a:rPr sz="1300" b="0">
                <a:solidFill>
                  <a:srgbClr val="8A95A5"/>
                </a:solidFill>
                <a:latin typeface="Helvetica Neue"/>
              </a:rPr>
              <a:t>Load time at startup</a:t>
            </a:r>
          </a:p>
        </p:txBody>
      </p:sp>
      <p:sp>
        <p:nvSpPr>
          <p:cNvPr id="15" name="TextBox 14"/>
          <p:cNvSpPr txBox="1"/>
          <p:nvPr/>
        </p:nvSpPr>
        <p:spPr>
          <a:xfrm>
            <a:off x="3749039" y="3977639"/>
            <a:ext cx="1828800" cy="310896"/>
          </a:xfrm>
          <a:prstGeom prst="rect">
            <a:avLst/>
          </a:prstGeom>
          <a:noFill/>
        </p:spPr>
        <p:txBody>
          <a:bodyPr wrap="square" lIns="45720" rIns="45720">
            <a:spAutoFit/>
          </a:bodyPr>
          <a:lstStyle/>
          <a:p>
            <a:pPr algn="l"/>
            <a:r>
              <a:rPr sz="1300" b="1">
                <a:solidFill>
                  <a:srgbClr val="E6EAF0"/>
                </a:solidFill>
                <a:latin typeface="Helvetica Neue"/>
              </a:rPr>
              <a:t>&lt;100 ms</a:t>
            </a:r>
          </a:p>
        </p:txBody>
      </p:sp>
      <p:sp>
        <p:nvSpPr>
          <p:cNvPr id="16" name="TextBox 15"/>
          <p:cNvSpPr txBox="1"/>
          <p:nvPr/>
        </p:nvSpPr>
        <p:spPr>
          <a:xfrm>
            <a:off x="640080" y="4480559"/>
            <a:ext cx="3108960" cy="310896"/>
          </a:xfrm>
          <a:prstGeom prst="rect">
            <a:avLst/>
          </a:prstGeom>
          <a:noFill/>
        </p:spPr>
        <p:txBody>
          <a:bodyPr wrap="square" lIns="45720" rIns="45720">
            <a:spAutoFit/>
          </a:bodyPr>
          <a:lstStyle/>
          <a:p>
            <a:pPr algn="l"/>
            <a:r>
              <a:rPr sz="1300" b="0">
                <a:solidFill>
                  <a:srgbClr val="8A95A5"/>
                </a:solidFill>
                <a:latin typeface="Helvetica Neue"/>
              </a:rPr>
              <a:t>Find best join (k=2)</a:t>
            </a:r>
          </a:p>
        </p:txBody>
      </p:sp>
      <p:sp>
        <p:nvSpPr>
          <p:cNvPr id="17" name="TextBox 16"/>
          <p:cNvSpPr txBox="1"/>
          <p:nvPr/>
        </p:nvSpPr>
        <p:spPr>
          <a:xfrm>
            <a:off x="3749039" y="4480559"/>
            <a:ext cx="1828800" cy="310896"/>
          </a:xfrm>
          <a:prstGeom prst="rect">
            <a:avLst/>
          </a:prstGeom>
          <a:noFill/>
        </p:spPr>
        <p:txBody>
          <a:bodyPr wrap="square" lIns="45720" rIns="45720">
            <a:spAutoFit/>
          </a:bodyPr>
          <a:lstStyle/>
          <a:p>
            <a:pPr algn="l"/>
            <a:r>
              <a:rPr sz="1300" b="1">
                <a:solidFill>
                  <a:srgbClr val="E6EAF0"/>
                </a:solidFill>
                <a:latin typeface="Helvetica Neue"/>
              </a:rPr>
              <a:t>&lt;5 ms</a:t>
            </a:r>
          </a:p>
        </p:txBody>
      </p:sp>
      <p:sp>
        <p:nvSpPr>
          <p:cNvPr id="18" name="TextBox 17"/>
          <p:cNvSpPr txBox="1"/>
          <p:nvPr/>
        </p:nvSpPr>
        <p:spPr>
          <a:xfrm>
            <a:off x="640080" y="4983479"/>
            <a:ext cx="3108960" cy="310896"/>
          </a:xfrm>
          <a:prstGeom prst="rect">
            <a:avLst/>
          </a:prstGeom>
          <a:noFill/>
        </p:spPr>
        <p:txBody>
          <a:bodyPr wrap="square" lIns="45720" rIns="45720">
            <a:spAutoFit/>
          </a:bodyPr>
          <a:lstStyle/>
          <a:p>
            <a:pPr algn="l"/>
            <a:r>
              <a:rPr sz="1300" b="0">
                <a:solidFill>
                  <a:srgbClr val="8A95A5"/>
                </a:solidFill>
                <a:latin typeface="Helvetica Neue"/>
              </a:rPr>
              <a:t>Find best join tree</a:t>
            </a:r>
          </a:p>
        </p:txBody>
      </p:sp>
      <p:sp>
        <p:nvSpPr>
          <p:cNvPr id="19" name="TextBox 18"/>
          <p:cNvSpPr txBox="1"/>
          <p:nvPr/>
        </p:nvSpPr>
        <p:spPr>
          <a:xfrm>
            <a:off x="3749039" y="4983479"/>
            <a:ext cx="1828800" cy="310896"/>
          </a:xfrm>
          <a:prstGeom prst="rect">
            <a:avLst/>
          </a:prstGeom>
          <a:noFill/>
        </p:spPr>
        <p:txBody>
          <a:bodyPr wrap="square" lIns="45720" rIns="45720">
            <a:spAutoFit/>
          </a:bodyPr>
          <a:lstStyle/>
          <a:p>
            <a:pPr algn="l"/>
            <a:r>
              <a:rPr sz="1300" b="1">
                <a:solidFill>
                  <a:srgbClr val="E6EAF0"/>
                </a:solidFill>
                <a:latin typeface="Helvetica Neue"/>
              </a:rPr>
              <a:t>&lt;50 ms typical</a:t>
            </a:r>
          </a:p>
        </p:txBody>
      </p:sp>
      <p:sp>
        <p:nvSpPr>
          <p:cNvPr id="20" name="Rounded Rectangle 19"/>
          <p:cNvSpPr/>
          <p:nvPr/>
        </p:nvSpPr>
        <p:spPr>
          <a:xfrm>
            <a:off x="626364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1554480"/>
            <a:ext cx="5120640" cy="365760"/>
          </a:xfrm>
          <a:prstGeom prst="rect">
            <a:avLst/>
          </a:prstGeom>
          <a:noFill/>
        </p:spPr>
        <p:txBody>
          <a:bodyPr wrap="square" lIns="45720" rIns="45720">
            <a:spAutoFit/>
          </a:bodyPr>
          <a:lstStyle/>
          <a:p>
            <a:pPr algn="l"/>
            <a:r>
              <a:rPr sz="1600" b="1">
                <a:solidFill>
                  <a:srgbClr val="F2B857"/>
                </a:solidFill>
                <a:latin typeface="Helvetica Neue"/>
              </a:rPr>
              <a:t>How relationships are weighted</a:t>
            </a:r>
          </a:p>
        </p:txBody>
      </p:sp>
      <p:sp>
        <p:nvSpPr>
          <p:cNvPr id="22" name="TextBox 21"/>
          <p:cNvSpPr txBox="1"/>
          <p:nvPr/>
        </p:nvSpPr>
        <p:spPr>
          <a:xfrm>
            <a:off x="6446520" y="1965960"/>
            <a:ext cx="5120640" cy="4114800"/>
          </a:xfrm>
          <a:prstGeom prst="rect">
            <a:avLst/>
          </a:prstGeom>
          <a:noFill/>
        </p:spPr>
        <p:txBody>
          <a:bodyPr wrap="square">
            <a:spAutoFit/>
          </a:bodyPr>
          <a:lstStyle/>
          <a:p>
            <a:pPr algn="l">
              <a:spcAft>
                <a:spcPts val="400"/>
              </a:spcAft>
            </a:pPr>
            <a:r>
              <a:rPr sz="1300">
                <a:solidFill>
                  <a:srgbClr val="E6EAF0"/>
                </a:solidFill>
                <a:latin typeface="Helvetica Neue"/>
              </a:rPr>
              <a:t>• Inside the same Ed-Fi entity (e.g. Student): cheapest</a:t>
            </a:r>
          </a:p>
          <a:p>
            <a:pPr algn="l">
              <a:spcAft>
                <a:spcPts val="400"/>
              </a:spcAft>
            </a:pPr>
            <a:r>
              <a:rPr sz="1300">
                <a:solidFill>
                  <a:srgbClr val="E6EAF0"/>
                </a:solidFill>
                <a:latin typeface="Helvetica Neue"/>
              </a:rPr>
              <a:t>• Between related entities: more expensive</a:t>
            </a:r>
          </a:p>
          <a:p>
            <a:pPr algn="l">
              <a:spcAft>
                <a:spcPts val="400"/>
              </a:spcAft>
            </a:pPr>
            <a:r>
              <a:rPr sz="1300">
                <a:solidFill>
                  <a:srgbClr val="E6EAF0"/>
                </a:solidFill>
                <a:latin typeface="Helvetica Neue"/>
              </a:rPr>
              <a:t>• Between unrelated domains: most expensive</a:t>
            </a:r>
          </a:p>
          <a:p>
            <a:pPr algn="l">
              <a:spcAft>
                <a:spcPts val="400"/>
              </a:spcAft>
            </a:pPr>
            <a:r>
              <a:rPr sz="1300">
                <a:solidFill>
                  <a:srgbClr val="E6EAF0"/>
                </a:solidFill>
                <a:latin typeface="Helvetica Neue"/>
              </a:rPr>
              <a:t>• Multi-column keys earn a small bonus</a:t>
            </a:r>
          </a:p>
          <a:p>
            <a:pPr algn="l">
              <a:spcAft>
                <a:spcPts val="400"/>
              </a:spcAft>
            </a:pPr>
            <a:r>
              <a:rPr sz="1300">
                <a:solidFill>
                  <a:srgbClr val="E6EAF0"/>
                </a:solidFill>
                <a:latin typeface="Helvetica Neue"/>
              </a:rPr>
              <a:t>• Custom / non-Ed-Fi tables: handled with caution</a:t>
            </a:r>
          </a:p>
        </p:txBody>
      </p:sp>
      <p:sp>
        <p:nvSpPr>
          <p:cNvPr id="23" name="TextBox 22"/>
          <p:cNvSpPr txBox="1"/>
          <p:nvPr/>
        </p:nvSpPr>
        <p:spPr>
          <a:xfrm>
            <a:off x="6446520" y="5669280"/>
            <a:ext cx="5120640" cy="365760"/>
          </a:xfrm>
          <a:prstGeom prst="rect">
            <a:avLst/>
          </a:prstGeom>
          <a:noFill/>
        </p:spPr>
        <p:txBody>
          <a:bodyPr wrap="square" lIns="45720" rIns="45720">
            <a:spAutoFit/>
          </a:bodyPr>
          <a:lstStyle/>
          <a:p>
            <a:pPr algn="l"/>
            <a:r>
              <a:rPr sz="1200" b="0">
                <a:solidFill>
                  <a:srgbClr val="4AD09C"/>
                </a:solidFill>
                <a:latin typeface="Helvetica Neue"/>
              </a:rPr>
              <a:t>Net effect: joins follow the natural shape of Ed-Fi.</a:t>
            </a:r>
          </a:p>
        </p:txBody>
      </p:sp>
      <p:sp>
        <p:nvSpPr>
          <p:cNvPr id="24" name="TextBox 23"/>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Foreign-Key Graph · 1 of 2</a:t>
            </a:r>
          </a:p>
        </p:txBody>
      </p:sp>
      <p:sp>
        <p:nvSpPr>
          <p:cNvPr id="25" name="TextBox 24"/>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Finding the best join path</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 classical computer-science problem, solved three ways</a:t>
            </a:r>
          </a:p>
        </p:txBody>
      </p:sp>
      <p:sp>
        <p:nvSpPr>
          <p:cNvPr id="4" name="Rounded Rectangle 3"/>
          <p:cNvSpPr/>
          <p:nvPr/>
        </p:nvSpPr>
        <p:spPr>
          <a:xfrm>
            <a:off x="457200" y="1463040"/>
            <a:ext cx="11247120" cy="17373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F2B857"/>
                </a:solidFill>
                <a:latin typeface="Helvetica Neue"/>
              </a:rPr>
              <a:t>The challenge</a:t>
            </a:r>
          </a:p>
        </p:txBody>
      </p:sp>
      <p:sp>
        <p:nvSpPr>
          <p:cNvPr id="6" name="TextBox 5"/>
          <p:cNvSpPr txBox="1"/>
          <p:nvPr/>
        </p:nvSpPr>
        <p:spPr>
          <a:xfrm>
            <a:off x="640080" y="1965960"/>
            <a:ext cx="10972800" cy="1371600"/>
          </a:xfrm>
          <a:prstGeom prst="rect">
            <a:avLst/>
          </a:prstGeom>
          <a:noFill/>
        </p:spPr>
        <p:txBody>
          <a:bodyPr wrap="square">
            <a:spAutoFit/>
          </a:bodyPr>
          <a:lstStyle/>
          <a:p>
            <a:pPr algn="l">
              <a:spcAft>
                <a:spcPts val="400"/>
              </a:spcAft>
            </a:pPr>
            <a:r>
              <a:rPr sz="1200">
                <a:solidFill>
                  <a:srgbClr val="E6EAF0"/>
                </a:solidFill>
                <a:latin typeface="Helvetica Neue"/>
              </a:rPr>
              <a:t>• Given the small set of tables semantic has chosen, find the cheapest JOIN tree connecting them</a:t>
            </a:r>
          </a:p>
          <a:p>
            <a:pPr algn="l">
              <a:spcAft>
                <a:spcPts val="400"/>
              </a:spcAft>
            </a:pPr>
            <a:r>
              <a:rPr sz="1200">
                <a:solidFill>
                  <a:srgbClr val="E6EAF0"/>
                </a:solidFill>
                <a:latin typeface="Helvetica Neue"/>
              </a:rPr>
              <a:t>• Optimal solutions are mathematically expensive; we use proven approximations</a:t>
            </a:r>
          </a:p>
        </p:txBody>
      </p:sp>
      <p:sp>
        <p:nvSpPr>
          <p:cNvPr id="7" name="Rounded Rectangle 6"/>
          <p:cNvSpPr/>
          <p:nvPr/>
        </p:nvSpPr>
        <p:spPr>
          <a:xfrm>
            <a:off x="457200" y="3383280"/>
            <a:ext cx="11247120" cy="29260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474720"/>
            <a:ext cx="3291840" cy="310896"/>
          </a:xfrm>
          <a:prstGeom prst="rect">
            <a:avLst/>
          </a:prstGeom>
          <a:noFill/>
        </p:spPr>
        <p:txBody>
          <a:bodyPr wrap="square" lIns="45720" rIns="45720">
            <a:spAutoFit/>
          </a:bodyPr>
          <a:lstStyle/>
          <a:p>
            <a:pPr algn="l"/>
            <a:r>
              <a:rPr sz="1300" b="1">
                <a:solidFill>
                  <a:srgbClr val="E6EAF0"/>
                </a:solidFill>
                <a:latin typeface="Helvetica Neue"/>
              </a:rPr>
              <a:t>Connecting 2 tables</a:t>
            </a:r>
          </a:p>
        </p:txBody>
      </p:sp>
      <p:sp>
        <p:nvSpPr>
          <p:cNvPr id="9" name="TextBox 8"/>
          <p:cNvSpPr txBox="1"/>
          <p:nvPr/>
        </p:nvSpPr>
        <p:spPr>
          <a:xfrm>
            <a:off x="4023360" y="3474720"/>
            <a:ext cx="6126480" cy="640080"/>
          </a:xfrm>
          <a:prstGeom prst="rect">
            <a:avLst/>
          </a:prstGeom>
          <a:noFill/>
        </p:spPr>
        <p:txBody>
          <a:bodyPr wrap="square" lIns="45720" rIns="45720">
            <a:spAutoFit/>
          </a:bodyPr>
          <a:lstStyle/>
          <a:p>
            <a:pPr algn="l"/>
            <a:r>
              <a:rPr sz="1200" b="0">
                <a:solidFill>
                  <a:srgbClr val="8A95A5"/>
                </a:solidFill>
                <a:latin typeface="Helvetica Neue"/>
              </a:rPr>
              <a:t>Bidirectional shortest-path; returns three alternatives so the model picks the most readable</a:t>
            </a:r>
          </a:p>
        </p:txBody>
      </p:sp>
      <p:sp>
        <p:nvSpPr>
          <p:cNvPr id="10" name="TextBox 9"/>
          <p:cNvSpPr txBox="1"/>
          <p:nvPr/>
        </p:nvSpPr>
        <p:spPr>
          <a:xfrm>
            <a:off x="9692640" y="3749039"/>
            <a:ext cx="2103120" cy="310896"/>
          </a:xfrm>
          <a:prstGeom prst="rect">
            <a:avLst/>
          </a:prstGeom>
          <a:noFill/>
        </p:spPr>
        <p:txBody>
          <a:bodyPr wrap="square" lIns="45720" rIns="45720">
            <a:spAutoFit/>
          </a:bodyPr>
          <a:lstStyle/>
          <a:p>
            <a:pPr algn="r"/>
            <a:r>
              <a:rPr sz="1200" b="0">
                <a:solidFill>
                  <a:srgbClr val="F2B857"/>
                </a:solidFill>
                <a:latin typeface="Helvetica Neue"/>
              </a:rPr>
              <a:t>target &lt;5 ms</a:t>
            </a:r>
          </a:p>
        </p:txBody>
      </p:sp>
      <p:sp>
        <p:nvSpPr>
          <p:cNvPr id="11" name="TextBox 10"/>
          <p:cNvSpPr txBox="1"/>
          <p:nvPr/>
        </p:nvSpPr>
        <p:spPr>
          <a:xfrm>
            <a:off x="640080" y="4389120"/>
            <a:ext cx="3291840" cy="310896"/>
          </a:xfrm>
          <a:prstGeom prst="rect">
            <a:avLst/>
          </a:prstGeom>
          <a:noFill/>
        </p:spPr>
        <p:txBody>
          <a:bodyPr wrap="square" lIns="45720" rIns="45720">
            <a:spAutoFit/>
          </a:bodyPr>
          <a:lstStyle/>
          <a:p>
            <a:pPr algn="l"/>
            <a:r>
              <a:rPr sz="1300" b="1">
                <a:solidFill>
                  <a:srgbClr val="E6EAF0"/>
                </a:solidFill>
                <a:latin typeface="Helvetica Neue"/>
              </a:rPr>
              <a:t>Connecting 3–8 tables</a:t>
            </a:r>
          </a:p>
        </p:txBody>
      </p:sp>
      <p:sp>
        <p:nvSpPr>
          <p:cNvPr id="12" name="TextBox 11"/>
          <p:cNvSpPr txBox="1"/>
          <p:nvPr/>
        </p:nvSpPr>
        <p:spPr>
          <a:xfrm>
            <a:off x="4023360" y="4389120"/>
            <a:ext cx="6126480" cy="640080"/>
          </a:xfrm>
          <a:prstGeom prst="rect">
            <a:avLst/>
          </a:prstGeom>
          <a:noFill/>
        </p:spPr>
        <p:txBody>
          <a:bodyPr wrap="square" lIns="45720" rIns="45720">
            <a:spAutoFit/>
          </a:bodyPr>
          <a:lstStyle/>
          <a:p>
            <a:pPr algn="l"/>
            <a:r>
              <a:rPr sz="1200" b="0">
                <a:solidFill>
                  <a:srgbClr val="8A95A5"/>
                </a:solidFill>
                <a:latin typeface="Helvetica Neue"/>
              </a:rPr>
              <a:t>Steiner-tree approximation (KMB) — provably within 2× of optimal</a:t>
            </a:r>
          </a:p>
        </p:txBody>
      </p:sp>
      <p:sp>
        <p:nvSpPr>
          <p:cNvPr id="13" name="TextBox 12"/>
          <p:cNvSpPr txBox="1"/>
          <p:nvPr/>
        </p:nvSpPr>
        <p:spPr>
          <a:xfrm>
            <a:off x="9692640" y="4663440"/>
            <a:ext cx="2103120" cy="310896"/>
          </a:xfrm>
          <a:prstGeom prst="rect">
            <a:avLst/>
          </a:prstGeom>
          <a:noFill/>
        </p:spPr>
        <p:txBody>
          <a:bodyPr wrap="square" lIns="45720" rIns="45720">
            <a:spAutoFit/>
          </a:bodyPr>
          <a:lstStyle/>
          <a:p>
            <a:pPr algn="r"/>
            <a:r>
              <a:rPr sz="1200" b="0">
                <a:solidFill>
                  <a:srgbClr val="F2B857"/>
                </a:solidFill>
                <a:latin typeface="Helvetica Neue"/>
              </a:rPr>
              <a:t>target &lt;50 ms</a:t>
            </a:r>
          </a:p>
        </p:txBody>
      </p:sp>
      <p:sp>
        <p:nvSpPr>
          <p:cNvPr id="14" name="TextBox 13"/>
          <p:cNvSpPr txBox="1"/>
          <p:nvPr/>
        </p:nvSpPr>
        <p:spPr>
          <a:xfrm>
            <a:off x="640080" y="5303520"/>
            <a:ext cx="3291840" cy="310896"/>
          </a:xfrm>
          <a:prstGeom prst="rect">
            <a:avLst/>
          </a:prstGeom>
          <a:noFill/>
        </p:spPr>
        <p:txBody>
          <a:bodyPr wrap="square" lIns="45720" rIns="45720">
            <a:spAutoFit/>
          </a:bodyPr>
          <a:lstStyle/>
          <a:p>
            <a:pPr algn="l"/>
            <a:r>
              <a:rPr sz="1300" b="1">
                <a:solidFill>
                  <a:srgbClr val="E6EAF0"/>
                </a:solidFill>
                <a:latin typeface="Helvetica Neue"/>
              </a:rPr>
              <a:t>Edge cases (&gt;8 tables)</a:t>
            </a:r>
          </a:p>
        </p:txBody>
      </p:sp>
      <p:sp>
        <p:nvSpPr>
          <p:cNvPr id="15" name="TextBox 14"/>
          <p:cNvSpPr txBox="1"/>
          <p:nvPr/>
        </p:nvSpPr>
        <p:spPr>
          <a:xfrm>
            <a:off x="4023360" y="5303520"/>
            <a:ext cx="6126480" cy="640080"/>
          </a:xfrm>
          <a:prstGeom prst="rect">
            <a:avLst/>
          </a:prstGeom>
          <a:noFill/>
        </p:spPr>
        <p:txBody>
          <a:bodyPr wrap="square" lIns="45720" rIns="45720">
            <a:spAutoFit/>
          </a:bodyPr>
          <a:lstStyle/>
          <a:p>
            <a:pPr algn="l"/>
            <a:r>
              <a:rPr sz="1200" b="0">
                <a:solidFill>
                  <a:srgbClr val="8A95A5"/>
                </a:solidFill>
                <a:latin typeface="Helvetica Neue"/>
              </a:rPr>
              <a:t>Greedy fallback; rare on real Ed-Fi questions</a:t>
            </a:r>
          </a:p>
        </p:txBody>
      </p:sp>
      <p:sp>
        <p:nvSpPr>
          <p:cNvPr id="16" name="TextBox 15"/>
          <p:cNvSpPr txBox="1"/>
          <p:nvPr/>
        </p:nvSpPr>
        <p:spPr>
          <a:xfrm>
            <a:off x="9692640" y="5577840"/>
            <a:ext cx="2103120" cy="310896"/>
          </a:xfrm>
          <a:prstGeom prst="rect">
            <a:avLst/>
          </a:prstGeom>
          <a:noFill/>
        </p:spPr>
        <p:txBody>
          <a:bodyPr wrap="square" lIns="45720" rIns="45720">
            <a:spAutoFit/>
          </a:bodyPr>
          <a:lstStyle/>
          <a:p>
            <a:pPr algn="r"/>
            <a:r>
              <a:rPr sz="1200" b="0">
                <a:solidFill>
                  <a:srgbClr val="F2B857"/>
                </a:solidFill>
                <a:latin typeface="Helvetica Neue"/>
              </a:rPr>
              <a:t>target &lt;200 ms</a:t>
            </a:r>
          </a:p>
        </p:txBody>
      </p:sp>
      <p:sp>
        <p:nvSpPr>
          <p:cNvPr id="17" name="TextBox 1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Foreign-Key Graph · 2 of 2</a:t>
            </a:r>
          </a:p>
        </p:txBody>
      </p:sp>
      <p:sp>
        <p:nvSpPr>
          <p:cNvPr id="18" name="TextBox 1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194560"/>
            <a:ext cx="10698480" cy="548640"/>
          </a:xfrm>
          <a:prstGeom prst="rect">
            <a:avLst/>
          </a:prstGeom>
          <a:noFill/>
        </p:spPr>
        <p:txBody>
          <a:bodyPr wrap="square" lIns="45720" rIns="45720">
            <a:spAutoFit/>
          </a:bodyPr>
          <a:lstStyle/>
          <a:p>
            <a:pPr algn="l"/>
            <a:r>
              <a:rPr sz="1800" b="0">
                <a:solidFill>
                  <a:srgbClr val="8A95A5"/>
                </a:solidFill>
                <a:latin typeface="Helvetica Neue"/>
              </a:rPr>
              <a:t>What ships next</a:t>
            </a:r>
          </a:p>
        </p:txBody>
      </p:sp>
      <p:sp>
        <p:nvSpPr>
          <p:cNvPr id="3" name="TextBox 2"/>
          <p:cNvSpPr txBox="1"/>
          <p:nvPr/>
        </p:nvSpPr>
        <p:spPr>
          <a:xfrm>
            <a:off x="731520" y="2697480"/>
            <a:ext cx="10698480" cy="914400"/>
          </a:xfrm>
          <a:prstGeom prst="rect">
            <a:avLst/>
          </a:prstGeom>
          <a:noFill/>
        </p:spPr>
        <p:txBody>
          <a:bodyPr wrap="square" lIns="45720" rIns="45720">
            <a:spAutoFit/>
          </a:bodyPr>
          <a:lstStyle/>
          <a:p>
            <a:pPr algn="l"/>
            <a:r>
              <a:rPr sz="4200" b="1">
                <a:solidFill>
                  <a:srgbClr val="F2B857"/>
                </a:solidFill>
                <a:latin typeface="Helvetica Neue"/>
              </a:rPr>
              <a:t>Five workstreams to demo</a:t>
            </a:r>
          </a:p>
        </p:txBody>
      </p:sp>
      <p:sp>
        <p:nvSpPr>
          <p:cNvPr id="4" name="TextBox 3"/>
          <p:cNvSpPr txBox="1"/>
          <p:nvPr/>
        </p:nvSpPr>
        <p:spPr>
          <a:xfrm>
            <a:off x="731520" y="3611880"/>
            <a:ext cx="10698480" cy="457200"/>
          </a:xfrm>
          <a:prstGeom prst="rect">
            <a:avLst/>
          </a:prstGeom>
          <a:noFill/>
        </p:spPr>
        <p:txBody>
          <a:bodyPr wrap="square" lIns="45720" rIns="45720">
            <a:spAutoFit/>
          </a:bodyPr>
          <a:lstStyle/>
          <a:p>
            <a:pPr algn="l"/>
            <a:r>
              <a:rPr sz="1800" b="0">
                <a:solidFill>
                  <a:srgbClr val="E6EAF0"/>
                </a:solidFill>
                <a:latin typeface="Helvetica Neue"/>
              </a:rPr>
              <a:t>Question pipeline · Validation · Charts · UI · Hardening</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6 working days · Apr 30 → Fri May 8 · May 1 holiday + weekends excluded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Five workstreams in detail</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What each one means for the demo</a:t>
            </a:r>
          </a:p>
        </p:txBody>
      </p:sp>
      <p:sp>
        <p:nvSpPr>
          <p:cNvPr id="4" name="Rounded Rectangle 3"/>
          <p:cNvSpPr/>
          <p:nvPr/>
        </p:nvSpPr>
        <p:spPr>
          <a:xfrm>
            <a:off x="457200" y="1463040"/>
            <a:ext cx="1124712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72800" cy="320040"/>
          </a:xfrm>
          <a:prstGeom prst="rect">
            <a:avLst/>
          </a:prstGeom>
          <a:noFill/>
        </p:spPr>
        <p:txBody>
          <a:bodyPr wrap="square" lIns="45720" rIns="45720">
            <a:spAutoFit/>
          </a:bodyPr>
          <a:lstStyle/>
          <a:p>
            <a:pPr algn="l"/>
            <a:r>
              <a:rPr sz="1400" b="1">
                <a:solidFill>
                  <a:srgbClr val="6EC1FF"/>
                </a:solidFill>
                <a:latin typeface="Helvetica Neue"/>
              </a:rPr>
              <a:t>1.  Question → SQL pipeline</a:t>
            </a:r>
          </a:p>
        </p:txBody>
      </p:sp>
      <p:sp>
        <p:nvSpPr>
          <p:cNvPr id="6" name="TextBox 5"/>
          <p:cNvSpPr txBox="1"/>
          <p:nvPr/>
        </p:nvSpPr>
        <p:spPr>
          <a:xfrm>
            <a:off x="822960" y="1938528"/>
            <a:ext cx="10789920" cy="640080"/>
          </a:xfrm>
          <a:prstGeom prst="rect">
            <a:avLst/>
          </a:prstGeom>
          <a:noFill/>
        </p:spPr>
        <p:txBody>
          <a:bodyPr wrap="square" lIns="45720" rIns="45720">
            <a:spAutoFit/>
          </a:bodyPr>
          <a:lstStyle/>
          <a:p>
            <a:pPr algn="l"/>
            <a:r>
              <a:rPr sz="1200" b="0">
                <a:solidFill>
                  <a:srgbClr val="8A95A5"/>
                </a:solidFill>
                <a:latin typeface="Helvetica Neue"/>
              </a:rPr>
              <a:t>The end-to-end orchestrator that takes an English question, calls the semantic + graph layers, and emits SQL grounded in real columns.</a:t>
            </a:r>
          </a:p>
        </p:txBody>
      </p:sp>
      <p:sp>
        <p:nvSpPr>
          <p:cNvPr id="7" name="TextBox 6"/>
          <p:cNvSpPr txBox="1"/>
          <p:nvPr/>
        </p:nvSpPr>
        <p:spPr>
          <a:xfrm>
            <a:off x="640080" y="2606040"/>
            <a:ext cx="10972800" cy="320040"/>
          </a:xfrm>
          <a:prstGeom prst="rect">
            <a:avLst/>
          </a:prstGeom>
          <a:noFill/>
        </p:spPr>
        <p:txBody>
          <a:bodyPr wrap="square" lIns="45720" rIns="45720">
            <a:spAutoFit/>
          </a:bodyPr>
          <a:lstStyle/>
          <a:p>
            <a:pPr algn="l"/>
            <a:r>
              <a:rPr sz="1400" b="1">
                <a:solidFill>
                  <a:srgbClr val="6EC1FF"/>
                </a:solidFill>
                <a:latin typeface="Helvetica Neue"/>
              </a:rPr>
              <a:t>2.  Validation &amp; repair</a:t>
            </a:r>
          </a:p>
        </p:txBody>
      </p:sp>
      <p:sp>
        <p:nvSpPr>
          <p:cNvPr id="8" name="TextBox 7"/>
          <p:cNvSpPr txBox="1"/>
          <p:nvPr/>
        </p:nvSpPr>
        <p:spPr>
          <a:xfrm>
            <a:off x="822960" y="2898648"/>
            <a:ext cx="10789920" cy="640080"/>
          </a:xfrm>
          <a:prstGeom prst="rect">
            <a:avLst/>
          </a:prstGeom>
          <a:noFill/>
        </p:spPr>
        <p:txBody>
          <a:bodyPr wrap="square" lIns="45720" rIns="45720">
            <a:spAutoFit/>
          </a:bodyPr>
          <a:lstStyle/>
          <a:p>
            <a:pPr algn="l"/>
            <a:r>
              <a:rPr sz="1200" b="0">
                <a:solidFill>
                  <a:srgbClr val="8A95A5"/>
                </a:solidFill>
                <a:latin typeface="Helvetica Neue"/>
              </a:rPr>
              <a:t>Catch broken SQL before it runs (parse, plan check, dry-execute). Auto-fix the common failure modes — typos, missing joins, wrong column names — up to three retries.</a:t>
            </a:r>
          </a:p>
        </p:txBody>
      </p:sp>
      <p:sp>
        <p:nvSpPr>
          <p:cNvPr id="9" name="TextBox 8"/>
          <p:cNvSpPr txBox="1"/>
          <p:nvPr/>
        </p:nvSpPr>
        <p:spPr>
          <a:xfrm>
            <a:off x="640080" y="3566160"/>
            <a:ext cx="10972800" cy="320040"/>
          </a:xfrm>
          <a:prstGeom prst="rect">
            <a:avLst/>
          </a:prstGeom>
          <a:noFill/>
        </p:spPr>
        <p:txBody>
          <a:bodyPr wrap="square" lIns="45720" rIns="45720">
            <a:spAutoFit/>
          </a:bodyPr>
          <a:lstStyle/>
          <a:p>
            <a:pPr algn="l"/>
            <a:r>
              <a:rPr sz="1400" b="1">
                <a:solidFill>
                  <a:srgbClr val="6EC1FF"/>
                </a:solidFill>
                <a:latin typeface="Helvetica Neue"/>
              </a:rPr>
              <a:t>3.  Charts &amp; descriptions</a:t>
            </a:r>
          </a:p>
        </p:txBody>
      </p:sp>
      <p:sp>
        <p:nvSpPr>
          <p:cNvPr id="10" name="TextBox 9"/>
          <p:cNvSpPr txBox="1"/>
          <p:nvPr/>
        </p:nvSpPr>
        <p:spPr>
          <a:xfrm>
            <a:off x="822960" y="3858768"/>
            <a:ext cx="10789920" cy="640080"/>
          </a:xfrm>
          <a:prstGeom prst="rect">
            <a:avLst/>
          </a:prstGeom>
          <a:noFill/>
        </p:spPr>
        <p:txBody>
          <a:bodyPr wrap="square" lIns="45720" rIns="45720">
            <a:spAutoFit/>
          </a:bodyPr>
          <a:lstStyle/>
          <a:p>
            <a:pPr algn="l"/>
            <a:r>
              <a:rPr sz="1200" b="0">
                <a:solidFill>
                  <a:srgbClr val="8A95A5"/>
                </a:solidFill>
                <a:latin typeface="Helvetica Neue"/>
              </a:rPr>
              <a:t>Pick the right chart automatically based on the result shape. Generate a one-paragraph summary in plain English so the answer reads itself.</a:t>
            </a:r>
          </a:p>
        </p:txBody>
      </p:sp>
      <p:sp>
        <p:nvSpPr>
          <p:cNvPr id="11" name="TextBox 10"/>
          <p:cNvSpPr txBox="1"/>
          <p:nvPr/>
        </p:nvSpPr>
        <p:spPr>
          <a:xfrm>
            <a:off x="640080" y="4526280"/>
            <a:ext cx="10972800" cy="320040"/>
          </a:xfrm>
          <a:prstGeom prst="rect">
            <a:avLst/>
          </a:prstGeom>
          <a:noFill/>
        </p:spPr>
        <p:txBody>
          <a:bodyPr wrap="square" lIns="45720" rIns="45720">
            <a:spAutoFit/>
          </a:bodyPr>
          <a:lstStyle/>
          <a:p>
            <a:pPr algn="l"/>
            <a:r>
              <a:rPr sz="1400" b="1">
                <a:solidFill>
                  <a:srgbClr val="6EC1FF"/>
                </a:solidFill>
                <a:latin typeface="Helvetica Neue"/>
              </a:rPr>
              <a:t>4.  Web UI · Settings · Eval</a:t>
            </a:r>
          </a:p>
        </p:txBody>
      </p:sp>
      <p:sp>
        <p:nvSpPr>
          <p:cNvPr id="12" name="TextBox 11"/>
          <p:cNvSpPr txBox="1"/>
          <p:nvPr/>
        </p:nvSpPr>
        <p:spPr>
          <a:xfrm>
            <a:off x="822960" y="4818888"/>
            <a:ext cx="10789920" cy="640080"/>
          </a:xfrm>
          <a:prstGeom prst="rect">
            <a:avLst/>
          </a:prstGeom>
          <a:noFill/>
        </p:spPr>
        <p:txBody>
          <a:bodyPr wrap="square" lIns="45720" rIns="45720">
            <a:spAutoFit/>
          </a:bodyPr>
          <a:lstStyle/>
          <a:p>
            <a:pPr algn="l"/>
            <a:r>
              <a:rPr sz="1200" b="0">
                <a:solidFill>
                  <a:srgbClr val="8A95A5"/>
                </a:solidFill>
                <a:latin typeface="Helvetica Neue"/>
              </a:rPr>
              <a:t>Browser experience for analysts (Query, Chat, Tables); operator controls for connecting databases and LLMs; an Eval Dashboard tracking accuracy across builds.</a:t>
            </a:r>
          </a:p>
        </p:txBody>
      </p:sp>
      <p:sp>
        <p:nvSpPr>
          <p:cNvPr id="13" name="TextBox 12"/>
          <p:cNvSpPr txBox="1"/>
          <p:nvPr/>
        </p:nvSpPr>
        <p:spPr>
          <a:xfrm>
            <a:off x="640080" y="5486400"/>
            <a:ext cx="10972800" cy="320040"/>
          </a:xfrm>
          <a:prstGeom prst="rect">
            <a:avLst/>
          </a:prstGeom>
          <a:noFill/>
        </p:spPr>
        <p:txBody>
          <a:bodyPr wrap="square" lIns="45720" rIns="45720">
            <a:spAutoFit/>
          </a:bodyPr>
          <a:lstStyle/>
          <a:p>
            <a:pPr algn="l"/>
            <a:r>
              <a:rPr sz="1400" b="1">
                <a:solidFill>
                  <a:srgbClr val="6EC1FF"/>
                </a:solidFill>
                <a:latin typeface="Helvetica Neue"/>
              </a:rPr>
              <a:t>5.  Hardening &amp; demo</a:t>
            </a:r>
          </a:p>
        </p:txBody>
      </p:sp>
      <p:sp>
        <p:nvSpPr>
          <p:cNvPr id="14" name="TextBox 13"/>
          <p:cNvSpPr txBox="1"/>
          <p:nvPr/>
        </p:nvSpPr>
        <p:spPr>
          <a:xfrm>
            <a:off x="822960" y="5779008"/>
            <a:ext cx="10789920" cy="640080"/>
          </a:xfrm>
          <a:prstGeom prst="rect">
            <a:avLst/>
          </a:prstGeom>
          <a:noFill/>
        </p:spPr>
        <p:txBody>
          <a:bodyPr wrap="square" lIns="45720" rIns="45720">
            <a:spAutoFit/>
          </a:bodyPr>
          <a:lstStyle/>
          <a:p>
            <a:pPr algn="l"/>
            <a:r>
              <a:rPr sz="1200" b="0">
                <a:solidFill>
                  <a:srgbClr val="8A95A5"/>
                </a:solidFill>
                <a:latin typeface="Helvetica Neue"/>
              </a:rPr>
              <a:t>Multi-provider readiness, observability, recorded demo on a clean Windows machine; v0.8 release tag.</a:t>
            </a:r>
          </a:p>
        </p:txBody>
      </p:sp>
      <p:sp>
        <p:nvSpPr>
          <p:cNvPr id="15" name="TextBox 14"/>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Section 4</a:t>
            </a:r>
          </a:p>
        </p:txBody>
      </p:sp>
      <p:sp>
        <p:nvSpPr>
          <p:cNvPr id="16" name="TextBox 15"/>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Day-by-day plan</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Apr 30 → Fri May 8 · 6 working days · May 1 holiday + weekends excluded</a:t>
            </a:r>
          </a:p>
        </p:txBody>
      </p:sp>
      <p:sp>
        <p:nvSpPr>
          <p:cNvPr id="4" name="Rounded Rectangle 3"/>
          <p:cNvSpPr/>
          <p:nvPr/>
        </p:nvSpPr>
        <p:spPr>
          <a:xfrm>
            <a:off x="457200" y="1463040"/>
            <a:ext cx="11247120" cy="50292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554480" cy="274320"/>
          </a:xfrm>
          <a:prstGeom prst="rect">
            <a:avLst/>
          </a:prstGeom>
          <a:noFill/>
        </p:spPr>
        <p:txBody>
          <a:bodyPr wrap="square" lIns="45720" rIns="45720">
            <a:spAutoFit/>
          </a:bodyPr>
          <a:lstStyle/>
          <a:p>
            <a:pPr algn="l"/>
            <a:r>
              <a:rPr sz="1200" b="1">
                <a:solidFill>
                  <a:srgbClr val="6EC1FF"/>
                </a:solidFill>
                <a:latin typeface="Helvetica Neue"/>
              </a:rPr>
              <a:t>Thu Apr 30</a:t>
            </a:r>
          </a:p>
        </p:txBody>
      </p:sp>
      <p:sp>
        <p:nvSpPr>
          <p:cNvPr id="6" name="TextBox 5"/>
          <p:cNvSpPr txBox="1"/>
          <p:nvPr/>
        </p:nvSpPr>
        <p:spPr>
          <a:xfrm>
            <a:off x="2286000" y="1600200"/>
            <a:ext cx="9418320" cy="274320"/>
          </a:xfrm>
          <a:prstGeom prst="rect">
            <a:avLst/>
          </a:prstGeom>
          <a:noFill/>
        </p:spPr>
        <p:txBody>
          <a:bodyPr wrap="square" lIns="45720" rIns="45720">
            <a:spAutoFit/>
          </a:bodyPr>
          <a:lstStyle/>
          <a:p>
            <a:pPr algn="l"/>
            <a:r>
              <a:rPr sz="1200" b="1">
                <a:solidFill>
                  <a:srgbClr val="E6EAF0"/>
                </a:solidFill>
                <a:latin typeface="Helvetica Neue"/>
              </a:rPr>
              <a:t>Semantic schema — finish per-table profiles + tune routing</a:t>
            </a:r>
          </a:p>
        </p:txBody>
      </p:sp>
      <p:sp>
        <p:nvSpPr>
          <p:cNvPr id="7" name="TextBox 6"/>
          <p:cNvSpPr txBox="1"/>
          <p:nvPr/>
        </p:nvSpPr>
        <p:spPr>
          <a:xfrm>
            <a:off x="2286000" y="1792224"/>
            <a:ext cx="9418320" cy="228600"/>
          </a:xfrm>
          <a:prstGeom prst="rect">
            <a:avLst/>
          </a:prstGeom>
          <a:noFill/>
        </p:spPr>
        <p:txBody>
          <a:bodyPr wrap="square" lIns="45720" rIns="45720">
            <a:spAutoFit/>
          </a:bodyPr>
          <a:lstStyle/>
          <a:p>
            <a:pPr algn="l"/>
            <a:r>
              <a:rPr sz="1000" b="0">
                <a:solidFill>
                  <a:srgbClr val="8A95A5"/>
                </a:solidFill>
                <a:latin typeface="Helvetica Neue"/>
              </a:rPr>
              <a:t>•  Build per-table semantic blobs across the full 1,048-table model (today only the demo DB is covered)</a:t>
            </a:r>
          </a:p>
        </p:txBody>
      </p:sp>
      <p:sp>
        <p:nvSpPr>
          <p:cNvPr id="8" name="TextBox 7"/>
          <p:cNvSpPr txBox="1"/>
          <p:nvPr/>
        </p:nvSpPr>
        <p:spPr>
          <a:xfrm>
            <a:off x="2286000" y="1984248"/>
            <a:ext cx="9418320" cy="228600"/>
          </a:xfrm>
          <a:prstGeom prst="rect">
            <a:avLst/>
          </a:prstGeom>
          <a:noFill/>
        </p:spPr>
        <p:txBody>
          <a:bodyPr wrap="square" lIns="45720" rIns="45720">
            <a:spAutoFit/>
          </a:bodyPr>
          <a:lstStyle/>
          <a:p>
            <a:pPr algn="l"/>
            <a:r>
              <a:rPr sz="1000" b="0">
                <a:solidFill>
                  <a:srgbClr val="8A95A5"/>
                </a:solidFill>
                <a:latin typeface="Helvetica Neue"/>
              </a:rPr>
              <a:t>•  Tune cluster + table routing thresholds; lock the top-3 retrieval mix</a:t>
            </a:r>
          </a:p>
        </p:txBody>
      </p:sp>
      <p:sp>
        <p:nvSpPr>
          <p:cNvPr id="9" name="TextBox 8"/>
          <p:cNvSpPr txBox="1"/>
          <p:nvPr/>
        </p:nvSpPr>
        <p:spPr>
          <a:xfrm>
            <a:off x="2286000" y="2176272"/>
            <a:ext cx="9418320" cy="228600"/>
          </a:xfrm>
          <a:prstGeom prst="rect">
            <a:avLst/>
          </a:prstGeom>
          <a:noFill/>
        </p:spPr>
        <p:txBody>
          <a:bodyPr wrap="square" lIns="45720" rIns="45720">
            <a:spAutoFit/>
          </a:bodyPr>
          <a:lstStyle/>
          <a:p>
            <a:pPr algn="l"/>
            <a:r>
              <a:rPr sz="1000" b="0">
                <a:solidFill>
                  <a:srgbClr val="8A95A5"/>
                </a:solidFill>
                <a:latin typeface="Helvetica Neue"/>
              </a:rPr>
              <a:t>•  Wire entity-resolver tiers 1–2 (Bloom + fuzzy) end-to-end</a:t>
            </a:r>
          </a:p>
        </p:txBody>
      </p:sp>
      <p:sp>
        <p:nvSpPr>
          <p:cNvPr id="10" name="TextBox 9"/>
          <p:cNvSpPr txBox="1"/>
          <p:nvPr/>
        </p:nvSpPr>
        <p:spPr>
          <a:xfrm>
            <a:off x="640080" y="2450591"/>
            <a:ext cx="1554480" cy="274320"/>
          </a:xfrm>
          <a:prstGeom prst="rect">
            <a:avLst/>
          </a:prstGeom>
          <a:noFill/>
        </p:spPr>
        <p:txBody>
          <a:bodyPr wrap="square" lIns="45720" rIns="45720">
            <a:spAutoFit/>
          </a:bodyPr>
          <a:lstStyle/>
          <a:p>
            <a:pPr algn="l"/>
            <a:r>
              <a:rPr sz="1200" b="1">
                <a:solidFill>
                  <a:srgbClr val="6EC1FF"/>
                </a:solidFill>
                <a:latin typeface="Helvetica Neue"/>
              </a:rPr>
              <a:t>Mon May 4</a:t>
            </a:r>
          </a:p>
        </p:txBody>
      </p:sp>
      <p:sp>
        <p:nvSpPr>
          <p:cNvPr id="11" name="TextBox 10"/>
          <p:cNvSpPr txBox="1"/>
          <p:nvPr/>
        </p:nvSpPr>
        <p:spPr>
          <a:xfrm>
            <a:off x="2286000" y="2450591"/>
            <a:ext cx="9418320" cy="274320"/>
          </a:xfrm>
          <a:prstGeom prst="rect">
            <a:avLst/>
          </a:prstGeom>
          <a:noFill/>
        </p:spPr>
        <p:txBody>
          <a:bodyPr wrap="square" lIns="45720" rIns="45720">
            <a:spAutoFit/>
          </a:bodyPr>
          <a:lstStyle/>
          <a:p>
            <a:pPr algn="l"/>
            <a:r>
              <a:rPr sz="1200" b="1">
                <a:solidFill>
                  <a:srgbClr val="E6EAF0"/>
                </a:solidFill>
                <a:latin typeface="Helvetica Neue"/>
              </a:rPr>
              <a:t>Foreign-key graph + first end-to-end pipeline run</a:t>
            </a:r>
          </a:p>
        </p:txBody>
      </p:sp>
      <p:sp>
        <p:nvSpPr>
          <p:cNvPr id="12" name="TextBox 11"/>
          <p:cNvSpPr txBox="1"/>
          <p:nvPr/>
        </p:nvSpPr>
        <p:spPr>
          <a:xfrm>
            <a:off x="2286000" y="2642615"/>
            <a:ext cx="9418320" cy="228600"/>
          </a:xfrm>
          <a:prstGeom prst="rect">
            <a:avLst/>
          </a:prstGeom>
          <a:noFill/>
        </p:spPr>
        <p:txBody>
          <a:bodyPr wrap="square" lIns="45720" rIns="45720">
            <a:spAutoFit/>
          </a:bodyPr>
          <a:lstStyle/>
          <a:p>
            <a:pPr algn="l"/>
            <a:r>
              <a:rPr sz="1000" b="0">
                <a:solidFill>
                  <a:srgbClr val="8A95A5"/>
                </a:solidFill>
                <a:latin typeface="Helvetica Neue"/>
              </a:rPr>
              <a:t>•  Apply weighted edges across the full Ed-Fi graph; verify &lt;10 MB load + &lt;100 ms startup</a:t>
            </a:r>
          </a:p>
        </p:txBody>
      </p:sp>
      <p:sp>
        <p:nvSpPr>
          <p:cNvPr id="13" name="TextBox 12"/>
          <p:cNvSpPr txBox="1"/>
          <p:nvPr/>
        </p:nvSpPr>
        <p:spPr>
          <a:xfrm>
            <a:off x="2286000" y="2834639"/>
            <a:ext cx="9418320" cy="228600"/>
          </a:xfrm>
          <a:prstGeom prst="rect">
            <a:avLst/>
          </a:prstGeom>
          <a:noFill/>
        </p:spPr>
        <p:txBody>
          <a:bodyPr wrap="square" lIns="45720" rIns="45720">
            <a:spAutoFit/>
          </a:bodyPr>
          <a:lstStyle/>
          <a:p>
            <a:pPr algn="l"/>
            <a:r>
              <a:rPr sz="1000" b="0">
                <a:solidFill>
                  <a:srgbClr val="8A95A5"/>
                </a:solidFill>
                <a:latin typeface="Helvetica Neue"/>
              </a:rPr>
              <a:t>•  Land bidirectional Dijkstra (k=2) + KMB Steiner (k=3–8) behind a single solver entrypoint</a:t>
            </a:r>
          </a:p>
        </p:txBody>
      </p:sp>
      <p:sp>
        <p:nvSpPr>
          <p:cNvPr id="14" name="TextBox 13"/>
          <p:cNvSpPr txBox="1"/>
          <p:nvPr/>
        </p:nvSpPr>
        <p:spPr>
          <a:xfrm>
            <a:off x="2286000" y="3026663"/>
            <a:ext cx="9418320" cy="228600"/>
          </a:xfrm>
          <a:prstGeom prst="rect">
            <a:avLst/>
          </a:prstGeom>
          <a:noFill/>
        </p:spPr>
        <p:txBody>
          <a:bodyPr wrap="square" lIns="45720" rIns="45720">
            <a:spAutoFit/>
          </a:bodyPr>
          <a:lstStyle/>
          <a:p>
            <a:pPr algn="l"/>
            <a:r>
              <a:rPr sz="1000" b="0">
                <a:solidFill>
                  <a:srgbClr val="8A95A5"/>
                </a:solidFill>
                <a:latin typeface="Helvetica Neue"/>
              </a:rPr>
              <a:t>•  Wire question → semantic routing → graph join → SQL generator into one orchestrator</a:t>
            </a:r>
          </a:p>
        </p:txBody>
      </p:sp>
      <p:sp>
        <p:nvSpPr>
          <p:cNvPr id="15" name="TextBox 14"/>
          <p:cNvSpPr txBox="1"/>
          <p:nvPr/>
        </p:nvSpPr>
        <p:spPr>
          <a:xfrm>
            <a:off x="2286000" y="3218687"/>
            <a:ext cx="9418320" cy="228600"/>
          </a:xfrm>
          <a:prstGeom prst="rect">
            <a:avLst/>
          </a:prstGeom>
          <a:noFill/>
        </p:spPr>
        <p:txBody>
          <a:bodyPr wrap="square" lIns="45720" rIns="45720">
            <a:spAutoFit/>
          </a:bodyPr>
          <a:lstStyle/>
          <a:p>
            <a:pPr algn="l"/>
            <a:r>
              <a:rPr sz="1000" b="0">
                <a:solidFill>
                  <a:srgbClr val="8A95A5"/>
                </a:solidFill>
                <a:latin typeface="Helvetica Neue"/>
              </a:rPr>
              <a:t>•  First green NL → SQL → rows trace on the demo SQLite DB</a:t>
            </a:r>
          </a:p>
        </p:txBody>
      </p:sp>
      <p:sp>
        <p:nvSpPr>
          <p:cNvPr id="16" name="TextBox 15"/>
          <p:cNvSpPr txBox="1"/>
          <p:nvPr/>
        </p:nvSpPr>
        <p:spPr>
          <a:xfrm>
            <a:off x="640080" y="3493007"/>
            <a:ext cx="1554480" cy="274320"/>
          </a:xfrm>
          <a:prstGeom prst="rect">
            <a:avLst/>
          </a:prstGeom>
          <a:noFill/>
        </p:spPr>
        <p:txBody>
          <a:bodyPr wrap="square" lIns="45720" rIns="45720">
            <a:spAutoFit/>
          </a:bodyPr>
          <a:lstStyle/>
          <a:p>
            <a:pPr algn="l"/>
            <a:r>
              <a:rPr sz="1200" b="1">
                <a:solidFill>
                  <a:srgbClr val="6EC1FF"/>
                </a:solidFill>
                <a:latin typeface="Helvetica Neue"/>
              </a:rPr>
              <a:t>Tue May 5</a:t>
            </a:r>
          </a:p>
        </p:txBody>
      </p:sp>
      <p:sp>
        <p:nvSpPr>
          <p:cNvPr id="17" name="TextBox 16"/>
          <p:cNvSpPr txBox="1"/>
          <p:nvPr/>
        </p:nvSpPr>
        <p:spPr>
          <a:xfrm>
            <a:off x="2286000" y="3493007"/>
            <a:ext cx="9418320" cy="274320"/>
          </a:xfrm>
          <a:prstGeom prst="rect">
            <a:avLst/>
          </a:prstGeom>
          <a:noFill/>
        </p:spPr>
        <p:txBody>
          <a:bodyPr wrap="square" lIns="45720" rIns="45720">
            <a:spAutoFit/>
          </a:bodyPr>
          <a:lstStyle/>
          <a:p>
            <a:pPr algn="l"/>
            <a:r>
              <a:rPr sz="1200" b="1">
                <a:solidFill>
                  <a:srgbClr val="E6EAF0"/>
                </a:solidFill>
                <a:latin typeface="Helvetica Neue"/>
              </a:rPr>
              <a:t>Validation &amp; repair loop + Tier-3/4 entity resolution</a:t>
            </a:r>
          </a:p>
        </p:txBody>
      </p:sp>
      <p:sp>
        <p:nvSpPr>
          <p:cNvPr id="18" name="TextBox 17"/>
          <p:cNvSpPr txBox="1"/>
          <p:nvPr/>
        </p:nvSpPr>
        <p:spPr>
          <a:xfrm>
            <a:off x="2286000" y="3685031"/>
            <a:ext cx="9418320" cy="228600"/>
          </a:xfrm>
          <a:prstGeom prst="rect">
            <a:avLst/>
          </a:prstGeom>
          <a:noFill/>
        </p:spPr>
        <p:txBody>
          <a:bodyPr wrap="square" lIns="45720" rIns="45720">
            <a:spAutoFit/>
          </a:bodyPr>
          <a:lstStyle/>
          <a:p>
            <a:pPr algn="l"/>
            <a:r>
              <a:rPr sz="1000" b="0">
                <a:solidFill>
                  <a:srgbClr val="8A95A5"/>
                </a:solidFill>
                <a:latin typeface="Helvetica Neue"/>
              </a:rPr>
              <a:t>•  Parse-check, plan-check, and dry-execute every generated query</a:t>
            </a:r>
          </a:p>
        </p:txBody>
      </p:sp>
      <p:sp>
        <p:nvSpPr>
          <p:cNvPr id="19" name="TextBox 18"/>
          <p:cNvSpPr txBox="1"/>
          <p:nvPr/>
        </p:nvSpPr>
        <p:spPr>
          <a:xfrm>
            <a:off x="2286000" y="3877055"/>
            <a:ext cx="9418320" cy="228600"/>
          </a:xfrm>
          <a:prstGeom prst="rect">
            <a:avLst/>
          </a:prstGeom>
          <a:noFill/>
        </p:spPr>
        <p:txBody>
          <a:bodyPr wrap="square" lIns="45720" rIns="45720">
            <a:spAutoFit/>
          </a:bodyPr>
          <a:lstStyle/>
          <a:p>
            <a:pPr algn="l"/>
            <a:r>
              <a:rPr sz="1000" b="0">
                <a:solidFill>
                  <a:srgbClr val="8A95A5"/>
                </a:solidFill>
                <a:latin typeface="Helvetica Neue"/>
              </a:rPr>
              <a:t>•  Three-attempt repair loop for typical failure modes</a:t>
            </a:r>
          </a:p>
        </p:txBody>
      </p:sp>
      <p:sp>
        <p:nvSpPr>
          <p:cNvPr id="20" name="TextBox 19"/>
          <p:cNvSpPr txBox="1"/>
          <p:nvPr/>
        </p:nvSpPr>
        <p:spPr>
          <a:xfrm>
            <a:off x="2286000" y="4069079"/>
            <a:ext cx="9418320" cy="228600"/>
          </a:xfrm>
          <a:prstGeom prst="rect">
            <a:avLst/>
          </a:prstGeom>
          <a:noFill/>
        </p:spPr>
        <p:txBody>
          <a:bodyPr wrap="square" lIns="45720" rIns="45720">
            <a:spAutoFit/>
          </a:bodyPr>
          <a:lstStyle/>
          <a:p>
            <a:pPr algn="l"/>
            <a:r>
              <a:rPr sz="1000" b="0">
                <a:solidFill>
                  <a:srgbClr val="8A95A5"/>
                </a:solidFill>
                <a:latin typeface="Helvetica Neue"/>
              </a:rPr>
              <a:t>•  Land semantic + LLM disambiguation tiers; expand gold-query suite to 50 questions</a:t>
            </a:r>
          </a:p>
        </p:txBody>
      </p:sp>
      <p:sp>
        <p:nvSpPr>
          <p:cNvPr id="21" name="TextBox 20"/>
          <p:cNvSpPr txBox="1"/>
          <p:nvPr/>
        </p:nvSpPr>
        <p:spPr>
          <a:xfrm>
            <a:off x="640080" y="4343399"/>
            <a:ext cx="1554480" cy="274320"/>
          </a:xfrm>
          <a:prstGeom prst="rect">
            <a:avLst/>
          </a:prstGeom>
          <a:noFill/>
        </p:spPr>
        <p:txBody>
          <a:bodyPr wrap="square" lIns="45720" rIns="45720">
            <a:spAutoFit/>
          </a:bodyPr>
          <a:lstStyle/>
          <a:p>
            <a:pPr algn="l"/>
            <a:r>
              <a:rPr sz="1200" b="1">
                <a:solidFill>
                  <a:srgbClr val="6EC1FF"/>
                </a:solidFill>
                <a:latin typeface="Helvetica Neue"/>
              </a:rPr>
              <a:t>Wed May 6</a:t>
            </a:r>
          </a:p>
        </p:txBody>
      </p:sp>
      <p:sp>
        <p:nvSpPr>
          <p:cNvPr id="22" name="TextBox 21"/>
          <p:cNvSpPr txBox="1"/>
          <p:nvPr/>
        </p:nvSpPr>
        <p:spPr>
          <a:xfrm>
            <a:off x="2286000" y="4343399"/>
            <a:ext cx="9418320" cy="274320"/>
          </a:xfrm>
          <a:prstGeom prst="rect">
            <a:avLst/>
          </a:prstGeom>
          <a:noFill/>
        </p:spPr>
        <p:txBody>
          <a:bodyPr wrap="square" lIns="45720" rIns="45720">
            <a:spAutoFit/>
          </a:bodyPr>
          <a:lstStyle/>
          <a:p>
            <a:pPr algn="l"/>
            <a:r>
              <a:rPr sz="1200" b="1">
                <a:solidFill>
                  <a:srgbClr val="E6EAF0"/>
                </a:solidFill>
                <a:latin typeface="Helvetica Neue"/>
              </a:rPr>
              <a:t>Charts, descriptions, Settings UI editable end-to-end</a:t>
            </a:r>
          </a:p>
        </p:txBody>
      </p:sp>
      <p:sp>
        <p:nvSpPr>
          <p:cNvPr id="23" name="TextBox 22"/>
          <p:cNvSpPr txBox="1"/>
          <p:nvPr/>
        </p:nvSpPr>
        <p:spPr>
          <a:xfrm>
            <a:off x="2286000" y="4535423"/>
            <a:ext cx="9418320" cy="228600"/>
          </a:xfrm>
          <a:prstGeom prst="rect">
            <a:avLst/>
          </a:prstGeom>
          <a:noFill/>
        </p:spPr>
        <p:txBody>
          <a:bodyPr wrap="square" lIns="45720" rIns="45720">
            <a:spAutoFit/>
          </a:bodyPr>
          <a:lstStyle/>
          <a:p>
            <a:pPr algn="l"/>
            <a:r>
              <a:rPr sz="1000" b="0">
                <a:solidFill>
                  <a:srgbClr val="8A95A5"/>
                </a:solidFill>
                <a:latin typeface="Helvetica Neue"/>
              </a:rPr>
              <a:t>•  Auto-pick chart type from result shape (Vega-Lite spec generation)</a:t>
            </a:r>
          </a:p>
        </p:txBody>
      </p:sp>
      <p:sp>
        <p:nvSpPr>
          <p:cNvPr id="24" name="TextBox 23"/>
          <p:cNvSpPr txBox="1"/>
          <p:nvPr/>
        </p:nvSpPr>
        <p:spPr>
          <a:xfrm>
            <a:off x="2286000" y="4727447"/>
            <a:ext cx="9418320" cy="228600"/>
          </a:xfrm>
          <a:prstGeom prst="rect">
            <a:avLst/>
          </a:prstGeom>
          <a:noFill/>
        </p:spPr>
        <p:txBody>
          <a:bodyPr wrap="square" lIns="45720" rIns="45720">
            <a:spAutoFit/>
          </a:bodyPr>
          <a:lstStyle/>
          <a:p>
            <a:pPr algn="l"/>
            <a:r>
              <a:rPr sz="1000" b="0">
                <a:solidFill>
                  <a:srgbClr val="8A95A5"/>
                </a:solidFill>
                <a:latin typeface="Helvetica Neue"/>
              </a:rPr>
              <a:t>•  Plain-English answer summary running in parallel with chart render</a:t>
            </a:r>
          </a:p>
        </p:txBody>
      </p:sp>
      <p:sp>
        <p:nvSpPr>
          <p:cNvPr id="25" name="TextBox 24"/>
          <p:cNvSpPr txBox="1"/>
          <p:nvPr/>
        </p:nvSpPr>
        <p:spPr>
          <a:xfrm>
            <a:off x="2286000" y="4919471"/>
            <a:ext cx="9418320" cy="228600"/>
          </a:xfrm>
          <a:prstGeom prst="rect">
            <a:avLst/>
          </a:prstGeom>
          <a:noFill/>
        </p:spPr>
        <p:txBody>
          <a:bodyPr wrap="square" lIns="45720" rIns="45720">
            <a:spAutoFit/>
          </a:bodyPr>
          <a:lstStyle/>
          <a:p>
            <a:pPr algn="l"/>
            <a:r>
              <a:rPr sz="1000" b="0">
                <a:solidFill>
                  <a:srgbClr val="8A95A5"/>
                </a:solidFill>
                <a:latin typeface="Helvetica Neue"/>
              </a:rPr>
              <a:t>•  Settings page fully editable — pick database, LLM, embedding via UI; ship onboarding flow</a:t>
            </a:r>
          </a:p>
        </p:txBody>
      </p:sp>
      <p:sp>
        <p:nvSpPr>
          <p:cNvPr id="26" name="TextBox 25"/>
          <p:cNvSpPr txBox="1"/>
          <p:nvPr/>
        </p:nvSpPr>
        <p:spPr>
          <a:xfrm>
            <a:off x="640080" y="5193791"/>
            <a:ext cx="1554480" cy="274320"/>
          </a:xfrm>
          <a:prstGeom prst="rect">
            <a:avLst/>
          </a:prstGeom>
          <a:noFill/>
        </p:spPr>
        <p:txBody>
          <a:bodyPr wrap="square" lIns="45720" rIns="45720">
            <a:spAutoFit/>
          </a:bodyPr>
          <a:lstStyle/>
          <a:p>
            <a:pPr algn="l"/>
            <a:r>
              <a:rPr sz="1200" b="1">
                <a:solidFill>
                  <a:srgbClr val="6EC1FF"/>
                </a:solidFill>
                <a:latin typeface="Helvetica Neue"/>
              </a:rPr>
              <a:t>Thu May 7</a:t>
            </a:r>
          </a:p>
        </p:txBody>
      </p:sp>
      <p:sp>
        <p:nvSpPr>
          <p:cNvPr id="27" name="TextBox 26"/>
          <p:cNvSpPr txBox="1"/>
          <p:nvPr/>
        </p:nvSpPr>
        <p:spPr>
          <a:xfrm>
            <a:off x="2286000" y="5193791"/>
            <a:ext cx="9418320" cy="274320"/>
          </a:xfrm>
          <a:prstGeom prst="rect">
            <a:avLst/>
          </a:prstGeom>
          <a:noFill/>
        </p:spPr>
        <p:txBody>
          <a:bodyPr wrap="square" lIns="45720" rIns="45720">
            <a:spAutoFit/>
          </a:bodyPr>
          <a:lstStyle/>
          <a:p>
            <a:pPr algn="l"/>
            <a:r>
              <a:rPr sz="1200" b="1">
                <a:solidFill>
                  <a:srgbClr val="E6EAF0"/>
                </a:solidFill>
                <a:latin typeface="Helvetica Neue"/>
              </a:rPr>
              <a:t>Eval dashboard + cluster manager UI + hardening</a:t>
            </a:r>
          </a:p>
        </p:txBody>
      </p:sp>
      <p:sp>
        <p:nvSpPr>
          <p:cNvPr id="28" name="TextBox 27"/>
          <p:cNvSpPr txBox="1"/>
          <p:nvPr/>
        </p:nvSpPr>
        <p:spPr>
          <a:xfrm>
            <a:off x="2286000" y="5385815"/>
            <a:ext cx="9418320" cy="228600"/>
          </a:xfrm>
          <a:prstGeom prst="rect">
            <a:avLst/>
          </a:prstGeom>
          <a:noFill/>
        </p:spPr>
        <p:txBody>
          <a:bodyPr wrap="square" lIns="45720" rIns="45720">
            <a:spAutoFit/>
          </a:bodyPr>
          <a:lstStyle/>
          <a:p>
            <a:pPr algn="l"/>
            <a:r>
              <a:rPr sz="1000" b="0">
                <a:solidFill>
                  <a:srgbClr val="8A95A5"/>
                </a:solidFill>
                <a:latin typeface="Helvetica Neue"/>
              </a:rPr>
              <a:t>•  Eval Dashboard page: per-build metrics, regression alerts</a:t>
            </a:r>
          </a:p>
        </p:txBody>
      </p:sp>
      <p:sp>
        <p:nvSpPr>
          <p:cNvPr id="29" name="TextBox 28"/>
          <p:cNvSpPr txBox="1"/>
          <p:nvPr/>
        </p:nvSpPr>
        <p:spPr>
          <a:xfrm>
            <a:off x="2286000" y="5577839"/>
            <a:ext cx="9418320" cy="228600"/>
          </a:xfrm>
          <a:prstGeom prst="rect">
            <a:avLst/>
          </a:prstGeom>
          <a:noFill/>
        </p:spPr>
        <p:txBody>
          <a:bodyPr wrap="square" lIns="45720" rIns="45720">
            <a:spAutoFit/>
          </a:bodyPr>
          <a:lstStyle/>
          <a:p>
            <a:pPr algn="l"/>
            <a:r>
              <a:rPr sz="1000" b="0">
                <a:solidFill>
                  <a:srgbClr val="8A95A5"/>
                </a:solidFill>
                <a:latin typeface="Helvetica Neue"/>
              </a:rPr>
              <a:t>•  Cluster Manager page: drag tables between groups, trigger rebuild from UI</a:t>
            </a:r>
          </a:p>
        </p:txBody>
      </p:sp>
      <p:sp>
        <p:nvSpPr>
          <p:cNvPr id="30" name="TextBox 29"/>
          <p:cNvSpPr txBox="1"/>
          <p:nvPr/>
        </p:nvSpPr>
        <p:spPr>
          <a:xfrm>
            <a:off x="2286000" y="5769863"/>
            <a:ext cx="9418320" cy="228600"/>
          </a:xfrm>
          <a:prstGeom prst="rect">
            <a:avLst/>
          </a:prstGeom>
          <a:noFill/>
        </p:spPr>
        <p:txBody>
          <a:bodyPr wrap="square" lIns="45720" rIns="45720">
            <a:spAutoFit/>
          </a:bodyPr>
          <a:lstStyle/>
          <a:p>
            <a:pPr algn="l"/>
            <a:r>
              <a:rPr sz="1000" b="0">
                <a:solidFill>
                  <a:srgbClr val="8A95A5"/>
                </a:solidFill>
                <a:latin typeface="Helvetica Neue"/>
              </a:rPr>
              <a:t>•  Multi-provider matrix; observability dashboards; two security fixes flagged in review</a:t>
            </a:r>
          </a:p>
        </p:txBody>
      </p:sp>
      <p:sp>
        <p:nvSpPr>
          <p:cNvPr id="31" name="TextBox 30"/>
          <p:cNvSpPr txBox="1"/>
          <p:nvPr/>
        </p:nvSpPr>
        <p:spPr>
          <a:xfrm>
            <a:off x="640080" y="6044183"/>
            <a:ext cx="1554480" cy="274320"/>
          </a:xfrm>
          <a:prstGeom prst="rect">
            <a:avLst/>
          </a:prstGeom>
          <a:noFill/>
        </p:spPr>
        <p:txBody>
          <a:bodyPr wrap="square" lIns="45720" rIns="45720">
            <a:spAutoFit/>
          </a:bodyPr>
          <a:lstStyle/>
          <a:p>
            <a:pPr algn="l"/>
            <a:r>
              <a:rPr sz="1200" b="1">
                <a:solidFill>
                  <a:srgbClr val="6EC1FF"/>
                </a:solidFill>
                <a:latin typeface="Helvetica Neue"/>
              </a:rPr>
              <a:t>Fri May 8</a:t>
            </a:r>
          </a:p>
        </p:txBody>
      </p:sp>
      <p:sp>
        <p:nvSpPr>
          <p:cNvPr id="32" name="TextBox 31"/>
          <p:cNvSpPr txBox="1"/>
          <p:nvPr/>
        </p:nvSpPr>
        <p:spPr>
          <a:xfrm>
            <a:off x="2286000" y="6044183"/>
            <a:ext cx="9418320" cy="274320"/>
          </a:xfrm>
          <a:prstGeom prst="rect">
            <a:avLst/>
          </a:prstGeom>
          <a:noFill/>
        </p:spPr>
        <p:txBody>
          <a:bodyPr wrap="square" lIns="45720" rIns="45720">
            <a:spAutoFit/>
          </a:bodyPr>
          <a:lstStyle/>
          <a:p>
            <a:pPr algn="l"/>
            <a:r>
              <a:rPr sz="1200" b="1">
                <a:solidFill>
                  <a:srgbClr val="E6EAF0"/>
                </a:solidFill>
                <a:latin typeface="Helvetica Neue"/>
              </a:rPr>
              <a:t>Demo prep + release</a:t>
            </a:r>
          </a:p>
        </p:txBody>
      </p:sp>
      <p:sp>
        <p:nvSpPr>
          <p:cNvPr id="33" name="TextBox 32"/>
          <p:cNvSpPr txBox="1"/>
          <p:nvPr/>
        </p:nvSpPr>
        <p:spPr>
          <a:xfrm>
            <a:off x="2286000" y="6236207"/>
            <a:ext cx="9418320" cy="228600"/>
          </a:xfrm>
          <a:prstGeom prst="rect">
            <a:avLst/>
          </a:prstGeom>
          <a:noFill/>
        </p:spPr>
        <p:txBody>
          <a:bodyPr wrap="square" lIns="45720" rIns="45720">
            <a:spAutoFit/>
          </a:bodyPr>
          <a:lstStyle/>
          <a:p>
            <a:pPr algn="l"/>
            <a:r>
              <a:rPr sz="1000" b="0">
                <a:solidFill>
                  <a:srgbClr val="8A95A5"/>
                </a:solidFill>
                <a:latin typeface="Helvetica Neue"/>
              </a:rPr>
              <a:t>•  End-to-end dry-run on a clean Mac and Windows machine</a:t>
            </a:r>
          </a:p>
        </p:txBody>
      </p:sp>
      <p:sp>
        <p:nvSpPr>
          <p:cNvPr id="34" name="TextBox 33"/>
          <p:cNvSpPr txBox="1"/>
          <p:nvPr/>
        </p:nvSpPr>
        <p:spPr>
          <a:xfrm>
            <a:off x="2286000" y="6428231"/>
            <a:ext cx="9418320" cy="228600"/>
          </a:xfrm>
          <a:prstGeom prst="rect">
            <a:avLst/>
          </a:prstGeom>
          <a:noFill/>
        </p:spPr>
        <p:txBody>
          <a:bodyPr wrap="square" lIns="45720" rIns="45720">
            <a:spAutoFit/>
          </a:bodyPr>
          <a:lstStyle/>
          <a:p>
            <a:pPr algn="l"/>
            <a:r>
              <a:rPr sz="1000" b="0">
                <a:solidFill>
                  <a:srgbClr val="8A95A5"/>
                </a:solidFill>
                <a:latin typeface="Helvetica Neue"/>
              </a:rPr>
              <a:t>•  Recorded demo: connect DB → ask question → see SQL + rows + chart + summary</a:t>
            </a:r>
          </a:p>
        </p:txBody>
      </p:sp>
      <p:sp>
        <p:nvSpPr>
          <p:cNvPr id="35" name="TextBox 34"/>
          <p:cNvSpPr txBox="1"/>
          <p:nvPr/>
        </p:nvSpPr>
        <p:spPr>
          <a:xfrm>
            <a:off x="2286000" y="6620255"/>
            <a:ext cx="9418320" cy="228600"/>
          </a:xfrm>
          <a:prstGeom prst="rect">
            <a:avLst/>
          </a:prstGeom>
          <a:noFill/>
        </p:spPr>
        <p:txBody>
          <a:bodyPr wrap="square" lIns="45720" rIns="45720">
            <a:spAutoFit/>
          </a:bodyPr>
          <a:lstStyle/>
          <a:p>
            <a:pPr algn="l"/>
            <a:r>
              <a:rPr sz="1000" b="0">
                <a:solidFill>
                  <a:srgbClr val="8A95A5"/>
                </a:solidFill>
                <a:latin typeface="Helvetica Neue"/>
              </a:rPr>
              <a:t>•  v0.8 release tag + operator runbook + provider-swap guide</a:t>
            </a:r>
          </a:p>
        </p:txBody>
      </p:sp>
      <p:sp>
        <p:nvSpPr>
          <p:cNvPr id="36" name="TextBox 35"/>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Section 4</a:t>
            </a:r>
          </a:p>
        </p:txBody>
      </p:sp>
      <p:sp>
        <p:nvSpPr>
          <p:cNvPr id="37" name="TextBox 36"/>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Buffer day not built in — risks below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Risks &amp; how we'll handle them</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Known unknowns flagged early; mitigations in the plan above</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6" name="TextBox 5"/>
          <p:cNvSpPr txBox="1"/>
          <p:nvPr/>
        </p:nvSpPr>
        <p:spPr>
          <a:xfrm>
            <a:off x="1005840" y="1645920"/>
            <a:ext cx="10698480" cy="274320"/>
          </a:xfrm>
          <a:prstGeom prst="rect">
            <a:avLst/>
          </a:prstGeom>
          <a:noFill/>
        </p:spPr>
        <p:txBody>
          <a:bodyPr wrap="square" lIns="45720" rIns="45720">
            <a:spAutoFit/>
          </a:bodyPr>
          <a:lstStyle/>
          <a:p>
            <a:pPr algn="l"/>
            <a:r>
              <a:rPr sz="1400" b="1">
                <a:solidFill>
                  <a:srgbClr val="E6EAF0"/>
                </a:solidFill>
                <a:latin typeface="Helvetica Neue"/>
              </a:rPr>
              <a:t>Auto-grouping accuracy</a:t>
            </a:r>
          </a:p>
        </p:txBody>
      </p:sp>
      <p:sp>
        <p:nvSpPr>
          <p:cNvPr id="7" name="TextBox 6"/>
          <p:cNvSpPr txBox="1"/>
          <p:nvPr/>
        </p:nvSpPr>
        <p:spPr>
          <a:xfrm>
            <a:off x="1005840" y="1938528"/>
            <a:ext cx="10698480" cy="292608"/>
          </a:xfrm>
          <a:prstGeom prst="rect">
            <a:avLst/>
          </a:prstGeom>
          <a:noFill/>
        </p:spPr>
        <p:txBody>
          <a:bodyPr wrap="square" lIns="45720" rIns="45720">
            <a:spAutoFit/>
          </a:bodyPr>
          <a:lstStyle/>
          <a:p>
            <a:pPr algn="l"/>
            <a:r>
              <a:rPr sz="1100" b="0">
                <a:solidFill>
                  <a:srgbClr val="8A95A5"/>
                </a:solidFill>
                <a:latin typeface="Helvetica Neue"/>
              </a:rPr>
              <a:t>Risk: Tuning the algorithm well takes iteration; we may not have it perfect by Friday.</a:t>
            </a:r>
          </a:p>
        </p:txBody>
      </p:sp>
      <p:sp>
        <p:nvSpPr>
          <p:cNvPr id="8" name="TextBox 7"/>
          <p:cNvSpPr txBox="1"/>
          <p:nvPr/>
        </p:nvSpPr>
        <p:spPr>
          <a:xfrm>
            <a:off x="1005840" y="2212848"/>
            <a:ext cx="10698480" cy="292608"/>
          </a:xfrm>
          <a:prstGeom prst="rect">
            <a:avLst/>
          </a:prstGeom>
          <a:noFill/>
        </p:spPr>
        <p:txBody>
          <a:bodyPr wrap="square" lIns="45720" rIns="45720">
            <a:spAutoFit/>
          </a:bodyPr>
          <a:lstStyle/>
          <a:p>
            <a:pPr algn="l"/>
            <a:r>
              <a:rPr sz="1100" b="0">
                <a:solidFill>
                  <a:srgbClr val="6EC1FF"/>
                </a:solidFill>
                <a:latin typeface="Helvetica Neue"/>
              </a:rPr>
              <a:t>Plan: Fallback to per-domain routing for v0.8 — already proven; auto-grouping ships in v0.9.</a:t>
            </a:r>
          </a:p>
        </p:txBody>
      </p:sp>
      <p:sp>
        <p:nvSpPr>
          <p:cNvPr id="9" name="TextBox 8"/>
          <p:cNvSpPr txBox="1"/>
          <p:nvPr/>
        </p:nvSpPr>
        <p:spPr>
          <a:xfrm>
            <a:off x="640080" y="2807208"/>
            <a:ext cx="274320" cy="274320"/>
          </a:xfrm>
          <a:prstGeom prst="rect">
            <a:avLst/>
          </a:prstGeom>
          <a:noFill/>
        </p:spPr>
        <p:txBody>
          <a:bodyPr wrap="square" lIns="45720" rIns="45720">
            <a:spAutoFit/>
          </a:bodyPr>
          <a:lstStyle/>
          <a:p>
            <a:pPr algn="l"/>
            <a:r>
              <a:rPr sz="2000" b="1">
                <a:solidFill>
                  <a:srgbClr val="E56B6B"/>
                </a:solidFill>
                <a:latin typeface="Helvetica Neue"/>
              </a:rPr>
              <a:t>●</a:t>
            </a:r>
          </a:p>
        </p:txBody>
      </p:sp>
      <p:sp>
        <p:nvSpPr>
          <p:cNvPr id="10" name="TextBox 9"/>
          <p:cNvSpPr txBox="1"/>
          <p:nvPr/>
        </p:nvSpPr>
        <p:spPr>
          <a:xfrm>
            <a:off x="1005840" y="2807208"/>
            <a:ext cx="10698480" cy="274320"/>
          </a:xfrm>
          <a:prstGeom prst="rect">
            <a:avLst/>
          </a:prstGeom>
          <a:noFill/>
        </p:spPr>
        <p:txBody>
          <a:bodyPr wrap="square" lIns="45720" rIns="45720">
            <a:spAutoFit/>
          </a:bodyPr>
          <a:lstStyle/>
          <a:p>
            <a:pPr algn="l"/>
            <a:r>
              <a:rPr sz="1400" b="1">
                <a:solidFill>
                  <a:srgbClr val="E6EAF0"/>
                </a:solidFill>
                <a:latin typeface="Helvetica Neue"/>
              </a:rPr>
              <a:t>Two flagged security fixes</a:t>
            </a:r>
          </a:p>
        </p:txBody>
      </p:sp>
      <p:sp>
        <p:nvSpPr>
          <p:cNvPr id="11" name="TextBox 10"/>
          <p:cNvSpPr txBox="1"/>
          <p:nvPr/>
        </p:nvSpPr>
        <p:spPr>
          <a:xfrm>
            <a:off x="1005840" y="3099816"/>
            <a:ext cx="10698480" cy="292608"/>
          </a:xfrm>
          <a:prstGeom prst="rect">
            <a:avLst/>
          </a:prstGeom>
          <a:noFill/>
        </p:spPr>
        <p:txBody>
          <a:bodyPr wrap="square" lIns="45720" rIns="45720">
            <a:spAutoFit/>
          </a:bodyPr>
          <a:lstStyle/>
          <a:p>
            <a:pPr algn="l"/>
            <a:r>
              <a:rPr sz="1100" b="0">
                <a:solidFill>
                  <a:srgbClr val="8A95A5"/>
                </a:solidFill>
                <a:latin typeface="Helvetica Neue"/>
              </a:rPr>
              <a:t>Risk: Earlier code review flagged a credential-exposure path and a legacy-DB migration gap.</a:t>
            </a:r>
          </a:p>
        </p:txBody>
      </p:sp>
      <p:sp>
        <p:nvSpPr>
          <p:cNvPr id="12" name="TextBox 11"/>
          <p:cNvSpPr txBox="1"/>
          <p:nvPr/>
        </p:nvSpPr>
        <p:spPr>
          <a:xfrm>
            <a:off x="1005840" y="3374136"/>
            <a:ext cx="10698480" cy="292608"/>
          </a:xfrm>
          <a:prstGeom prst="rect">
            <a:avLst/>
          </a:prstGeom>
          <a:noFill/>
        </p:spPr>
        <p:txBody>
          <a:bodyPr wrap="square" lIns="45720" rIns="45720">
            <a:spAutoFit/>
          </a:bodyPr>
          <a:lstStyle/>
          <a:p>
            <a:pPr algn="l"/>
            <a:r>
              <a:rPr sz="1100" b="0">
                <a:solidFill>
                  <a:srgbClr val="6EC1FF"/>
                </a:solidFill>
                <a:latin typeface="Helvetica Neue"/>
              </a:rPr>
              <a:t>Plan: Both have ~half-day fixes scoped for Tuesday May 5.</a:t>
            </a:r>
          </a:p>
        </p:txBody>
      </p:sp>
      <p:sp>
        <p:nvSpPr>
          <p:cNvPr id="13" name="TextBox 12"/>
          <p:cNvSpPr txBox="1"/>
          <p:nvPr/>
        </p:nvSpPr>
        <p:spPr>
          <a:xfrm>
            <a:off x="640080" y="3968496"/>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14" name="TextBox 13"/>
          <p:cNvSpPr txBox="1"/>
          <p:nvPr/>
        </p:nvSpPr>
        <p:spPr>
          <a:xfrm>
            <a:off x="1005840" y="3968496"/>
            <a:ext cx="10698480" cy="274320"/>
          </a:xfrm>
          <a:prstGeom prst="rect">
            <a:avLst/>
          </a:prstGeom>
          <a:noFill/>
        </p:spPr>
        <p:txBody>
          <a:bodyPr wrap="square" lIns="45720" rIns="45720">
            <a:spAutoFit/>
          </a:bodyPr>
          <a:lstStyle/>
          <a:p>
            <a:pPr algn="l"/>
            <a:r>
              <a:rPr sz="1400" b="1">
                <a:solidFill>
                  <a:srgbClr val="E6EAF0"/>
                </a:solidFill>
                <a:latin typeface="Helvetica Neue"/>
              </a:rPr>
              <a:t>Concurrent users on SQLite metadata</a:t>
            </a:r>
          </a:p>
        </p:txBody>
      </p:sp>
      <p:sp>
        <p:nvSpPr>
          <p:cNvPr id="15" name="TextBox 14"/>
          <p:cNvSpPr txBox="1"/>
          <p:nvPr/>
        </p:nvSpPr>
        <p:spPr>
          <a:xfrm>
            <a:off x="1005840" y="4261104"/>
            <a:ext cx="10698480" cy="292608"/>
          </a:xfrm>
          <a:prstGeom prst="rect">
            <a:avLst/>
          </a:prstGeom>
          <a:noFill/>
        </p:spPr>
        <p:txBody>
          <a:bodyPr wrap="square" lIns="45720" rIns="45720">
            <a:spAutoFit/>
          </a:bodyPr>
          <a:lstStyle/>
          <a:p>
            <a:pPr algn="l"/>
            <a:r>
              <a:rPr sz="1100" b="0">
                <a:solidFill>
                  <a:srgbClr val="8A95A5"/>
                </a:solidFill>
                <a:latin typeface="Helvetica Neue"/>
              </a:rPr>
              <a:t>Risk: SQLite serializes writes; multi-user demos may hit lock contention.</a:t>
            </a:r>
          </a:p>
        </p:txBody>
      </p:sp>
      <p:sp>
        <p:nvSpPr>
          <p:cNvPr id="16" name="TextBox 15"/>
          <p:cNvSpPr txBox="1"/>
          <p:nvPr/>
        </p:nvSpPr>
        <p:spPr>
          <a:xfrm>
            <a:off x="1005840" y="4535424"/>
            <a:ext cx="10698480" cy="292608"/>
          </a:xfrm>
          <a:prstGeom prst="rect">
            <a:avLst/>
          </a:prstGeom>
          <a:noFill/>
        </p:spPr>
        <p:txBody>
          <a:bodyPr wrap="square" lIns="45720" rIns="45720">
            <a:spAutoFit/>
          </a:bodyPr>
          <a:lstStyle/>
          <a:p>
            <a:pPr algn="l"/>
            <a:r>
              <a:rPr sz="1100" b="0">
                <a:solidFill>
                  <a:srgbClr val="6EC1FF"/>
                </a:solidFill>
                <a:latin typeface="Helvetica Neue"/>
              </a:rPr>
              <a:t>Plan: Documented as single-user demo; multi-user uses Postgres metadata (already supported).</a:t>
            </a:r>
          </a:p>
        </p:txBody>
      </p:sp>
      <p:sp>
        <p:nvSpPr>
          <p:cNvPr id="17" name="TextBox 16"/>
          <p:cNvSpPr txBox="1"/>
          <p:nvPr/>
        </p:nvSpPr>
        <p:spPr>
          <a:xfrm>
            <a:off x="640080" y="5129783"/>
            <a:ext cx="274320" cy="274320"/>
          </a:xfrm>
          <a:prstGeom prst="rect">
            <a:avLst/>
          </a:prstGeom>
          <a:noFill/>
        </p:spPr>
        <p:txBody>
          <a:bodyPr wrap="square" lIns="45720" rIns="45720">
            <a:spAutoFit/>
          </a:bodyPr>
          <a:lstStyle/>
          <a:p>
            <a:pPr algn="l"/>
            <a:r>
              <a:rPr sz="2000" b="1">
                <a:solidFill>
                  <a:srgbClr val="4AD09C"/>
                </a:solidFill>
                <a:latin typeface="Helvetica Neue"/>
              </a:rPr>
              <a:t>●</a:t>
            </a:r>
          </a:p>
        </p:txBody>
      </p:sp>
      <p:sp>
        <p:nvSpPr>
          <p:cNvPr id="18" name="TextBox 17"/>
          <p:cNvSpPr txBox="1"/>
          <p:nvPr/>
        </p:nvSpPr>
        <p:spPr>
          <a:xfrm>
            <a:off x="1005840" y="5129783"/>
            <a:ext cx="10698480" cy="274320"/>
          </a:xfrm>
          <a:prstGeom prst="rect">
            <a:avLst/>
          </a:prstGeom>
          <a:noFill/>
        </p:spPr>
        <p:txBody>
          <a:bodyPr wrap="square" lIns="45720" rIns="45720">
            <a:spAutoFit/>
          </a:bodyPr>
          <a:lstStyle/>
          <a:p>
            <a:pPr algn="l"/>
            <a:r>
              <a:rPr sz="1400" b="1">
                <a:solidFill>
                  <a:srgbClr val="E6EAF0"/>
                </a:solidFill>
                <a:latin typeface="Helvetica Neue"/>
              </a:rPr>
              <a:t>Live demo connectivity</a:t>
            </a:r>
          </a:p>
        </p:txBody>
      </p:sp>
      <p:sp>
        <p:nvSpPr>
          <p:cNvPr id="19" name="TextBox 18"/>
          <p:cNvSpPr txBox="1"/>
          <p:nvPr/>
        </p:nvSpPr>
        <p:spPr>
          <a:xfrm>
            <a:off x="1005840" y="5422392"/>
            <a:ext cx="10698480" cy="292608"/>
          </a:xfrm>
          <a:prstGeom prst="rect">
            <a:avLst/>
          </a:prstGeom>
          <a:noFill/>
        </p:spPr>
        <p:txBody>
          <a:bodyPr wrap="square" lIns="45720" rIns="45720">
            <a:spAutoFit/>
          </a:bodyPr>
          <a:lstStyle/>
          <a:p>
            <a:pPr algn="l"/>
            <a:r>
              <a:rPr sz="1100" b="0">
                <a:solidFill>
                  <a:srgbClr val="8A95A5"/>
                </a:solidFill>
                <a:latin typeface="Helvetica Neue"/>
              </a:rPr>
              <a:t>Risk: Recorded demos are safer than live demos for client meetings.</a:t>
            </a:r>
          </a:p>
        </p:txBody>
      </p:sp>
      <p:sp>
        <p:nvSpPr>
          <p:cNvPr id="20" name="TextBox 19"/>
          <p:cNvSpPr txBox="1"/>
          <p:nvPr/>
        </p:nvSpPr>
        <p:spPr>
          <a:xfrm>
            <a:off x="1005840" y="5696712"/>
            <a:ext cx="10698480" cy="292608"/>
          </a:xfrm>
          <a:prstGeom prst="rect">
            <a:avLst/>
          </a:prstGeom>
          <a:noFill/>
        </p:spPr>
        <p:txBody>
          <a:bodyPr wrap="square" lIns="45720" rIns="45720">
            <a:spAutoFit/>
          </a:bodyPr>
          <a:lstStyle/>
          <a:p>
            <a:pPr algn="l"/>
            <a:r>
              <a:rPr sz="1100" b="0">
                <a:solidFill>
                  <a:srgbClr val="6EC1FF"/>
                </a:solidFill>
                <a:latin typeface="Helvetica Neue"/>
              </a:rPr>
              <a:t>Plan: Pre-record the full flow Friday morning; show recording with live Q&amp;A.</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Risk register</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280160"/>
            <a:ext cx="10698480" cy="548640"/>
          </a:xfrm>
          <a:prstGeom prst="rect">
            <a:avLst/>
          </a:prstGeom>
          <a:noFill/>
        </p:spPr>
        <p:txBody>
          <a:bodyPr wrap="square" lIns="45720" rIns="45720">
            <a:spAutoFit/>
          </a:bodyPr>
          <a:lstStyle/>
          <a:p>
            <a:pPr algn="l"/>
            <a:r>
              <a:rPr sz="2400" b="1">
                <a:solidFill>
                  <a:srgbClr val="6EC1FF"/>
                </a:solidFill>
                <a:latin typeface="Helvetica Neue"/>
              </a:rPr>
              <a:t>What you'll see at the demo</a:t>
            </a:r>
          </a:p>
        </p:txBody>
      </p:sp>
      <p:sp>
        <p:nvSpPr>
          <p:cNvPr id="3" name="Rounded Rectangle 2"/>
          <p:cNvSpPr/>
          <p:nvPr/>
        </p:nvSpPr>
        <p:spPr>
          <a:xfrm>
            <a:off x="457200" y="1920240"/>
            <a:ext cx="11247120" cy="4206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57400"/>
            <a:ext cx="10881360" cy="4023360"/>
          </a:xfrm>
          <a:prstGeom prst="rect">
            <a:avLst/>
          </a:prstGeom>
          <a:noFill/>
        </p:spPr>
        <p:txBody>
          <a:bodyPr wrap="square">
            <a:spAutoFit/>
          </a:bodyPr>
          <a:lstStyle/>
          <a:p>
            <a:pPr algn="l">
              <a:spcAft>
                <a:spcPts val="400"/>
              </a:spcAft>
            </a:pPr>
            <a:r>
              <a:rPr sz="1400">
                <a:solidFill>
                  <a:srgbClr val="E6EAF0"/>
                </a:solidFill>
                <a:latin typeface="Helvetica Neue"/>
              </a:rPr>
              <a:t>• Connect any Ed-Fi-shaped database from a browser — no code, no config files</a:t>
            </a:r>
          </a:p>
          <a:p>
            <a:pPr algn="l">
              <a:spcAft>
                <a:spcPts val="400"/>
              </a:spcAft>
            </a:pPr>
            <a:r>
              <a:rPr sz="1400">
                <a:solidFill>
                  <a:srgbClr val="E6EAF0"/>
                </a:solidFill>
                <a:latin typeface="Helvetica Neue"/>
              </a:rPr>
              <a:t>• Ask plain-English questions and watch the answer arrive in seconds</a:t>
            </a:r>
          </a:p>
          <a:p>
            <a:pPr algn="l">
              <a:spcAft>
                <a:spcPts val="400"/>
              </a:spcAft>
            </a:pPr>
            <a:r>
              <a:rPr sz="1400">
                <a:solidFill>
                  <a:srgbClr val="E6EAF0"/>
                </a:solidFill>
                <a:latin typeface="Helvetica Neue"/>
              </a:rPr>
              <a:t>• See the SQL the platform generated, color-coded against the catalog</a:t>
            </a:r>
          </a:p>
          <a:p>
            <a:pPr algn="l">
              <a:spcAft>
                <a:spcPts val="400"/>
              </a:spcAft>
            </a:pPr>
            <a:r>
              <a:rPr sz="1400">
                <a:solidFill>
                  <a:srgbClr val="E6EAF0"/>
                </a:solidFill>
                <a:latin typeface="Helvetica Neue"/>
              </a:rPr>
              <a:t>• Look at the auto-picked chart and read the written summary</a:t>
            </a:r>
          </a:p>
          <a:p>
            <a:pPr algn="l">
              <a:spcAft>
                <a:spcPts val="400"/>
              </a:spcAft>
            </a:pPr>
            <a:r>
              <a:rPr sz="1400">
                <a:solidFill>
                  <a:srgbClr val="E6EAF0"/>
                </a:solidFill>
                <a:latin typeface="Helvetica Neue"/>
              </a:rPr>
              <a:t>• Approve a query — and watch the platform get smarter for the next question like it</a:t>
            </a:r>
          </a:p>
          <a:p>
            <a:pPr algn="l">
              <a:spcAft>
                <a:spcPts val="400"/>
              </a:spcAft>
            </a:pPr>
            <a:r>
              <a:rPr sz="1400">
                <a:solidFill>
                  <a:srgbClr val="E6EAF0"/>
                </a:solidFill>
                <a:latin typeface="Helvetica Neue"/>
              </a:rPr>
              <a:t>• Switch from one database to another mid-session and see results refresh automatically</a:t>
            </a:r>
          </a:p>
          <a:p>
            <a:pPr algn="l">
              <a:spcAft>
                <a:spcPts val="400"/>
              </a:spcAft>
            </a:pPr>
            <a:r>
              <a:rPr sz="1400">
                <a:solidFill>
                  <a:srgbClr val="E6EAF0"/>
                </a:solidFill>
                <a:latin typeface="Helvetica Neue"/>
              </a:rPr>
              <a:t>• Open the Eval Dashboard to see how accuracy is trending across builds</a:t>
            </a:r>
          </a:p>
        </p:txBody>
      </p:sp>
      <p:sp>
        <p:nvSpPr>
          <p:cNvPr id="5" name="TextBox 4"/>
          <p:cNvSpPr txBox="1"/>
          <p:nvPr/>
        </p:nvSpPr>
        <p:spPr>
          <a:xfrm>
            <a:off x="457200" y="6263640"/>
            <a:ext cx="11247120" cy="365760"/>
          </a:xfrm>
          <a:prstGeom prst="rect">
            <a:avLst/>
          </a:prstGeom>
          <a:noFill/>
        </p:spPr>
        <p:txBody>
          <a:bodyPr wrap="square" lIns="45720" rIns="45720">
            <a:spAutoFit/>
          </a:bodyPr>
          <a:lstStyle/>
          <a:p>
            <a:pPr algn="ctr"/>
            <a:r>
              <a:rPr sz="1200" b="0">
                <a:solidFill>
                  <a:srgbClr val="8A95A5"/>
                </a:solidFill>
                <a:latin typeface="Helvetica Neue"/>
              </a:rPr>
              <a:t>Demo machine: clean Windows install · no prior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